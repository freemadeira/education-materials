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9" r:id="rId3"/>
    <p:sldId id="266" r:id="rId4"/>
    <p:sldId id="320" r:id="rId5"/>
    <p:sldId id="343" r:id="rId6"/>
    <p:sldId id="311" r:id="rId7"/>
    <p:sldId id="313" r:id="rId8"/>
    <p:sldId id="317" r:id="rId9"/>
    <p:sldId id="318" r:id="rId10"/>
    <p:sldId id="322" r:id="rId11"/>
    <p:sldId id="325" r:id="rId12"/>
    <p:sldId id="324" r:id="rId13"/>
    <p:sldId id="330" r:id="rId14"/>
    <p:sldId id="327" r:id="rId15"/>
    <p:sldId id="291" r:id="rId16"/>
    <p:sldId id="333" r:id="rId17"/>
    <p:sldId id="334" r:id="rId18"/>
    <p:sldId id="335" r:id="rId19"/>
    <p:sldId id="336" r:id="rId20"/>
    <p:sldId id="312" r:id="rId21"/>
    <p:sldId id="309" r:id="rId22"/>
    <p:sldId id="332" r:id="rId23"/>
    <p:sldId id="329" r:id="rId24"/>
    <p:sldId id="337" r:id="rId25"/>
    <p:sldId id="344" r:id="rId26"/>
    <p:sldId id="345" r:id="rId27"/>
    <p:sldId id="347" r:id="rId28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414"/>
    <a:srgbClr val="051D4A"/>
    <a:srgbClr val="CFDDF7"/>
    <a:srgbClr val="FFFFFF"/>
    <a:srgbClr val="F8CF1D"/>
    <a:srgbClr val="FF9300"/>
    <a:srgbClr val="949499"/>
    <a:srgbClr val="292929"/>
    <a:srgbClr val="F7931A"/>
    <a:srgbClr val="FCD9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1"/>
    <p:restoredTop sz="95714"/>
  </p:normalViewPr>
  <p:slideViewPr>
    <p:cSldViewPr snapToGrid="0">
      <p:cViewPr varScale="1">
        <p:scale>
          <a:sx n="118" d="100"/>
          <a:sy n="118" d="100"/>
        </p:scale>
        <p:origin x="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711998-349B-2933-337E-015A48ECA9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EEBC5F-0870-5864-8937-5FB1E8CBC5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5C214-BE7B-BC42-99A7-6B1E002CEFBB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8C2DA-15EA-2553-6F93-22EBDC240C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E2EC0-31ED-D9C5-0731-F5FA1568DD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C809E-6F70-E64D-82A2-D0EF5ED11D8B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67329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1A69C-7004-7C4B-8FC6-A97DEC27BDE9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AD121-6F17-544D-A6C8-85232C372AB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96088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AD121-6F17-544D-A6C8-85232C372AB4}" type="slidenum">
              <a:rPr lang="en-PT" smtClean="0"/>
              <a:t>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101647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AD121-6F17-544D-A6C8-85232C372AB4}" type="slidenum">
              <a:rPr lang="en-PT" smtClean="0"/>
              <a:t>10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139903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AD121-6F17-544D-A6C8-85232C372AB4}" type="slidenum">
              <a:rPr lang="en-PT" smtClean="0"/>
              <a:t>22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535422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B4F94F37-E25B-CE41-DD30-9C710D1BF4C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838202" y="273307"/>
            <a:ext cx="10515600" cy="51788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93705-1509-FFFE-A037-2E068EA75D00}"/>
              </a:ext>
            </a:extLst>
          </p:cNvPr>
          <p:cNvSpPr>
            <a:spLocks noGrp="1"/>
          </p:cNvSpPr>
          <p:nvPr>
            <p:ph type="body" orient="vert" idx="17"/>
          </p:nvPr>
        </p:nvSpPr>
        <p:spPr>
          <a:xfrm>
            <a:off x="838196" y="5589513"/>
            <a:ext cx="10515602" cy="905729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FontTx/>
              <a:buNone/>
              <a:defRPr b="0" i="0">
                <a:latin typeface="Avenir Light" panose="020B0402020203020204" pitchFamily="34" charset="77"/>
              </a:defRPr>
            </a:lvl1pPr>
            <a:lvl2pPr marL="457200" indent="0" algn="ctr">
              <a:lnSpc>
                <a:spcPct val="100000"/>
              </a:lnSpc>
              <a:buFontTx/>
              <a:buNone/>
              <a:defRPr b="0" i="0">
                <a:latin typeface="Avenir Light" panose="020B0402020203020204" pitchFamily="34" charset="77"/>
              </a:defRPr>
            </a:lvl2pPr>
            <a:lvl3pPr marL="914400" indent="0" algn="ctr">
              <a:lnSpc>
                <a:spcPct val="100000"/>
              </a:lnSpc>
              <a:buFontTx/>
              <a:buNone/>
              <a:defRPr b="0" i="0">
                <a:latin typeface="Avenir Light" panose="020B0402020203020204" pitchFamily="34" charset="77"/>
              </a:defRPr>
            </a:lvl3pPr>
            <a:lvl4pPr marL="1371600" indent="0" algn="ctr">
              <a:lnSpc>
                <a:spcPct val="100000"/>
              </a:lnSpc>
              <a:buFontTx/>
              <a:buNone/>
              <a:defRPr b="0" i="0">
                <a:latin typeface="Avenir Light" panose="020B0402020203020204" pitchFamily="34" charset="77"/>
              </a:defRPr>
            </a:lvl4pPr>
            <a:lvl5pPr marL="1828800" indent="0" algn="ctr">
              <a:lnSpc>
                <a:spcPct val="100000"/>
              </a:lnSpc>
              <a:buFontTx/>
              <a:buNone/>
              <a:defRPr b="0" i="0"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739877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906EF-074F-36B1-517B-391937DDE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362758"/>
            <a:ext cx="6172200" cy="6132483"/>
          </a:xfrm>
        </p:spPr>
        <p:txBody>
          <a:bodyPr/>
          <a:lstStyle>
            <a:lvl1pPr>
              <a:defRPr sz="3200" b="0" i="0">
                <a:latin typeface="Avenir Light" panose="020B0402020203020204" pitchFamily="34" charset="77"/>
              </a:defRPr>
            </a:lvl1pPr>
            <a:lvl2pPr>
              <a:defRPr sz="2800" b="0" i="0"/>
            </a:lvl2pPr>
            <a:lvl3pPr>
              <a:defRPr sz="2400" b="0" i="0"/>
            </a:lvl3pPr>
            <a:lvl4pPr>
              <a:defRPr sz="2000" b="0" i="0"/>
            </a:lvl4pPr>
            <a:lvl5pPr>
              <a:defRPr sz="20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44CB8-65BF-9F64-500B-A226371F3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2758"/>
            <a:ext cx="3932237" cy="613248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latin typeface="Avenir Light" panose="020B0402020203020204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01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906EF-074F-36B1-517B-391937DDE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362758"/>
            <a:ext cx="6172200" cy="6132483"/>
          </a:xfrm>
        </p:spPr>
        <p:txBody>
          <a:bodyPr/>
          <a:lstStyle>
            <a:lvl1pPr>
              <a:defRPr sz="3200" b="0" i="0">
                <a:latin typeface="Avenir Light" panose="020B0402020203020204" pitchFamily="34" charset="77"/>
              </a:defRPr>
            </a:lvl1pPr>
            <a:lvl2pPr>
              <a:defRPr sz="2800" b="0" i="0"/>
            </a:lvl2pPr>
            <a:lvl3pPr>
              <a:defRPr sz="2400" b="0" i="0"/>
            </a:lvl3pPr>
            <a:lvl4pPr>
              <a:defRPr sz="2000" b="0" i="0"/>
            </a:lvl4pPr>
            <a:lvl5pPr>
              <a:defRPr sz="20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44CB8-65BF-9F64-500B-A226371F3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30036"/>
            <a:ext cx="3932237" cy="5165206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latin typeface="Avenir Light" panose="020B0402020203020204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F745174-D40C-4A1A-DEC9-05F4721B5B6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839788" y="362758"/>
            <a:ext cx="3932237" cy="806335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3600" b="0" i="0">
                <a:latin typeface="Avenir Medium" panose="02000503020000020003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196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DB52-A4F8-EFCF-E86B-F52454CCE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0">
                <a:latin typeface="Avenir Heavy" panose="02000503020000020003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7B1CE-A0B1-F1BC-C05B-6FF524884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Avenir Medium" panose="02000503020000020003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CE67A-ECAE-3FEE-E672-84EFEF8BC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EB899-B968-5349-8DAB-8E14647B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AFB5-378D-1750-4E3E-50172C7A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71077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DB52-A4F8-EFCF-E86B-F52454CCE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>
            <a:lvl1pPr algn="ctr">
              <a:defRPr sz="6000" b="1" i="0">
                <a:latin typeface="Avenir Heavy" panose="02000503020000020003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CE67A-ECAE-3FEE-E672-84EFEF8BC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EB899-B968-5349-8DAB-8E14647B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AFB5-378D-1750-4E3E-50172C7A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2138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A3D5-F271-DE83-D327-E037D8F82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Avenir Medium" panose="02000503020000020003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83558-2774-CE21-A1C6-6F5E2F4D5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Avenir Light" panose="020B0402020203020204" pitchFamily="34" charset="77"/>
              </a:defRPr>
            </a:lvl1pPr>
            <a:lvl2pPr>
              <a:defRPr b="0" i="0">
                <a:latin typeface="Avenir Light" panose="020B0402020203020204" pitchFamily="34" charset="77"/>
              </a:defRPr>
            </a:lvl2pPr>
            <a:lvl3pPr>
              <a:defRPr b="0" i="0">
                <a:latin typeface="Avenir Light" panose="020B0402020203020204" pitchFamily="34" charset="77"/>
              </a:defRPr>
            </a:lvl3pPr>
            <a:lvl4pPr>
              <a:defRPr b="0" i="0">
                <a:latin typeface="Avenir Light" panose="020B0402020203020204" pitchFamily="34" charset="77"/>
              </a:defRPr>
            </a:lvl4pPr>
            <a:lvl5pPr>
              <a:defRPr b="0" i="0">
                <a:latin typeface="Avenir Light" panose="020B0402020203020204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EE044-C88D-D918-5C2C-E439B59A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9D11B-DA39-69E5-1F8A-00214053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D8C4F-D0C9-0354-714B-40184D8A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00251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8CA0A-6843-56A0-B24D-824D79D6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DBBAE-1BB6-C7E9-3337-DDE345B6D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86587-5831-A409-2C58-190D1B6E9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9B8CE-5690-53A3-F013-17AB4CC7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63B51-E0D7-7211-64A5-7BC97537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6328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CE27A-EA82-053E-B41A-247A189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023AF-1C83-1A63-6D5D-B2F57A103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01411-D95F-6523-6331-2A7355D0D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43147-EBCE-859C-9283-29DE18277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5D2B8-A98B-3413-E060-9CEAAE8C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8B3E3-B38E-4E25-066B-4F124C07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5911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60B0-1D23-3B61-8618-E1670AE4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D96A3-CDA7-6793-2829-6310E89EC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08769-5DCE-03EA-431D-EB75D6ABF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8A94F-8D9F-870A-6E11-4853E1543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4FFB62-0F8C-E552-0483-BBC1B2C29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18A61-C66A-64B6-02EA-2D3AE5CAA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FD15E-BA09-641E-18A7-0C0E98727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1A1E1A-9D82-19C6-DCF1-7F6DB827E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86929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EE97-3C09-FDFE-D7FE-F098446AC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7BEF5F-5BD8-F37C-D748-AAF843788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BB8E63-2C42-CB17-A0F7-CEA280F0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FE939-5E42-470F-9A74-1CB21FC04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75890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9543EC-68CA-90EB-F195-22C26742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F41ED1-6B0B-4DD0-178E-C0502CBA0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D157B-9AAC-52A3-6478-98FC9C76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62725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F305-2AF1-7652-D244-C18AFABC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05845-B114-DB8A-A573-A19471C0C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7C91B-C777-C335-EC05-A6B7FB85A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C9BFE-9ADF-A0C8-54E6-F0080D75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1742C-25F9-28D0-1A80-1E00B612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6404A-6851-E8DF-91E0-D0D525FE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89909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081A8-AB22-78E2-FB02-879B85717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86BA7-12E0-8A1E-AE09-BFD3DB705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7F2A1-5E04-561F-9D25-79E36813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A2B99-A868-769E-3512-9157006F6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F25F4-0FF9-303C-50ED-452A2C5E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17447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676972-EDF0-6D98-17E5-8B1FA77F3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1B384-264B-D025-BD33-4E6D6D714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D1910-689B-4381-1E74-16517C65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21-ABC3-3544-AC06-DC4ABDA430BA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48233-D94E-7C23-E650-0D724EE05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D8669-9809-565B-61F3-9D61C066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5321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8B112-DFF0-C9DD-747A-B2FF13EE1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A545F-A785-61ED-468F-04AA56A6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87E9A-8902-EDF9-0802-BA663ADC2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26C21-ABC3-3544-AC06-DC4ABDA430BA}" type="datetimeFigureOut">
              <a:rPr lang="en-PT" smtClean="0"/>
              <a:t>15/10/2024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E4E9D-325A-AA16-ABDD-AE8B1444B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B9047-F95E-ACEE-FB7E-C4640D710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6581-1740-7744-995A-608B64A10753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567064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6" r:id="rId2"/>
    <p:sldLayoutId id="2147483662" r:id="rId3"/>
    <p:sldLayoutId id="2147483649" r:id="rId4"/>
    <p:sldLayoutId id="2147483661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baseline="0">
          <a:solidFill>
            <a:schemeClr val="bg1">
              <a:lumMod val="95000"/>
            </a:schemeClr>
          </a:solidFill>
          <a:latin typeface="Avenir Medium" panose="020005030200000200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 baseline="0">
          <a:solidFill>
            <a:schemeClr val="bg1">
              <a:lumMod val="95000"/>
            </a:schemeClr>
          </a:solidFill>
          <a:latin typeface="Avenir Light" panose="020B04020202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 baseline="0">
          <a:solidFill>
            <a:schemeClr val="bg1">
              <a:lumMod val="95000"/>
            </a:schemeClr>
          </a:solidFill>
          <a:latin typeface="Avenir Light" panose="020B04020202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bg1">
              <a:lumMod val="95000"/>
            </a:schemeClr>
          </a:solidFill>
          <a:latin typeface="Avenir Light" panose="020B04020202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bg1">
              <a:lumMod val="95000"/>
            </a:schemeClr>
          </a:solidFill>
          <a:latin typeface="Avenir Light" panose="020B04020202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bg1">
              <a:lumMod val="95000"/>
            </a:schemeClr>
          </a:solidFill>
          <a:latin typeface="Avenir Light" panose="020B0402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10" Type="http://schemas.openxmlformats.org/officeDocument/2006/relationships/image" Target="../media/image33.sv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660E-7888-F1CD-AB9A-0C682A18A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5300"/>
            <a:ext cx="9144000" cy="2387600"/>
          </a:xfrm>
        </p:spPr>
        <p:txBody>
          <a:bodyPr anchor="ctr"/>
          <a:lstStyle/>
          <a:p>
            <a:r>
              <a:rPr lang="en-PT" dirty="0">
                <a:solidFill>
                  <a:schemeClr val="bg1">
                    <a:lumMod val="95000"/>
                  </a:schemeClr>
                </a:solidFill>
              </a:rPr>
              <a:t>Introdução ao Bitcoin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2F819-9B25-08BD-C0D2-4EFB299AF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1804"/>
            <a:ext cx="9144000" cy="1655762"/>
          </a:xfrm>
        </p:spPr>
        <p:txBody>
          <a:bodyPr>
            <a:normAutofit/>
          </a:bodyPr>
          <a:lstStyle/>
          <a:p>
            <a:r>
              <a:rPr lang="en-GB" sz="3200" dirty="0" err="1"/>
              <a:t>Parte</a:t>
            </a:r>
            <a:r>
              <a:rPr lang="en-GB" sz="3200" dirty="0"/>
              <a:t> </a:t>
            </a:r>
            <a:r>
              <a:rPr lang="en-GB" sz="3200" dirty="0" err="1"/>
              <a:t>Prática</a:t>
            </a:r>
            <a:endParaRPr lang="en-PT" sz="32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4B21E5-0CDC-1965-C13C-D286259495A5}"/>
              </a:ext>
            </a:extLst>
          </p:cNvPr>
          <p:cNvSpPr txBox="1"/>
          <p:nvPr/>
        </p:nvSpPr>
        <p:spPr>
          <a:xfrm>
            <a:off x="1345915" y="37219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68510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660E-7888-F1CD-AB9A-0C682A18A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Bitcoin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é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 um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protocolo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;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não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é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uma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plataforma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ou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aplicação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.</a:t>
            </a:r>
            <a:b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</a:br>
            <a:b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</a:b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Existem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várias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soluções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 para usar a rede Bitcoin,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cada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uma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 com as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suas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vantagens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 e </a:t>
            </a:r>
            <a:r>
              <a:rPr lang="en-GB" sz="2800" b="0" dirty="0" err="1">
                <a:latin typeface="Avenir Light" panose="020B0402020203020204" pitchFamily="34" charset="77"/>
                <a:ea typeface="+mn-ea"/>
                <a:cs typeface="+mn-cs"/>
              </a:rPr>
              <a:t>desvantagens</a:t>
            </a:r>
            <a:r>
              <a:rPr lang="en-GB" sz="2800" b="0" dirty="0">
                <a:latin typeface="Avenir Light" panose="020B0402020203020204" pitchFamily="34" charset="77"/>
                <a:ea typeface="+mn-ea"/>
                <a:cs typeface="+mn-cs"/>
              </a:rPr>
              <a:t>.</a:t>
            </a:r>
            <a:endParaRPr lang="en-PT" sz="2800" b="0" dirty="0">
              <a:latin typeface="Avenir Light" panose="020B0402020203020204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708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ADA2-C17F-8542-2CEF-DAC7B6FF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Como obter Bitcoin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7FFF63E-C6B9-B772-B8F8-7378F074178D}"/>
              </a:ext>
            </a:extLst>
          </p:cNvPr>
          <p:cNvSpPr/>
          <p:nvPr/>
        </p:nvSpPr>
        <p:spPr>
          <a:xfrm>
            <a:off x="982317" y="2500305"/>
            <a:ext cx="3060000" cy="2340000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err="1">
                <a:latin typeface="Avenir Light" panose="020B0402020203020204" pitchFamily="34" charset="77"/>
              </a:rPr>
              <a:t>Receber</a:t>
            </a:r>
            <a:r>
              <a:rPr lang="en-GB" sz="2400" dirty="0">
                <a:latin typeface="Avenir Light" panose="020B0402020203020204" pitchFamily="34" charset="77"/>
              </a:rPr>
              <a:t> </a:t>
            </a:r>
            <a:r>
              <a:rPr lang="en-GB" sz="2400" dirty="0" err="1">
                <a:latin typeface="Avenir Light" panose="020B0402020203020204" pitchFamily="34" charset="77"/>
              </a:rPr>
              <a:t>em</a:t>
            </a:r>
            <a:r>
              <a:rPr lang="en-GB" sz="2400" dirty="0">
                <a:latin typeface="Avenir Light" panose="020B0402020203020204" pitchFamily="34" charset="77"/>
              </a:rPr>
              <a:t> </a:t>
            </a:r>
            <a:r>
              <a:rPr lang="en-GB" sz="2400" dirty="0" err="1">
                <a:latin typeface="Avenir Light" panose="020B0402020203020204" pitchFamily="34" charset="77"/>
              </a:rPr>
              <a:t>troca</a:t>
            </a:r>
            <a:r>
              <a:rPr lang="en-GB" sz="2400" dirty="0">
                <a:latin typeface="Avenir Light" panose="020B0402020203020204" pitchFamily="34" charset="77"/>
              </a:rPr>
              <a:t> de </a:t>
            </a:r>
            <a:r>
              <a:rPr lang="en-GB" sz="2400" dirty="0" err="1">
                <a:latin typeface="Avenir Light" panose="020B0402020203020204" pitchFamily="34" charset="77"/>
              </a:rPr>
              <a:t>produtos</a:t>
            </a:r>
            <a:r>
              <a:rPr lang="en-GB" sz="2400" dirty="0">
                <a:latin typeface="Avenir Light" panose="020B0402020203020204" pitchFamily="34" charset="77"/>
              </a:rPr>
              <a:t> </a:t>
            </a:r>
            <a:r>
              <a:rPr lang="en-GB" sz="2400" dirty="0" err="1">
                <a:latin typeface="Avenir Light" panose="020B0402020203020204" pitchFamily="34" charset="77"/>
              </a:rPr>
              <a:t>ou</a:t>
            </a:r>
            <a:r>
              <a:rPr lang="en-GB" sz="2400" dirty="0">
                <a:latin typeface="Avenir Light" panose="020B0402020203020204" pitchFamily="34" charset="77"/>
              </a:rPr>
              <a:t> </a:t>
            </a:r>
            <a:r>
              <a:rPr lang="en-GB" sz="2400" dirty="0" err="1">
                <a:latin typeface="Avenir Light" panose="020B0402020203020204" pitchFamily="34" charset="77"/>
              </a:rPr>
              <a:t>serviços</a:t>
            </a:r>
            <a:endParaRPr lang="en-PT" sz="2400" dirty="0">
              <a:latin typeface="Avenir Light" panose="020B0402020203020204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831607-384E-D83F-9589-93F099A8C73F}"/>
              </a:ext>
            </a:extLst>
          </p:cNvPr>
          <p:cNvSpPr/>
          <p:nvPr/>
        </p:nvSpPr>
        <p:spPr>
          <a:xfrm>
            <a:off x="4562337" y="2500305"/>
            <a:ext cx="3060000" cy="2340000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err="1">
                <a:latin typeface="Avenir Light" panose="020B0402020203020204" pitchFamily="34" charset="77"/>
              </a:rPr>
              <a:t>Comprar</a:t>
            </a:r>
            <a:br>
              <a:rPr lang="en-GB" sz="2400" dirty="0">
                <a:latin typeface="Avenir Light" panose="020B0402020203020204" pitchFamily="34" charset="77"/>
              </a:rPr>
            </a:br>
            <a:r>
              <a:rPr lang="en-GB" sz="2400" dirty="0">
                <a:latin typeface="Avenir Light" panose="020B0402020203020204" pitchFamily="34" charset="77"/>
              </a:rPr>
              <a:t>Ponto-a-Ponto</a:t>
            </a:r>
            <a:endParaRPr lang="en-PT" sz="2400" dirty="0">
              <a:latin typeface="Avenir Light" panose="020B0402020203020204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839077E-3ED9-FECD-BED7-4321E405FA77}"/>
              </a:ext>
            </a:extLst>
          </p:cNvPr>
          <p:cNvSpPr/>
          <p:nvPr/>
        </p:nvSpPr>
        <p:spPr>
          <a:xfrm>
            <a:off x="8142357" y="2490367"/>
            <a:ext cx="3060000" cy="2340000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err="1">
                <a:latin typeface="Avenir Light" panose="020B0402020203020204" pitchFamily="34" charset="77"/>
              </a:rPr>
              <a:t>Comprar</a:t>
            </a:r>
            <a:r>
              <a:rPr lang="en-GB" sz="2400" dirty="0">
                <a:latin typeface="Avenir Light" panose="020B0402020203020204" pitchFamily="34" charset="77"/>
              </a:rPr>
              <a:t> </a:t>
            </a:r>
            <a:r>
              <a:rPr lang="en-GB" sz="2400" dirty="0" err="1">
                <a:latin typeface="Avenir Light" panose="020B0402020203020204" pitchFamily="34" charset="77"/>
              </a:rPr>
              <a:t>numa</a:t>
            </a:r>
            <a:r>
              <a:rPr lang="en-GB" sz="2400" dirty="0">
                <a:latin typeface="Avenir Light" panose="020B0402020203020204" pitchFamily="34" charset="77"/>
              </a:rPr>
              <a:t> </a:t>
            </a:r>
            <a:r>
              <a:rPr lang="en-GB" sz="2400" dirty="0" err="1">
                <a:latin typeface="Avenir Light" panose="020B0402020203020204" pitchFamily="34" charset="77"/>
              </a:rPr>
              <a:t>plataforma</a:t>
            </a:r>
            <a:r>
              <a:rPr lang="en-GB" sz="2400" dirty="0">
                <a:latin typeface="Avenir Light" panose="020B0402020203020204" pitchFamily="34" charset="77"/>
              </a:rPr>
              <a:t> de </a:t>
            </a:r>
            <a:r>
              <a:rPr lang="en-GB" sz="2400" dirty="0" err="1">
                <a:latin typeface="Avenir Light" panose="020B0402020203020204" pitchFamily="34" charset="77"/>
              </a:rPr>
              <a:t>compra</a:t>
            </a:r>
            <a:r>
              <a:rPr lang="en-GB" sz="2400" dirty="0">
                <a:latin typeface="Avenir Light" panose="020B0402020203020204" pitchFamily="34" charset="77"/>
              </a:rPr>
              <a:t> e </a:t>
            </a:r>
            <a:r>
              <a:rPr lang="en-GB" sz="2400" dirty="0" err="1">
                <a:latin typeface="Avenir Light" panose="020B0402020203020204" pitchFamily="34" charset="77"/>
              </a:rPr>
              <a:t>venda</a:t>
            </a:r>
            <a:endParaRPr lang="en-PT" sz="2400" dirty="0">
              <a:latin typeface="Avenir Light" panose="020B0402020203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246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06B85-E1E2-4B11-38C4-3F50ABF90F90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739778" y="810079"/>
            <a:ext cx="4589461" cy="1039914"/>
          </a:xfrm>
        </p:spPr>
        <p:txBody>
          <a:bodyPr/>
          <a:lstStyle/>
          <a:p>
            <a:pPr algn="ctr"/>
            <a:r>
              <a:rPr lang="en-PT" dirty="0"/>
              <a:t>Rede Base</a:t>
            </a:r>
            <a:br>
              <a:rPr lang="en-PT" dirty="0"/>
            </a:br>
            <a:r>
              <a:rPr lang="en-PT" dirty="0"/>
              <a:t>(</a:t>
            </a:r>
            <a:r>
              <a:rPr lang="en-PT" i="1" dirty="0"/>
              <a:t>on-chain</a:t>
            </a:r>
            <a:r>
              <a:rPr lang="en-PT" dirty="0"/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9321C7-53BC-A7A5-4AB7-A0DD76C9601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rgbClr val="9494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pic>
        <p:nvPicPr>
          <p:cNvPr id="11" name="Content Placeholder 10" descr="A yellow lightning bolt in a black background&#10;&#10;Description automatically generated">
            <a:extLst>
              <a:ext uri="{FF2B5EF4-FFF2-40B4-BE49-F238E27FC236}">
                <a16:creationId xmlns:a16="http://schemas.microsoft.com/office/drawing/2014/main" id="{B86C05FD-31DC-9D35-2CFA-02E7742A2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38409" t="44135" r="37946" b="32341"/>
          <a:stretch/>
        </p:blipFill>
        <p:spPr>
          <a:xfrm>
            <a:off x="8232710" y="2380961"/>
            <a:ext cx="1968340" cy="2266950"/>
          </a:xfr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4AAA349-90DD-4AE3-D6AA-11A2B703B503}"/>
              </a:ext>
            </a:extLst>
          </p:cNvPr>
          <p:cNvSpPr txBox="1">
            <a:spLocks/>
          </p:cNvSpPr>
          <p:nvPr/>
        </p:nvSpPr>
        <p:spPr>
          <a:xfrm>
            <a:off x="584205" y="5178879"/>
            <a:ext cx="4900609" cy="1039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 baseline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T" sz="2800" dirty="0">
                <a:latin typeface="Avenir Light" panose="020B0402020203020204" pitchFamily="34" charset="77"/>
              </a:rPr>
              <a:t>Poupanças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9A1948B-D9C1-A38A-6DAF-8B2DC1FA41CF}"/>
              </a:ext>
            </a:extLst>
          </p:cNvPr>
          <p:cNvSpPr txBox="1">
            <a:spLocks/>
          </p:cNvSpPr>
          <p:nvPr/>
        </p:nvSpPr>
        <p:spPr>
          <a:xfrm>
            <a:off x="6707186" y="810079"/>
            <a:ext cx="4900609" cy="1039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 baseline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T" dirty="0">
                <a:solidFill>
                  <a:schemeClr val="tx1"/>
                </a:solidFill>
              </a:rPr>
              <a:t>Rede Lightning (Lightning Network)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F233D84-DA2B-44DA-A517-DE2AEDBCD2EA}"/>
              </a:ext>
            </a:extLst>
          </p:cNvPr>
          <p:cNvSpPr txBox="1">
            <a:spLocks/>
          </p:cNvSpPr>
          <p:nvPr/>
        </p:nvSpPr>
        <p:spPr>
          <a:xfrm>
            <a:off x="6707186" y="5178879"/>
            <a:ext cx="4900609" cy="1039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 baseline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T" sz="2800" dirty="0">
                <a:solidFill>
                  <a:schemeClr val="tx1"/>
                </a:solidFill>
                <a:latin typeface="Avenir Light" panose="020B0402020203020204" pitchFamily="34" charset="77"/>
              </a:rPr>
              <a:t>Pagamentos do dia-a-dia</a:t>
            </a:r>
          </a:p>
        </p:txBody>
      </p:sp>
      <p:pic>
        <p:nvPicPr>
          <p:cNvPr id="23" name="Picture 22" descr="A letter b in orange and black&#10;&#10;Description automatically generated">
            <a:extLst>
              <a:ext uri="{FF2B5EF4-FFF2-40B4-BE49-F238E27FC236}">
                <a16:creationId xmlns:a16="http://schemas.microsoft.com/office/drawing/2014/main" id="{610F950E-750B-6C84-8422-ED564173C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2530186"/>
            <a:ext cx="11176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71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ADA2-C17F-8542-2CEF-DAC7B6FF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Rede Lightning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465A755-CE46-F859-2615-AB570103392B}"/>
              </a:ext>
            </a:extLst>
          </p:cNvPr>
          <p:cNvGrpSpPr/>
          <p:nvPr/>
        </p:nvGrpSpPr>
        <p:grpSpPr>
          <a:xfrm>
            <a:off x="1085849" y="3780693"/>
            <a:ext cx="10020302" cy="2677012"/>
            <a:chOff x="773723" y="3815863"/>
            <a:chExt cx="10020302" cy="267701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9011CA1-0981-C4BE-1F95-30F5B0873BF7}"/>
                </a:ext>
              </a:extLst>
            </p:cNvPr>
            <p:cNvSpPr/>
            <p:nvPr/>
          </p:nvSpPr>
          <p:spPr>
            <a:xfrm>
              <a:off x="2866293" y="4906111"/>
              <a:ext cx="7508631" cy="1107831"/>
            </a:xfrm>
            <a:prstGeom prst="rect">
              <a:avLst/>
            </a:prstGeom>
            <a:solidFill>
              <a:srgbClr val="FF9300"/>
            </a:solidFill>
            <a:ln>
              <a:solidFill>
                <a:srgbClr val="FF9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3600" dirty="0">
                  <a:latin typeface="Avenir Book" panose="02000503020000020003" pitchFamily="2" charset="0"/>
                </a:rPr>
                <a:t>Protocolo Bitcoin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B56105-A9A8-7D0C-05DE-17D0668909DF}"/>
                </a:ext>
              </a:extLst>
            </p:cNvPr>
            <p:cNvSpPr/>
            <p:nvPr/>
          </p:nvSpPr>
          <p:spPr>
            <a:xfrm>
              <a:off x="2866293" y="3815864"/>
              <a:ext cx="4443047" cy="931985"/>
            </a:xfrm>
            <a:prstGeom prst="rect">
              <a:avLst/>
            </a:prstGeom>
            <a:solidFill>
              <a:srgbClr val="F8CF1D"/>
            </a:solidFill>
            <a:ln>
              <a:solidFill>
                <a:srgbClr val="F8CF1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3600" dirty="0">
                  <a:solidFill>
                    <a:schemeClr val="tx1"/>
                  </a:solidFill>
                  <a:latin typeface="Avenir Book" panose="02000503020000020003" pitchFamily="2" charset="0"/>
                </a:rPr>
                <a:t>Rede Lightning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3726FE3-DFE1-3DDD-3E25-765DF62F2B3E}"/>
                </a:ext>
              </a:extLst>
            </p:cNvPr>
            <p:cNvSpPr/>
            <p:nvPr/>
          </p:nvSpPr>
          <p:spPr>
            <a:xfrm>
              <a:off x="7491047" y="3815863"/>
              <a:ext cx="2883877" cy="931985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3600" dirty="0">
                  <a:solidFill>
                    <a:schemeClr val="tx1"/>
                  </a:solidFill>
                  <a:latin typeface="Avenir Book" panose="02000503020000020003" pitchFamily="2" charset="0"/>
                </a:rPr>
                <a:t>Outros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78BC12F-0F72-90BA-2510-E7A9AF6680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3723" y="4835772"/>
              <a:ext cx="2057400" cy="0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C4B644-5655-BC97-5A24-10619B3BD42F}"/>
                </a:ext>
              </a:extLst>
            </p:cNvPr>
            <p:cNvSpPr txBox="1"/>
            <p:nvPr/>
          </p:nvSpPr>
          <p:spPr>
            <a:xfrm>
              <a:off x="916516" y="3894942"/>
              <a:ext cx="184698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PT" sz="2400" dirty="0">
                  <a:solidFill>
                    <a:schemeClr val="bg1">
                      <a:lumMod val="95000"/>
                    </a:schemeClr>
                  </a:solidFill>
                  <a:latin typeface="Avenir Book" panose="02000503020000020003" pitchFamily="2" charset="0"/>
                </a:rPr>
                <a:t>2</a:t>
              </a:r>
              <a:r>
                <a:rPr lang="en-PT" sz="2400" baseline="30000" dirty="0">
                  <a:solidFill>
                    <a:schemeClr val="bg1">
                      <a:lumMod val="95000"/>
                    </a:schemeClr>
                  </a:solidFill>
                  <a:latin typeface="Avenir Book" panose="02000503020000020003" pitchFamily="2" charset="0"/>
                </a:rPr>
                <a:t>as</a:t>
              </a:r>
              <a:r>
                <a:rPr lang="en-PT" sz="2400" dirty="0">
                  <a:solidFill>
                    <a:schemeClr val="bg1">
                      <a:lumMod val="95000"/>
                    </a:schemeClr>
                  </a:solidFill>
                  <a:latin typeface="Avenir Book" panose="02000503020000020003" pitchFamily="2" charset="0"/>
                </a:rPr>
                <a:t> camadas</a:t>
              </a:r>
              <a:br>
                <a:rPr lang="en-PT" dirty="0">
                  <a:solidFill>
                    <a:schemeClr val="bg1">
                      <a:lumMod val="95000"/>
                    </a:schemeClr>
                  </a:solidFill>
                  <a:latin typeface="Avenir Book" panose="02000503020000020003" pitchFamily="2" charset="0"/>
                </a:rPr>
              </a:br>
              <a:r>
                <a:rPr lang="en-PT" dirty="0">
                  <a:solidFill>
                    <a:schemeClr val="bg1">
                      <a:lumMod val="95000"/>
                    </a:schemeClr>
                  </a:solidFill>
                  <a:latin typeface="Avenir Book" panose="02000503020000020003" pitchFamily="2" charset="0"/>
                </a:rPr>
                <a:t>(off-chain)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9B3419-A618-AB20-E55C-07BB6494B14C}"/>
                </a:ext>
              </a:extLst>
            </p:cNvPr>
            <p:cNvSpPr txBox="1"/>
            <p:nvPr/>
          </p:nvSpPr>
          <p:spPr>
            <a:xfrm>
              <a:off x="1019910" y="5108279"/>
              <a:ext cx="164019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PT" sz="2400" dirty="0">
                  <a:solidFill>
                    <a:schemeClr val="bg1">
                      <a:lumMod val="95000"/>
                    </a:schemeClr>
                  </a:solidFill>
                  <a:latin typeface="Avenir Book" panose="02000503020000020003" pitchFamily="2" charset="0"/>
                </a:rPr>
                <a:t>Rede Base</a:t>
              </a:r>
              <a:br>
                <a:rPr lang="en-PT" dirty="0">
                  <a:solidFill>
                    <a:schemeClr val="bg1">
                      <a:lumMod val="95000"/>
                    </a:schemeClr>
                  </a:solidFill>
                  <a:latin typeface="Avenir Book" panose="02000503020000020003" pitchFamily="2" charset="0"/>
                </a:rPr>
              </a:br>
              <a:r>
                <a:rPr lang="en-PT" dirty="0">
                  <a:solidFill>
                    <a:schemeClr val="bg1">
                      <a:lumMod val="95000"/>
                    </a:schemeClr>
                  </a:solidFill>
                  <a:latin typeface="Avenir Book" panose="02000503020000020003" pitchFamily="2" charset="0"/>
                </a:rPr>
                <a:t>(</a:t>
              </a:r>
              <a:r>
                <a:rPr lang="en-PT" i="1" dirty="0">
                  <a:solidFill>
                    <a:schemeClr val="bg1">
                      <a:lumMod val="95000"/>
                    </a:schemeClr>
                  </a:solidFill>
                  <a:latin typeface="Avenir Book" panose="02000503020000020003" pitchFamily="2" charset="0"/>
                </a:rPr>
                <a:t>on-chain</a:t>
              </a:r>
              <a:r>
                <a:rPr lang="en-PT" dirty="0">
                  <a:solidFill>
                    <a:schemeClr val="bg1">
                      <a:lumMod val="95000"/>
                    </a:schemeClr>
                  </a:solidFill>
                  <a:latin typeface="Avenir Book" panose="02000503020000020003" pitchFamily="2" charset="0"/>
                </a:rPr>
                <a:t>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9765A98-5E32-39F5-B9D9-2881ACE49DAF}"/>
                </a:ext>
              </a:extLst>
            </p:cNvPr>
            <p:cNvSpPr txBox="1"/>
            <p:nvPr/>
          </p:nvSpPr>
          <p:spPr>
            <a:xfrm>
              <a:off x="8384559" y="6031210"/>
              <a:ext cx="24094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PT" sz="2400" dirty="0">
                  <a:solidFill>
                    <a:schemeClr val="bg1">
                      <a:lumMod val="95000"/>
                    </a:schemeClr>
                  </a:solidFill>
                  <a:latin typeface="Avenir Book" panose="02000503020000020003" pitchFamily="2" charset="0"/>
                </a:rPr>
                <a:t>@anilsaidso</a:t>
              </a:r>
              <a:endParaRPr lang="en-PT" dirty="0">
                <a:solidFill>
                  <a:schemeClr val="bg1">
                    <a:lumMod val="95000"/>
                  </a:schemeClr>
                </a:solidFill>
                <a:latin typeface="Avenir Book" panose="02000503020000020003" pitchFamily="2" charset="0"/>
              </a:endParaRPr>
            </a:p>
          </p:txBody>
        </p:sp>
      </p:grp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B2AF19A-F64E-71BC-8747-BEDE7BA5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7619"/>
            <a:ext cx="10515600" cy="8753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T" dirty="0"/>
              <a:t>Protocolo que permite escalar o uso de Bitcoin através de pagamentos instantâneos fora da rede base. </a:t>
            </a:r>
          </a:p>
        </p:txBody>
      </p:sp>
    </p:spTree>
    <p:extLst>
      <p:ext uri="{BB962C8B-B14F-4D97-AF65-F5344CB8AC3E}">
        <p14:creationId xmlns:p14="http://schemas.microsoft.com/office/powerpoint/2010/main" val="3014210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660E-7888-F1CD-AB9A-0C682A18A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PT" sz="5400" dirty="0">
                <a:solidFill>
                  <a:schemeClr val="bg1">
                    <a:lumMod val="95000"/>
                  </a:schemeClr>
                </a:solidFill>
              </a:rPr>
              <a:t>Poupanças</a:t>
            </a:r>
            <a:br>
              <a:rPr lang="en-PT" sz="54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PT" sz="3400" dirty="0">
                <a:solidFill>
                  <a:schemeClr val="bg1">
                    <a:lumMod val="95000"/>
                  </a:schemeClr>
                </a:solidFill>
              </a:rPr>
              <a:t>rede base</a:t>
            </a:r>
          </a:p>
        </p:txBody>
      </p:sp>
    </p:spTree>
    <p:extLst>
      <p:ext uri="{BB962C8B-B14F-4D97-AF65-F5344CB8AC3E}">
        <p14:creationId xmlns:p14="http://schemas.microsoft.com/office/powerpoint/2010/main" val="2918940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ADA2-C17F-8542-2CEF-DAC7B6FF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Soluções para guardar bitcoin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C4CBB3-B911-0141-5A42-32E2780FE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lnSpc>
                <a:spcPts val="4500"/>
              </a:lnSpc>
            </a:pPr>
            <a:r>
              <a:rPr lang="en-PT" dirty="0"/>
              <a:t>As plataformas de compra e venda não são recomendadas para guardar bitcoin a longo prazo.</a:t>
            </a:r>
          </a:p>
          <a:p>
            <a:pPr>
              <a:lnSpc>
                <a:spcPts val="4500"/>
              </a:lnSpc>
            </a:pPr>
            <a:r>
              <a:rPr lang="en-PT" dirty="0"/>
              <a:t>O bitcoin guardado nessas plataformas não pertence ao utilizador, visto que é a plataforma que detém a chave privada.</a:t>
            </a:r>
          </a:p>
          <a:p>
            <a:pPr>
              <a:lnSpc>
                <a:spcPts val="4500"/>
              </a:lnSpc>
            </a:pPr>
            <a:r>
              <a:rPr lang="en-PT" dirty="0"/>
              <a:t>É uma solução de armazenamento custodial.</a:t>
            </a:r>
          </a:p>
        </p:txBody>
      </p:sp>
    </p:spTree>
    <p:extLst>
      <p:ext uri="{BB962C8B-B14F-4D97-AF65-F5344CB8AC3E}">
        <p14:creationId xmlns:p14="http://schemas.microsoft.com/office/powerpoint/2010/main" val="3958331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660E-7888-F1CD-AB9A-0C682A18A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770" y="1631579"/>
            <a:ext cx="3053694" cy="3152588"/>
          </a:xfrm>
        </p:spPr>
        <p:txBody>
          <a:bodyPr anchor="ctr">
            <a:noAutofit/>
          </a:bodyPr>
          <a:lstStyle/>
          <a:p>
            <a:pPr algn="l">
              <a:lnSpc>
                <a:spcPts val="7500"/>
              </a:lnSpc>
            </a:pPr>
            <a:r>
              <a:rPr lang="en-GB" sz="5400" i="1" dirty="0">
                <a:latin typeface="Avenir Light" panose="020B0402020203020204" pitchFamily="34" charset="77"/>
                <a:ea typeface="+mn-ea"/>
                <a:cs typeface="+mn-cs"/>
              </a:rPr>
              <a:t>Not your</a:t>
            </a:r>
            <a:br>
              <a:rPr lang="en-GB" sz="5400" i="1" dirty="0">
                <a:latin typeface="Avenir Light" panose="020B0402020203020204" pitchFamily="34" charset="77"/>
                <a:ea typeface="+mn-ea"/>
                <a:cs typeface="+mn-cs"/>
              </a:rPr>
            </a:br>
            <a:br>
              <a:rPr lang="en-GB" sz="5400" i="1" dirty="0">
                <a:latin typeface="Avenir Light" panose="020B0402020203020204" pitchFamily="34" charset="77"/>
                <a:ea typeface="+mn-ea"/>
                <a:cs typeface="+mn-cs"/>
              </a:rPr>
            </a:br>
            <a:r>
              <a:rPr lang="en-GB" sz="5400" i="1" dirty="0">
                <a:latin typeface="Avenir Light" panose="020B0402020203020204" pitchFamily="34" charset="77"/>
                <a:ea typeface="+mn-ea"/>
                <a:cs typeface="+mn-cs"/>
              </a:rPr>
              <a:t>not your</a:t>
            </a:r>
            <a:br>
              <a:rPr lang="en-GB" sz="5400" i="1" dirty="0">
                <a:latin typeface="Avenir Light" panose="020B0402020203020204" pitchFamily="34" charset="77"/>
                <a:ea typeface="+mn-ea"/>
                <a:cs typeface="+mn-cs"/>
              </a:rPr>
            </a:br>
            <a:endParaRPr lang="en-PT" sz="5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2B74C-8C13-18B4-CB7F-F6A778E4C106}"/>
              </a:ext>
            </a:extLst>
          </p:cNvPr>
          <p:cNvSpPr txBox="1"/>
          <p:nvPr/>
        </p:nvSpPr>
        <p:spPr>
          <a:xfrm>
            <a:off x="1577769" y="4286298"/>
            <a:ext cx="1988528" cy="923330"/>
          </a:xfrm>
          <a:prstGeom prst="rect">
            <a:avLst/>
          </a:prstGeom>
          <a:solidFill>
            <a:srgbClr val="FCD94A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PT" sz="5400" b="1" i="1" dirty="0">
                <a:latin typeface="Avenir Medium" panose="02000503020000020003" pitchFamily="2" charset="0"/>
              </a:rPr>
              <a:t>coins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517B0-007F-5360-C5E5-88F6C14B4801}"/>
              </a:ext>
            </a:extLst>
          </p:cNvPr>
          <p:cNvSpPr txBox="1"/>
          <p:nvPr/>
        </p:nvSpPr>
        <p:spPr>
          <a:xfrm>
            <a:off x="1577769" y="2375209"/>
            <a:ext cx="1738435" cy="923330"/>
          </a:xfrm>
          <a:prstGeom prst="rect">
            <a:avLst/>
          </a:prstGeom>
          <a:solidFill>
            <a:srgbClr val="FCD94A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pt-PT" sz="5400" b="1" i="1" dirty="0" err="1">
                <a:latin typeface="Avenir Medium" panose="02000503020000020003" pitchFamily="2" charset="0"/>
              </a:rPr>
              <a:t>keys</a:t>
            </a:r>
            <a:endParaRPr lang="en-PT" sz="5400" b="1" i="1" dirty="0">
              <a:latin typeface="Avenir Medium" panose="02000503020000020003" pitchFamily="2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6DE8289-363B-5EB2-B521-0F0C62009E4D}"/>
              </a:ext>
            </a:extLst>
          </p:cNvPr>
          <p:cNvGrpSpPr/>
          <p:nvPr/>
        </p:nvGrpSpPr>
        <p:grpSpPr>
          <a:xfrm>
            <a:off x="5000350" y="2060581"/>
            <a:ext cx="5935487" cy="3388197"/>
            <a:chOff x="4325846" y="1821431"/>
            <a:chExt cx="8294247" cy="4734665"/>
          </a:xfrm>
        </p:grpSpPr>
        <p:pic>
          <p:nvPicPr>
            <p:cNvPr id="8" name="Graphic 7" descr="Key outline">
              <a:extLst>
                <a:ext uri="{FF2B5EF4-FFF2-40B4-BE49-F238E27FC236}">
                  <a16:creationId xmlns:a16="http://schemas.microsoft.com/office/drawing/2014/main" id="{292F19A4-BBD9-5C80-F662-DD589565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8012368" flipV="1">
              <a:off x="5311298" y="1821431"/>
              <a:ext cx="4734665" cy="4734665"/>
            </a:xfrm>
            <a:prstGeom prst="rect">
              <a:avLst/>
            </a:prstGeom>
          </p:spPr>
        </p:pic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FB556AE-1E26-40BB-7950-56BDEF3548B2}"/>
                </a:ext>
              </a:extLst>
            </p:cNvPr>
            <p:cNvGrpSpPr/>
            <p:nvPr/>
          </p:nvGrpSpPr>
          <p:grpSpPr>
            <a:xfrm>
              <a:off x="4325848" y="2363716"/>
              <a:ext cx="8294246" cy="3542699"/>
              <a:chOff x="4325848" y="2363716"/>
              <a:chExt cx="8294246" cy="3542699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F3DD5C5-8A08-A77C-8B61-336F60DA89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3749" y="2542326"/>
                <a:ext cx="1620000" cy="1620000"/>
              </a:xfrm>
              <a:prstGeom prst="ellipse">
                <a:avLst/>
              </a:prstGeom>
              <a:solidFill>
                <a:srgbClr val="FF9300"/>
              </a:solidFill>
              <a:ln>
                <a:solidFill>
                  <a:srgbClr val="F7931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T" dirty="0"/>
              </a:p>
            </p:txBody>
          </p:sp>
          <p:pic>
            <p:nvPicPr>
              <p:cNvPr id="13" name="Picture 12" descr="A white b on an orange background&#10;&#10;Description automatically generated">
                <a:extLst>
                  <a:ext uri="{FF2B5EF4-FFF2-40B4-BE49-F238E27FC236}">
                    <a16:creationId xmlns:a16="http://schemas.microsoft.com/office/drawing/2014/main" id="{A9BCEAC0-6C8A-03CA-D9FB-8DC499DF29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923087">
                <a:off x="8156832" y="2917604"/>
                <a:ext cx="613833" cy="879134"/>
              </a:xfrm>
              <a:prstGeom prst="rect">
                <a:avLst/>
              </a:prstGeom>
            </p:spPr>
          </p:pic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5FD38794-264A-33BF-2EF9-22A03D28BF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77347" y="2453913"/>
                <a:ext cx="2687339" cy="242196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Elbow Connector 17">
                <a:extLst>
                  <a:ext uri="{FF2B5EF4-FFF2-40B4-BE49-F238E27FC236}">
                    <a16:creationId xmlns:a16="http://schemas.microsoft.com/office/drawing/2014/main" id="{DEC8ED55-03C4-0701-5FC5-68AAE3980EB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506808" y="3450134"/>
                <a:ext cx="2919490" cy="268962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C38032C-A31D-CF8B-BC97-9617649578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446579" y="3033656"/>
                <a:ext cx="1869019" cy="13715"/>
              </a:xfrm>
              <a:prstGeom prst="line">
                <a:avLst/>
              </a:prstGeom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7868F9F-7E73-9E65-51C4-948D9523E88E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11960665" y="2363716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T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74F2DF9-AE17-3F2D-1219-8D0B617C084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11323964" y="2957371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T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6519EF2-EEDD-4078-7064-96C1787B9DA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12440094" y="3629724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T"/>
              </a:p>
            </p:txBody>
          </p:sp>
          <p:cxnSp>
            <p:nvCxnSpPr>
              <p:cNvPr id="30" name="Elbow Connector 29">
                <a:extLst>
                  <a:ext uri="{FF2B5EF4-FFF2-40B4-BE49-F238E27FC236}">
                    <a16:creationId xmlns:a16="http://schemas.microsoft.com/office/drawing/2014/main" id="{F8461C2E-6613-ACDD-E6A5-0D55F1F6E6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2720" y="2453913"/>
                <a:ext cx="2687339" cy="242196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Elbow Connector 30">
                <a:extLst>
                  <a:ext uri="{FF2B5EF4-FFF2-40B4-BE49-F238E27FC236}">
                    <a16:creationId xmlns:a16="http://schemas.microsoft.com/office/drawing/2014/main" id="{B896854A-C282-8EBE-3DB3-9DAA8C98C08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4514945" y="3450134"/>
                <a:ext cx="2919490" cy="268962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647EFCF-AA03-975F-AC2B-E4E88C4860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76174" y="3033656"/>
                <a:ext cx="1869019" cy="13715"/>
              </a:xfrm>
              <a:prstGeom prst="line">
                <a:avLst/>
              </a:prstGeom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2B585D2-B4BD-DFCD-4740-95783AA9BF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0247" y="2363716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T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1543136-3F48-DDF9-6EFF-ADB81D88844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87311" y="2957371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T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A2E145E-B72D-6951-EB8D-02838001C8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25848" y="3629724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T"/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89C8A8F-D86E-8B60-A163-CE100A5C4A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403041" y="3813070"/>
                <a:ext cx="556677" cy="10088"/>
              </a:xfrm>
              <a:prstGeom prst="line">
                <a:avLst/>
              </a:prstGeom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A37E35EC-F5D7-4B6C-59B5-B7FEF49AF1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23225" y="4165351"/>
                <a:ext cx="0" cy="423650"/>
              </a:xfrm>
              <a:prstGeom prst="line">
                <a:avLst/>
              </a:prstGeom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57645579-43C9-B3D0-23C7-320549C5E2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75985" y="4303194"/>
                <a:ext cx="0" cy="921584"/>
              </a:xfrm>
              <a:prstGeom prst="line">
                <a:avLst/>
              </a:prstGeom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63D6EAB-F5B0-0D4A-12E0-7E4D7D23E3E0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8820227" y="5226284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T"/>
              </a:p>
            </p:txBody>
          </p:sp>
          <p:cxnSp>
            <p:nvCxnSpPr>
              <p:cNvPr id="46" name="Elbow Connector 45">
                <a:extLst>
                  <a:ext uri="{FF2B5EF4-FFF2-40B4-BE49-F238E27FC236}">
                    <a16:creationId xmlns:a16="http://schemas.microsoft.com/office/drawing/2014/main" id="{6AA56260-08ED-B189-2640-66816323F4B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777244" y="5001875"/>
                <a:ext cx="1290062" cy="134466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B5104CA5-5B6D-EC80-B104-D711FEF7962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8264293" y="5726415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F7931A">
                    <a:alpha val="85098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T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6600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ADA2-C17F-8542-2CEF-DAC7B6FF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Carteiras Bitcoin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C4CBB3-B911-0141-5A42-32E2780FE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56617"/>
            <a:ext cx="10515600" cy="8753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T" dirty="0"/>
              <a:t>Servem para guardar a chave privada, consultar o saldo e fazer transações.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06BBFA-3E6E-777C-B379-C0EEDBA5B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9245" y="1803399"/>
            <a:ext cx="3713114" cy="305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25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06B85-E1E2-4B11-38C4-3F50ABF90F90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739778" y="810079"/>
            <a:ext cx="4589461" cy="1039914"/>
          </a:xfrm>
        </p:spPr>
        <p:txBody>
          <a:bodyPr/>
          <a:lstStyle/>
          <a:p>
            <a:pPr algn="ctr"/>
            <a:r>
              <a:rPr lang="en-PT" dirty="0"/>
              <a:t>Carteira </a:t>
            </a:r>
            <a:r>
              <a:rPr lang="en-PT" i="1" dirty="0"/>
              <a:t>online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9321C7-53BC-A7A5-4AB7-A0DD76C9601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rgbClr val="9494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9A1948B-D9C1-A38A-6DAF-8B2DC1FA41CF}"/>
              </a:ext>
            </a:extLst>
          </p:cNvPr>
          <p:cNvSpPr txBox="1">
            <a:spLocks/>
          </p:cNvSpPr>
          <p:nvPr/>
        </p:nvSpPr>
        <p:spPr>
          <a:xfrm>
            <a:off x="6707186" y="810079"/>
            <a:ext cx="4900609" cy="1039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 baseline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T" dirty="0">
                <a:solidFill>
                  <a:schemeClr val="tx1"/>
                </a:solidFill>
              </a:rPr>
              <a:t>Carteira </a:t>
            </a:r>
            <a:r>
              <a:rPr lang="en-PT" i="1" dirty="0">
                <a:solidFill>
                  <a:schemeClr val="tx1"/>
                </a:solidFill>
              </a:rPr>
              <a:t>offline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FE2CD0-EEC5-961D-865A-EB6FD3396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1052" y="2252893"/>
            <a:ext cx="4965895" cy="4202207"/>
          </a:xfrm>
        </p:spPr>
        <p:txBody>
          <a:bodyPr>
            <a:normAutofit/>
          </a:bodyPr>
          <a:lstStyle/>
          <a:p>
            <a:r>
              <a:rPr lang="en-PT" sz="2800" dirty="0">
                <a:solidFill>
                  <a:schemeClr val="tx1"/>
                </a:solidFill>
              </a:rPr>
              <a:t>Não está conectada à internet</a:t>
            </a:r>
          </a:p>
          <a:p>
            <a:r>
              <a:rPr lang="en-PT" sz="2800" dirty="0">
                <a:solidFill>
                  <a:schemeClr val="tx1"/>
                </a:solidFill>
              </a:rPr>
              <a:t>Pode estar guardada num dispositivo físico</a:t>
            </a:r>
          </a:p>
          <a:p>
            <a:r>
              <a:rPr lang="en-PT" sz="2800" dirty="0">
                <a:solidFill>
                  <a:schemeClr val="tx1"/>
                </a:solidFill>
              </a:rPr>
              <a:t>Só é utilizada para assinar transações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E886CB92-AABE-B9DB-BCE2-10F3C9015536}"/>
              </a:ext>
            </a:extLst>
          </p:cNvPr>
          <p:cNvSpPr txBox="1">
            <a:spLocks/>
          </p:cNvSpPr>
          <p:nvPr/>
        </p:nvSpPr>
        <p:spPr>
          <a:xfrm>
            <a:off x="549813" y="2269023"/>
            <a:ext cx="4965895" cy="4202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T" sz="2800" dirty="0"/>
              <a:t>Conectada à internet</a:t>
            </a:r>
          </a:p>
          <a:p>
            <a:r>
              <a:rPr lang="en-PT" sz="2800" dirty="0"/>
              <a:t>É possível aceder através do computador ou telemóvel</a:t>
            </a:r>
          </a:p>
          <a:p>
            <a:r>
              <a:rPr lang="en-PT" sz="2800" dirty="0"/>
              <a:t>É mais vulnerável a ataques informáticos</a:t>
            </a:r>
          </a:p>
        </p:txBody>
      </p:sp>
      <p:pic>
        <p:nvPicPr>
          <p:cNvPr id="10" name="Picture 9" descr="A qr code on a cell phone&#10;&#10;Description automatically generated">
            <a:extLst>
              <a:ext uri="{FF2B5EF4-FFF2-40B4-BE49-F238E27FC236}">
                <a16:creationId xmlns:a16="http://schemas.microsoft.com/office/drawing/2014/main" id="{45C62E24-E487-7B05-2D8E-44620E6F8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295" y="5261316"/>
            <a:ext cx="1536943" cy="162894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D3D3744-BCD4-880B-28DD-0B07612732D7}"/>
              </a:ext>
            </a:extLst>
          </p:cNvPr>
          <p:cNvGrpSpPr/>
          <p:nvPr/>
        </p:nvGrpSpPr>
        <p:grpSpPr>
          <a:xfrm>
            <a:off x="9144760" y="4773856"/>
            <a:ext cx="2172077" cy="2172077"/>
            <a:chOff x="9347960" y="4837356"/>
            <a:chExt cx="2172077" cy="2172077"/>
          </a:xfrm>
        </p:grpSpPr>
        <p:pic>
          <p:nvPicPr>
            <p:cNvPr id="13" name="Graphic 12" descr="Usb Stick with solid fill">
              <a:extLst>
                <a:ext uri="{FF2B5EF4-FFF2-40B4-BE49-F238E27FC236}">
                  <a16:creationId xmlns:a16="http://schemas.microsoft.com/office/drawing/2014/main" id="{0C8A9EF1-8941-1114-D946-CD6E1512B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478066">
              <a:off x="9347960" y="4837356"/>
              <a:ext cx="2172077" cy="2172077"/>
            </a:xfrm>
            <a:prstGeom prst="rect">
              <a:avLst/>
            </a:prstGeom>
          </p:spPr>
        </p:pic>
        <p:pic>
          <p:nvPicPr>
            <p:cNvPr id="1028" name="Picture 4" descr="Download HD Bellswhitejonny - Bitcoin B White Png Transparent PNG Image ...">
              <a:extLst>
                <a:ext uri="{FF2B5EF4-FFF2-40B4-BE49-F238E27FC236}">
                  <a16:creationId xmlns:a16="http://schemas.microsoft.com/office/drawing/2014/main" id="{DC19A2E1-06DE-0588-D3A6-9AB1EC19C4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393287">
              <a:off x="9783368" y="5862733"/>
              <a:ext cx="323043" cy="4465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18668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F2A30-26E4-0140-F170-9BE07A59A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Chave Privada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CFCEB-E522-3C92-870F-F77402DAE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4500"/>
              </a:lnSpc>
            </a:pPr>
            <a:r>
              <a:rPr lang="en-PT" dirty="0"/>
              <a:t>A chave privada é representada por uma sequência de 12 ou 24 palavras (</a:t>
            </a:r>
            <a:r>
              <a:rPr lang="en-PT" i="1" dirty="0"/>
              <a:t>seed words</a:t>
            </a:r>
            <a:r>
              <a:rPr lang="en-PT" dirty="0"/>
              <a:t>).</a:t>
            </a:r>
          </a:p>
          <a:p>
            <a:pPr>
              <a:lnSpc>
                <a:spcPts val="4500"/>
              </a:lnSpc>
            </a:pPr>
            <a:r>
              <a:rPr lang="en-GB" dirty="0" err="1"/>
              <a:t>Estas</a:t>
            </a:r>
            <a:r>
              <a:rPr lang="en-GB" dirty="0"/>
              <a:t> </a:t>
            </a:r>
            <a:r>
              <a:rPr lang="en-GB" dirty="0" err="1"/>
              <a:t>palavras</a:t>
            </a:r>
            <a:r>
              <a:rPr lang="en-GB" dirty="0"/>
              <a:t> </a:t>
            </a:r>
            <a:r>
              <a:rPr lang="en-GB" dirty="0" err="1"/>
              <a:t>permitem</a:t>
            </a:r>
            <a:r>
              <a:rPr lang="en-GB" dirty="0"/>
              <a:t> o </a:t>
            </a:r>
            <a:r>
              <a:rPr lang="en-GB" dirty="0" err="1"/>
              <a:t>acesso</a:t>
            </a:r>
            <a:r>
              <a:rPr lang="en-GB" dirty="0"/>
              <a:t> à </a:t>
            </a:r>
            <a:r>
              <a:rPr lang="en-GB" dirty="0" err="1"/>
              <a:t>carteira</a:t>
            </a:r>
            <a:r>
              <a:rPr lang="en-GB" dirty="0"/>
              <a:t> e </a:t>
            </a:r>
            <a:r>
              <a:rPr lang="en-GB" dirty="0" err="1"/>
              <a:t>aos</a:t>
            </a:r>
            <a:r>
              <a:rPr lang="en-GB" dirty="0"/>
              <a:t> </a:t>
            </a:r>
            <a:r>
              <a:rPr lang="en-GB" dirty="0" err="1"/>
              <a:t>fundos</a:t>
            </a:r>
            <a:r>
              <a:rPr lang="en-GB" dirty="0"/>
              <a:t> </a:t>
            </a:r>
            <a:r>
              <a:rPr lang="en-GB" dirty="0" err="1"/>
              <a:t>lá</a:t>
            </a:r>
            <a:r>
              <a:rPr lang="en-GB" dirty="0"/>
              <a:t> </a:t>
            </a:r>
            <a:r>
              <a:rPr lang="en-GB" dirty="0" err="1"/>
              <a:t>guardados</a:t>
            </a:r>
            <a:r>
              <a:rPr lang="en-GB" dirty="0"/>
              <a:t>. </a:t>
            </a:r>
          </a:p>
          <a:p>
            <a:pPr>
              <a:lnSpc>
                <a:spcPts val="4500"/>
              </a:lnSpc>
            </a:pPr>
            <a:r>
              <a:rPr lang="en-PT" dirty="0"/>
              <a:t>As palavras da chave privada são mais importantes do que a aplicação/dispositivo que as contém.</a:t>
            </a:r>
          </a:p>
        </p:txBody>
      </p:sp>
    </p:spTree>
    <p:extLst>
      <p:ext uri="{BB962C8B-B14F-4D97-AF65-F5344CB8AC3E}">
        <p14:creationId xmlns:p14="http://schemas.microsoft.com/office/powerpoint/2010/main" val="2751212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ADA2-C17F-8542-2CEF-DAC7B6FF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Cópia de Segurança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C4CBB3-B911-0141-5A42-32E2780FE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4124" y="3571440"/>
            <a:ext cx="7086600" cy="2408432"/>
          </a:xfrm>
        </p:spPr>
        <p:txBody>
          <a:bodyPr>
            <a:normAutofit/>
          </a:bodyPr>
          <a:lstStyle/>
          <a:p>
            <a:r>
              <a:rPr lang="en-GB" dirty="0" err="1"/>
              <a:t>Não</a:t>
            </a:r>
            <a:r>
              <a:rPr lang="en-GB" dirty="0"/>
              <a:t> </a:t>
            </a:r>
            <a:r>
              <a:rPr lang="en-GB" dirty="0" err="1"/>
              <a:t>manter</a:t>
            </a:r>
            <a:r>
              <a:rPr lang="en-GB" dirty="0"/>
              <a:t> um </a:t>
            </a:r>
            <a:r>
              <a:rPr lang="en-GB" dirty="0" err="1"/>
              <a:t>cópia</a:t>
            </a:r>
            <a:r>
              <a:rPr lang="en-GB" dirty="0"/>
              <a:t> digital das </a:t>
            </a:r>
            <a:r>
              <a:rPr lang="en-PT" dirty="0"/>
              <a:t>palavras.</a:t>
            </a:r>
            <a:endParaRPr lang="en-GB" dirty="0"/>
          </a:p>
          <a:p>
            <a:r>
              <a:rPr lang="en-GB" dirty="0" err="1"/>
              <a:t>Não</a:t>
            </a:r>
            <a:r>
              <a:rPr lang="en-GB" dirty="0"/>
              <a:t> </a:t>
            </a:r>
            <a:r>
              <a:rPr lang="en-GB" dirty="0" err="1"/>
              <a:t>escrever</a:t>
            </a:r>
            <a:r>
              <a:rPr lang="en-GB" dirty="0"/>
              <a:t> as </a:t>
            </a:r>
            <a:r>
              <a:rPr lang="en-GB" dirty="0" err="1"/>
              <a:t>palavras</a:t>
            </a:r>
            <a:r>
              <a:rPr lang="en-GB" dirty="0"/>
              <a:t> </a:t>
            </a:r>
            <a:r>
              <a:rPr lang="en-GB" dirty="0" err="1"/>
              <a:t>num</a:t>
            </a:r>
            <a:r>
              <a:rPr lang="en-GB" dirty="0"/>
              <a:t> </a:t>
            </a:r>
            <a:r>
              <a:rPr lang="en-GB" dirty="0" err="1"/>
              <a:t>computador</a:t>
            </a:r>
            <a:r>
              <a:rPr lang="en-GB" dirty="0"/>
              <a:t> </a:t>
            </a:r>
            <a:r>
              <a:rPr lang="en-GB" dirty="0" err="1"/>
              <a:t>ligado</a:t>
            </a:r>
            <a:r>
              <a:rPr lang="en-GB" dirty="0"/>
              <a:t> à internet.</a:t>
            </a:r>
          </a:p>
          <a:p>
            <a:r>
              <a:rPr lang="en-GB" dirty="0" err="1"/>
              <a:t>Não</a:t>
            </a:r>
            <a:r>
              <a:rPr lang="en-GB" dirty="0"/>
              <a:t> </a:t>
            </a:r>
            <a:r>
              <a:rPr lang="en-GB" dirty="0" err="1"/>
              <a:t>dizer</a:t>
            </a:r>
            <a:r>
              <a:rPr lang="en-GB" dirty="0"/>
              <a:t> as </a:t>
            </a:r>
            <a:r>
              <a:rPr lang="en-GB" dirty="0" err="1"/>
              <a:t>palavras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voz</a:t>
            </a:r>
            <a:r>
              <a:rPr lang="en-GB" dirty="0"/>
              <a:t> </a:t>
            </a:r>
            <a:r>
              <a:rPr lang="en-GB" dirty="0" err="1"/>
              <a:t>alta</a:t>
            </a:r>
            <a:r>
              <a:rPr lang="en-PT" dirty="0"/>
              <a:t>.</a:t>
            </a:r>
          </a:p>
          <a:p>
            <a:endParaRPr lang="en-PT" dirty="0"/>
          </a:p>
        </p:txBody>
      </p:sp>
      <p:pic>
        <p:nvPicPr>
          <p:cNvPr id="3" name="Graphic 2" descr="Warning outline">
            <a:extLst>
              <a:ext uri="{FF2B5EF4-FFF2-40B4-BE49-F238E27FC236}">
                <a16:creationId xmlns:a16="http://schemas.microsoft.com/office/drawing/2014/main" id="{E79BA192-7CF4-CA15-A160-6095CA66B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6492" y="3644829"/>
            <a:ext cx="1696162" cy="169616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6846BD-A95E-9DCD-E050-CF8635F22F2C}"/>
              </a:ext>
            </a:extLst>
          </p:cNvPr>
          <p:cNvSpPr txBox="1">
            <a:spLocks/>
          </p:cNvSpPr>
          <p:nvPr/>
        </p:nvSpPr>
        <p:spPr>
          <a:xfrm>
            <a:off x="838200" y="1939926"/>
            <a:ext cx="10515600" cy="143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PT" dirty="0"/>
              <a:t>É necessário manter uma cópia de segurança </a:t>
            </a:r>
            <a:r>
              <a:rPr lang="en-GB" dirty="0"/>
              <a:t>das </a:t>
            </a:r>
            <a:r>
              <a:rPr lang="en-PT" dirty="0"/>
              <a:t>palavras da chave privada para restaurar o acesso à carteira.</a:t>
            </a:r>
          </a:p>
        </p:txBody>
      </p:sp>
    </p:spTree>
    <p:extLst>
      <p:ext uri="{BB962C8B-B14F-4D97-AF65-F5344CB8AC3E}">
        <p14:creationId xmlns:p14="http://schemas.microsoft.com/office/powerpoint/2010/main" val="337797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ADA2-C17F-8542-2CEF-DAC7B6FF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Cópia de Segurança</a:t>
            </a:r>
          </a:p>
        </p:txBody>
      </p:sp>
      <p:pic>
        <p:nvPicPr>
          <p:cNvPr id="2050" name="Picture 2" descr="Set of burning paper vector art Vectors graphic art designs in editable ...">
            <a:extLst>
              <a:ext uri="{FF2B5EF4-FFF2-40B4-BE49-F238E27FC236}">
                <a16:creationId xmlns:a16="http://schemas.microsoft.com/office/drawing/2014/main" id="{CEFC69E9-8435-958E-CD24-A67D507357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67" b="62314"/>
          <a:stretch/>
        </p:blipFill>
        <p:spPr bwMode="auto">
          <a:xfrm>
            <a:off x="838200" y="2840261"/>
            <a:ext cx="2873506" cy="1927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aper and water droplets stock illustration. Image of artwork - 12665157">
            <a:extLst>
              <a:ext uri="{FF2B5EF4-FFF2-40B4-BE49-F238E27FC236}">
                <a16:creationId xmlns:a16="http://schemas.microsoft.com/office/drawing/2014/main" id="{BE223316-E84C-EB39-3A29-56EB9A4562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"/>
          <a:stretch/>
        </p:blipFill>
        <p:spPr bwMode="auto">
          <a:xfrm>
            <a:off x="3938361" y="2351311"/>
            <a:ext cx="1812177" cy="241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3C6B-4732-3393-E147-41E4AD594C23}"/>
              </a:ext>
            </a:extLst>
          </p:cNvPr>
          <p:cNvSpPr txBox="1">
            <a:spLocks/>
          </p:cNvSpPr>
          <p:nvPr/>
        </p:nvSpPr>
        <p:spPr>
          <a:xfrm>
            <a:off x="6609457" y="5178879"/>
            <a:ext cx="4900609" cy="1039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 baseline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T" sz="2800" dirty="0">
                <a:latin typeface="Avenir Light" panose="020B0402020203020204" pitchFamily="34" charset="77"/>
              </a:rPr>
              <a:t>Em metal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2C09F62-B385-1892-7B7A-4C2E0D2DC4C1}"/>
              </a:ext>
            </a:extLst>
          </p:cNvPr>
          <p:cNvSpPr txBox="1">
            <a:spLocks/>
          </p:cNvSpPr>
          <p:nvPr/>
        </p:nvSpPr>
        <p:spPr>
          <a:xfrm>
            <a:off x="584205" y="5178879"/>
            <a:ext cx="4900609" cy="1039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 baseline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T" sz="2800" dirty="0">
                <a:latin typeface="Avenir Light" panose="020B0402020203020204" pitchFamily="34" charset="77"/>
              </a:rPr>
              <a:t>Em papel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45B67B1E-EB42-3825-30D6-89AE8283C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9761" y="2803447"/>
            <a:ext cx="2873506" cy="237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0C97AC2-366C-CF93-2230-A54A594DF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53" y="2386128"/>
            <a:ext cx="2458048" cy="2097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7555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660E-7888-F1CD-AB9A-0C682A18A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PT" sz="4800" dirty="0">
                <a:solidFill>
                  <a:schemeClr val="bg1">
                    <a:lumMod val="95000"/>
                  </a:schemeClr>
                </a:solidFill>
              </a:rPr>
              <a:t>Demonstração prática</a:t>
            </a:r>
          </a:p>
        </p:txBody>
      </p:sp>
    </p:spTree>
    <p:extLst>
      <p:ext uri="{BB962C8B-B14F-4D97-AF65-F5344CB8AC3E}">
        <p14:creationId xmlns:p14="http://schemas.microsoft.com/office/powerpoint/2010/main" val="3944586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AB78A56-512A-B2A2-1F08-AB521A6BB26E}"/>
              </a:ext>
            </a:extLst>
          </p:cNvPr>
          <p:cNvGrpSpPr/>
          <p:nvPr/>
        </p:nvGrpSpPr>
        <p:grpSpPr>
          <a:xfrm>
            <a:off x="6940630" y="477518"/>
            <a:ext cx="2761200" cy="5892458"/>
            <a:chOff x="6940630" y="477518"/>
            <a:chExt cx="2761200" cy="5892458"/>
          </a:xfrm>
        </p:grpSpPr>
        <p:pic>
          <p:nvPicPr>
            <p:cNvPr id="13" name="Picture 12" descr="A screenshot of a phone&#10;&#10;Description automatically generated">
              <a:extLst>
                <a:ext uri="{FF2B5EF4-FFF2-40B4-BE49-F238E27FC236}">
                  <a16:creationId xmlns:a16="http://schemas.microsoft.com/office/drawing/2014/main" id="{640DA1FA-022D-474A-75B5-E5BE2C077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2602"/>
            <a:stretch/>
          </p:blipFill>
          <p:spPr>
            <a:xfrm>
              <a:off x="6941225" y="477518"/>
              <a:ext cx="2758916" cy="2292818"/>
            </a:xfrm>
            <a:prstGeom prst="rect">
              <a:avLst/>
            </a:prstGeom>
          </p:spPr>
        </p:pic>
        <p:pic>
          <p:nvPicPr>
            <p:cNvPr id="14" name="Picture 13" descr="A screenshot of a phone&#10;&#10;Description automatically generated">
              <a:extLst>
                <a:ext uri="{FF2B5EF4-FFF2-40B4-BE49-F238E27FC236}">
                  <a16:creationId xmlns:a16="http://schemas.microsoft.com/office/drawing/2014/main" id="{6B796C3C-9385-6162-2AAA-736503452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6963"/>
            <a:stretch/>
          </p:blipFill>
          <p:spPr>
            <a:xfrm>
              <a:off x="6941225" y="3118277"/>
              <a:ext cx="2758916" cy="3251699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988295-4D8B-6475-AD88-305018DDEBB1}"/>
                </a:ext>
              </a:extLst>
            </p:cNvPr>
            <p:cNvSpPr/>
            <p:nvPr/>
          </p:nvSpPr>
          <p:spPr>
            <a:xfrm>
              <a:off x="6940630" y="2770408"/>
              <a:ext cx="2761200" cy="3478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</p:grpSp>
      <p:pic>
        <p:nvPicPr>
          <p:cNvPr id="7" name="Content Placeholder 6" descr="A black cell phone with a black screen&#10;&#10;Description automatically generated">
            <a:extLst>
              <a:ext uri="{FF2B5EF4-FFF2-40B4-BE49-F238E27FC236}">
                <a16:creationId xmlns:a16="http://schemas.microsoft.com/office/drawing/2014/main" id="{40E1CD9E-32D8-36F7-6A9C-C08DE8852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1462" y="363538"/>
            <a:ext cx="3077252" cy="6130925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D93B-033E-465A-6702-85953D80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5014" y="1330036"/>
            <a:ext cx="4141786" cy="51652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É uma carteira Bitcoin não-custodial – as chaves privadas são do utilizador.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É uma carteira que está conectada à internet.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Pode ser utilizada como carteira de visualização (apenas para consultar o saldo).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Pode ser utilizada como carteira </a:t>
            </a:r>
            <a:r>
              <a:rPr lang="en-PT" sz="2000" dirty="0"/>
              <a:t>Lightning</a:t>
            </a:r>
            <a:r>
              <a:rPr lang="en-PT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4BC64-7E5A-9B5D-33F9-CA7463672F08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735014" y="362758"/>
            <a:ext cx="4037012" cy="806335"/>
          </a:xfrm>
        </p:spPr>
        <p:txBody>
          <a:bodyPr/>
          <a:lstStyle/>
          <a:p>
            <a:r>
              <a:rPr lang="en-GB" dirty="0" err="1"/>
              <a:t>Instalar</a:t>
            </a:r>
            <a:r>
              <a:rPr lang="en-GB" dirty="0"/>
              <a:t> </a:t>
            </a:r>
            <a:r>
              <a:rPr lang="en-GB" dirty="0" err="1"/>
              <a:t>BlueWallet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661235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EEA1363-9206-72B4-3C16-E3720EBD2AAC}"/>
              </a:ext>
            </a:extLst>
          </p:cNvPr>
          <p:cNvGrpSpPr/>
          <p:nvPr/>
        </p:nvGrpSpPr>
        <p:grpSpPr>
          <a:xfrm>
            <a:off x="6939488" y="501304"/>
            <a:ext cx="2761200" cy="5886621"/>
            <a:chOff x="6939488" y="501304"/>
            <a:chExt cx="2761200" cy="5886621"/>
          </a:xfrm>
        </p:grpSpPr>
        <p:pic>
          <p:nvPicPr>
            <p:cNvPr id="5" name="Picture 4" descr="A screenshot of a phone&#10;&#10;Description automatically generated">
              <a:extLst>
                <a:ext uri="{FF2B5EF4-FFF2-40B4-BE49-F238E27FC236}">
                  <a16:creationId xmlns:a16="http://schemas.microsoft.com/office/drawing/2014/main" id="{DBF8B8A1-BB4E-65DB-4BBB-2EA5AFE51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9208"/>
            <a:stretch/>
          </p:blipFill>
          <p:spPr>
            <a:xfrm>
              <a:off x="6939488" y="501304"/>
              <a:ext cx="2761200" cy="4957387"/>
            </a:xfrm>
            <a:prstGeom prst="rect">
              <a:avLst/>
            </a:prstGeom>
          </p:spPr>
        </p:pic>
        <p:pic>
          <p:nvPicPr>
            <p:cNvPr id="6" name="Picture 5" descr="A screenshot of a phone&#10;&#10;Description automatically generated">
              <a:extLst>
                <a:ext uri="{FF2B5EF4-FFF2-40B4-BE49-F238E27FC236}">
                  <a16:creationId xmlns:a16="http://schemas.microsoft.com/office/drawing/2014/main" id="{B24ACDCD-DA79-3A50-B73B-6E51B9A1B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3792"/>
            <a:stretch/>
          </p:blipFill>
          <p:spPr>
            <a:xfrm>
              <a:off x="6939488" y="4779821"/>
              <a:ext cx="2761200" cy="1608104"/>
            </a:xfrm>
            <a:prstGeom prst="rect">
              <a:avLst/>
            </a:prstGeom>
          </p:spPr>
        </p:pic>
      </p:grpSp>
      <p:pic>
        <p:nvPicPr>
          <p:cNvPr id="7" name="Content Placeholder 6" descr="A black cell phone with a black screen&#10;&#10;Description automatically generated">
            <a:extLst>
              <a:ext uri="{FF2B5EF4-FFF2-40B4-BE49-F238E27FC236}">
                <a16:creationId xmlns:a16="http://schemas.microsoft.com/office/drawing/2014/main" id="{40E1CD9E-32D8-36F7-6A9C-C08DE8852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1462" y="363538"/>
            <a:ext cx="3077252" cy="6130925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D93B-033E-465A-6702-85953D80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5014" y="1330036"/>
            <a:ext cx="4141786" cy="51652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Clicar em “Adicionar agora”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PT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PT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PT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PT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P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Dar um nome à carteira e selecionar tipo ”Bitcoin”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Clicar em “Adicionar”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4BC64-7E5A-9B5D-33F9-CA7463672F08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735014" y="362758"/>
            <a:ext cx="4037012" cy="806335"/>
          </a:xfrm>
        </p:spPr>
        <p:txBody>
          <a:bodyPr/>
          <a:lstStyle/>
          <a:p>
            <a:r>
              <a:rPr lang="en-GB" dirty="0" err="1"/>
              <a:t>Criar</a:t>
            </a:r>
            <a:r>
              <a:rPr lang="en-GB" dirty="0"/>
              <a:t> </a:t>
            </a:r>
            <a:r>
              <a:rPr lang="en-GB" dirty="0" err="1"/>
              <a:t>carteira</a:t>
            </a:r>
            <a:endParaRPr lang="en-PT" dirty="0"/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52C6429E-9894-4905-6926-79C05CBFE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035" y="2378359"/>
            <a:ext cx="29210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64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2112B60D-5303-250A-A558-94FAE3B99A9D}"/>
              </a:ext>
            </a:extLst>
          </p:cNvPr>
          <p:cNvGrpSpPr/>
          <p:nvPr/>
        </p:nvGrpSpPr>
        <p:grpSpPr>
          <a:xfrm>
            <a:off x="6947356" y="488947"/>
            <a:ext cx="2770876" cy="5898978"/>
            <a:chOff x="3486524" y="488947"/>
            <a:chExt cx="2770876" cy="589897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F4AC95F-B2FC-34D4-1C7D-10EFE2CBA6C9}"/>
                </a:ext>
              </a:extLst>
            </p:cNvPr>
            <p:cNvSpPr/>
            <p:nvPr/>
          </p:nvSpPr>
          <p:spPr>
            <a:xfrm>
              <a:off x="3486524" y="501304"/>
              <a:ext cx="2761200" cy="58866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 dirty="0"/>
            </a:p>
          </p:txBody>
        </p:sp>
        <p:pic>
          <p:nvPicPr>
            <p:cNvPr id="10" name="Picture 9" descr="A screenshot of a phone&#10;&#10;Description automatically generated">
              <a:extLst>
                <a:ext uri="{FF2B5EF4-FFF2-40B4-BE49-F238E27FC236}">
                  <a16:creationId xmlns:a16="http://schemas.microsoft.com/office/drawing/2014/main" id="{1CD8270C-C300-FB4A-7FE1-2AA63D3F2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94543"/>
            <a:stretch/>
          </p:blipFill>
          <p:spPr>
            <a:xfrm>
              <a:off x="3486524" y="488947"/>
              <a:ext cx="2761200" cy="334837"/>
            </a:xfrm>
            <a:prstGeom prst="rect">
              <a:avLst/>
            </a:prstGeom>
          </p:spPr>
        </p:pic>
        <p:pic>
          <p:nvPicPr>
            <p:cNvPr id="11" name="Picture 10" descr="A screenshot of a phone&#10;&#10;Description automatically generated">
              <a:extLst>
                <a:ext uri="{FF2B5EF4-FFF2-40B4-BE49-F238E27FC236}">
                  <a16:creationId xmlns:a16="http://schemas.microsoft.com/office/drawing/2014/main" id="{B4D81974-D9E9-DD02-EAB0-75C72FE88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3792"/>
            <a:stretch/>
          </p:blipFill>
          <p:spPr>
            <a:xfrm>
              <a:off x="3496200" y="4764469"/>
              <a:ext cx="2761200" cy="160810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AF4BF78-4F46-13AA-65F9-B6868B91DA9F}"/>
                </a:ext>
              </a:extLst>
            </p:cNvPr>
            <p:cNvSpPr txBox="1"/>
            <p:nvPr/>
          </p:nvSpPr>
          <p:spPr>
            <a:xfrm>
              <a:off x="3530922" y="935992"/>
              <a:ext cx="18657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1200" dirty="0">
                  <a:latin typeface="Arial" panose="020B0604020202020204" pitchFamily="34" charset="0"/>
                  <a:cs typeface="Arial" panose="020B0604020202020204" pitchFamily="34" charset="0"/>
                </a:rPr>
                <a:t>A sua wallet foi criada…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DCD8AF-B3E1-88EA-9BE1-7521450D58F9}"/>
                </a:ext>
              </a:extLst>
            </p:cNvPr>
            <p:cNvSpPr txBox="1"/>
            <p:nvPr/>
          </p:nvSpPr>
          <p:spPr>
            <a:xfrm>
              <a:off x="3507700" y="1338446"/>
              <a:ext cx="27029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latin typeface="Arial" panose="020B0604020202020204" pitchFamily="34" charset="0"/>
                  <a:cs typeface="Arial" panose="020B0604020202020204" pitchFamily="34" charset="0"/>
                </a:rPr>
                <a:t>Please take a moment to write down this mnemonic phrase on a piece of paper.</a:t>
              </a:r>
              <a:br>
                <a:rPr lang="en-PT" sz="9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PT" sz="900" dirty="0">
                  <a:latin typeface="Arial" panose="020B0604020202020204" pitchFamily="34" charset="0"/>
                  <a:cs typeface="Arial" panose="020B0604020202020204" pitchFamily="34" charset="0"/>
                </a:rPr>
                <a:t>It’s your backup and you can use it to recover the wallet.</a:t>
              </a:r>
            </a:p>
          </p:txBody>
        </p:sp>
        <p:pic>
          <p:nvPicPr>
            <p:cNvPr id="17" name="Picture 16" descr="A screenshot of a phone&#10;&#10;Description automatically generated">
              <a:extLst>
                <a:ext uri="{FF2B5EF4-FFF2-40B4-BE49-F238E27FC236}">
                  <a16:creationId xmlns:a16="http://schemas.microsoft.com/office/drawing/2014/main" id="{EF620809-1E10-26EB-47CE-934054E5E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5853" b="47501"/>
            <a:stretch/>
          </p:blipFill>
          <p:spPr>
            <a:xfrm>
              <a:off x="3898128" y="5514234"/>
              <a:ext cx="1951981" cy="40777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740BA69-FADC-12E9-88AC-030653C0CB63}"/>
                </a:ext>
              </a:extLst>
            </p:cNvPr>
            <p:cNvSpPr txBox="1"/>
            <p:nvPr/>
          </p:nvSpPr>
          <p:spPr>
            <a:xfrm>
              <a:off x="4362812" y="5596568"/>
              <a:ext cx="1085554" cy="215444"/>
            </a:xfrm>
            <a:prstGeom prst="rect">
              <a:avLst/>
            </a:prstGeom>
            <a:solidFill>
              <a:srgbClr val="CFDDF7"/>
            </a:solidFill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solidFill>
                    <a:srgbClr val="051D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lang="en-PT" sz="800" dirty="0">
                  <a:solidFill>
                    <a:srgbClr val="051D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K, I wrote </a:t>
              </a:r>
              <a:r>
                <a:rPr lang="en-GB" sz="800" dirty="0">
                  <a:solidFill>
                    <a:srgbClr val="051D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 down.</a:t>
              </a:r>
              <a:endParaRPr lang="en-PT" sz="800" dirty="0">
                <a:solidFill>
                  <a:srgbClr val="051D4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2863833A-8762-C8A5-D91E-B9A05F8B5F86}"/>
                </a:ext>
              </a:extLst>
            </p:cNvPr>
            <p:cNvSpPr/>
            <p:nvPr/>
          </p:nvSpPr>
          <p:spPr>
            <a:xfrm>
              <a:off x="3811237" y="2201085"/>
              <a:ext cx="652642" cy="23814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 stage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5C6F17F0-5D0D-233F-D04B-6B303548B0B3}"/>
                </a:ext>
              </a:extLst>
            </p:cNvPr>
            <p:cNvSpPr/>
            <p:nvPr/>
          </p:nvSpPr>
          <p:spPr>
            <a:xfrm>
              <a:off x="5385573" y="2201085"/>
              <a:ext cx="571090" cy="23814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3. roof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22FCBAAB-3043-6E11-9E67-4DD0CCF17DB5}"/>
                </a:ext>
              </a:extLst>
            </p:cNvPr>
            <p:cNvSpPr/>
            <p:nvPr/>
          </p:nvSpPr>
          <p:spPr>
            <a:xfrm>
              <a:off x="4538914" y="2201085"/>
              <a:ext cx="782599" cy="23814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 observe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30B4D102-DC47-230C-A27A-088032492DE9}"/>
                </a:ext>
              </a:extLst>
            </p:cNvPr>
            <p:cNvSpPr/>
            <p:nvPr/>
          </p:nvSpPr>
          <p:spPr>
            <a:xfrm>
              <a:off x="3802350" y="2515266"/>
              <a:ext cx="656965" cy="23814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4. nurse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A7E1D516-12A4-53D8-AD9D-54D349FAA07A}"/>
                </a:ext>
              </a:extLst>
            </p:cNvPr>
            <p:cNvSpPr/>
            <p:nvPr/>
          </p:nvSpPr>
          <p:spPr>
            <a:xfrm>
              <a:off x="4546380" y="2515266"/>
              <a:ext cx="652642" cy="23814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5. opera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B6AE310-A9DA-D769-D02C-3C1F6719C701}"/>
                </a:ext>
              </a:extLst>
            </p:cNvPr>
            <p:cNvSpPr/>
            <p:nvPr/>
          </p:nvSpPr>
          <p:spPr>
            <a:xfrm>
              <a:off x="5277378" y="2515266"/>
              <a:ext cx="652642" cy="23814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6. today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80297F8F-8B20-30F7-D7CA-56CD033F334D}"/>
                </a:ext>
              </a:extLst>
            </p:cNvPr>
            <p:cNvSpPr/>
            <p:nvPr/>
          </p:nvSpPr>
          <p:spPr>
            <a:xfrm>
              <a:off x="3819946" y="2850648"/>
              <a:ext cx="652642" cy="23814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7. alley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71772CF3-6A9D-5D4F-A3DB-537835850DC6}"/>
                </a:ext>
              </a:extLst>
            </p:cNvPr>
            <p:cNvSpPr/>
            <p:nvPr/>
          </p:nvSpPr>
          <p:spPr>
            <a:xfrm>
              <a:off x="4543860" y="2850648"/>
              <a:ext cx="652642" cy="23814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8. short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3B9E8C3E-C571-4F6C-C651-1A75FF353B73}"/>
                </a:ext>
              </a:extLst>
            </p:cNvPr>
            <p:cNvSpPr/>
            <p:nvPr/>
          </p:nvSpPr>
          <p:spPr>
            <a:xfrm>
              <a:off x="5270288" y="2850648"/>
              <a:ext cx="652642" cy="23814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9. final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4E92BCEE-BB73-4BAE-16F1-FC59974437E7}"/>
                </a:ext>
              </a:extLst>
            </p:cNvPr>
            <p:cNvSpPr/>
            <p:nvPr/>
          </p:nvSpPr>
          <p:spPr>
            <a:xfrm>
              <a:off x="3698025" y="3186030"/>
              <a:ext cx="652642" cy="23814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10. roast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CF968F49-0688-E490-0A88-2DEFE78C4A4F}"/>
                </a:ext>
              </a:extLst>
            </p:cNvPr>
            <p:cNvSpPr/>
            <p:nvPr/>
          </p:nvSpPr>
          <p:spPr>
            <a:xfrm>
              <a:off x="4408431" y="3189416"/>
              <a:ext cx="878329" cy="23814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11. </a:t>
              </a:r>
              <a:r>
                <a:rPr lang="en-GB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P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pprove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5658BA50-344E-C28D-FAAC-50FE16AFA338}"/>
                </a:ext>
              </a:extLst>
            </p:cNvPr>
            <p:cNvSpPr/>
            <p:nvPr/>
          </p:nvSpPr>
          <p:spPr>
            <a:xfrm>
              <a:off x="5344524" y="3183956"/>
              <a:ext cx="652642" cy="23814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12. legal</a:t>
              </a:r>
            </a:p>
          </p:txBody>
        </p:sp>
      </p:grpSp>
      <p:pic>
        <p:nvPicPr>
          <p:cNvPr id="7" name="Content Placeholder 6" descr="A black cell phone with a black screen&#10;&#10;Description automatically generated">
            <a:extLst>
              <a:ext uri="{FF2B5EF4-FFF2-40B4-BE49-F238E27FC236}">
                <a16:creationId xmlns:a16="http://schemas.microsoft.com/office/drawing/2014/main" id="{40E1CD9E-32D8-36F7-6A9C-C08DE8852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1462" y="363538"/>
            <a:ext cx="3077252" cy="6130925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D93B-033E-465A-6702-85953D80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5014" y="1330036"/>
            <a:ext cx="4141786" cy="51652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Num ambiente calmo e privado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Escrever as 12 palavras num papel (a ordem interessa)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Não tirar fotos nem capturas de ecrã às palavras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Guardar o papel em local seguro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4BC64-7E5A-9B5D-33F9-CA7463672F08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735013" y="362758"/>
            <a:ext cx="5405706" cy="1245325"/>
          </a:xfrm>
        </p:spPr>
        <p:txBody>
          <a:bodyPr/>
          <a:lstStyle/>
          <a:p>
            <a:r>
              <a:rPr lang="en-PT" dirty="0"/>
              <a:t>Criar cópia de segurança</a:t>
            </a:r>
          </a:p>
        </p:txBody>
      </p:sp>
    </p:spTree>
    <p:extLst>
      <p:ext uri="{BB962C8B-B14F-4D97-AF65-F5344CB8AC3E}">
        <p14:creationId xmlns:p14="http://schemas.microsoft.com/office/powerpoint/2010/main" val="277144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CDB3FE5-7E08-8F55-2928-2F43E1ACD71C}"/>
              </a:ext>
            </a:extLst>
          </p:cNvPr>
          <p:cNvGrpSpPr/>
          <p:nvPr/>
        </p:nvGrpSpPr>
        <p:grpSpPr>
          <a:xfrm>
            <a:off x="6951063" y="492040"/>
            <a:ext cx="2761200" cy="5862345"/>
            <a:chOff x="6951063" y="492040"/>
            <a:chExt cx="2761200" cy="5862345"/>
          </a:xfrm>
        </p:grpSpPr>
        <p:pic>
          <p:nvPicPr>
            <p:cNvPr id="9" name="Picture 8" descr="A screenshot of a phone&#10;&#10;Description automatically generated">
              <a:extLst>
                <a:ext uri="{FF2B5EF4-FFF2-40B4-BE49-F238E27FC236}">
                  <a16:creationId xmlns:a16="http://schemas.microsoft.com/office/drawing/2014/main" id="{2BAD0F91-4AA7-9D45-4E31-B9098C2EB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8603"/>
            <a:stretch/>
          </p:blipFill>
          <p:spPr>
            <a:xfrm>
              <a:off x="6951063" y="492040"/>
              <a:ext cx="2761200" cy="4380902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712D510-D9C7-F9C3-2325-F26FEF5F226C}"/>
                </a:ext>
              </a:extLst>
            </p:cNvPr>
            <p:cNvGrpSpPr/>
            <p:nvPr/>
          </p:nvGrpSpPr>
          <p:grpSpPr>
            <a:xfrm>
              <a:off x="6951063" y="4028976"/>
              <a:ext cx="2761200" cy="2325409"/>
              <a:chOff x="3272157" y="2159917"/>
              <a:chExt cx="2761200" cy="2325409"/>
            </a:xfrm>
          </p:grpSpPr>
          <p:pic>
            <p:nvPicPr>
              <p:cNvPr id="11" name="Picture 10" descr="Screenshot of a phone screen&#10;&#10;Description automatically generated">
                <a:extLst>
                  <a:ext uri="{FF2B5EF4-FFF2-40B4-BE49-F238E27FC236}">
                    <a16:creationId xmlns:a16="http://schemas.microsoft.com/office/drawing/2014/main" id="{60150220-9BB3-CF45-B76E-E2A337985E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94622"/>
              <a:stretch/>
            </p:blipFill>
            <p:spPr>
              <a:xfrm>
                <a:off x="3272157" y="4155310"/>
                <a:ext cx="2761200" cy="330016"/>
              </a:xfrm>
              <a:prstGeom prst="rect">
                <a:avLst/>
              </a:prstGeom>
            </p:spPr>
          </p:pic>
          <p:pic>
            <p:nvPicPr>
              <p:cNvPr id="12" name="Picture 11" descr="Screenshot of a phone screen&#10;&#10;Description automatically generated">
                <a:extLst>
                  <a:ext uri="{FF2B5EF4-FFF2-40B4-BE49-F238E27FC236}">
                    <a16:creationId xmlns:a16="http://schemas.microsoft.com/office/drawing/2014/main" id="{C2860F07-26DF-EBF2-9523-EB325AC9C3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58503" b="8857"/>
              <a:stretch/>
            </p:blipFill>
            <p:spPr>
              <a:xfrm>
                <a:off x="3272157" y="2159917"/>
                <a:ext cx="2761200" cy="2002801"/>
              </a:xfrm>
              <a:prstGeom prst="rect">
                <a:avLst/>
              </a:prstGeom>
            </p:spPr>
          </p:pic>
        </p:grpSp>
      </p:grpSp>
      <p:pic>
        <p:nvPicPr>
          <p:cNvPr id="7" name="Content Placeholder 6" descr="A black cell phone with a black screen&#10;&#10;Description automatically generated">
            <a:extLst>
              <a:ext uri="{FF2B5EF4-FFF2-40B4-BE49-F238E27FC236}">
                <a16:creationId xmlns:a16="http://schemas.microsoft.com/office/drawing/2014/main" id="{40E1CD9E-32D8-36F7-6A9C-C08DE8852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781462" y="363538"/>
            <a:ext cx="3077252" cy="6130925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D93B-033E-465A-6702-85953D80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5014" y="1330036"/>
            <a:ext cx="4141786" cy="51652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Clicar na carteira que se pretende eliminar</a:t>
            </a:r>
          </a:p>
          <a:p>
            <a:endParaRPr lang="en-PT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PT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PT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PT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P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Selecionar “Eliminar” e confirmar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4BC64-7E5A-9B5D-33F9-CA7463672F08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735014" y="362758"/>
            <a:ext cx="4037012" cy="806335"/>
          </a:xfrm>
        </p:spPr>
        <p:txBody>
          <a:bodyPr/>
          <a:lstStyle/>
          <a:p>
            <a:r>
              <a:rPr lang="en-GB" dirty="0" err="1"/>
              <a:t>Eliminar</a:t>
            </a:r>
            <a:r>
              <a:rPr lang="en-GB" dirty="0"/>
              <a:t> </a:t>
            </a:r>
            <a:r>
              <a:rPr lang="en-GB" dirty="0" err="1"/>
              <a:t>carteira</a:t>
            </a:r>
            <a:endParaRPr lang="en-PT" dirty="0"/>
          </a:p>
        </p:txBody>
      </p:sp>
      <p:pic>
        <p:nvPicPr>
          <p:cNvPr id="6" name="Picture 5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0C7DCB56-1966-8699-647A-B96978842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362" y="2919715"/>
            <a:ext cx="27559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B7A197-6A33-9286-DB35-EFB184F3CC1B}"/>
              </a:ext>
            </a:extLst>
          </p:cNvPr>
          <p:cNvGrpSpPr/>
          <p:nvPr/>
        </p:nvGrpSpPr>
        <p:grpSpPr>
          <a:xfrm>
            <a:off x="6947356" y="488947"/>
            <a:ext cx="2770876" cy="5898978"/>
            <a:chOff x="3486524" y="488947"/>
            <a:chExt cx="2770876" cy="589897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A9D1D1B-4B03-DF52-DAF8-70FCDC270647}"/>
                </a:ext>
              </a:extLst>
            </p:cNvPr>
            <p:cNvSpPr/>
            <p:nvPr/>
          </p:nvSpPr>
          <p:spPr>
            <a:xfrm>
              <a:off x="3486524" y="501304"/>
              <a:ext cx="2761200" cy="58866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 dirty="0"/>
            </a:p>
          </p:txBody>
        </p:sp>
        <p:pic>
          <p:nvPicPr>
            <p:cNvPr id="6" name="Picture 5" descr="A screenshot of a phone&#10;&#10;Description automatically generated">
              <a:extLst>
                <a:ext uri="{FF2B5EF4-FFF2-40B4-BE49-F238E27FC236}">
                  <a16:creationId xmlns:a16="http://schemas.microsoft.com/office/drawing/2014/main" id="{42A149EE-282A-7FE5-8F8A-F75728D57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94543"/>
            <a:stretch/>
          </p:blipFill>
          <p:spPr>
            <a:xfrm>
              <a:off x="3486524" y="488947"/>
              <a:ext cx="2761200" cy="334837"/>
            </a:xfrm>
            <a:prstGeom prst="rect">
              <a:avLst/>
            </a:prstGeom>
          </p:spPr>
        </p:pic>
        <p:pic>
          <p:nvPicPr>
            <p:cNvPr id="8" name="Picture 7" descr="A screenshot of a phone&#10;&#10;Description automatically generated">
              <a:extLst>
                <a:ext uri="{FF2B5EF4-FFF2-40B4-BE49-F238E27FC236}">
                  <a16:creationId xmlns:a16="http://schemas.microsoft.com/office/drawing/2014/main" id="{D0CEEFDA-B478-63E1-59DC-28AFD9527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3792"/>
            <a:stretch/>
          </p:blipFill>
          <p:spPr>
            <a:xfrm>
              <a:off x="3496200" y="4764469"/>
              <a:ext cx="2761200" cy="160810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8F6E22-1D7E-2FBD-C603-B75AA8E2813E}"/>
                </a:ext>
              </a:extLst>
            </p:cNvPr>
            <p:cNvSpPr txBox="1"/>
            <p:nvPr/>
          </p:nvSpPr>
          <p:spPr>
            <a:xfrm>
              <a:off x="4503195" y="935992"/>
              <a:ext cx="7473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T" sz="1200" dirty="0">
                  <a:latin typeface="Arial" panose="020B0604020202020204" pitchFamily="34" charset="0"/>
                  <a:cs typeface="Arial" panose="020B0604020202020204" pitchFamily="34" charset="0"/>
                </a:rPr>
                <a:t>importar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53910ED-1E82-FBE7-0B3C-77A15E99CACC}"/>
                </a:ext>
              </a:extLst>
            </p:cNvPr>
            <p:cNvSpPr txBox="1"/>
            <p:nvPr/>
          </p:nvSpPr>
          <p:spPr>
            <a:xfrm>
              <a:off x="3507700" y="1338446"/>
              <a:ext cx="27029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900" dirty="0">
                  <a:latin typeface="Arial" panose="020B0604020202020204" pitchFamily="34" charset="0"/>
                  <a:cs typeface="Arial" panose="020B0604020202020204" pitchFamily="34" charset="0"/>
                </a:rPr>
                <a:t>Introduza as palavras-semente, chave pública, WIF, ou qualquer outra coisa que tenha. A BlueWallet fará o seu melhor para adivinhar o formato correto e importar a sua carteira.</a:t>
              </a:r>
            </a:p>
          </p:txBody>
        </p:sp>
        <p:pic>
          <p:nvPicPr>
            <p:cNvPr id="11" name="Picture 10" descr="A screenshot of a phone&#10;&#10;Description automatically generated">
              <a:extLst>
                <a:ext uri="{FF2B5EF4-FFF2-40B4-BE49-F238E27FC236}">
                  <a16:creationId xmlns:a16="http://schemas.microsoft.com/office/drawing/2014/main" id="{C9B58C44-BBC0-FC7A-506B-5CB1B438A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5853" b="47501"/>
            <a:stretch/>
          </p:blipFill>
          <p:spPr>
            <a:xfrm>
              <a:off x="3507700" y="4562894"/>
              <a:ext cx="2694717" cy="40777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DC117C-2978-D1E8-2788-54192ADE85DB}"/>
                </a:ext>
              </a:extLst>
            </p:cNvPr>
            <p:cNvSpPr txBox="1"/>
            <p:nvPr/>
          </p:nvSpPr>
          <p:spPr>
            <a:xfrm>
              <a:off x="4343896" y="4654464"/>
              <a:ext cx="1110074" cy="215444"/>
            </a:xfrm>
            <a:prstGeom prst="rect">
              <a:avLst/>
            </a:prstGeom>
            <a:solidFill>
              <a:srgbClr val="CFDDF7"/>
            </a:solidFill>
          </p:spPr>
          <p:txBody>
            <a:bodyPr wrap="square" rtlCol="0">
              <a:spAutoFit/>
            </a:bodyPr>
            <a:lstStyle/>
            <a:p>
              <a:r>
                <a:rPr lang="pt-PT" sz="800" dirty="0">
                  <a:solidFill>
                    <a:srgbClr val="051D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 Importar</a:t>
              </a:r>
              <a:endParaRPr lang="en-PT" sz="800" dirty="0">
                <a:solidFill>
                  <a:srgbClr val="051D4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7" name="Content Placeholder 6" descr="A black cell phone with a black screen&#10;&#10;Description automatically generated">
            <a:extLst>
              <a:ext uri="{FF2B5EF4-FFF2-40B4-BE49-F238E27FC236}">
                <a16:creationId xmlns:a16="http://schemas.microsoft.com/office/drawing/2014/main" id="{40E1CD9E-32D8-36F7-6A9C-C08DE8852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1462" y="363538"/>
            <a:ext cx="3077252" cy="6130925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D93B-033E-465A-6702-85953D80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5014" y="1330036"/>
            <a:ext cx="4141786" cy="51652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No menu inicial, clicar em “Adicionar agora” e de seguida em “Importar wallet”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Introduzir as palavras da chave privada por ordem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Clicar em “Importar”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4BC64-7E5A-9B5D-33F9-CA7463672F08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735013" y="362758"/>
            <a:ext cx="4675525" cy="1245325"/>
          </a:xfrm>
        </p:spPr>
        <p:txBody>
          <a:bodyPr/>
          <a:lstStyle/>
          <a:p>
            <a:r>
              <a:rPr lang="en-PT" dirty="0"/>
              <a:t>Restaurar a partir da cópia de segurança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A2E0B3-8BFF-40DA-73B1-88E4D2CBC048}"/>
              </a:ext>
            </a:extLst>
          </p:cNvPr>
          <p:cNvSpPr txBox="1"/>
          <p:nvPr/>
        </p:nvSpPr>
        <p:spPr>
          <a:xfrm>
            <a:off x="6947356" y="877433"/>
            <a:ext cx="333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T" b="0" i="0" dirty="0">
                <a:solidFill>
                  <a:srgbClr val="212529"/>
                </a:solidFill>
                <a:effectLst/>
                <a:latin typeface="-apple-system"/>
              </a:rPr>
              <a:t>←</a:t>
            </a:r>
            <a:endParaRPr lang="en-PT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602417-4AAD-BD6B-D9B8-E19512DB0FC5}"/>
              </a:ext>
            </a:extLst>
          </p:cNvPr>
          <p:cNvSpPr txBox="1"/>
          <p:nvPr/>
        </p:nvSpPr>
        <p:spPr>
          <a:xfrm>
            <a:off x="9299047" y="87743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92E3770-25D2-4DF7-FAC1-B4F0D4647D1D}"/>
              </a:ext>
            </a:extLst>
          </p:cNvPr>
          <p:cNvSpPr/>
          <p:nvPr/>
        </p:nvSpPr>
        <p:spPr>
          <a:xfrm>
            <a:off x="7102484" y="2223985"/>
            <a:ext cx="2435047" cy="2089795"/>
          </a:xfrm>
          <a:prstGeom prst="roundRect">
            <a:avLst>
              <a:gd name="adj" fmla="val 1857"/>
            </a:avLst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GB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observe roof nurse opera today alley short final roast approve legal</a:t>
            </a:r>
            <a:endParaRPr lang="en-PT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92AE97-BE00-54C0-92FA-8993120B7629}"/>
              </a:ext>
            </a:extLst>
          </p:cNvPr>
          <p:cNvSpPr txBox="1"/>
          <p:nvPr/>
        </p:nvSpPr>
        <p:spPr>
          <a:xfrm>
            <a:off x="7296422" y="4963723"/>
            <a:ext cx="20784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900" dirty="0">
                <a:latin typeface="Arial" panose="020B0604020202020204" pitchFamily="34" charset="0"/>
                <a:cs typeface="Arial" panose="020B0604020202020204" pitchFamily="34" charset="0"/>
              </a:rPr>
              <a:t>Ler código QR ou importar ficheiro</a:t>
            </a:r>
          </a:p>
        </p:txBody>
      </p:sp>
    </p:spTree>
    <p:extLst>
      <p:ext uri="{BB962C8B-B14F-4D97-AF65-F5344CB8AC3E}">
        <p14:creationId xmlns:p14="http://schemas.microsoft.com/office/powerpoint/2010/main" val="1927118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660E-7888-F1CD-AB9A-0C682A18A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0006" y="2235200"/>
            <a:ext cx="9551988" cy="2387600"/>
          </a:xfrm>
        </p:spPr>
        <p:txBody>
          <a:bodyPr anchor="ctr">
            <a:normAutofit/>
          </a:bodyPr>
          <a:lstStyle/>
          <a:p>
            <a:r>
              <a:rPr lang="en-PT" sz="5400" dirty="0">
                <a:solidFill>
                  <a:schemeClr val="bg1">
                    <a:lumMod val="95000"/>
                  </a:schemeClr>
                </a:solidFill>
              </a:rPr>
              <a:t>Pagamentos</a:t>
            </a:r>
            <a:br>
              <a:rPr lang="en-PT" sz="54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PT" sz="3200" b="0" dirty="0">
                <a:solidFill>
                  <a:schemeClr val="bg1">
                    <a:lumMod val="95000"/>
                  </a:schemeClr>
                </a:solidFill>
              </a:rPr>
              <a:t>rede Lightning</a:t>
            </a:r>
            <a:endParaRPr lang="en-PT" sz="5400" b="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158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 shot of a phone&#10;&#10;Description automatically generated">
            <a:extLst>
              <a:ext uri="{FF2B5EF4-FFF2-40B4-BE49-F238E27FC236}">
                <a16:creationId xmlns:a16="http://schemas.microsoft.com/office/drawing/2014/main" id="{416060B6-8A29-F5A0-6841-636BFC6B4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1188" y="1892234"/>
            <a:ext cx="6172200" cy="4965766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785B3-739F-E632-F38E-A7D21079E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PT" sz="2400" dirty="0"/>
              <a:t>Uma carteira Lightning está sempre online. Não deve ser utilizada para guardar montantes elevados.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F0D01-4542-F6F6-3478-4F83BB178599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839788" y="646541"/>
            <a:ext cx="3932237" cy="806335"/>
          </a:xfrm>
        </p:spPr>
        <p:txBody>
          <a:bodyPr/>
          <a:lstStyle/>
          <a:p>
            <a:r>
              <a:rPr lang="en-PT" dirty="0"/>
              <a:t>Carteira </a:t>
            </a:r>
            <a:r>
              <a:rPr lang="en-PT" sz="3600" dirty="0"/>
              <a:t>Lightning</a:t>
            </a:r>
            <a:endParaRPr lang="en-P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F935B1-936A-EE48-7A96-D7C3CE56A198}"/>
              </a:ext>
            </a:extLst>
          </p:cNvPr>
          <p:cNvSpPr txBox="1"/>
          <p:nvPr/>
        </p:nvSpPr>
        <p:spPr>
          <a:xfrm>
            <a:off x="6392606" y="4571840"/>
            <a:ext cx="2015295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PT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Pagamentos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F7EB3-3350-38D1-1930-3350A88D585E}"/>
              </a:ext>
            </a:extLst>
          </p:cNvPr>
          <p:cNvSpPr txBox="1"/>
          <p:nvPr/>
        </p:nvSpPr>
        <p:spPr>
          <a:xfrm>
            <a:off x="6392606" y="3021337"/>
            <a:ext cx="1826141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PT" sz="2400" b="1" dirty="0">
                <a:solidFill>
                  <a:srgbClr val="FF9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Poupanças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6062E4-8F39-1BDA-B797-066D35DC6081}"/>
              </a:ext>
            </a:extLst>
          </p:cNvPr>
          <p:cNvSpPr txBox="1"/>
          <p:nvPr/>
        </p:nvSpPr>
        <p:spPr>
          <a:xfrm>
            <a:off x="2822028" y="7725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944143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06B85-E1E2-4B11-38C4-3F50ABF90F90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739778" y="810079"/>
            <a:ext cx="4589461" cy="1039914"/>
          </a:xfrm>
        </p:spPr>
        <p:txBody>
          <a:bodyPr/>
          <a:lstStyle/>
          <a:p>
            <a:pPr algn="ctr"/>
            <a:r>
              <a:rPr lang="en-PT" dirty="0"/>
              <a:t>Carteira custodial</a:t>
            </a:r>
            <a:endParaRPr lang="en-PT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9321C7-53BC-A7A5-4AB7-A0DD76C9601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rgbClr val="9494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9A1948B-D9C1-A38A-6DAF-8B2DC1FA41CF}"/>
              </a:ext>
            </a:extLst>
          </p:cNvPr>
          <p:cNvSpPr txBox="1">
            <a:spLocks/>
          </p:cNvSpPr>
          <p:nvPr/>
        </p:nvSpPr>
        <p:spPr>
          <a:xfrm>
            <a:off x="6707186" y="810079"/>
            <a:ext cx="4900609" cy="1039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 baseline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T" dirty="0">
                <a:solidFill>
                  <a:schemeClr val="tx1"/>
                </a:solidFill>
              </a:rPr>
              <a:t>Carteira não-custodial</a:t>
            </a:r>
            <a:endParaRPr lang="en-PT" i="1" dirty="0">
              <a:solidFill>
                <a:schemeClr val="tx1"/>
              </a:solidFill>
            </a:endParaRPr>
          </a:p>
        </p:txBody>
      </p:sp>
      <p:pic>
        <p:nvPicPr>
          <p:cNvPr id="3074" name="Picture 2" descr="POS | Wallet of Satoshi">
            <a:extLst>
              <a:ext uri="{FF2B5EF4-FFF2-40B4-BE49-F238E27FC236}">
                <a16:creationId xmlns:a16="http://schemas.microsoft.com/office/drawing/2014/main" id="{551C3C77-B541-C04B-2C6A-0D04324F7C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1" t="23476" r="29420" b="59056"/>
          <a:stretch/>
        </p:blipFill>
        <p:spPr bwMode="auto">
          <a:xfrm>
            <a:off x="1639425" y="5690158"/>
            <a:ext cx="2786670" cy="40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8A581D-2F70-D2F3-4C52-33BB516F7C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3834" y="5653501"/>
            <a:ext cx="1008000" cy="376320"/>
          </a:xfrm>
          <a:prstGeom prst="rect">
            <a:avLst/>
          </a:prstGeom>
        </p:spPr>
      </p:pic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91B10A19-6177-9F13-CAD5-C528F1D326E2}"/>
              </a:ext>
            </a:extLst>
          </p:cNvPr>
          <p:cNvSpPr txBox="1">
            <a:spLocks/>
          </p:cNvSpPr>
          <p:nvPr/>
        </p:nvSpPr>
        <p:spPr>
          <a:xfrm>
            <a:off x="549813" y="2269023"/>
            <a:ext cx="4965895" cy="4202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bg1">
                    <a:lumMod val="95000"/>
                  </a:schemeClr>
                </a:solidFill>
                <a:latin typeface="Avenir Light" panose="020B04020202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T" sz="2800" dirty="0"/>
              <a:t>Uma entidade terceira detém o bitcoin e gere as chaves privadas pelo utilizador.</a:t>
            </a:r>
          </a:p>
          <a:p>
            <a:r>
              <a:rPr lang="en-PT" sz="2800" dirty="0"/>
              <a:t>Conveniente e fácil de usar.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4AF3201D-8D17-A3BE-22D4-1239A82F9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1052" y="2252893"/>
            <a:ext cx="4965895" cy="4202207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tx1"/>
                </a:solidFill>
              </a:rPr>
              <a:t>O </a:t>
            </a:r>
            <a:r>
              <a:rPr lang="en-GB" sz="2800" dirty="0" err="1">
                <a:solidFill>
                  <a:schemeClr val="tx1"/>
                </a:solidFill>
              </a:rPr>
              <a:t>utilizador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err="1">
                <a:solidFill>
                  <a:schemeClr val="tx1"/>
                </a:solidFill>
              </a:rPr>
              <a:t>controla</a:t>
            </a:r>
            <a:r>
              <a:rPr lang="en-GB" sz="2800" dirty="0">
                <a:solidFill>
                  <a:schemeClr val="tx1"/>
                </a:solidFill>
              </a:rPr>
              <a:t> a </a:t>
            </a:r>
            <a:r>
              <a:rPr lang="en-GB" sz="2800" dirty="0" err="1">
                <a:solidFill>
                  <a:schemeClr val="tx1"/>
                </a:solidFill>
              </a:rPr>
              <a:t>chave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err="1">
                <a:solidFill>
                  <a:schemeClr val="tx1"/>
                </a:solidFill>
              </a:rPr>
              <a:t>privada</a:t>
            </a:r>
            <a:r>
              <a:rPr lang="en-GB" sz="2800" dirty="0">
                <a:solidFill>
                  <a:schemeClr val="tx1"/>
                </a:solidFill>
              </a:rPr>
              <a:t>.</a:t>
            </a:r>
          </a:p>
          <a:p>
            <a:r>
              <a:rPr lang="en-GB" sz="2800" dirty="0" err="1">
                <a:solidFill>
                  <a:schemeClr val="tx1"/>
                </a:solidFill>
              </a:rPr>
              <a:t>Maior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err="1">
                <a:solidFill>
                  <a:schemeClr val="tx1"/>
                </a:solidFill>
              </a:rPr>
              <a:t>segurança</a:t>
            </a:r>
            <a:r>
              <a:rPr lang="en-GB" sz="2800" dirty="0">
                <a:solidFill>
                  <a:schemeClr val="tx1"/>
                </a:solidFill>
              </a:rPr>
              <a:t>.</a:t>
            </a:r>
            <a:endParaRPr lang="en-PT" sz="2800" dirty="0">
              <a:solidFill>
                <a:schemeClr val="tx1"/>
              </a:solidFill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82C34FCF-DE41-6244-3951-AF6FC62CC1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83794" y="4969757"/>
            <a:ext cx="1297931" cy="403350"/>
          </a:xfrm>
          <a:prstGeom prst="rect">
            <a:avLst/>
          </a:prstGeom>
        </p:spPr>
      </p:pic>
      <p:pic>
        <p:nvPicPr>
          <p:cNvPr id="19" name="Picture 1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257922F4-F58A-8106-49D9-F084C7D40B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939" y="4936842"/>
            <a:ext cx="2199619" cy="47846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A8750A1-54D6-5AA9-9B7E-D5952C27CF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09700" y="4955689"/>
            <a:ext cx="1131752" cy="4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114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660E-7888-F1CD-AB9A-0C682A18A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PT" sz="4800" dirty="0">
                <a:solidFill>
                  <a:schemeClr val="bg1">
                    <a:lumMod val="95000"/>
                  </a:schemeClr>
                </a:solidFill>
              </a:rPr>
              <a:t>Demonstração prática</a:t>
            </a:r>
          </a:p>
        </p:txBody>
      </p:sp>
    </p:spTree>
    <p:extLst>
      <p:ext uri="{BB962C8B-B14F-4D97-AF65-F5344CB8AC3E}">
        <p14:creationId xmlns:p14="http://schemas.microsoft.com/office/powerpoint/2010/main" val="374153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FC57134-0568-F49B-9237-536758FC7D57}"/>
              </a:ext>
            </a:extLst>
          </p:cNvPr>
          <p:cNvGrpSpPr/>
          <p:nvPr/>
        </p:nvGrpSpPr>
        <p:grpSpPr>
          <a:xfrm>
            <a:off x="6939488" y="520504"/>
            <a:ext cx="2764382" cy="5808366"/>
            <a:chOff x="6939488" y="520504"/>
            <a:chExt cx="2764382" cy="5808366"/>
          </a:xfrm>
        </p:grpSpPr>
        <p:pic>
          <p:nvPicPr>
            <p:cNvPr id="12" name="Picture 11" descr="A screenshot of a phone&#10;&#10;Description automatically generated">
              <a:extLst>
                <a:ext uri="{FF2B5EF4-FFF2-40B4-BE49-F238E27FC236}">
                  <a16:creationId xmlns:a16="http://schemas.microsoft.com/office/drawing/2014/main" id="{610FB47A-4073-F010-19B9-9E733AD85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4464"/>
            <a:stretch/>
          </p:blipFill>
          <p:spPr>
            <a:xfrm>
              <a:off x="6942670" y="520504"/>
              <a:ext cx="2761200" cy="2180493"/>
            </a:xfrm>
            <a:prstGeom prst="rect">
              <a:avLst/>
            </a:prstGeom>
          </p:spPr>
        </p:pic>
        <p:pic>
          <p:nvPicPr>
            <p:cNvPr id="13" name="Picture 12" descr="A screenshot of a phone&#10;&#10;Description automatically generated">
              <a:extLst>
                <a:ext uri="{FF2B5EF4-FFF2-40B4-BE49-F238E27FC236}">
                  <a16:creationId xmlns:a16="http://schemas.microsoft.com/office/drawing/2014/main" id="{FE484710-7ACB-AB9F-18E6-DD1646713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5443"/>
            <a:stretch/>
          </p:blipFill>
          <p:spPr>
            <a:xfrm>
              <a:off x="6939488" y="2981275"/>
              <a:ext cx="2761200" cy="334759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0FE0337-0D3D-8216-6B48-6FCF38624ABE}"/>
                </a:ext>
              </a:extLst>
            </p:cNvPr>
            <p:cNvSpPr/>
            <p:nvPr/>
          </p:nvSpPr>
          <p:spPr>
            <a:xfrm>
              <a:off x="6942670" y="2697227"/>
              <a:ext cx="2761200" cy="3478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</p:grpSp>
      <p:pic>
        <p:nvPicPr>
          <p:cNvPr id="7" name="Content Placeholder 6" descr="A black cell phone with a black screen&#10;&#10;Description automatically generated">
            <a:extLst>
              <a:ext uri="{FF2B5EF4-FFF2-40B4-BE49-F238E27FC236}">
                <a16:creationId xmlns:a16="http://schemas.microsoft.com/office/drawing/2014/main" id="{40E1CD9E-32D8-36F7-6A9C-C08DE8852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1464" y="363538"/>
            <a:ext cx="3077252" cy="6130925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D93B-033E-465A-6702-85953D80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5014" y="1330036"/>
            <a:ext cx="4141786" cy="51652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É uma carteira </a:t>
            </a:r>
            <a:r>
              <a:rPr lang="en-PT" sz="2000" dirty="0"/>
              <a:t>Lightning custodial – as chaves privadas pertencem à entidade terceira.</a:t>
            </a:r>
            <a:endParaRPr lang="en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4BC64-7E5A-9B5D-33F9-CA7463672F08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735014" y="362758"/>
            <a:ext cx="4037012" cy="806335"/>
          </a:xfrm>
        </p:spPr>
        <p:txBody>
          <a:bodyPr/>
          <a:lstStyle/>
          <a:p>
            <a:r>
              <a:rPr lang="en-GB" dirty="0" err="1"/>
              <a:t>Instalar</a:t>
            </a:r>
            <a:br>
              <a:rPr lang="en-GB" dirty="0"/>
            </a:br>
            <a:r>
              <a:rPr lang="en-GB" dirty="0"/>
              <a:t>Wallet of Satoshi</a:t>
            </a:r>
            <a:endParaRPr lang="en-PT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C789FA-F1AA-23FD-F64B-5D4117A7C294}"/>
              </a:ext>
            </a:extLst>
          </p:cNvPr>
          <p:cNvSpPr/>
          <p:nvPr/>
        </p:nvSpPr>
        <p:spPr>
          <a:xfrm>
            <a:off x="7434943" y="620486"/>
            <a:ext cx="141514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124956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3E342BF-3B06-2978-5666-05DD13BC7263}"/>
              </a:ext>
            </a:extLst>
          </p:cNvPr>
          <p:cNvGrpSpPr/>
          <p:nvPr/>
        </p:nvGrpSpPr>
        <p:grpSpPr>
          <a:xfrm>
            <a:off x="6939488" y="493486"/>
            <a:ext cx="2761200" cy="5871028"/>
            <a:chOff x="6939488" y="493486"/>
            <a:chExt cx="2761200" cy="5871028"/>
          </a:xfrm>
        </p:grpSpPr>
        <p:pic>
          <p:nvPicPr>
            <p:cNvPr id="15" name="Picture 14" descr="A screenshot of a phone&#10;&#10;Description automatically generated">
              <a:extLst>
                <a:ext uri="{FF2B5EF4-FFF2-40B4-BE49-F238E27FC236}">
                  <a16:creationId xmlns:a16="http://schemas.microsoft.com/office/drawing/2014/main" id="{DF73E675-7E6E-1AD3-2BF6-F26A2BA96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37789"/>
            <a:stretch/>
          </p:blipFill>
          <p:spPr>
            <a:xfrm>
              <a:off x="6939488" y="493486"/>
              <a:ext cx="2761200" cy="3817257"/>
            </a:xfrm>
            <a:prstGeom prst="rect">
              <a:avLst/>
            </a:prstGeom>
          </p:spPr>
        </p:pic>
        <p:pic>
          <p:nvPicPr>
            <p:cNvPr id="16" name="Picture 15" descr="A screenshot of a phone&#10;&#10;Description automatically generated">
              <a:extLst>
                <a:ext uri="{FF2B5EF4-FFF2-40B4-BE49-F238E27FC236}">
                  <a16:creationId xmlns:a16="http://schemas.microsoft.com/office/drawing/2014/main" id="{6960FF2A-3EF8-1D1E-F638-F02477129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8487"/>
            <a:stretch/>
          </p:blipFill>
          <p:spPr>
            <a:xfrm>
              <a:off x="6939488" y="3817257"/>
              <a:ext cx="2761200" cy="2547257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2FF5E61-2F72-EEF8-453E-056A0338F906}"/>
                </a:ext>
              </a:extLst>
            </p:cNvPr>
            <p:cNvSpPr/>
            <p:nvPr/>
          </p:nvSpPr>
          <p:spPr>
            <a:xfrm>
              <a:off x="9429397" y="3422650"/>
              <a:ext cx="172375" cy="144000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B4CF7AF-A1F4-F22E-603D-567BA165C1E8}"/>
                </a:ext>
              </a:extLst>
            </p:cNvPr>
            <p:cNvCxnSpPr/>
            <p:nvPr/>
          </p:nvCxnSpPr>
          <p:spPr>
            <a:xfrm flipV="1">
              <a:off x="8890000" y="3422650"/>
              <a:ext cx="0" cy="952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4A540D1-13F2-002F-BA93-BB835A1C221B}"/>
                </a:ext>
              </a:extLst>
            </p:cNvPr>
            <p:cNvSpPr/>
            <p:nvPr/>
          </p:nvSpPr>
          <p:spPr>
            <a:xfrm>
              <a:off x="7419109" y="587086"/>
              <a:ext cx="161059" cy="14547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T"/>
            </a:p>
          </p:txBody>
        </p:sp>
      </p:grpSp>
      <p:pic>
        <p:nvPicPr>
          <p:cNvPr id="7" name="Content Placeholder 6" descr="A black cell phone with a black screen&#10;&#10;Description automatically generated">
            <a:extLst>
              <a:ext uri="{FF2B5EF4-FFF2-40B4-BE49-F238E27FC236}">
                <a16:creationId xmlns:a16="http://schemas.microsoft.com/office/drawing/2014/main" id="{40E1CD9E-32D8-36F7-6A9C-C08DE8852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1462" y="363538"/>
            <a:ext cx="3077252" cy="6130925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D93B-033E-465A-6702-85953D80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5014" y="1330036"/>
            <a:ext cx="4141786" cy="51652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No menú inicial clicar em “Enviar”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Ler o código QR do endereço para onde se quer enviar Bitcoin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Selecionar o montante a enviar e clicar em “Enviar”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Será exibida uma mensagem de sucesso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4BC64-7E5A-9B5D-33F9-CA7463672F08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735014" y="362758"/>
            <a:ext cx="4037012" cy="806335"/>
          </a:xfrm>
        </p:spPr>
        <p:txBody>
          <a:bodyPr/>
          <a:lstStyle/>
          <a:p>
            <a:r>
              <a:rPr lang="en-GB" dirty="0" err="1"/>
              <a:t>Enviar</a:t>
            </a:r>
            <a:r>
              <a:rPr lang="en-GB" dirty="0"/>
              <a:t> Bitcoin</a:t>
            </a:r>
            <a:endParaRPr lang="en-PT" dirty="0"/>
          </a:p>
        </p:txBody>
      </p:sp>
      <p:pic>
        <p:nvPicPr>
          <p:cNvPr id="23" name="Picture 22" descr="A yellow circle with a check mark in it&#10;&#10;Description automatically generated">
            <a:extLst>
              <a:ext uri="{FF2B5EF4-FFF2-40B4-BE49-F238E27FC236}">
                <a16:creationId xmlns:a16="http://schemas.microsoft.com/office/drawing/2014/main" id="{3F0233D8-C43A-9EC0-46AA-19F88DA53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3922048"/>
            <a:ext cx="1297879" cy="2572415"/>
          </a:xfrm>
          <a:prstGeom prst="rect">
            <a:avLst/>
          </a:prstGeom>
        </p:spPr>
      </p:pic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FFE0A996-D5A5-DC19-0C2A-3390B0338B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31647" y="4908182"/>
            <a:ext cx="362758" cy="1465842"/>
          </a:xfrm>
          <a:prstGeom prst="curvedConnector2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23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24EF992-1287-2520-D85B-156BF75B2D64}"/>
              </a:ext>
            </a:extLst>
          </p:cNvPr>
          <p:cNvGrpSpPr/>
          <p:nvPr/>
        </p:nvGrpSpPr>
        <p:grpSpPr>
          <a:xfrm>
            <a:off x="6939488" y="459186"/>
            <a:ext cx="2761200" cy="5885036"/>
            <a:chOff x="6939488" y="459186"/>
            <a:chExt cx="2761200" cy="5885036"/>
          </a:xfrm>
        </p:grpSpPr>
        <p:pic>
          <p:nvPicPr>
            <p:cNvPr id="8" name="Picture 7" descr="A screenshot of a qr code&#10;&#10;Description automatically generated">
              <a:extLst>
                <a:ext uri="{FF2B5EF4-FFF2-40B4-BE49-F238E27FC236}">
                  <a16:creationId xmlns:a16="http://schemas.microsoft.com/office/drawing/2014/main" id="{C76976B5-913D-9DB8-18A1-920B94F71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32972"/>
            <a:stretch/>
          </p:blipFill>
          <p:spPr>
            <a:xfrm>
              <a:off x="6939488" y="459186"/>
              <a:ext cx="2761200" cy="4112814"/>
            </a:xfrm>
            <a:prstGeom prst="rect">
              <a:avLst/>
            </a:prstGeom>
          </p:spPr>
        </p:pic>
        <p:pic>
          <p:nvPicPr>
            <p:cNvPr id="9" name="Picture 8" descr="A screenshot of a qr code&#10;&#10;Description automatically generated">
              <a:extLst>
                <a:ext uri="{FF2B5EF4-FFF2-40B4-BE49-F238E27FC236}">
                  <a16:creationId xmlns:a16="http://schemas.microsoft.com/office/drawing/2014/main" id="{F4454345-FFAF-9998-C4AA-868344A3A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8599"/>
            <a:stretch/>
          </p:blipFill>
          <p:spPr>
            <a:xfrm>
              <a:off x="6939488" y="4417464"/>
              <a:ext cx="2761200" cy="1926758"/>
            </a:xfrm>
            <a:prstGeom prst="rect">
              <a:avLst/>
            </a:prstGeom>
          </p:spPr>
        </p:pic>
      </p:grpSp>
      <p:pic>
        <p:nvPicPr>
          <p:cNvPr id="7" name="Content Placeholder 6" descr="A black cell phone with a black screen&#10;&#10;Description automatically generated">
            <a:extLst>
              <a:ext uri="{FF2B5EF4-FFF2-40B4-BE49-F238E27FC236}">
                <a16:creationId xmlns:a16="http://schemas.microsoft.com/office/drawing/2014/main" id="{40E1CD9E-32D8-36F7-6A9C-C08DE8852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1462" y="363538"/>
            <a:ext cx="3077252" cy="6130925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D93B-033E-465A-6702-85953D80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5013" y="1330036"/>
            <a:ext cx="4341953" cy="51652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No menú inicial clicar em “Receber”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Será disponibilizado um código QR para partilhar com quem lhe quer enviar Bitcoin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Também é possível escolher qual o montante a receber clicando em “Quantidade/N</a:t>
            </a:r>
            <a:r>
              <a:rPr lang="en-GB" dirty="0"/>
              <a:t>o</a:t>
            </a:r>
            <a:r>
              <a:rPr lang="en-PT" dirty="0"/>
              <a:t>ta”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T" dirty="0"/>
              <a:t>Será exibida uma mensagem de sucesso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4BC64-7E5A-9B5D-33F9-CA7463672F08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735014" y="362758"/>
            <a:ext cx="4037012" cy="806335"/>
          </a:xfrm>
        </p:spPr>
        <p:txBody>
          <a:bodyPr/>
          <a:lstStyle/>
          <a:p>
            <a:r>
              <a:rPr lang="en-GB" dirty="0" err="1"/>
              <a:t>Receber</a:t>
            </a:r>
            <a:r>
              <a:rPr lang="en-GB" dirty="0"/>
              <a:t> Bitcoin</a:t>
            </a:r>
            <a:endParaRPr lang="en-PT" dirty="0"/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FFE0A996-D5A5-DC19-0C2A-3390B0338B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59193" y="4908182"/>
            <a:ext cx="362758" cy="1465842"/>
          </a:xfrm>
          <a:prstGeom prst="curvedConnector2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green screen with a yellow circle and a check mark&#10;&#10;Description automatically generated">
            <a:extLst>
              <a:ext uri="{FF2B5EF4-FFF2-40B4-BE49-F238E27FC236}">
                <a16:creationId xmlns:a16="http://schemas.microsoft.com/office/drawing/2014/main" id="{7C84A439-514C-4693-5A54-B39F0ECA5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442" y="3918747"/>
            <a:ext cx="1299600" cy="256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41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of a person hugging a large coin&#10;&#10;Description automatically generated">
            <a:extLst>
              <a:ext uri="{FF2B5EF4-FFF2-40B4-BE49-F238E27FC236}">
                <a16:creationId xmlns:a16="http://schemas.microsoft.com/office/drawing/2014/main" id="{A03B0EAA-16D8-BE4A-9194-6EFF2B194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0" y="2892612"/>
            <a:ext cx="3251200" cy="32512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7145854-8C72-4DB1-4963-442FA7ECA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36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PT" sz="4800" dirty="0"/>
              <a:t>Parabéns! A </a:t>
            </a:r>
            <a:r>
              <a:rPr lang="en-PT" sz="4800" dirty="0">
                <a:solidFill>
                  <a:schemeClr val="bg1">
                    <a:lumMod val="95000"/>
                  </a:schemeClr>
                </a:solidFill>
              </a:rPr>
              <a:t>tua viagem de Bitcoin começa agora.</a:t>
            </a:r>
          </a:p>
        </p:txBody>
      </p:sp>
    </p:spTree>
    <p:extLst>
      <p:ext uri="{BB962C8B-B14F-4D97-AF65-F5344CB8AC3E}">
        <p14:creationId xmlns:p14="http://schemas.microsoft.com/office/powerpoint/2010/main" val="2552085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3787</TotalTime>
  <Words>805</Words>
  <Application>Microsoft Macintosh PowerPoint</Application>
  <PresentationFormat>Widescreen</PresentationFormat>
  <Paragraphs>132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-apple-system</vt:lpstr>
      <vt:lpstr>Arial</vt:lpstr>
      <vt:lpstr>Avenir Book</vt:lpstr>
      <vt:lpstr>Avenir Heavy</vt:lpstr>
      <vt:lpstr>Avenir Light</vt:lpstr>
      <vt:lpstr>Avenir Medium</vt:lpstr>
      <vt:lpstr>Calibri</vt:lpstr>
      <vt:lpstr>Office Theme</vt:lpstr>
      <vt:lpstr>Introdução ao Bitcoin</vt:lpstr>
      <vt:lpstr>Bitcoin é um protocolo; não é uma plataforma ou aplicação.  Existem várias soluções para usar a rede Bitcoin, cada uma com as suas vantagens e desvantagens.</vt:lpstr>
      <vt:lpstr>Como obter Bitcoin</vt:lpstr>
      <vt:lpstr>PowerPoint Presentation</vt:lpstr>
      <vt:lpstr>Rede Lightning</vt:lpstr>
      <vt:lpstr>Poupanças rede base</vt:lpstr>
      <vt:lpstr>Soluções para guardar bitcoin</vt:lpstr>
      <vt:lpstr>Not your  not your </vt:lpstr>
      <vt:lpstr>Carteiras Bitcoin</vt:lpstr>
      <vt:lpstr>PowerPoint Presentation</vt:lpstr>
      <vt:lpstr>Chave Privada</vt:lpstr>
      <vt:lpstr>Cópia de Segurança</vt:lpstr>
      <vt:lpstr>Cópia de Segurança</vt:lpstr>
      <vt:lpstr>Demonstração prática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Pagamentos rede Lightning</vt:lpstr>
      <vt:lpstr>PowerPoint Presentation</vt:lpstr>
      <vt:lpstr>PowerPoint Presentation</vt:lpstr>
      <vt:lpstr>Demonstração prática</vt:lpstr>
      <vt:lpstr>PowerPoint Presentation</vt:lpstr>
      <vt:lpstr>PowerPoint Presentation</vt:lpstr>
      <vt:lpstr>PowerPoint Presentation</vt:lpstr>
      <vt:lpstr>Parabéns! A tua viagem de Bitcoin começa agora.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Bitcoin</dc:title>
  <dc:creator>INES RAMALHETE SALVADO PAZ LOURO</dc:creator>
  <cp:lastModifiedBy>Henrique Albuquerque</cp:lastModifiedBy>
  <cp:revision>186</cp:revision>
  <dcterms:created xsi:type="dcterms:W3CDTF">2024-01-03T15:15:58Z</dcterms:created>
  <dcterms:modified xsi:type="dcterms:W3CDTF">2024-10-15T16:40:04Z</dcterms:modified>
</cp:coreProperties>
</file>