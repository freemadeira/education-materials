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8"/>
  </p:notesMasterIdLst>
  <p:sldIdLst>
    <p:sldId id="260" r:id="rId2"/>
    <p:sldId id="273" r:id="rId3"/>
    <p:sldId id="271" r:id="rId4"/>
    <p:sldId id="270" r:id="rId5"/>
    <p:sldId id="269" r:id="rId6"/>
    <p:sldId id="268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256A"/>
    <a:srgbClr val="2F5FB3"/>
    <a:srgbClr val="CCDEF9"/>
    <a:srgbClr val="F9B84C"/>
    <a:srgbClr val="FFDC74"/>
    <a:srgbClr val="FFB75D"/>
    <a:srgbClr val="FF9E1D"/>
    <a:srgbClr val="FFBC58"/>
    <a:srgbClr val="BCBCBC"/>
    <a:srgbClr val="A4A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01FDE-61A2-D075-F698-8C18AC3E633F}" v="380" dt="2025-11-04T10:01:55.43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8"/>
    <p:restoredTop sz="93918"/>
  </p:normalViewPr>
  <p:slideViewPr>
    <p:cSldViewPr>
      <p:cViewPr varScale="1">
        <p:scale>
          <a:sx n="53" d="100"/>
          <a:sy n="53" d="100"/>
        </p:scale>
        <p:origin x="1768" y="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22/11/2025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966D8-105C-DFAD-82B2-D3E48F3D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39D68-0388-1832-DF83-2576B74BB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09D9E5-F0AC-97B9-2921-CEF3BCF3C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3E52B-142E-554B-661B-5AAB4555F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34545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CE3253F-773F-42FB-EB13-8F960268D436}"/>
              </a:ext>
            </a:extLst>
          </p:cNvPr>
          <p:cNvSpPr txBox="1">
            <a:spLocks/>
          </p:cNvSpPr>
          <p:nvPr userDrawn="1"/>
        </p:nvSpPr>
        <p:spPr>
          <a:xfrm>
            <a:off x="1382713" y="4918870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 err="1"/>
              <a:t>Esclarecimento</a:t>
            </a:r>
            <a:r>
              <a:rPr lang="en-GB" dirty="0"/>
              <a:t> de </a:t>
            </a:r>
            <a:r>
              <a:rPr lang="en-GB" dirty="0" err="1"/>
              <a:t>dúvidas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D50785F-F9BE-8C2E-1CC4-AC143A747D6E}"/>
              </a:ext>
            </a:extLst>
          </p:cNvPr>
          <p:cNvGrpSpPr/>
          <p:nvPr userDrawn="1"/>
        </p:nvGrpSpPr>
        <p:grpSpPr>
          <a:xfrm>
            <a:off x="1382713" y="7788275"/>
            <a:ext cx="2819364" cy="3498604"/>
            <a:chOff x="10661650" y="7173860"/>
            <a:chExt cx="2819364" cy="3498604"/>
          </a:xfrm>
        </p:grpSpPr>
        <p:pic>
          <p:nvPicPr>
            <p:cNvPr id="2052" name="Picture 4" descr="Thinking Bubble, Thought, Creative Free PNG">
              <a:extLst>
                <a:ext uri="{FF2B5EF4-FFF2-40B4-BE49-F238E27FC236}">
                  <a16:creationId xmlns:a16="http://schemas.microsoft.com/office/drawing/2014/main" id="{6C240295-4B5D-5F2D-2499-C58A304CF1F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463873">
              <a:off x="12338014" y="7173860"/>
              <a:ext cx="1143000" cy="1209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object 49">
              <a:extLst>
                <a:ext uri="{FF2B5EF4-FFF2-40B4-BE49-F238E27FC236}">
                  <a16:creationId xmlns:a16="http://schemas.microsoft.com/office/drawing/2014/main" id="{3BF697C5-C66F-8CDC-DA2C-04341361A8CF}"/>
                </a:ext>
              </a:extLst>
            </p:cNvPr>
            <p:cNvPicPr/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0661650" y="8093075"/>
              <a:ext cx="2134792" cy="257938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5D1189C-F066-647C-9B72-285F8BC82E36}"/>
                </a:ext>
              </a:extLst>
            </p:cNvPr>
            <p:cNvSpPr txBox="1"/>
            <p:nvPr userDrawn="1"/>
          </p:nvSpPr>
          <p:spPr>
            <a:xfrm>
              <a:off x="12719050" y="7323634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T" sz="4000" b="1" i="0" kern="1200" dirty="0">
                  <a:solidFill>
                    <a:srgbClr val="58595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3049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  <p:sldLayoutId id="214748369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mempool.space/pt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ools.keycdn.com/sha256-online-generator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sz="6300" dirty="0">
                <a:latin typeface="Open Sans"/>
                <a:ea typeface="Open Sans"/>
                <a:cs typeface="Open Sans"/>
              </a:rPr>
              <a:t>Uma introdução ao lado técnico do Bitcoin</a:t>
            </a:r>
            <a:endParaRPr lang="pt-PT" sz="6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dirty="0"/>
              <a:t>Capítulo #9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PT" dirty="0">
                <a:latin typeface="Open Sans"/>
                <a:ea typeface="Open Sans"/>
                <a:cs typeface="Open Sans"/>
              </a:rPr>
              <a:t>Introdução</a:t>
            </a:r>
          </a:p>
          <a:p>
            <a:r>
              <a:rPr lang="pt-PT" dirty="0">
                <a:latin typeface="Open Sans"/>
                <a:ea typeface="Open Sans"/>
                <a:cs typeface="Open Sans"/>
              </a:rPr>
              <a:t>Atividade: Gerar </a:t>
            </a:r>
            <a:r>
              <a:rPr lang="pt-PT" dirty="0" err="1">
                <a:latin typeface="Open Sans"/>
                <a:ea typeface="Open Sans"/>
                <a:cs typeface="Open Sans"/>
              </a:rPr>
              <a:t>hash</a:t>
            </a:r>
            <a:r>
              <a:rPr lang="pt-PT" dirty="0">
                <a:latin typeface="Open Sans"/>
                <a:ea typeface="Open Sans"/>
                <a:cs typeface="Open Sans"/>
              </a:rPr>
              <a:t> (valor de dispersão) SHA256</a:t>
            </a:r>
          </a:p>
          <a:p>
            <a:r>
              <a:rPr lang="pt-PT" dirty="0">
                <a:latin typeface="Open Sans"/>
                <a:ea typeface="Open Sans"/>
                <a:cs typeface="Open Sans"/>
              </a:rPr>
              <a:t>Atividade: </a:t>
            </a:r>
            <a:r>
              <a:rPr lang="pt-PT" dirty="0" err="1">
                <a:latin typeface="Open Sans"/>
                <a:ea typeface="Open Sans"/>
                <a:cs typeface="Open Sans"/>
              </a:rPr>
              <a:t>Mempool</a:t>
            </a:r>
            <a:endParaRPr lang="pt-PT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0CED8-D915-3DC6-E436-170CD973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F73E-E944-9CCD-CDF2-DBA24F06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/>
          </a:bodyPr>
          <a:lstStyle/>
          <a:p>
            <a:r>
              <a:rPr lang="pt-PT" dirty="0"/>
              <a:t>Introdução</a:t>
            </a:r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B6E5ED34-591F-C648-DAE4-C16D916C8EDC}"/>
              </a:ext>
            </a:extLst>
          </p:cNvPr>
          <p:cNvSpPr txBox="1"/>
          <p:nvPr/>
        </p:nvSpPr>
        <p:spPr>
          <a:xfrm>
            <a:off x="1502923" y="3237086"/>
            <a:ext cx="7576526" cy="2839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95"/>
              </a:lnSpc>
              <a:spcBef>
                <a:spcPts val="90"/>
              </a:spcBef>
            </a:pPr>
            <a:r>
              <a:rPr lang="pt-PT" sz="3000" b="1" dirty="0">
                <a:solidFill>
                  <a:srgbClr val="57585B"/>
                </a:solidFill>
                <a:latin typeface="Open Sans"/>
                <a:cs typeface="Open Sans"/>
              </a:rPr>
              <a:t>Mecanismos do Protocolo Bitcoin</a:t>
            </a:r>
            <a:endParaRPr lang="pt-PT" sz="3000" dirty="0">
              <a:latin typeface="Open Sans"/>
              <a:cs typeface="Open San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211D026-0A29-A207-02B2-1D98E6F77A7C}"/>
              </a:ext>
            </a:extLst>
          </p:cNvPr>
          <p:cNvGrpSpPr/>
          <p:nvPr/>
        </p:nvGrpSpPr>
        <p:grpSpPr>
          <a:xfrm>
            <a:off x="1502923" y="4207000"/>
            <a:ext cx="17331516" cy="5486275"/>
            <a:chOff x="1794127" y="3521200"/>
            <a:chExt cx="17331516" cy="5486275"/>
          </a:xfrm>
        </p:grpSpPr>
        <p:sp>
          <p:nvSpPr>
            <p:cNvPr id="11" name="object 18">
              <a:extLst>
                <a:ext uri="{FF2B5EF4-FFF2-40B4-BE49-F238E27FC236}">
                  <a16:creationId xmlns:a16="http://schemas.microsoft.com/office/drawing/2014/main" id="{C165D780-1A5B-2FEC-242E-3E7A9166E3DE}"/>
                </a:ext>
              </a:extLst>
            </p:cNvPr>
            <p:cNvSpPr txBox="1"/>
            <p:nvPr/>
          </p:nvSpPr>
          <p:spPr>
            <a:xfrm>
              <a:off x="2494654" y="4892675"/>
              <a:ext cx="2655859" cy="75212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Prova de Trabalho</a:t>
              </a:r>
              <a:b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</a:b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(</a:t>
              </a:r>
              <a:r>
                <a:rPr lang="pt-PT" sz="2400" i="1" dirty="0" err="1">
                  <a:solidFill>
                    <a:srgbClr val="57585B"/>
                  </a:solidFill>
                  <a:latin typeface="Open Sans"/>
                  <a:cs typeface="Open Sans"/>
                </a:rPr>
                <a:t>Proof</a:t>
              </a:r>
              <a:r>
                <a:rPr lang="pt-PT" sz="2400" i="1" spc="-55" dirty="0" err="1">
                  <a:solidFill>
                    <a:srgbClr val="57585B"/>
                  </a:solidFill>
                  <a:latin typeface="Open Sans"/>
                  <a:cs typeface="Open Sans"/>
                </a:rPr>
                <a:t>-</a:t>
              </a:r>
              <a:r>
                <a:rPr lang="pt-PT" sz="2400" i="1" dirty="0" err="1">
                  <a:solidFill>
                    <a:srgbClr val="57585B"/>
                  </a:solidFill>
                  <a:latin typeface="Open Sans"/>
                  <a:cs typeface="Open Sans"/>
                </a:rPr>
                <a:t>of</a:t>
              </a:r>
              <a:r>
                <a:rPr lang="pt-PT" sz="2400" i="1" spc="-45" dirty="0" err="1">
                  <a:solidFill>
                    <a:srgbClr val="57585B"/>
                  </a:solidFill>
                  <a:latin typeface="Open Sans"/>
                  <a:cs typeface="Open Sans"/>
                </a:rPr>
                <a:t>-</a:t>
              </a:r>
              <a:r>
                <a:rPr lang="pt-PT" sz="2400" i="1" spc="-20" dirty="0" err="1">
                  <a:solidFill>
                    <a:srgbClr val="57585B"/>
                  </a:solidFill>
                  <a:latin typeface="Open Sans"/>
                  <a:cs typeface="Open Sans"/>
                </a:rPr>
                <a:t>Work</a:t>
              </a:r>
              <a:r>
                <a:rPr lang="pt-PT" sz="2400" spc="-20" dirty="0">
                  <a:solidFill>
                    <a:srgbClr val="57585B"/>
                  </a:solidFill>
                  <a:latin typeface="Open Sans"/>
                  <a:cs typeface="Open Sans"/>
                </a:rPr>
                <a:t>)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13" name="object 20">
              <a:extLst>
                <a:ext uri="{FF2B5EF4-FFF2-40B4-BE49-F238E27FC236}">
                  <a16:creationId xmlns:a16="http://schemas.microsoft.com/office/drawing/2014/main" id="{0FC16E9E-9BC4-D338-6D32-18B2B684D551}"/>
                </a:ext>
              </a:extLst>
            </p:cNvPr>
            <p:cNvSpPr txBox="1"/>
            <p:nvPr/>
          </p:nvSpPr>
          <p:spPr>
            <a:xfrm>
              <a:off x="3471265" y="8136646"/>
              <a:ext cx="1679248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spc="-10" dirty="0">
                  <a:solidFill>
                    <a:srgbClr val="57585B"/>
                  </a:solidFill>
                  <a:latin typeface="Open Sans"/>
                  <a:cs typeface="Open Sans"/>
                </a:rPr>
                <a:t>Ajuste de Dificuldade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pic>
          <p:nvPicPr>
            <p:cNvPr id="15" name="object 22">
              <a:extLst>
                <a:ext uri="{FF2B5EF4-FFF2-40B4-BE49-F238E27FC236}">
                  <a16:creationId xmlns:a16="http://schemas.microsoft.com/office/drawing/2014/main" id="{B4B4A82B-A599-5CA9-7DE8-C952871876D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32450" y="4851748"/>
              <a:ext cx="976968" cy="976986"/>
            </a:xfrm>
            <a:prstGeom prst="rect">
              <a:avLst/>
            </a:prstGeom>
          </p:spPr>
        </p:pic>
        <p:pic>
          <p:nvPicPr>
            <p:cNvPr id="16" name="object 23">
              <a:extLst>
                <a:ext uri="{FF2B5EF4-FFF2-40B4-BE49-F238E27FC236}">
                  <a16:creationId xmlns:a16="http://schemas.microsoft.com/office/drawing/2014/main" id="{1C93C468-CA73-4ADA-0C09-3AD070993F5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27235" y="6419965"/>
              <a:ext cx="976968" cy="976986"/>
            </a:xfrm>
            <a:prstGeom prst="rect">
              <a:avLst/>
            </a:prstGeom>
          </p:spPr>
        </p:pic>
        <p:pic>
          <p:nvPicPr>
            <p:cNvPr id="17" name="object 24">
              <a:extLst>
                <a:ext uri="{FF2B5EF4-FFF2-40B4-BE49-F238E27FC236}">
                  <a16:creationId xmlns:a16="http://schemas.microsoft.com/office/drawing/2014/main" id="{AF83AB23-CE00-49D9-28B9-7505EC63A1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7235" y="8030470"/>
              <a:ext cx="976968" cy="977005"/>
            </a:xfrm>
            <a:prstGeom prst="rect">
              <a:avLst/>
            </a:prstGeom>
          </p:spPr>
        </p:pic>
        <p:pic>
          <p:nvPicPr>
            <p:cNvPr id="19" name="object 26">
              <a:extLst>
                <a:ext uri="{FF2B5EF4-FFF2-40B4-BE49-F238E27FC236}">
                  <a16:creationId xmlns:a16="http://schemas.microsoft.com/office/drawing/2014/main" id="{A9A16BF9-74B7-8251-95EF-42C565A1A0D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74240" y="6530277"/>
              <a:ext cx="976931" cy="977005"/>
            </a:xfrm>
            <a:prstGeom prst="rect">
              <a:avLst/>
            </a:prstGeom>
          </p:spPr>
        </p:pic>
        <p:pic>
          <p:nvPicPr>
            <p:cNvPr id="20" name="object 27">
              <a:extLst>
                <a:ext uri="{FF2B5EF4-FFF2-40B4-BE49-F238E27FC236}">
                  <a16:creationId xmlns:a16="http://schemas.microsoft.com/office/drawing/2014/main" id="{418F9BF3-6CF4-43EA-4BDA-B4FC3E4A56E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72404" y="5064852"/>
              <a:ext cx="976931" cy="977005"/>
            </a:xfrm>
            <a:prstGeom prst="rect">
              <a:avLst/>
            </a:prstGeom>
          </p:spPr>
        </p:pic>
        <p:pic>
          <p:nvPicPr>
            <p:cNvPr id="22" name="object 29">
              <a:extLst>
                <a:ext uri="{FF2B5EF4-FFF2-40B4-BE49-F238E27FC236}">
                  <a16:creationId xmlns:a16="http://schemas.microsoft.com/office/drawing/2014/main" id="{574DDBAD-596C-7F9E-4DF1-DDC12D4C314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2921" y="4993748"/>
              <a:ext cx="634502" cy="634499"/>
            </a:xfrm>
            <a:prstGeom prst="rect">
              <a:avLst/>
            </a:prstGeom>
          </p:spPr>
        </p:pic>
        <p:sp>
          <p:nvSpPr>
            <p:cNvPr id="23" name="object 30">
              <a:extLst>
                <a:ext uri="{FF2B5EF4-FFF2-40B4-BE49-F238E27FC236}">
                  <a16:creationId xmlns:a16="http://schemas.microsoft.com/office/drawing/2014/main" id="{31638A8F-05C1-A47F-D2B1-950AB9DA74FF}"/>
                </a:ext>
              </a:extLst>
            </p:cNvPr>
            <p:cNvSpPr/>
            <p:nvPr/>
          </p:nvSpPr>
          <p:spPr>
            <a:xfrm>
              <a:off x="5860465" y="6602154"/>
              <a:ext cx="511223" cy="612790"/>
            </a:xfrm>
            <a:custGeom>
              <a:avLst/>
              <a:gdLst/>
              <a:ahLst/>
              <a:cxnLst/>
              <a:rect l="l" t="t" r="r" b="b"/>
              <a:pathLst>
                <a:path w="287655" h="344804">
                  <a:moveTo>
                    <a:pt x="280818" y="315979"/>
                  </a:moveTo>
                  <a:lnTo>
                    <a:pt x="6429" y="315979"/>
                  </a:lnTo>
                  <a:lnTo>
                    <a:pt x="0" y="322398"/>
                  </a:lnTo>
                  <a:lnTo>
                    <a:pt x="0" y="338272"/>
                  </a:lnTo>
                  <a:lnTo>
                    <a:pt x="6429" y="344701"/>
                  </a:lnTo>
                  <a:lnTo>
                    <a:pt x="280818" y="344701"/>
                  </a:lnTo>
                  <a:lnTo>
                    <a:pt x="287247" y="338272"/>
                  </a:lnTo>
                  <a:lnTo>
                    <a:pt x="287247" y="322398"/>
                  </a:lnTo>
                  <a:lnTo>
                    <a:pt x="280818" y="315979"/>
                  </a:lnTo>
                  <a:close/>
                </a:path>
                <a:path w="287655" h="344804">
                  <a:moveTo>
                    <a:pt x="244160" y="28721"/>
                  </a:moveTo>
                  <a:lnTo>
                    <a:pt x="43077" y="28721"/>
                  </a:lnTo>
                  <a:lnTo>
                    <a:pt x="43077" y="84154"/>
                  </a:lnTo>
                  <a:lnTo>
                    <a:pt x="61621" y="132311"/>
                  </a:lnTo>
                  <a:lnTo>
                    <a:pt x="117724" y="172350"/>
                  </a:lnTo>
                  <a:lnTo>
                    <a:pt x="75065" y="200789"/>
                  </a:lnTo>
                  <a:lnTo>
                    <a:pt x="61621" y="212379"/>
                  </a:lnTo>
                  <a:lnTo>
                    <a:pt x="51563" y="226654"/>
                  </a:lnTo>
                  <a:lnTo>
                    <a:pt x="45260" y="242933"/>
                  </a:lnTo>
                  <a:lnTo>
                    <a:pt x="43077" y="260536"/>
                  </a:lnTo>
                  <a:lnTo>
                    <a:pt x="43077" y="315979"/>
                  </a:lnTo>
                  <a:lnTo>
                    <a:pt x="244160" y="315979"/>
                  </a:lnTo>
                  <a:lnTo>
                    <a:pt x="244160" y="287258"/>
                  </a:lnTo>
                  <a:lnTo>
                    <a:pt x="178779" y="287258"/>
                  </a:lnTo>
                  <a:lnTo>
                    <a:pt x="172350" y="280818"/>
                  </a:lnTo>
                  <a:lnTo>
                    <a:pt x="172350" y="260536"/>
                  </a:lnTo>
                  <a:lnTo>
                    <a:pt x="129053" y="231668"/>
                  </a:lnTo>
                  <a:lnTo>
                    <a:pt x="127273" y="222768"/>
                  </a:lnTo>
                  <a:lnTo>
                    <a:pt x="136069" y="209564"/>
                  </a:lnTo>
                  <a:lnTo>
                    <a:pt x="144990" y="207784"/>
                  </a:lnTo>
                  <a:lnTo>
                    <a:pt x="220285" y="207784"/>
                  </a:lnTo>
                  <a:lnTo>
                    <a:pt x="212171" y="200789"/>
                  </a:lnTo>
                  <a:lnTo>
                    <a:pt x="169513" y="172350"/>
                  </a:lnTo>
                  <a:lnTo>
                    <a:pt x="212171" y="143901"/>
                  </a:lnTo>
                  <a:lnTo>
                    <a:pt x="222584" y="134927"/>
                  </a:lnTo>
                  <a:lnTo>
                    <a:pt x="140875" y="134927"/>
                  </a:lnTo>
                  <a:lnTo>
                    <a:pt x="138100" y="134132"/>
                  </a:lnTo>
                  <a:lnTo>
                    <a:pt x="98970" y="108049"/>
                  </a:lnTo>
                  <a:lnTo>
                    <a:pt x="86175" y="84154"/>
                  </a:lnTo>
                  <a:lnTo>
                    <a:pt x="86175" y="63872"/>
                  </a:lnTo>
                  <a:lnTo>
                    <a:pt x="92604" y="57453"/>
                  </a:lnTo>
                  <a:lnTo>
                    <a:pt x="244160" y="57453"/>
                  </a:lnTo>
                  <a:lnTo>
                    <a:pt x="244160" y="28721"/>
                  </a:lnTo>
                  <a:close/>
                </a:path>
                <a:path w="287655" h="344804">
                  <a:moveTo>
                    <a:pt x="220285" y="207784"/>
                  </a:moveTo>
                  <a:lnTo>
                    <a:pt x="144990" y="207784"/>
                  </a:lnTo>
                  <a:lnTo>
                    <a:pt x="188276" y="236642"/>
                  </a:lnTo>
                  <a:lnTo>
                    <a:pt x="193655" y="241269"/>
                  </a:lnTo>
                  <a:lnTo>
                    <a:pt x="197678" y="246975"/>
                  </a:lnTo>
                  <a:lnTo>
                    <a:pt x="200199" y="253488"/>
                  </a:lnTo>
                  <a:lnTo>
                    <a:pt x="201072" y="260536"/>
                  </a:lnTo>
                  <a:lnTo>
                    <a:pt x="201072" y="280818"/>
                  </a:lnTo>
                  <a:lnTo>
                    <a:pt x="194632" y="287258"/>
                  </a:lnTo>
                  <a:lnTo>
                    <a:pt x="244160" y="287258"/>
                  </a:lnTo>
                  <a:lnTo>
                    <a:pt x="244160" y="260536"/>
                  </a:lnTo>
                  <a:lnTo>
                    <a:pt x="241977" y="242933"/>
                  </a:lnTo>
                  <a:lnTo>
                    <a:pt x="235673" y="226654"/>
                  </a:lnTo>
                  <a:lnTo>
                    <a:pt x="225615" y="212379"/>
                  </a:lnTo>
                  <a:lnTo>
                    <a:pt x="220285" y="207784"/>
                  </a:lnTo>
                  <a:close/>
                </a:path>
                <a:path w="287655" h="344804">
                  <a:moveTo>
                    <a:pt x="244160" y="57453"/>
                  </a:moveTo>
                  <a:lnTo>
                    <a:pt x="108457" y="57453"/>
                  </a:lnTo>
                  <a:lnTo>
                    <a:pt x="114897" y="63872"/>
                  </a:lnTo>
                  <a:lnTo>
                    <a:pt x="114897" y="84154"/>
                  </a:lnTo>
                  <a:lnTo>
                    <a:pt x="158183" y="113022"/>
                  </a:lnTo>
                  <a:lnTo>
                    <a:pt x="159963" y="121922"/>
                  </a:lnTo>
                  <a:lnTo>
                    <a:pt x="152801" y="132687"/>
                  </a:lnTo>
                  <a:lnTo>
                    <a:pt x="148246" y="134927"/>
                  </a:lnTo>
                  <a:lnTo>
                    <a:pt x="222584" y="134927"/>
                  </a:lnTo>
                  <a:lnTo>
                    <a:pt x="225620" y="132311"/>
                  </a:lnTo>
                  <a:lnTo>
                    <a:pt x="235677" y="118036"/>
                  </a:lnTo>
                  <a:lnTo>
                    <a:pt x="241978" y="101757"/>
                  </a:lnTo>
                  <a:lnTo>
                    <a:pt x="244160" y="84154"/>
                  </a:lnTo>
                  <a:lnTo>
                    <a:pt x="244160" y="57453"/>
                  </a:lnTo>
                  <a:close/>
                </a:path>
                <a:path w="287655" h="344804">
                  <a:moveTo>
                    <a:pt x="280818" y="0"/>
                  </a:moveTo>
                  <a:lnTo>
                    <a:pt x="6429" y="0"/>
                  </a:lnTo>
                  <a:lnTo>
                    <a:pt x="0" y="6418"/>
                  </a:lnTo>
                  <a:lnTo>
                    <a:pt x="0" y="22292"/>
                  </a:lnTo>
                  <a:lnTo>
                    <a:pt x="6429" y="28721"/>
                  </a:lnTo>
                  <a:lnTo>
                    <a:pt x="280818" y="28721"/>
                  </a:lnTo>
                  <a:lnTo>
                    <a:pt x="287247" y="22292"/>
                  </a:lnTo>
                  <a:lnTo>
                    <a:pt x="287247" y="6418"/>
                  </a:lnTo>
                  <a:lnTo>
                    <a:pt x="280818" y="0"/>
                  </a:lnTo>
                  <a:close/>
                </a:path>
              </a:pathLst>
            </a:custGeom>
            <a:solidFill>
              <a:srgbClr val="60399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24" name="object 31">
              <a:extLst>
                <a:ext uri="{FF2B5EF4-FFF2-40B4-BE49-F238E27FC236}">
                  <a16:creationId xmlns:a16="http://schemas.microsoft.com/office/drawing/2014/main" id="{8CBEB460-B9EE-49EA-E600-12895A87CF1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92951" y="8212671"/>
              <a:ext cx="445533" cy="250606"/>
            </a:xfrm>
            <a:prstGeom prst="rect">
              <a:avLst/>
            </a:prstGeom>
          </p:spPr>
        </p:pic>
        <p:pic>
          <p:nvPicPr>
            <p:cNvPr id="25" name="object 32">
              <a:extLst>
                <a:ext uri="{FF2B5EF4-FFF2-40B4-BE49-F238E27FC236}">
                  <a16:creationId xmlns:a16="http://schemas.microsoft.com/office/drawing/2014/main" id="{A42C2090-CDAC-64B0-F779-7930CE9C948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92935" y="8574674"/>
              <a:ext cx="445553" cy="250606"/>
            </a:xfrm>
            <a:prstGeom prst="rect">
              <a:avLst/>
            </a:prstGeom>
          </p:spPr>
        </p:pic>
        <p:pic>
          <p:nvPicPr>
            <p:cNvPr id="29" name="object 36">
              <a:extLst>
                <a:ext uri="{FF2B5EF4-FFF2-40B4-BE49-F238E27FC236}">
                  <a16:creationId xmlns:a16="http://schemas.microsoft.com/office/drawing/2014/main" id="{8AD4848B-C2DA-B6F7-58ED-C54965E0E161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64470" y="5247042"/>
              <a:ext cx="392857" cy="196918"/>
            </a:xfrm>
            <a:prstGeom prst="rect">
              <a:avLst/>
            </a:prstGeom>
          </p:spPr>
        </p:pic>
        <p:sp>
          <p:nvSpPr>
            <p:cNvPr id="30" name="object 37">
              <a:extLst>
                <a:ext uri="{FF2B5EF4-FFF2-40B4-BE49-F238E27FC236}">
                  <a16:creationId xmlns:a16="http://schemas.microsoft.com/office/drawing/2014/main" id="{8425213B-FE83-E374-2FFB-D4DFEA447E53}"/>
                </a:ext>
              </a:extLst>
            </p:cNvPr>
            <p:cNvSpPr/>
            <p:nvPr/>
          </p:nvSpPr>
          <p:spPr>
            <a:xfrm>
              <a:off x="12856432" y="6712465"/>
              <a:ext cx="612790" cy="612790"/>
            </a:xfrm>
            <a:custGeom>
              <a:avLst/>
              <a:gdLst/>
              <a:ahLst/>
              <a:cxnLst/>
              <a:rect l="l" t="t" r="r" b="b"/>
              <a:pathLst>
                <a:path w="344805" h="344804">
                  <a:moveTo>
                    <a:pt x="240065" y="0"/>
                  </a:moveTo>
                  <a:lnTo>
                    <a:pt x="199328" y="8229"/>
                  </a:lnTo>
                  <a:lnTo>
                    <a:pt x="166062" y="30666"/>
                  </a:lnTo>
                  <a:lnTo>
                    <a:pt x="143639" y="63937"/>
                  </a:lnTo>
                  <a:lnTo>
                    <a:pt x="135420" y="104666"/>
                  </a:lnTo>
                  <a:lnTo>
                    <a:pt x="135667" y="111624"/>
                  </a:lnTo>
                  <a:lnTo>
                    <a:pt x="136384" y="118470"/>
                  </a:lnTo>
                  <a:lnTo>
                    <a:pt x="137535" y="125178"/>
                  </a:lnTo>
                  <a:lnTo>
                    <a:pt x="139084" y="131744"/>
                  </a:lnTo>
                  <a:lnTo>
                    <a:pt x="2554" y="268285"/>
                  </a:lnTo>
                  <a:lnTo>
                    <a:pt x="0" y="274462"/>
                  </a:lnTo>
                  <a:lnTo>
                    <a:pt x="0" y="320084"/>
                  </a:lnTo>
                  <a:lnTo>
                    <a:pt x="1936" y="329661"/>
                  </a:lnTo>
                  <a:lnTo>
                    <a:pt x="7215" y="337491"/>
                  </a:lnTo>
                  <a:lnTo>
                    <a:pt x="15041" y="342773"/>
                  </a:lnTo>
                  <a:lnTo>
                    <a:pt x="24617" y="344712"/>
                  </a:lnTo>
                  <a:lnTo>
                    <a:pt x="70165" y="344712"/>
                  </a:lnTo>
                  <a:lnTo>
                    <a:pt x="76332" y="342199"/>
                  </a:lnTo>
                  <a:lnTo>
                    <a:pt x="99661" y="319058"/>
                  </a:lnTo>
                  <a:lnTo>
                    <a:pt x="101651" y="314294"/>
                  </a:lnTo>
                  <a:lnTo>
                    <a:pt x="101651" y="292462"/>
                  </a:lnTo>
                  <a:lnTo>
                    <a:pt x="103104" y="285284"/>
                  </a:lnTo>
                  <a:lnTo>
                    <a:pt x="107064" y="279415"/>
                  </a:lnTo>
                  <a:lnTo>
                    <a:pt x="112933" y="275455"/>
                  </a:lnTo>
                  <a:lnTo>
                    <a:pt x="120111" y="274002"/>
                  </a:lnTo>
                  <a:lnTo>
                    <a:pt x="126268" y="274002"/>
                  </a:lnTo>
                  <a:lnTo>
                    <a:pt x="133452" y="272547"/>
                  </a:lnTo>
                  <a:lnTo>
                    <a:pt x="139324" y="268583"/>
                  </a:lnTo>
                  <a:lnTo>
                    <a:pt x="143285" y="262711"/>
                  </a:lnTo>
                  <a:lnTo>
                    <a:pt x="144739" y="255531"/>
                  </a:lnTo>
                  <a:lnTo>
                    <a:pt x="144739" y="249374"/>
                  </a:lnTo>
                  <a:lnTo>
                    <a:pt x="146192" y="242194"/>
                  </a:lnTo>
                  <a:lnTo>
                    <a:pt x="150152" y="236322"/>
                  </a:lnTo>
                  <a:lnTo>
                    <a:pt x="156021" y="232358"/>
                  </a:lnTo>
                  <a:lnTo>
                    <a:pt x="163199" y="230903"/>
                  </a:lnTo>
                  <a:lnTo>
                    <a:pt x="185031" y="230903"/>
                  </a:lnTo>
                  <a:lnTo>
                    <a:pt x="189805" y="228924"/>
                  </a:lnTo>
                  <a:lnTo>
                    <a:pt x="212988" y="205658"/>
                  </a:lnTo>
                  <a:lnTo>
                    <a:pt x="258161" y="205658"/>
                  </a:lnTo>
                  <a:lnTo>
                    <a:pt x="280790" y="201088"/>
                  </a:lnTo>
                  <a:lnTo>
                    <a:pt x="314050" y="178660"/>
                  </a:lnTo>
                  <a:lnTo>
                    <a:pt x="336477" y="145397"/>
                  </a:lnTo>
                  <a:lnTo>
                    <a:pt x="343462" y="110802"/>
                  </a:lnTo>
                  <a:lnTo>
                    <a:pt x="264683" y="110802"/>
                  </a:lnTo>
                  <a:lnTo>
                    <a:pt x="252700" y="108384"/>
                  </a:lnTo>
                  <a:lnTo>
                    <a:pt x="242919" y="101788"/>
                  </a:lnTo>
                  <a:lnTo>
                    <a:pt x="236326" y="92006"/>
                  </a:lnTo>
                  <a:lnTo>
                    <a:pt x="233909" y="80028"/>
                  </a:lnTo>
                  <a:lnTo>
                    <a:pt x="236326" y="68045"/>
                  </a:lnTo>
                  <a:lnTo>
                    <a:pt x="242919" y="58260"/>
                  </a:lnTo>
                  <a:lnTo>
                    <a:pt x="252700" y="51663"/>
                  </a:lnTo>
                  <a:lnTo>
                    <a:pt x="264683" y="49244"/>
                  </a:lnTo>
                  <a:lnTo>
                    <a:pt x="326573" y="49244"/>
                  </a:lnTo>
                  <a:lnTo>
                    <a:pt x="314029" y="30652"/>
                  </a:lnTo>
                  <a:lnTo>
                    <a:pt x="280767" y="8224"/>
                  </a:lnTo>
                  <a:lnTo>
                    <a:pt x="240065" y="0"/>
                  </a:lnTo>
                  <a:close/>
                </a:path>
                <a:path w="344805" h="344804">
                  <a:moveTo>
                    <a:pt x="258161" y="205658"/>
                  </a:moveTo>
                  <a:lnTo>
                    <a:pt x="212988" y="205658"/>
                  </a:lnTo>
                  <a:lnTo>
                    <a:pt x="219544" y="207205"/>
                  </a:lnTo>
                  <a:lnTo>
                    <a:pt x="226248" y="208353"/>
                  </a:lnTo>
                  <a:lnTo>
                    <a:pt x="233091" y="209067"/>
                  </a:lnTo>
                  <a:lnTo>
                    <a:pt x="240065" y="209312"/>
                  </a:lnTo>
                  <a:lnTo>
                    <a:pt x="258161" y="205658"/>
                  </a:lnTo>
                  <a:close/>
                </a:path>
                <a:path w="344805" h="344804">
                  <a:moveTo>
                    <a:pt x="326573" y="49244"/>
                  </a:moveTo>
                  <a:lnTo>
                    <a:pt x="264683" y="49244"/>
                  </a:lnTo>
                  <a:lnTo>
                    <a:pt x="276665" y="51663"/>
                  </a:lnTo>
                  <a:lnTo>
                    <a:pt x="286446" y="58260"/>
                  </a:lnTo>
                  <a:lnTo>
                    <a:pt x="293039" y="68045"/>
                  </a:lnTo>
                  <a:lnTo>
                    <a:pt x="295456" y="80028"/>
                  </a:lnTo>
                  <a:lnTo>
                    <a:pt x="293039" y="92006"/>
                  </a:lnTo>
                  <a:lnTo>
                    <a:pt x="286446" y="101788"/>
                  </a:lnTo>
                  <a:lnTo>
                    <a:pt x="276665" y="108384"/>
                  </a:lnTo>
                  <a:lnTo>
                    <a:pt x="264683" y="110802"/>
                  </a:lnTo>
                  <a:lnTo>
                    <a:pt x="343462" y="110802"/>
                  </a:lnTo>
                  <a:lnTo>
                    <a:pt x="344697" y="104646"/>
                  </a:lnTo>
                  <a:lnTo>
                    <a:pt x="336462" y="63915"/>
                  </a:lnTo>
                  <a:lnTo>
                    <a:pt x="326573" y="49244"/>
                  </a:lnTo>
                  <a:close/>
                </a:path>
              </a:pathLst>
            </a:custGeom>
            <a:solidFill>
              <a:srgbClr val="603990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93796DD-D54C-AD57-9154-338CC69DC8FE}"/>
                </a:ext>
              </a:extLst>
            </p:cNvPr>
            <p:cNvGrpSpPr/>
            <p:nvPr/>
          </p:nvGrpSpPr>
          <p:grpSpPr>
            <a:xfrm>
              <a:off x="12672404" y="8030470"/>
              <a:ext cx="976931" cy="977005"/>
              <a:chOff x="12075691" y="7584571"/>
              <a:chExt cx="976931" cy="977005"/>
            </a:xfrm>
          </p:grpSpPr>
          <p:pic>
            <p:nvPicPr>
              <p:cNvPr id="21" name="object 28">
                <a:extLst>
                  <a:ext uri="{FF2B5EF4-FFF2-40B4-BE49-F238E27FC236}">
                    <a16:creationId xmlns:a16="http://schemas.microsoft.com/office/drawing/2014/main" id="{6BBFE044-052B-26FA-1009-79322CD48A62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075691" y="7584571"/>
                <a:ext cx="976931" cy="977005"/>
              </a:xfrm>
              <a:prstGeom prst="rect">
                <a:avLst/>
              </a:prstGeom>
            </p:spPr>
          </p:pic>
          <p:pic>
            <p:nvPicPr>
              <p:cNvPr id="31" name="object 38">
                <a:extLst>
                  <a:ext uri="{FF2B5EF4-FFF2-40B4-BE49-F238E27FC236}">
                    <a16:creationId xmlns:a16="http://schemas.microsoft.com/office/drawing/2014/main" id="{CB9018FC-B253-C981-2BE8-6A133853FA53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259719" y="7764479"/>
                <a:ext cx="560798" cy="614894"/>
              </a:xfrm>
              <a:prstGeom prst="rect">
                <a:avLst/>
              </a:prstGeom>
            </p:spPr>
          </p:pic>
          <p:sp>
            <p:nvSpPr>
              <p:cNvPr id="32" name="object 39">
                <a:extLst>
                  <a:ext uri="{FF2B5EF4-FFF2-40B4-BE49-F238E27FC236}">
                    <a16:creationId xmlns:a16="http://schemas.microsoft.com/office/drawing/2014/main" id="{1CEBBF70-7C85-C442-7728-769026F713B4}"/>
                  </a:ext>
                </a:extLst>
              </p:cNvPr>
              <p:cNvSpPr/>
              <p:nvPr/>
            </p:nvSpPr>
            <p:spPr>
              <a:xfrm>
                <a:off x="12307853" y="7764479"/>
                <a:ext cx="560878" cy="615047"/>
              </a:xfrm>
              <a:custGeom>
                <a:avLst/>
                <a:gdLst/>
                <a:ahLst/>
                <a:cxnLst/>
                <a:rect l="l" t="t" r="r" b="b"/>
                <a:pathLst>
                  <a:path w="315594" h="346075">
                    <a:moveTo>
                      <a:pt x="27203" y="0"/>
                    </a:moveTo>
                    <a:lnTo>
                      <a:pt x="22690" y="2869"/>
                    </a:lnTo>
                    <a:lnTo>
                      <a:pt x="8258" y="16753"/>
                    </a:lnTo>
                    <a:lnTo>
                      <a:pt x="526" y="34504"/>
                    </a:lnTo>
                    <a:lnTo>
                      <a:pt x="0" y="53860"/>
                    </a:lnTo>
                    <a:lnTo>
                      <a:pt x="7183" y="72563"/>
                    </a:lnTo>
                    <a:lnTo>
                      <a:pt x="178769" y="311561"/>
                    </a:lnTo>
                    <a:lnTo>
                      <a:pt x="211515" y="339607"/>
                    </a:lnTo>
                    <a:lnTo>
                      <a:pt x="236485" y="345989"/>
                    </a:lnTo>
                    <a:lnTo>
                      <a:pt x="241951" y="345989"/>
                    </a:lnTo>
                    <a:lnTo>
                      <a:pt x="281918" y="334303"/>
                    </a:lnTo>
                    <a:lnTo>
                      <a:pt x="306245" y="306985"/>
                    </a:lnTo>
                    <a:lnTo>
                      <a:pt x="241804" y="306985"/>
                    </a:lnTo>
                    <a:lnTo>
                      <a:pt x="227862" y="304171"/>
                    </a:lnTo>
                    <a:lnTo>
                      <a:pt x="216476" y="296496"/>
                    </a:lnTo>
                    <a:lnTo>
                      <a:pt x="208799" y="285110"/>
                    </a:lnTo>
                    <a:lnTo>
                      <a:pt x="205983" y="271164"/>
                    </a:lnTo>
                    <a:lnTo>
                      <a:pt x="208799" y="257224"/>
                    </a:lnTo>
                    <a:lnTo>
                      <a:pt x="216476" y="245841"/>
                    </a:lnTo>
                    <a:lnTo>
                      <a:pt x="227862" y="238167"/>
                    </a:lnTo>
                    <a:lnTo>
                      <a:pt x="241804" y="235354"/>
                    </a:lnTo>
                    <a:lnTo>
                      <a:pt x="306571" y="235354"/>
                    </a:lnTo>
                    <a:lnTo>
                      <a:pt x="304902" y="231008"/>
                    </a:lnTo>
                    <a:lnTo>
                      <a:pt x="291769" y="217354"/>
                    </a:lnTo>
                    <a:lnTo>
                      <a:pt x="189732" y="217354"/>
                    </a:lnTo>
                    <a:lnTo>
                      <a:pt x="33161" y="1141"/>
                    </a:lnTo>
                    <a:lnTo>
                      <a:pt x="27203" y="0"/>
                    </a:lnTo>
                    <a:close/>
                  </a:path>
                  <a:path w="315594" h="346075">
                    <a:moveTo>
                      <a:pt x="306571" y="235354"/>
                    </a:moveTo>
                    <a:lnTo>
                      <a:pt x="241804" y="235354"/>
                    </a:lnTo>
                    <a:lnTo>
                      <a:pt x="255745" y="238167"/>
                    </a:lnTo>
                    <a:lnTo>
                      <a:pt x="267132" y="245841"/>
                    </a:lnTo>
                    <a:lnTo>
                      <a:pt x="274809" y="257224"/>
                    </a:lnTo>
                    <a:lnTo>
                      <a:pt x="277625" y="271164"/>
                    </a:lnTo>
                    <a:lnTo>
                      <a:pt x="274809" y="285110"/>
                    </a:lnTo>
                    <a:lnTo>
                      <a:pt x="267132" y="296496"/>
                    </a:lnTo>
                    <a:lnTo>
                      <a:pt x="255745" y="304171"/>
                    </a:lnTo>
                    <a:lnTo>
                      <a:pt x="241804" y="306985"/>
                    </a:lnTo>
                    <a:lnTo>
                      <a:pt x="306245" y="306985"/>
                    </a:lnTo>
                    <a:lnTo>
                      <a:pt x="314770" y="287411"/>
                    </a:lnTo>
                    <a:lnTo>
                      <a:pt x="315549" y="258723"/>
                    </a:lnTo>
                    <a:lnTo>
                      <a:pt x="306571" y="235354"/>
                    </a:lnTo>
                    <a:close/>
                  </a:path>
                  <a:path w="315594" h="346075">
                    <a:moveTo>
                      <a:pt x="229321" y="197367"/>
                    </a:moveTo>
                    <a:lnTo>
                      <a:pt x="201606" y="208014"/>
                    </a:lnTo>
                    <a:lnTo>
                      <a:pt x="197303" y="210747"/>
                    </a:lnTo>
                    <a:lnTo>
                      <a:pt x="193334" y="213867"/>
                    </a:lnTo>
                    <a:lnTo>
                      <a:pt x="189732" y="217354"/>
                    </a:lnTo>
                    <a:lnTo>
                      <a:pt x="291769" y="217354"/>
                    </a:lnTo>
                    <a:lnTo>
                      <a:pt x="284319" y="209609"/>
                    </a:lnTo>
                    <a:lnTo>
                      <a:pt x="258009" y="198147"/>
                    </a:lnTo>
                    <a:lnTo>
                      <a:pt x="229321" y="197367"/>
                    </a:lnTo>
                    <a:close/>
                  </a:path>
                </a:pathLst>
              </a:custGeom>
              <a:solidFill>
                <a:srgbClr val="603990"/>
              </a:solidFill>
            </p:spPr>
            <p:txBody>
              <a:bodyPr wrap="square" lIns="0" tIns="0" rIns="0" bIns="0" rtlCol="0"/>
              <a:lstStyle/>
              <a:p>
                <a:endParaRPr lang="pt-PT" dirty="0"/>
              </a:p>
            </p:txBody>
          </p:sp>
        </p:grpSp>
        <p:sp>
          <p:nvSpPr>
            <p:cNvPr id="33" name="object 40">
              <a:extLst>
                <a:ext uri="{FF2B5EF4-FFF2-40B4-BE49-F238E27FC236}">
                  <a16:creationId xmlns:a16="http://schemas.microsoft.com/office/drawing/2014/main" id="{1F02BCCD-357B-7CE3-0229-767738491FDA}"/>
                </a:ext>
              </a:extLst>
            </p:cNvPr>
            <p:cNvSpPr/>
            <p:nvPr/>
          </p:nvSpPr>
          <p:spPr>
            <a:xfrm>
              <a:off x="6534299" y="4741989"/>
              <a:ext cx="2061570" cy="379286"/>
            </a:xfrm>
            <a:custGeom>
              <a:avLst/>
              <a:gdLst/>
              <a:ahLst/>
              <a:cxnLst/>
              <a:rect l="l" t="t" r="r" b="b"/>
              <a:pathLst>
                <a:path w="725169" h="162560">
                  <a:moveTo>
                    <a:pt x="0" y="162529"/>
                  </a:moveTo>
                  <a:lnTo>
                    <a:pt x="101955" y="60574"/>
                  </a:lnTo>
                  <a:lnTo>
                    <a:pt x="133453" y="34747"/>
                  </a:lnTo>
                  <a:lnTo>
                    <a:pt x="169051" y="15742"/>
                  </a:lnTo>
                  <a:lnTo>
                    <a:pt x="207662" y="4010"/>
                  </a:lnTo>
                  <a:lnTo>
                    <a:pt x="248201" y="0"/>
                  </a:lnTo>
                  <a:lnTo>
                    <a:pt x="724731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4" name="object 41">
              <a:extLst>
                <a:ext uri="{FF2B5EF4-FFF2-40B4-BE49-F238E27FC236}">
                  <a16:creationId xmlns:a16="http://schemas.microsoft.com/office/drawing/2014/main" id="{F2583F75-F906-6C50-3FE2-EB953FAB3526}"/>
                </a:ext>
              </a:extLst>
            </p:cNvPr>
            <p:cNvSpPr/>
            <p:nvPr/>
          </p:nvSpPr>
          <p:spPr>
            <a:xfrm>
              <a:off x="6648064" y="7338513"/>
              <a:ext cx="1685201" cy="1236161"/>
            </a:xfrm>
            <a:custGeom>
              <a:avLst/>
              <a:gdLst/>
              <a:ahLst/>
              <a:cxnLst/>
              <a:rect l="l" t="t" r="r" b="b"/>
              <a:pathLst>
                <a:path w="758825" h="528954">
                  <a:moveTo>
                    <a:pt x="0" y="528957"/>
                  </a:moveTo>
                  <a:lnTo>
                    <a:pt x="229846" y="528957"/>
                  </a:lnTo>
                  <a:lnTo>
                    <a:pt x="758814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5" name="object 42">
              <a:extLst>
                <a:ext uri="{FF2B5EF4-FFF2-40B4-BE49-F238E27FC236}">
                  <a16:creationId xmlns:a16="http://schemas.microsoft.com/office/drawing/2014/main" id="{06F89742-27D2-0603-FEA4-D301694D0A4D}"/>
                </a:ext>
              </a:extLst>
            </p:cNvPr>
            <p:cNvSpPr/>
            <p:nvPr/>
          </p:nvSpPr>
          <p:spPr>
            <a:xfrm>
              <a:off x="6648064" y="6863927"/>
              <a:ext cx="1474564" cy="45719"/>
            </a:xfrm>
            <a:custGeom>
              <a:avLst/>
              <a:gdLst/>
              <a:ahLst/>
              <a:cxnLst/>
              <a:rect l="l" t="t" r="r" b="b"/>
              <a:pathLst>
                <a:path w="688975">
                  <a:moveTo>
                    <a:pt x="0" y="0"/>
                  </a:moveTo>
                  <a:lnTo>
                    <a:pt x="688764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6" name="object 43">
              <a:extLst>
                <a:ext uri="{FF2B5EF4-FFF2-40B4-BE49-F238E27FC236}">
                  <a16:creationId xmlns:a16="http://schemas.microsoft.com/office/drawing/2014/main" id="{E3B45DF4-AC07-96E5-E7F5-839C8B3BBF8D}"/>
                </a:ext>
              </a:extLst>
            </p:cNvPr>
            <p:cNvSpPr/>
            <p:nvPr/>
          </p:nvSpPr>
          <p:spPr>
            <a:xfrm>
              <a:off x="10749969" y="3966864"/>
              <a:ext cx="1922434" cy="1212461"/>
            </a:xfrm>
            <a:custGeom>
              <a:avLst/>
              <a:gdLst/>
              <a:ahLst/>
              <a:cxnLst/>
              <a:rect l="l" t="t" r="r" b="b"/>
              <a:pathLst>
                <a:path w="798194" h="348614">
                  <a:moveTo>
                    <a:pt x="797829" y="0"/>
                  </a:moveTo>
                  <a:lnTo>
                    <a:pt x="348010" y="0"/>
                  </a:lnTo>
                  <a:lnTo>
                    <a:pt x="0" y="347999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7" name="object 44">
              <a:extLst>
                <a:ext uri="{FF2B5EF4-FFF2-40B4-BE49-F238E27FC236}">
                  <a16:creationId xmlns:a16="http://schemas.microsoft.com/office/drawing/2014/main" id="{17242843-C80F-B6A7-0E97-6CF5E6E2FB09}"/>
                </a:ext>
              </a:extLst>
            </p:cNvPr>
            <p:cNvSpPr/>
            <p:nvPr/>
          </p:nvSpPr>
          <p:spPr>
            <a:xfrm flipV="1">
              <a:off x="10974901" y="5332902"/>
              <a:ext cx="1697502" cy="250385"/>
            </a:xfrm>
            <a:custGeom>
              <a:avLst/>
              <a:gdLst/>
              <a:ahLst/>
              <a:cxnLst/>
              <a:rect l="l" t="t" r="r" b="b"/>
              <a:pathLst>
                <a:path w="697230">
                  <a:moveTo>
                    <a:pt x="696910" y="0"/>
                  </a:move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8" name="object 45">
              <a:extLst>
                <a:ext uri="{FF2B5EF4-FFF2-40B4-BE49-F238E27FC236}">
                  <a16:creationId xmlns:a16="http://schemas.microsoft.com/office/drawing/2014/main" id="{A1FF0AE9-4D20-0450-9D49-14E925B60B2A}"/>
                </a:ext>
              </a:extLst>
            </p:cNvPr>
            <p:cNvSpPr/>
            <p:nvPr/>
          </p:nvSpPr>
          <p:spPr>
            <a:xfrm>
              <a:off x="10974900" y="7007911"/>
              <a:ext cx="1697503" cy="45719"/>
            </a:xfrm>
            <a:custGeom>
              <a:avLst/>
              <a:gdLst/>
              <a:ahLst/>
              <a:cxnLst/>
              <a:rect l="l" t="t" r="r" b="b"/>
              <a:pathLst>
                <a:path w="697230">
                  <a:moveTo>
                    <a:pt x="696910" y="0"/>
                  </a:move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39" name="object 46">
              <a:extLst>
                <a:ext uri="{FF2B5EF4-FFF2-40B4-BE49-F238E27FC236}">
                  <a16:creationId xmlns:a16="http://schemas.microsoft.com/office/drawing/2014/main" id="{D152A2E8-B63C-B9EF-6BF3-0CF3D658339E}"/>
                </a:ext>
              </a:extLst>
            </p:cNvPr>
            <p:cNvSpPr/>
            <p:nvPr/>
          </p:nvSpPr>
          <p:spPr>
            <a:xfrm>
              <a:off x="10670440" y="7531940"/>
              <a:ext cx="2001964" cy="1098429"/>
            </a:xfrm>
            <a:custGeom>
              <a:avLst/>
              <a:gdLst/>
              <a:ahLst/>
              <a:cxnLst/>
              <a:rect l="l" t="t" r="r" b="b"/>
              <a:pathLst>
                <a:path w="868680" h="382904">
                  <a:moveTo>
                    <a:pt x="868224" y="382648"/>
                  </a:moveTo>
                  <a:lnTo>
                    <a:pt x="382637" y="382648"/>
                  </a:lnTo>
                  <a:lnTo>
                    <a:pt x="0" y="0"/>
                  </a:lnTo>
                </a:path>
              </a:pathLst>
            </a:custGeom>
            <a:ln w="34470">
              <a:solidFill>
                <a:srgbClr val="60399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pic>
          <p:nvPicPr>
            <p:cNvPr id="40" name="object 47">
              <a:extLst>
                <a:ext uri="{FF2B5EF4-FFF2-40B4-BE49-F238E27FC236}">
                  <a16:creationId xmlns:a16="http://schemas.microsoft.com/office/drawing/2014/main" id="{03EB6673-F6F4-4C8B-CE8D-D38591A07451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64136" y="4325288"/>
              <a:ext cx="3710304" cy="3710304"/>
            </a:xfrm>
            <a:prstGeom prst="rect">
              <a:avLst/>
            </a:prstGeom>
          </p:spPr>
        </p:pic>
        <p:sp>
          <p:nvSpPr>
            <p:cNvPr id="41" name="object 48">
              <a:extLst>
                <a:ext uri="{FF2B5EF4-FFF2-40B4-BE49-F238E27FC236}">
                  <a16:creationId xmlns:a16="http://schemas.microsoft.com/office/drawing/2014/main" id="{E6A25735-4691-3A76-4447-D951CB12E414}"/>
                </a:ext>
              </a:extLst>
            </p:cNvPr>
            <p:cNvSpPr/>
            <p:nvPr/>
          </p:nvSpPr>
          <p:spPr>
            <a:xfrm>
              <a:off x="8993007" y="5175310"/>
              <a:ext cx="1452412" cy="2011034"/>
            </a:xfrm>
            <a:custGeom>
              <a:avLst/>
              <a:gdLst/>
              <a:ahLst/>
              <a:cxnLst/>
              <a:rect l="l" t="t" r="r" b="b"/>
              <a:pathLst>
                <a:path w="817244" h="1131570">
                  <a:moveTo>
                    <a:pt x="0" y="171303"/>
                  </a:moveTo>
                  <a:lnTo>
                    <a:pt x="0" y="282787"/>
                  </a:lnTo>
                  <a:lnTo>
                    <a:pt x="75442" y="282787"/>
                  </a:lnTo>
                  <a:lnTo>
                    <a:pt x="98601" y="285677"/>
                  </a:lnTo>
                  <a:lnTo>
                    <a:pt x="116404" y="294345"/>
                  </a:lnTo>
                  <a:lnTo>
                    <a:pt x="128852" y="308792"/>
                  </a:lnTo>
                  <a:lnTo>
                    <a:pt x="135943" y="329016"/>
                  </a:lnTo>
                  <a:lnTo>
                    <a:pt x="135943" y="524120"/>
                  </a:lnTo>
                  <a:lnTo>
                    <a:pt x="140487" y="524120"/>
                  </a:lnTo>
                  <a:lnTo>
                    <a:pt x="144110" y="524350"/>
                  </a:lnTo>
                  <a:lnTo>
                    <a:pt x="146822" y="524800"/>
                  </a:lnTo>
                  <a:lnTo>
                    <a:pt x="135943" y="524800"/>
                  </a:lnTo>
                  <a:lnTo>
                    <a:pt x="135943" y="798059"/>
                  </a:lnTo>
                  <a:lnTo>
                    <a:pt x="131441" y="813225"/>
                  </a:lnTo>
                  <a:lnTo>
                    <a:pt x="123370" y="824059"/>
                  </a:lnTo>
                  <a:lnTo>
                    <a:pt x="111730" y="830561"/>
                  </a:lnTo>
                  <a:lnTo>
                    <a:pt x="96520" y="832728"/>
                  </a:lnTo>
                  <a:lnTo>
                    <a:pt x="21077" y="832728"/>
                  </a:lnTo>
                  <a:lnTo>
                    <a:pt x="0" y="957133"/>
                  </a:lnTo>
                  <a:lnTo>
                    <a:pt x="210045" y="957803"/>
                  </a:lnTo>
                  <a:lnTo>
                    <a:pt x="210045" y="1131138"/>
                  </a:lnTo>
                  <a:lnTo>
                    <a:pt x="314754" y="1131138"/>
                  </a:lnTo>
                  <a:lnTo>
                    <a:pt x="314754" y="959834"/>
                  </a:lnTo>
                  <a:lnTo>
                    <a:pt x="502361" y="959834"/>
                  </a:lnTo>
                  <a:lnTo>
                    <a:pt x="502361" y="957803"/>
                  </a:lnTo>
                  <a:lnTo>
                    <a:pt x="554964" y="953901"/>
                  </a:lnTo>
                  <a:lnTo>
                    <a:pt x="601269" y="947604"/>
                  </a:lnTo>
                  <a:lnTo>
                    <a:pt x="643501" y="937992"/>
                  </a:lnTo>
                  <a:lnTo>
                    <a:pt x="683863" y="924139"/>
                  </a:lnTo>
                  <a:lnTo>
                    <a:pt x="720050" y="906214"/>
                  </a:lnTo>
                  <a:lnTo>
                    <a:pt x="762470" y="871676"/>
                  </a:lnTo>
                  <a:lnTo>
                    <a:pt x="788267" y="834068"/>
                  </a:lnTo>
                  <a:lnTo>
                    <a:pt x="374554" y="834068"/>
                  </a:lnTo>
                  <a:lnTo>
                    <a:pt x="320398" y="833398"/>
                  </a:lnTo>
                  <a:lnTo>
                    <a:pt x="316765" y="833398"/>
                  </a:lnTo>
                  <a:lnTo>
                    <a:pt x="316765" y="603625"/>
                  </a:lnTo>
                  <a:lnTo>
                    <a:pt x="383787" y="602314"/>
                  </a:lnTo>
                  <a:lnTo>
                    <a:pt x="790390" y="602274"/>
                  </a:lnTo>
                  <a:lnTo>
                    <a:pt x="785148" y="593416"/>
                  </a:lnTo>
                  <a:lnTo>
                    <a:pt x="762930" y="569927"/>
                  </a:lnTo>
                  <a:lnTo>
                    <a:pt x="735697" y="550429"/>
                  </a:lnTo>
                  <a:lnTo>
                    <a:pt x="703450" y="534922"/>
                  </a:lnTo>
                  <a:lnTo>
                    <a:pt x="666189" y="523408"/>
                  </a:lnTo>
                  <a:lnTo>
                    <a:pt x="700586" y="499448"/>
                  </a:lnTo>
                  <a:lnTo>
                    <a:pt x="358169" y="499448"/>
                  </a:lnTo>
                  <a:lnTo>
                    <a:pt x="319047" y="498937"/>
                  </a:lnTo>
                  <a:lnTo>
                    <a:pt x="316775" y="498937"/>
                  </a:lnTo>
                  <a:lnTo>
                    <a:pt x="316775" y="290242"/>
                  </a:lnTo>
                  <a:lnTo>
                    <a:pt x="380333" y="289216"/>
                  </a:lnTo>
                  <a:lnTo>
                    <a:pt x="740440" y="289198"/>
                  </a:lnTo>
                  <a:lnTo>
                    <a:pt x="739753" y="287425"/>
                  </a:lnTo>
                  <a:lnTo>
                    <a:pt x="719139" y="254525"/>
                  </a:lnTo>
                  <a:lnTo>
                    <a:pt x="691101" y="228020"/>
                  </a:lnTo>
                  <a:lnTo>
                    <a:pt x="656273" y="207749"/>
                  </a:lnTo>
                  <a:lnTo>
                    <a:pt x="617857" y="192454"/>
                  </a:lnTo>
                  <a:lnTo>
                    <a:pt x="576017" y="181689"/>
                  </a:lnTo>
                  <a:lnTo>
                    <a:pt x="528428" y="174044"/>
                  </a:lnTo>
                  <a:lnTo>
                    <a:pt x="508819" y="171984"/>
                  </a:lnTo>
                  <a:lnTo>
                    <a:pt x="144110" y="171984"/>
                  </a:lnTo>
                  <a:lnTo>
                    <a:pt x="0" y="171303"/>
                  </a:lnTo>
                  <a:close/>
                </a:path>
                <a:path w="817244" h="1131570">
                  <a:moveTo>
                    <a:pt x="502361" y="959834"/>
                  </a:moveTo>
                  <a:lnTo>
                    <a:pt x="314754" y="959834"/>
                  </a:lnTo>
                  <a:lnTo>
                    <a:pt x="330644" y="960141"/>
                  </a:lnTo>
                  <a:lnTo>
                    <a:pt x="397684" y="960525"/>
                  </a:lnTo>
                  <a:lnTo>
                    <a:pt x="397684" y="1131138"/>
                  </a:lnTo>
                  <a:lnTo>
                    <a:pt x="502361" y="1131138"/>
                  </a:lnTo>
                  <a:lnTo>
                    <a:pt x="502361" y="959834"/>
                  </a:lnTo>
                  <a:close/>
                </a:path>
                <a:path w="817244" h="1131570">
                  <a:moveTo>
                    <a:pt x="790390" y="602274"/>
                  </a:moveTo>
                  <a:lnTo>
                    <a:pt x="392899" y="602274"/>
                  </a:lnTo>
                  <a:lnTo>
                    <a:pt x="402204" y="602399"/>
                  </a:lnTo>
                  <a:lnTo>
                    <a:pt x="413127" y="602776"/>
                  </a:lnTo>
                  <a:lnTo>
                    <a:pt x="454172" y="605447"/>
                  </a:lnTo>
                  <a:lnTo>
                    <a:pt x="500548" y="612727"/>
                  </a:lnTo>
                  <a:lnTo>
                    <a:pt x="546134" y="627468"/>
                  </a:lnTo>
                  <a:lnTo>
                    <a:pt x="580919" y="650264"/>
                  </a:lnTo>
                  <a:lnTo>
                    <a:pt x="603353" y="684842"/>
                  </a:lnTo>
                  <a:lnTo>
                    <a:pt x="609091" y="718501"/>
                  </a:lnTo>
                  <a:lnTo>
                    <a:pt x="608688" y="727810"/>
                  </a:lnTo>
                  <a:lnTo>
                    <a:pt x="595233" y="767793"/>
                  </a:lnTo>
                  <a:lnTo>
                    <a:pt x="567046" y="796175"/>
                  </a:lnTo>
                  <a:lnTo>
                    <a:pt x="526832" y="815032"/>
                  </a:lnTo>
                  <a:lnTo>
                    <a:pt x="489115" y="824561"/>
                  </a:lnTo>
                  <a:lnTo>
                    <a:pt x="450342" y="830330"/>
                  </a:lnTo>
                  <a:lnTo>
                    <a:pt x="399666" y="833494"/>
                  </a:lnTo>
                  <a:lnTo>
                    <a:pt x="374554" y="834068"/>
                  </a:lnTo>
                  <a:lnTo>
                    <a:pt x="788267" y="834068"/>
                  </a:lnTo>
                  <a:lnTo>
                    <a:pt x="807818" y="784273"/>
                  </a:lnTo>
                  <a:lnTo>
                    <a:pt x="815713" y="738888"/>
                  </a:lnTo>
                  <a:lnTo>
                    <a:pt x="817133" y="694368"/>
                  </a:lnTo>
                  <a:lnTo>
                    <a:pt x="812509" y="655283"/>
                  </a:lnTo>
                  <a:lnTo>
                    <a:pt x="801845" y="621632"/>
                  </a:lnTo>
                  <a:lnTo>
                    <a:pt x="790390" y="602274"/>
                  </a:lnTo>
                  <a:close/>
                </a:path>
                <a:path w="817244" h="1131570">
                  <a:moveTo>
                    <a:pt x="740440" y="289198"/>
                  </a:moveTo>
                  <a:lnTo>
                    <a:pt x="388281" y="289198"/>
                  </a:lnTo>
                  <a:lnTo>
                    <a:pt x="397502" y="289476"/>
                  </a:lnTo>
                  <a:lnTo>
                    <a:pt x="407997" y="290051"/>
                  </a:lnTo>
                  <a:lnTo>
                    <a:pt x="452587" y="294745"/>
                  </a:lnTo>
                  <a:lnTo>
                    <a:pt x="498958" y="307571"/>
                  </a:lnTo>
                  <a:lnTo>
                    <a:pt x="537465" y="332597"/>
                  </a:lnTo>
                  <a:lnTo>
                    <a:pt x="558683" y="373764"/>
                  </a:lnTo>
                  <a:lnTo>
                    <a:pt x="560810" y="394919"/>
                  </a:lnTo>
                  <a:lnTo>
                    <a:pt x="560429" y="404225"/>
                  </a:lnTo>
                  <a:lnTo>
                    <a:pt x="547055" y="443958"/>
                  </a:lnTo>
                  <a:lnTo>
                    <a:pt x="517610" y="470052"/>
                  </a:lnTo>
                  <a:lnTo>
                    <a:pt x="478226" y="486697"/>
                  </a:lnTo>
                  <a:lnTo>
                    <a:pt x="435284" y="495431"/>
                  </a:lnTo>
                  <a:lnTo>
                    <a:pt x="371852" y="499283"/>
                  </a:lnTo>
                  <a:lnTo>
                    <a:pt x="358169" y="499448"/>
                  </a:lnTo>
                  <a:lnTo>
                    <a:pt x="700586" y="499448"/>
                  </a:lnTo>
                  <a:lnTo>
                    <a:pt x="709737" y="493073"/>
                  </a:lnTo>
                  <a:lnTo>
                    <a:pt x="739093" y="453729"/>
                  </a:lnTo>
                  <a:lnTo>
                    <a:pt x="754261" y="405378"/>
                  </a:lnTo>
                  <a:lnTo>
                    <a:pt x="755244" y="348020"/>
                  </a:lnTo>
                  <a:lnTo>
                    <a:pt x="752161" y="326331"/>
                  </a:lnTo>
                  <a:lnTo>
                    <a:pt x="746998" y="306134"/>
                  </a:lnTo>
                  <a:lnTo>
                    <a:pt x="740440" y="289198"/>
                  </a:lnTo>
                  <a:close/>
                </a:path>
                <a:path w="817244" h="1131570">
                  <a:moveTo>
                    <a:pt x="314733" y="0"/>
                  </a:moveTo>
                  <a:lnTo>
                    <a:pt x="210045" y="0"/>
                  </a:lnTo>
                  <a:lnTo>
                    <a:pt x="210045" y="171303"/>
                  </a:lnTo>
                  <a:lnTo>
                    <a:pt x="197508" y="171599"/>
                  </a:lnTo>
                  <a:lnTo>
                    <a:pt x="144110" y="171984"/>
                  </a:lnTo>
                  <a:lnTo>
                    <a:pt x="508819" y="171984"/>
                  </a:lnTo>
                  <a:lnTo>
                    <a:pt x="502340" y="171303"/>
                  </a:lnTo>
                  <a:lnTo>
                    <a:pt x="502340" y="167900"/>
                  </a:lnTo>
                  <a:lnTo>
                    <a:pt x="314733" y="167900"/>
                  </a:lnTo>
                  <a:lnTo>
                    <a:pt x="314733" y="0"/>
                  </a:lnTo>
                  <a:close/>
                </a:path>
                <a:path w="817244" h="1131570">
                  <a:moveTo>
                    <a:pt x="502340" y="0"/>
                  </a:moveTo>
                  <a:lnTo>
                    <a:pt x="397663" y="0"/>
                  </a:lnTo>
                  <a:lnTo>
                    <a:pt x="397663" y="166539"/>
                  </a:lnTo>
                  <a:lnTo>
                    <a:pt x="382284" y="166625"/>
                  </a:lnTo>
                  <a:lnTo>
                    <a:pt x="314733" y="167900"/>
                  </a:lnTo>
                  <a:lnTo>
                    <a:pt x="502340" y="167900"/>
                  </a:lnTo>
                  <a:lnTo>
                    <a:pt x="502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pt-PT" dirty="0"/>
            </a:p>
          </p:txBody>
        </p:sp>
        <p:sp>
          <p:nvSpPr>
            <p:cNvPr id="42" name="object 49">
              <a:extLst>
                <a:ext uri="{FF2B5EF4-FFF2-40B4-BE49-F238E27FC236}">
                  <a16:creationId xmlns:a16="http://schemas.microsoft.com/office/drawing/2014/main" id="{F410FE81-43EE-3265-7D5E-20A69EAC2464}"/>
                </a:ext>
              </a:extLst>
            </p:cNvPr>
            <p:cNvSpPr txBox="1"/>
            <p:nvPr/>
          </p:nvSpPr>
          <p:spPr>
            <a:xfrm>
              <a:off x="14243050" y="3585685"/>
              <a:ext cx="3053793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spc="-10" dirty="0">
                  <a:solidFill>
                    <a:srgbClr val="57585B"/>
                  </a:solidFill>
                  <a:latin typeface="Open Sans"/>
                  <a:cs typeface="Open Sans"/>
                </a:rPr>
                <a:t>Arquitetura de Rede Ponto a Ponto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3" name="object 50">
              <a:extLst>
                <a:ext uri="{FF2B5EF4-FFF2-40B4-BE49-F238E27FC236}">
                  <a16:creationId xmlns:a16="http://schemas.microsoft.com/office/drawing/2014/main" id="{508DDB87-579A-39FA-076F-AB0CD1A7843B}"/>
                </a:ext>
              </a:extLst>
            </p:cNvPr>
            <p:cNvSpPr txBox="1"/>
            <p:nvPr/>
          </p:nvSpPr>
          <p:spPr>
            <a:xfrm>
              <a:off x="14243050" y="5146593"/>
              <a:ext cx="4882593" cy="75212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Função de dispersão (ou de </a:t>
              </a:r>
              <a:r>
                <a:rPr lang="pt-PT" sz="2400" i="1" dirty="0" err="1">
                  <a:solidFill>
                    <a:srgbClr val="57585B"/>
                  </a:solidFill>
                  <a:latin typeface="Open Sans"/>
                  <a:cs typeface="Open Sans"/>
                </a:rPr>
                <a:t>hash</a:t>
              </a: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) e Árvores de </a:t>
              </a:r>
              <a:r>
                <a:rPr lang="pt-PT" sz="2400" dirty="0" err="1">
                  <a:solidFill>
                    <a:srgbClr val="57585B"/>
                  </a:solidFill>
                  <a:latin typeface="Open Sans"/>
                  <a:cs typeface="Open Sans"/>
                </a:rPr>
                <a:t>Merkle</a:t>
              </a: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 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4" name="object 51">
              <a:extLst>
                <a:ext uri="{FF2B5EF4-FFF2-40B4-BE49-F238E27FC236}">
                  <a16:creationId xmlns:a16="http://schemas.microsoft.com/office/drawing/2014/main" id="{C74A0EED-4CD3-301A-1E9A-F0125338A592}"/>
                </a:ext>
              </a:extLst>
            </p:cNvPr>
            <p:cNvSpPr txBox="1"/>
            <p:nvPr/>
          </p:nvSpPr>
          <p:spPr>
            <a:xfrm>
              <a:off x="14243050" y="6562897"/>
              <a:ext cx="2176612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Criptografia de Chave Pública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5" name="object 52">
              <a:extLst>
                <a:ext uri="{FF2B5EF4-FFF2-40B4-BE49-F238E27FC236}">
                  <a16:creationId xmlns:a16="http://schemas.microsoft.com/office/drawing/2014/main" id="{5F32B452-D31A-7CF4-EAD3-2E118B150FF9}"/>
                </a:ext>
              </a:extLst>
            </p:cNvPr>
            <p:cNvSpPr txBox="1"/>
            <p:nvPr/>
          </p:nvSpPr>
          <p:spPr>
            <a:xfrm>
              <a:off x="14243050" y="8115791"/>
              <a:ext cx="3968193" cy="75212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marR="5080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Redução da Recompensa de Bloco para Metade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sp>
          <p:nvSpPr>
            <p:cNvPr id="46" name="object 18">
              <a:extLst>
                <a:ext uri="{FF2B5EF4-FFF2-40B4-BE49-F238E27FC236}">
                  <a16:creationId xmlns:a16="http://schemas.microsoft.com/office/drawing/2014/main" id="{044D657B-480B-DD3A-2660-A367E3996210}"/>
                </a:ext>
              </a:extLst>
            </p:cNvPr>
            <p:cNvSpPr txBox="1"/>
            <p:nvPr/>
          </p:nvSpPr>
          <p:spPr>
            <a:xfrm>
              <a:off x="1794127" y="6482748"/>
              <a:ext cx="3356386" cy="762358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 algn="r">
                <a:lnSpc>
                  <a:spcPct val="100000"/>
                </a:lnSpc>
                <a:spcBef>
                  <a:spcPts val="105"/>
                </a:spcBef>
              </a:pPr>
              <a:r>
                <a:rPr lang="pt-PT" sz="2400" dirty="0">
                  <a:solidFill>
                    <a:srgbClr val="57585B"/>
                  </a:solidFill>
                  <a:latin typeface="Open Sans"/>
                  <a:cs typeface="Open Sans"/>
                </a:rPr>
                <a:t>Registos Criptográficos de Data e Hora</a:t>
              </a:r>
              <a:endParaRPr lang="pt-PT" sz="2400" dirty="0">
                <a:latin typeface="Open Sans"/>
                <a:cs typeface="Open Sans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911B3284-1BDF-48E0-C8BD-06F2976E4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 t="74468"/>
            <a:stretch>
              <a:fillRect/>
            </a:stretch>
          </p:blipFill>
          <p:spPr>
            <a:xfrm>
              <a:off x="12870384" y="5439152"/>
              <a:ext cx="616901" cy="45957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E93DCB1-D814-21B1-F394-3EACCFE12F8D}"/>
                </a:ext>
              </a:extLst>
            </p:cNvPr>
            <p:cNvGrpSpPr/>
            <p:nvPr/>
          </p:nvGrpSpPr>
          <p:grpSpPr>
            <a:xfrm>
              <a:off x="12648365" y="3521200"/>
              <a:ext cx="976931" cy="976986"/>
              <a:chOff x="12672404" y="3718353"/>
              <a:chExt cx="976931" cy="97698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8EA76FF-A02F-85B0-988A-CC13373960F4}"/>
                  </a:ext>
                </a:extLst>
              </p:cNvPr>
              <p:cNvGrpSpPr/>
              <p:nvPr/>
            </p:nvGrpSpPr>
            <p:grpSpPr>
              <a:xfrm>
                <a:off x="12672404" y="3718353"/>
                <a:ext cx="976931" cy="976986"/>
                <a:chOff x="12075691" y="3985006"/>
                <a:chExt cx="976931" cy="976986"/>
              </a:xfrm>
            </p:grpSpPr>
            <p:pic>
              <p:nvPicPr>
                <p:cNvPr id="18" name="object 25">
                  <a:extLst>
                    <a:ext uri="{FF2B5EF4-FFF2-40B4-BE49-F238E27FC236}">
                      <a16:creationId xmlns:a16="http://schemas.microsoft.com/office/drawing/2014/main" id="{EC5FD4B1-D6BC-0C8C-CDCB-733C936DF0FA}"/>
                    </a:ext>
                  </a:extLst>
                </p:cNvPr>
                <p:cNvPicPr/>
                <p:nvPr/>
              </p:nvPicPr>
              <p:blipFill>
                <a:blip r:embed="rId17" cstate="print"/>
                <a:stretch>
                  <a:fillRect/>
                </a:stretch>
              </p:blipFill>
              <p:spPr>
                <a:xfrm>
                  <a:off x="12075691" y="3985006"/>
                  <a:ext cx="976931" cy="976986"/>
                </a:xfrm>
                <a:prstGeom prst="rect">
                  <a:avLst/>
                </a:prstGeom>
              </p:spPr>
            </p:pic>
            <p:sp>
              <p:nvSpPr>
                <p:cNvPr id="26" name="object 33">
                  <a:extLst>
                    <a:ext uri="{FF2B5EF4-FFF2-40B4-BE49-F238E27FC236}">
                      <a16:creationId xmlns:a16="http://schemas.microsoft.com/office/drawing/2014/main" id="{471089BF-89E3-0F03-84F5-E6BCCC1B4E85}"/>
                    </a:ext>
                  </a:extLst>
                </p:cNvPr>
                <p:cNvSpPr/>
                <p:nvPr/>
              </p:nvSpPr>
              <p:spPr>
                <a:xfrm>
                  <a:off x="12582122" y="4492639"/>
                  <a:ext cx="180564" cy="180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600" h="101600">
                      <a:moveTo>
                        <a:pt x="20205" y="80797"/>
                      </a:moveTo>
                      <a:lnTo>
                        <a:pt x="0" y="80797"/>
                      </a:lnTo>
                      <a:lnTo>
                        <a:pt x="0" y="101003"/>
                      </a:lnTo>
                      <a:lnTo>
                        <a:pt x="20205" y="101003"/>
                      </a:lnTo>
                      <a:lnTo>
                        <a:pt x="20205" y="80797"/>
                      </a:lnTo>
                      <a:close/>
                    </a:path>
                    <a:path w="101600" h="101600">
                      <a:moveTo>
                        <a:pt x="60591" y="80797"/>
                      </a:moveTo>
                      <a:lnTo>
                        <a:pt x="40398" y="80797"/>
                      </a:lnTo>
                      <a:lnTo>
                        <a:pt x="40398" y="101003"/>
                      </a:lnTo>
                      <a:lnTo>
                        <a:pt x="60591" y="101003"/>
                      </a:lnTo>
                      <a:lnTo>
                        <a:pt x="60591" y="80797"/>
                      </a:lnTo>
                      <a:close/>
                    </a:path>
                    <a:path w="101600" h="101600">
                      <a:moveTo>
                        <a:pt x="100990" y="80797"/>
                      </a:moveTo>
                      <a:lnTo>
                        <a:pt x="80797" y="80797"/>
                      </a:lnTo>
                      <a:lnTo>
                        <a:pt x="80797" y="101003"/>
                      </a:lnTo>
                      <a:lnTo>
                        <a:pt x="100990" y="101003"/>
                      </a:lnTo>
                      <a:lnTo>
                        <a:pt x="100990" y="80797"/>
                      </a:lnTo>
                      <a:close/>
                    </a:path>
                    <a:path w="101600" h="101600">
                      <a:moveTo>
                        <a:pt x="100990" y="40398"/>
                      </a:moveTo>
                      <a:lnTo>
                        <a:pt x="80797" y="40398"/>
                      </a:lnTo>
                      <a:lnTo>
                        <a:pt x="80797" y="60604"/>
                      </a:lnTo>
                      <a:lnTo>
                        <a:pt x="100990" y="60604"/>
                      </a:lnTo>
                      <a:lnTo>
                        <a:pt x="100990" y="40398"/>
                      </a:lnTo>
                      <a:close/>
                    </a:path>
                    <a:path w="101600" h="101600">
                      <a:moveTo>
                        <a:pt x="100990" y="0"/>
                      </a:moveTo>
                      <a:lnTo>
                        <a:pt x="80797" y="0"/>
                      </a:lnTo>
                      <a:lnTo>
                        <a:pt x="80797" y="20205"/>
                      </a:lnTo>
                      <a:lnTo>
                        <a:pt x="100990" y="20205"/>
                      </a:lnTo>
                      <a:lnTo>
                        <a:pt x="100990" y="0"/>
                      </a:lnTo>
                      <a:close/>
                    </a:path>
                  </a:pathLst>
                </a:custGeom>
                <a:solidFill>
                  <a:srgbClr val="603990"/>
                </a:solidFill>
              </p:spPr>
              <p:txBody>
                <a:bodyPr wrap="square" lIns="0" tIns="0" rIns="0" bIns="0" rtlCol="0"/>
                <a:lstStyle/>
                <a:p>
                  <a:endParaRPr lang="pt-PT" dirty="0"/>
                </a:p>
              </p:txBody>
            </p:sp>
            <p:pic>
              <p:nvPicPr>
                <p:cNvPr id="27" name="object 34">
                  <a:extLst>
                    <a:ext uri="{FF2B5EF4-FFF2-40B4-BE49-F238E27FC236}">
                      <a16:creationId xmlns:a16="http://schemas.microsoft.com/office/drawing/2014/main" id="{0AC70787-C2A8-B154-9FD2-045D89B25620}"/>
                    </a:ext>
                  </a:extLst>
                </p:cNvPr>
                <p:cNvPicPr/>
                <p:nvPr/>
              </p:nvPicPr>
              <p:blipFill>
                <a:blip r:embed="rId18" cstate="print"/>
                <a:stretch>
                  <a:fillRect/>
                </a:stretch>
              </p:blipFill>
              <p:spPr>
                <a:xfrm>
                  <a:off x="12257874" y="4384951"/>
                  <a:ext cx="288363" cy="287172"/>
                </a:xfrm>
                <a:prstGeom prst="rect">
                  <a:avLst/>
                </a:prstGeom>
              </p:spPr>
            </p:pic>
          </p:grpSp>
          <p:pic>
            <p:nvPicPr>
              <p:cNvPr id="52" name="Graphic 51">
                <a:extLst>
                  <a:ext uri="{FF2B5EF4-FFF2-40B4-BE49-F238E27FC236}">
                    <a16:creationId xmlns:a16="http://schemas.microsoft.com/office/drawing/2014/main" id="{FED59D83-1944-67F8-A1E1-D61E99772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 r="1184" b="62929"/>
              <a:stretch>
                <a:fillRect/>
              </a:stretch>
            </p:blipFill>
            <p:spPr>
              <a:xfrm>
                <a:off x="12856069" y="3885453"/>
                <a:ext cx="609600" cy="6672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0895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5DF-767F-ADA2-109E-01D85815F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95DFC-02E8-60C7-A223-4517AE280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PT" sz="2200" b="1" dirty="0" err="1"/>
              <a:t>Mempool</a:t>
            </a:r>
            <a:r>
              <a:rPr lang="pt-PT" sz="2200" b="1" dirty="0"/>
              <a:t> (memória de transações) </a:t>
            </a:r>
          </a:p>
          <a:p>
            <a:endParaRPr lang="pt-PT" sz="2200" dirty="0"/>
          </a:p>
          <a:p>
            <a:pPr marL="0" indent="0">
              <a:buNone/>
            </a:pPr>
            <a:r>
              <a:rPr lang="pt-PT" sz="2200" dirty="0">
                <a:latin typeface="Open Sans"/>
                <a:ea typeface="Open Sans"/>
                <a:cs typeface="Open Sans"/>
              </a:rPr>
              <a:t>Entra neste endereço </a:t>
            </a:r>
            <a:r>
              <a:rPr lang="pt-PT" sz="2200" dirty="0">
                <a:latin typeface="Open Sans"/>
                <a:ea typeface="Open Sans"/>
                <a:cs typeface="Open Sans"/>
                <a:hlinkClick r:id="rId2"/>
              </a:rPr>
              <a:t>https://mempool.space/pt</a:t>
            </a:r>
            <a:r>
              <a:rPr lang="pt-PT" sz="2200" dirty="0">
                <a:latin typeface="Open Sans"/>
                <a:ea typeface="Open Sans"/>
                <a:cs typeface="Open Sans"/>
              </a:rPr>
              <a:t> e r</a:t>
            </a:r>
            <a:r>
              <a:rPr lang="pt-PT" sz="2200" dirty="0"/>
              <a:t>esponde às seguintes questões: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Qual foi o último bloco minerado?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Quantas transações foram incluídas nesse bloco?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Qual é a quantia total transacionada em bitcoin?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Qual era o tamanho do bloco, em megabytes?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Quantos zeros estão no início do número aleatório (</a:t>
            </a:r>
            <a:r>
              <a:rPr lang="pt-PT" sz="2200" dirty="0" err="1"/>
              <a:t>nonce</a:t>
            </a:r>
            <a:r>
              <a:rPr lang="pt-PT" sz="2200" dirty="0"/>
              <a:t>) do bloco?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Quantos bitcoins é que o minerador ganhou no total?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Qual foi o valor total das taxas recebidas pelo minerador, por adicionar as transações à rede?</a:t>
            </a:r>
          </a:p>
          <a:p>
            <a:pPr marL="592138" indent="-592138" fontAlgn="base">
              <a:lnSpc>
                <a:spcPct val="190000"/>
              </a:lnSpc>
              <a:spcAft>
                <a:spcPct val="0"/>
              </a:spcAft>
              <a:buSzPct val="125000"/>
              <a:buBlip>
                <a:blip r:embed="rId3"/>
              </a:buBlip>
            </a:pPr>
            <a:r>
              <a:rPr lang="pt-PT" sz="2200" dirty="0"/>
              <a:t>Escolhe uma das transações de maior valor do bloco. Para quantos endereços Bitcoin foi distribuído o respetivo montante?</a:t>
            </a:r>
          </a:p>
        </p:txBody>
      </p:sp>
    </p:spTree>
    <p:extLst>
      <p:ext uri="{BB962C8B-B14F-4D97-AF65-F5344CB8AC3E}">
        <p14:creationId xmlns:p14="http://schemas.microsoft.com/office/powerpoint/2010/main" val="95273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737B-438A-6E26-5902-36E7184F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Atividade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2FBDB-1913-4AC9-D02F-5028B7FCC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b="1" dirty="0">
                <a:latin typeface="Open Sans"/>
                <a:ea typeface="Open Sans"/>
                <a:cs typeface="Open Sans"/>
              </a:rPr>
              <a:t>Gerar </a:t>
            </a:r>
            <a:r>
              <a:rPr lang="pt-PT" b="1" dirty="0" err="1">
                <a:latin typeface="Open Sans"/>
                <a:ea typeface="Open Sans"/>
                <a:cs typeface="Open Sans"/>
              </a:rPr>
              <a:t>hash</a:t>
            </a:r>
            <a:r>
              <a:rPr lang="pt-PT" b="1" dirty="0">
                <a:latin typeface="Open Sans"/>
                <a:ea typeface="Open Sans"/>
                <a:cs typeface="Open Sans"/>
              </a:rPr>
              <a:t> (valor de dispersão) SHA256</a:t>
            </a:r>
          </a:p>
          <a:p>
            <a:pPr marL="0" indent="0">
              <a:buNone/>
            </a:pPr>
            <a:endParaRPr lang="pt-PT" b="1" dirty="0"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r>
              <a:rPr lang="pt-PT" dirty="0">
                <a:latin typeface="Open Sans"/>
                <a:ea typeface="Open Sans"/>
                <a:cs typeface="Open Sans"/>
              </a:rPr>
              <a:t>Entra neste site </a:t>
            </a:r>
            <a:r>
              <a:rPr lang="pt-PT" dirty="0">
                <a:latin typeface="Open Sans"/>
                <a:ea typeface="Open Sans"/>
                <a:cs typeface="Open Sans"/>
                <a:hlinkClick r:id="rId2"/>
              </a:rPr>
              <a:t>https://tools.keycdn.com/sha256-online-generator</a:t>
            </a:r>
            <a:r>
              <a:rPr lang="pt-PT" dirty="0">
                <a:latin typeface="Open Sans"/>
                <a:ea typeface="Open Sans"/>
                <a:cs typeface="Open Sans"/>
              </a:rPr>
              <a:t> e g</a:t>
            </a:r>
            <a:r>
              <a:rPr lang="pt-PT" dirty="0"/>
              <a:t>era instantaneamente um </a:t>
            </a:r>
            <a:r>
              <a:rPr lang="pt-PT" dirty="0" err="1"/>
              <a:t>hash</a:t>
            </a:r>
            <a:r>
              <a:rPr lang="pt-PT" dirty="0"/>
              <a:t> SHA256 de qualquer mensagem ou variável.</a:t>
            </a:r>
          </a:p>
          <a:p>
            <a:pPr marL="0" indent="0">
              <a:buNone/>
            </a:pPr>
            <a:endParaRPr lang="pt-PT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97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21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4737</TotalTime>
  <Words>226</Words>
  <Application>Microsoft Macintosh PowerPoint</Application>
  <PresentationFormat>Custom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Open Sans</vt:lpstr>
      <vt:lpstr>Open Sans Light</vt:lpstr>
      <vt:lpstr>Ubuntu Light</vt:lpstr>
      <vt:lpstr>1_Custom Design</vt:lpstr>
      <vt:lpstr>Uma introdução ao lado técnico do Bitcoin</vt:lpstr>
      <vt:lpstr>Introdução</vt:lpstr>
      <vt:lpstr>Atividade</vt:lpstr>
      <vt:lpstr>Atividade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340</cp:revision>
  <dcterms:created xsi:type="dcterms:W3CDTF">2024-11-12T03:26:48Z</dcterms:created>
  <dcterms:modified xsi:type="dcterms:W3CDTF">2025-11-22T08:42:53Z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