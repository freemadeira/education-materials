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32"/>
  </p:notesMasterIdLst>
  <p:sldIdLst>
    <p:sldId id="260" r:id="rId2"/>
    <p:sldId id="265" r:id="rId3"/>
    <p:sldId id="269" r:id="rId4"/>
    <p:sldId id="303" r:id="rId5"/>
    <p:sldId id="272" r:id="rId6"/>
    <p:sldId id="273" r:id="rId7"/>
    <p:sldId id="274" r:id="rId8"/>
    <p:sldId id="276" r:id="rId9"/>
    <p:sldId id="277" r:id="rId10"/>
    <p:sldId id="278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9" r:id="rId20"/>
    <p:sldId id="290" r:id="rId21"/>
    <p:sldId id="291" r:id="rId22"/>
    <p:sldId id="292" r:id="rId23"/>
    <p:sldId id="293" r:id="rId24"/>
    <p:sldId id="294" r:id="rId25"/>
    <p:sldId id="297" r:id="rId26"/>
    <p:sldId id="298" r:id="rId27"/>
    <p:sldId id="299" r:id="rId28"/>
    <p:sldId id="300" r:id="rId29"/>
    <p:sldId id="302" r:id="rId30"/>
    <p:sldId id="268" r:id="rId3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2569"/>
    <a:srgbClr val="FBB040"/>
    <a:srgbClr val="58595B"/>
    <a:srgbClr val="000000"/>
    <a:srgbClr val="5AB657"/>
    <a:srgbClr val="E4E0FD"/>
    <a:srgbClr val="175CB4"/>
    <a:srgbClr val="8C3BF0"/>
    <a:srgbClr val="0051FF"/>
    <a:srgbClr val="FF94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88"/>
    <p:restoredTop sz="81675"/>
  </p:normalViewPr>
  <p:slideViewPr>
    <p:cSldViewPr>
      <p:cViewPr varScale="1">
        <p:scale>
          <a:sx n="53" d="100"/>
          <a:sy n="53" d="100"/>
        </p:scale>
        <p:origin x="97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18/11/2025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30277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0EA7-420F-5F78-CD9E-446F9FE0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1986-C451-67B5-D4BE-4FE866893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3760-BFD9-5EB4-E463-3717A177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4256-1EFC-BC17-DE54-D31B95DE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6947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966D8-105C-DFAD-82B2-D3E48F3D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39D68-0388-1832-DF83-2576B74B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9D9E5-F0AC-97B9-2921-CEF3BCF3C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3E52B-142E-554B-661B-5AAB4555F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34545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94183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68351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23820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891709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17259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9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47501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59891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44044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74542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18307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1147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94361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12970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74026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249913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19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64006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529218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213055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425359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53693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890537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DC1F5-982D-7E23-BF35-B8001309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82652C-C69B-CD2B-3780-5448C39FB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0DA4A-0D94-ED33-4563-B6574405A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48099-58E0-052D-DCA0-44AEFBFC9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77573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6612-27BB-CD68-A5A0-8B5A2712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A178F-2752-C168-6776-B29AFFE5B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25742-F60F-1947-C61C-9CDFE4383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6C3BA-4A30-62A0-13AB-EC930C7A7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680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A779A-DB3D-FF07-3E1D-21968A9E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5368A-295D-041B-9EA5-0810045C4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F2235-2E74-7C1F-C928-63F3AE9E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865B7-19C3-2B05-E15F-5254AD69A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19038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24796-98C0-1752-C995-672F6E548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74AA2-191D-FD55-FE4D-A4B0A7E7A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FCA2C-BE1E-4678-B938-71541639E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PT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AC720-82B1-EE55-3DC9-386AA9A45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036765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9D21-9CCD-60ED-FCDB-7CE5E5AE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590A4-8B3C-A091-9864-977846426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297FC-2196-2C84-5CB1-71B42F81B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58094-BD53-B439-95C9-AC184A9C7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29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5889561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7608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1.png"/><Relationship Id="rId7" Type="http://schemas.microsoft.com/office/2007/relationships/hdphoto" Target="../media/hdphoto3.wd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microsoft.com/office/2007/relationships/hdphoto" Target="../media/hdphoto1.wdp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8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svg"/><Relationship Id="rId11" Type="http://schemas.openxmlformats.org/officeDocument/2006/relationships/image" Target="../media/image57.sv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svg"/><Relationship Id="rId9" Type="http://schemas.openxmlformats.org/officeDocument/2006/relationships/image" Target="../media/image5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6300" dirty="0"/>
              <a:t>Uma Introdução ao lado técnico do Bitcoin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140075"/>
            <a:ext cx="17338675" cy="7339012"/>
          </a:xfrm>
        </p:spPr>
        <p:txBody>
          <a:bodyPr>
            <a:noAutofit/>
          </a:bodyPr>
          <a:lstStyle/>
          <a:p>
            <a:r>
              <a:rPr lang="pt-PT" sz="2400" dirty="0"/>
              <a:t>9.0 Introdução</a:t>
            </a:r>
          </a:p>
          <a:p>
            <a:r>
              <a:rPr lang="pt-PT" sz="2400" dirty="0"/>
              <a:t>9.1 Chaves públicas e privadas: Segurança com base na criptografia</a:t>
            </a:r>
          </a:p>
          <a:p>
            <a:pPr lvl="1"/>
            <a:r>
              <a:rPr lang="pt-PT" sz="2400" dirty="0"/>
              <a:t>9.1.1 Criptografia de chave privada e criptografia de chave pública</a:t>
            </a:r>
          </a:p>
          <a:p>
            <a:pPr lvl="1"/>
            <a:r>
              <a:rPr lang="pt-PT" sz="2400" dirty="0"/>
              <a:t>9.1.2 Explicação de </a:t>
            </a:r>
            <a:r>
              <a:rPr lang="pt-PT" sz="2400" dirty="0" err="1"/>
              <a:t>hashing</a:t>
            </a:r>
            <a:r>
              <a:rPr lang="pt-PT" sz="2400" dirty="0"/>
              <a:t> (dispersão)</a:t>
            </a:r>
          </a:p>
          <a:p>
            <a:r>
              <a:rPr lang="pt-PT" sz="2400" dirty="0"/>
              <a:t>9.2 O modelo UTXO</a:t>
            </a:r>
          </a:p>
          <a:p>
            <a:r>
              <a:rPr lang="pt-PT" sz="2400" dirty="0"/>
              <a:t>9.3 Uma análise mais detalhada dos nós e mineradores do Bitcoin</a:t>
            </a:r>
          </a:p>
          <a:p>
            <a:pPr lvl="1"/>
            <a:r>
              <a:rPr lang="pt-PT" sz="2400" dirty="0"/>
              <a:t>9.3.1 O que é um nó do Bitcoin e como posso criar o meu próprio nó?</a:t>
            </a:r>
          </a:p>
          <a:p>
            <a:pPr lvl="1"/>
            <a:r>
              <a:rPr lang="pt-PT" sz="2400" dirty="0"/>
              <a:t>9.3.2 O que é um Minerador do Bitcoin e como funciona a mineração?</a:t>
            </a:r>
          </a:p>
          <a:p>
            <a:r>
              <a:rPr lang="pt-PT" sz="2400" dirty="0"/>
              <a:t>9.4 O que é a </a:t>
            </a:r>
            <a:r>
              <a:rPr lang="pt-PT" sz="2400" dirty="0" err="1"/>
              <a:t>mempool</a:t>
            </a:r>
            <a:r>
              <a:rPr lang="pt-PT" sz="2400" dirty="0"/>
              <a:t> (memória de transações)</a:t>
            </a:r>
          </a:p>
          <a:p>
            <a:r>
              <a:rPr lang="pt-PT" sz="2400" dirty="0"/>
              <a:t>9.5 O processo completo das transações Bitcoin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ABA8-AE8B-6BEE-D822-7F7D9737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73A7-D073-8764-6DA7-76BD2F11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/>
          </a:bodyPr>
          <a:lstStyle/>
          <a:p>
            <a:r>
              <a:rPr lang="pt-PT" dirty="0"/>
              <a:t>9.0 Introdução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220175-B2A3-3536-67F3-D18470555F83}"/>
              </a:ext>
            </a:extLst>
          </p:cNvPr>
          <p:cNvGrpSpPr>
            <a:grpSpLocks noChangeAspect="1"/>
          </p:cNvGrpSpPr>
          <p:nvPr/>
        </p:nvGrpSpPr>
        <p:grpSpPr>
          <a:xfrm>
            <a:off x="1428236" y="3902075"/>
            <a:ext cx="17293152" cy="4256046"/>
            <a:chOff x="2432050" y="2040584"/>
            <a:chExt cx="15308802" cy="376767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5526D77-5CF8-3113-5CD0-1C8AF5816254}"/>
                </a:ext>
              </a:extLst>
            </p:cNvPr>
            <p:cNvSpPr/>
            <p:nvPr/>
          </p:nvSpPr>
          <p:spPr>
            <a:xfrm>
              <a:off x="2432050" y="2478757"/>
              <a:ext cx="15308802" cy="3002096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 Bitcoin não é desregulado. É regulado por algoritmos, em vez de ser regulado por burocracias governamentais. Incorruptível.</a:t>
              </a:r>
            </a:p>
            <a:p>
              <a:pPr algn="ctr"/>
              <a:endParaRPr lang="pt-PT" sz="3200" b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Andreas</a:t>
              </a:r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M. </a:t>
              </a:r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Antonopoulos</a:t>
              </a:r>
              <a:endParaRPr lang="pt-PT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3D35A605-9D18-B0A9-4919-54D4E8073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040584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33DDD715-BE25-D819-9204-6031D1B739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143573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CED8-D915-3DC6-E436-170CD973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F73E-E944-9CCD-CDF2-DBA24F06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/>
          </a:bodyPr>
          <a:lstStyle/>
          <a:p>
            <a:r>
              <a:rPr lang="pt-PT" dirty="0"/>
              <a:t>9.0 Introdução</a:t>
            </a:r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B6E5ED34-591F-C648-DAE4-C16D916C8EDC}"/>
              </a:ext>
            </a:extLst>
          </p:cNvPr>
          <p:cNvSpPr txBox="1"/>
          <p:nvPr/>
        </p:nvSpPr>
        <p:spPr>
          <a:xfrm>
            <a:off x="1502923" y="3237086"/>
            <a:ext cx="7576526" cy="2839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795"/>
              </a:lnSpc>
              <a:spcBef>
                <a:spcPts val="90"/>
              </a:spcBef>
            </a:pPr>
            <a:r>
              <a:rPr lang="pt-PT" sz="3000" b="1" dirty="0">
                <a:solidFill>
                  <a:srgbClr val="57585B"/>
                </a:solidFill>
                <a:latin typeface="Open Sans"/>
                <a:cs typeface="Open Sans"/>
              </a:rPr>
              <a:t>Mecanismos do Protocolo Bitcoin</a:t>
            </a:r>
            <a:endParaRPr lang="pt-PT" sz="3000" dirty="0">
              <a:latin typeface="Open Sans"/>
              <a:cs typeface="Open San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1D026-0A29-A207-02B2-1D98E6F77A7C}"/>
              </a:ext>
            </a:extLst>
          </p:cNvPr>
          <p:cNvGrpSpPr/>
          <p:nvPr/>
        </p:nvGrpSpPr>
        <p:grpSpPr>
          <a:xfrm>
            <a:off x="1502923" y="4207000"/>
            <a:ext cx="17331516" cy="5486275"/>
            <a:chOff x="1794127" y="3521200"/>
            <a:chExt cx="17331516" cy="5486275"/>
          </a:xfrm>
        </p:grpSpPr>
        <p:sp>
          <p:nvSpPr>
            <p:cNvPr id="11" name="object 18">
              <a:extLst>
                <a:ext uri="{FF2B5EF4-FFF2-40B4-BE49-F238E27FC236}">
                  <a16:creationId xmlns:a16="http://schemas.microsoft.com/office/drawing/2014/main" id="{C165D780-1A5B-2FEC-242E-3E7A9166E3DE}"/>
                </a:ext>
              </a:extLst>
            </p:cNvPr>
            <p:cNvSpPr txBox="1"/>
            <p:nvPr/>
          </p:nvSpPr>
          <p:spPr>
            <a:xfrm>
              <a:off x="2744904" y="5141503"/>
              <a:ext cx="2405609" cy="38279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algn="r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 err="1">
                  <a:solidFill>
                    <a:srgbClr val="57585B"/>
                  </a:solidFill>
                  <a:latin typeface="Open Sans"/>
                  <a:cs typeface="Open Sans"/>
                </a:rPr>
                <a:t>Proof</a:t>
              </a:r>
              <a:r>
                <a:rPr lang="pt-PT" sz="2400" spc="-55" dirty="0" err="1">
                  <a:solidFill>
                    <a:srgbClr val="57585B"/>
                  </a:solidFill>
                  <a:latin typeface="Open Sans"/>
                  <a:cs typeface="Open Sans"/>
                </a:rPr>
                <a:t>-</a:t>
              </a:r>
              <a:r>
                <a:rPr lang="pt-PT" sz="2400" dirty="0" err="1">
                  <a:solidFill>
                    <a:srgbClr val="57585B"/>
                  </a:solidFill>
                  <a:latin typeface="Open Sans"/>
                  <a:cs typeface="Open Sans"/>
                </a:rPr>
                <a:t>of</a:t>
              </a:r>
              <a:r>
                <a:rPr lang="pt-PT" sz="2400" spc="-45" dirty="0" err="1">
                  <a:solidFill>
                    <a:srgbClr val="57585B"/>
                  </a:solidFill>
                  <a:latin typeface="Open Sans"/>
                  <a:cs typeface="Open Sans"/>
                </a:rPr>
                <a:t>-</a:t>
              </a:r>
              <a:r>
                <a:rPr lang="pt-PT" sz="2400" spc="-20" dirty="0" err="1">
                  <a:solidFill>
                    <a:srgbClr val="57585B"/>
                  </a:solidFill>
                  <a:latin typeface="Open Sans"/>
                  <a:cs typeface="Open Sans"/>
                </a:rPr>
                <a:t>Work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13" name="object 20">
              <a:extLst>
                <a:ext uri="{FF2B5EF4-FFF2-40B4-BE49-F238E27FC236}">
                  <a16:creationId xmlns:a16="http://schemas.microsoft.com/office/drawing/2014/main" id="{0FC16E9E-9BC4-D338-6D32-18B2B684D551}"/>
                </a:ext>
              </a:extLst>
            </p:cNvPr>
            <p:cNvSpPr txBox="1"/>
            <p:nvPr/>
          </p:nvSpPr>
          <p:spPr>
            <a:xfrm>
              <a:off x="3471265" y="8136646"/>
              <a:ext cx="1679248" cy="76235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R="5080" algn="r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spc="-10" dirty="0">
                  <a:solidFill>
                    <a:srgbClr val="57585B"/>
                  </a:solidFill>
                  <a:latin typeface="Open Sans"/>
                  <a:cs typeface="Open Sans"/>
                </a:rPr>
                <a:t>Ajuste de Dificuldade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pic>
          <p:nvPicPr>
            <p:cNvPr id="15" name="object 22">
              <a:extLst>
                <a:ext uri="{FF2B5EF4-FFF2-40B4-BE49-F238E27FC236}">
                  <a16:creationId xmlns:a16="http://schemas.microsoft.com/office/drawing/2014/main" id="{B4B4A82B-A599-5CA9-7DE8-C952871876D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2450" y="4851748"/>
              <a:ext cx="976968" cy="976986"/>
            </a:xfrm>
            <a:prstGeom prst="rect">
              <a:avLst/>
            </a:prstGeom>
          </p:spPr>
        </p:pic>
        <p:pic>
          <p:nvPicPr>
            <p:cNvPr id="16" name="object 23">
              <a:extLst>
                <a:ext uri="{FF2B5EF4-FFF2-40B4-BE49-F238E27FC236}">
                  <a16:creationId xmlns:a16="http://schemas.microsoft.com/office/drawing/2014/main" id="{1C93C468-CA73-4ADA-0C09-3AD070993F5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7235" y="6419965"/>
              <a:ext cx="976968" cy="976986"/>
            </a:xfrm>
            <a:prstGeom prst="rect">
              <a:avLst/>
            </a:prstGeom>
          </p:spPr>
        </p:pic>
        <p:pic>
          <p:nvPicPr>
            <p:cNvPr id="17" name="object 24">
              <a:extLst>
                <a:ext uri="{FF2B5EF4-FFF2-40B4-BE49-F238E27FC236}">
                  <a16:creationId xmlns:a16="http://schemas.microsoft.com/office/drawing/2014/main" id="{AF83AB23-CE00-49D9-28B9-7505EC63A12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7235" y="8030470"/>
              <a:ext cx="976968" cy="977005"/>
            </a:xfrm>
            <a:prstGeom prst="rect">
              <a:avLst/>
            </a:prstGeom>
          </p:spPr>
        </p:pic>
        <p:pic>
          <p:nvPicPr>
            <p:cNvPr id="19" name="object 26">
              <a:extLst>
                <a:ext uri="{FF2B5EF4-FFF2-40B4-BE49-F238E27FC236}">
                  <a16:creationId xmlns:a16="http://schemas.microsoft.com/office/drawing/2014/main" id="{A9A16BF9-74B7-8251-95EF-42C565A1A0D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74240" y="6530277"/>
              <a:ext cx="976931" cy="977005"/>
            </a:xfrm>
            <a:prstGeom prst="rect">
              <a:avLst/>
            </a:prstGeom>
          </p:spPr>
        </p:pic>
        <p:pic>
          <p:nvPicPr>
            <p:cNvPr id="20" name="object 27">
              <a:extLst>
                <a:ext uri="{FF2B5EF4-FFF2-40B4-BE49-F238E27FC236}">
                  <a16:creationId xmlns:a16="http://schemas.microsoft.com/office/drawing/2014/main" id="{418F9BF3-6CF4-43EA-4BDA-B4FC3E4A56E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72404" y="5064852"/>
              <a:ext cx="976931" cy="977005"/>
            </a:xfrm>
            <a:prstGeom prst="rect">
              <a:avLst/>
            </a:prstGeom>
          </p:spPr>
        </p:pic>
        <p:pic>
          <p:nvPicPr>
            <p:cNvPr id="22" name="object 29">
              <a:extLst>
                <a:ext uri="{FF2B5EF4-FFF2-40B4-BE49-F238E27FC236}">
                  <a16:creationId xmlns:a16="http://schemas.microsoft.com/office/drawing/2014/main" id="{574DDBAD-596C-7F9E-4DF1-DDC12D4C314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2921" y="4993748"/>
              <a:ext cx="634502" cy="634499"/>
            </a:xfrm>
            <a:prstGeom prst="rect">
              <a:avLst/>
            </a:prstGeom>
          </p:spPr>
        </p:pic>
        <p:sp>
          <p:nvSpPr>
            <p:cNvPr id="23" name="object 30">
              <a:extLst>
                <a:ext uri="{FF2B5EF4-FFF2-40B4-BE49-F238E27FC236}">
                  <a16:creationId xmlns:a16="http://schemas.microsoft.com/office/drawing/2014/main" id="{31638A8F-05C1-A47F-D2B1-950AB9DA74FF}"/>
                </a:ext>
              </a:extLst>
            </p:cNvPr>
            <p:cNvSpPr/>
            <p:nvPr/>
          </p:nvSpPr>
          <p:spPr>
            <a:xfrm>
              <a:off x="5860465" y="6602154"/>
              <a:ext cx="511223" cy="612790"/>
            </a:xfrm>
            <a:custGeom>
              <a:avLst/>
              <a:gdLst/>
              <a:ahLst/>
              <a:cxnLst/>
              <a:rect l="l" t="t" r="r" b="b"/>
              <a:pathLst>
                <a:path w="287655" h="344804">
                  <a:moveTo>
                    <a:pt x="280818" y="315979"/>
                  </a:moveTo>
                  <a:lnTo>
                    <a:pt x="6429" y="315979"/>
                  </a:lnTo>
                  <a:lnTo>
                    <a:pt x="0" y="322398"/>
                  </a:lnTo>
                  <a:lnTo>
                    <a:pt x="0" y="338272"/>
                  </a:lnTo>
                  <a:lnTo>
                    <a:pt x="6429" y="344701"/>
                  </a:lnTo>
                  <a:lnTo>
                    <a:pt x="280818" y="344701"/>
                  </a:lnTo>
                  <a:lnTo>
                    <a:pt x="287247" y="338272"/>
                  </a:lnTo>
                  <a:lnTo>
                    <a:pt x="287247" y="322398"/>
                  </a:lnTo>
                  <a:lnTo>
                    <a:pt x="280818" y="315979"/>
                  </a:lnTo>
                  <a:close/>
                </a:path>
                <a:path w="287655" h="344804">
                  <a:moveTo>
                    <a:pt x="244160" y="28721"/>
                  </a:moveTo>
                  <a:lnTo>
                    <a:pt x="43077" y="28721"/>
                  </a:lnTo>
                  <a:lnTo>
                    <a:pt x="43077" y="84154"/>
                  </a:lnTo>
                  <a:lnTo>
                    <a:pt x="61621" y="132311"/>
                  </a:lnTo>
                  <a:lnTo>
                    <a:pt x="117724" y="172350"/>
                  </a:lnTo>
                  <a:lnTo>
                    <a:pt x="75065" y="200789"/>
                  </a:lnTo>
                  <a:lnTo>
                    <a:pt x="61621" y="212379"/>
                  </a:lnTo>
                  <a:lnTo>
                    <a:pt x="51563" y="226654"/>
                  </a:lnTo>
                  <a:lnTo>
                    <a:pt x="45260" y="242933"/>
                  </a:lnTo>
                  <a:lnTo>
                    <a:pt x="43077" y="260536"/>
                  </a:lnTo>
                  <a:lnTo>
                    <a:pt x="43077" y="315979"/>
                  </a:lnTo>
                  <a:lnTo>
                    <a:pt x="244160" y="315979"/>
                  </a:lnTo>
                  <a:lnTo>
                    <a:pt x="244160" y="287258"/>
                  </a:lnTo>
                  <a:lnTo>
                    <a:pt x="178779" y="287258"/>
                  </a:lnTo>
                  <a:lnTo>
                    <a:pt x="172350" y="280818"/>
                  </a:lnTo>
                  <a:lnTo>
                    <a:pt x="172350" y="260536"/>
                  </a:lnTo>
                  <a:lnTo>
                    <a:pt x="129053" y="231668"/>
                  </a:lnTo>
                  <a:lnTo>
                    <a:pt x="127273" y="222768"/>
                  </a:lnTo>
                  <a:lnTo>
                    <a:pt x="136069" y="209564"/>
                  </a:lnTo>
                  <a:lnTo>
                    <a:pt x="144990" y="207784"/>
                  </a:lnTo>
                  <a:lnTo>
                    <a:pt x="220285" y="207784"/>
                  </a:lnTo>
                  <a:lnTo>
                    <a:pt x="212171" y="200789"/>
                  </a:lnTo>
                  <a:lnTo>
                    <a:pt x="169513" y="172350"/>
                  </a:lnTo>
                  <a:lnTo>
                    <a:pt x="212171" y="143901"/>
                  </a:lnTo>
                  <a:lnTo>
                    <a:pt x="222584" y="134927"/>
                  </a:lnTo>
                  <a:lnTo>
                    <a:pt x="140875" y="134927"/>
                  </a:lnTo>
                  <a:lnTo>
                    <a:pt x="138100" y="134132"/>
                  </a:lnTo>
                  <a:lnTo>
                    <a:pt x="98970" y="108049"/>
                  </a:lnTo>
                  <a:lnTo>
                    <a:pt x="86175" y="84154"/>
                  </a:lnTo>
                  <a:lnTo>
                    <a:pt x="86175" y="63872"/>
                  </a:lnTo>
                  <a:lnTo>
                    <a:pt x="92604" y="57453"/>
                  </a:lnTo>
                  <a:lnTo>
                    <a:pt x="244160" y="57453"/>
                  </a:lnTo>
                  <a:lnTo>
                    <a:pt x="244160" y="28721"/>
                  </a:lnTo>
                  <a:close/>
                </a:path>
                <a:path w="287655" h="344804">
                  <a:moveTo>
                    <a:pt x="220285" y="207784"/>
                  </a:moveTo>
                  <a:lnTo>
                    <a:pt x="144990" y="207784"/>
                  </a:lnTo>
                  <a:lnTo>
                    <a:pt x="188276" y="236642"/>
                  </a:lnTo>
                  <a:lnTo>
                    <a:pt x="193655" y="241269"/>
                  </a:lnTo>
                  <a:lnTo>
                    <a:pt x="197678" y="246975"/>
                  </a:lnTo>
                  <a:lnTo>
                    <a:pt x="200199" y="253488"/>
                  </a:lnTo>
                  <a:lnTo>
                    <a:pt x="201072" y="260536"/>
                  </a:lnTo>
                  <a:lnTo>
                    <a:pt x="201072" y="280818"/>
                  </a:lnTo>
                  <a:lnTo>
                    <a:pt x="194632" y="287258"/>
                  </a:lnTo>
                  <a:lnTo>
                    <a:pt x="244160" y="287258"/>
                  </a:lnTo>
                  <a:lnTo>
                    <a:pt x="244160" y="260536"/>
                  </a:lnTo>
                  <a:lnTo>
                    <a:pt x="241977" y="242933"/>
                  </a:lnTo>
                  <a:lnTo>
                    <a:pt x="235673" y="226654"/>
                  </a:lnTo>
                  <a:lnTo>
                    <a:pt x="225615" y="212379"/>
                  </a:lnTo>
                  <a:lnTo>
                    <a:pt x="220285" y="207784"/>
                  </a:lnTo>
                  <a:close/>
                </a:path>
                <a:path w="287655" h="344804">
                  <a:moveTo>
                    <a:pt x="244160" y="57453"/>
                  </a:moveTo>
                  <a:lnTo>
                    <a:pt x="108457" y="57453"/>
                  </a:lnTo>
                  <a:lnTo>
                    <a:pt x="114897" y="63872"/>
                  </a:lnTo>
                  <a:lnTo>
                    <a:pt x="114897" y="84154"/>
                  </a:lnTo>
                  <a:lnTo>
                    <a:pt x="158183" y="113022"/>
                  </a:lnTo>
                  <a:lnTo>
                    <a:pt x="159963" y="121922"/>
                  </a:lnTo>
                  <a:lnTo>
                    <a:pt x="152801" y="132687"/>
                  </a:lnTo>
                  <a:lnTo>
                    <a:pt x="148246" y="134927"/>
                  </a:lnTo>
                  <a:lnTo>
                    <a:pt x="222584" y="134927"/>
                  </a:lnTo>
                  <a:lnTo>
                    <a:pt x="225620" y="132311"/>
                  </a:lnTo>
                  <a:lnTo>
                    <a:pt x="235677" y="118036"/>
                  </a:lnTo>
                  <a:lnTo>
                    <a:pt x="241978" y="101757"/>
                  </a:lnTo>
                  <a:lnTo>
                    <a:pt x="244160" y="84154"/>
                  </a:lnTo>
                  <a:lnTo>
                    <a:pt x="244160" y="57453"/>
                  </a:lnTo>
                  <a:close/>
                </a:path>
                <a:path w="287655" h="344804">
                  <a:moveTo>
                    <a:pt x="280818" y="0"/>
                  </a:moveTo>
                  <a:lnTo>
                    <a:pt x="6429" y="0"/>
                  </a:lnTo>
                  <a:lnTo>
                    <a:pt x="0" y="6418"/>
                  </a:lnTo>
                  <a:lnTo>
                    <a:pt x="0" y="22292"/>
                  </a:lnTo>
                  <a:lnTo>
                    <a:pt x="6429" y="28721"/>
                  </a:lnTo>
                  <a:lnTo>
                    <a:pt x="280818" y="28721"/>
                  </a:lnTo>
                  <a:lnTo>
                    <a:pt x="287247" y="22292"/>
                  </a:lnTo>
                  <a:lnTo>
                    <a:pt x="287247" y="6418"/>
                  </a:lnTo>
                  <a:lnTo>
                    <a:pt x="280818" y="0"/>
                  </a:lnTo>
                  <a:close/>
                </a:path>
              </a:pathLst>
            </a:custGeom>
            <a:solidFill>
              <a:srgbClr val="603990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24" name="object 31">
              <a:extLst>
                <a:ext uri="{FF2B5EF4-FFF2-40B4-BE49-F238E27FC236}">
                  <a16:creationId xmlns:a16="http://schemas.microsoft.com/office/drawing/2014/main" id="{8CBEB460-B9EE-49EA-E600-12895A87CF1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92951" y="8212671"/>
              <a:ext cx="445533" cy="250606"/>
            </a:xfrm>
            <a:prstGeom prst="rect">
              <a:avLst/>
            </a:prstGeom>
          </p:spPr>
        </p:pic>
        <p:pic>
          <p:nvPicPr>
            <p:cNvPr id="25" name="object 32">
              <a:extLst>
                <a:ext uri="{FF2B5EF4-FFF2-40B4-BE49-F238E27FC236}">
                  <a16:creationId xmlns:a16="http://schemas.microsoft.com/office/drawing/2014/main" id="{A42C2090-CDAC-64B0-F779-7930CE9C948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92935" y="8574674"/>
              <a:ext cx="445553" cy="250606"/>
            </a:xfrm>
            <a:prstGeom prst="rect">
              <a:avLst/>
            </a:prstGeom>
          </p:spPr>
        </p:pic>
        <p:pic>
          <p:nvPicPr>
            <p:cNvPr id="29" name="object 36">
              <a:extLst>
                <a:ext uri="{FF2B5EF4-FFF2-40B4-BE49-F238E27FC236}">
                  <a16:creationId xmlns:a16="http://schemas.microsoft.com/office/drawing/2014/main" id="{8AD4848B-C2DA-B6F7-58ED-C54965E0E161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64470" y="5247042"/>
              <a:ext cx="392857" cy="196918"/>
            </a:xfrm>
            <a:prstGeom prst="rect">
              <a:avLst/>
            </a:prstGeom>
          </p:spPr>
        </p:pic>
        <p:sp>
          <p:nvSpPr>
            <p:cNvPr id="30" name="object 37">
              <a:extLst>
                <a:ext uri="{FF2B5EF4-FFF2-40B4-BE49-F238E27FC236}">
                  <a16:creationId xmlns:a16="http://schemas.microsoft.com/office/drawing/2014/main" id="{8425213B-FE83-E374-2FFB-D4DFEA447E53}"/>
                </a:ext>
              </a:extLst>
            </p:cNvPr>
            <p:cNvSpPr/>
            <p:nvPr/>
          </p:nvSpPr>
          <p:spPr>
            <a:xfrm>
              <a:off x="12856432" y="6712465"/>
              <a:ext cx="612790" cy="612790"/>
            </a:xfrm>
            <a:custGeom>
              <a:avLst/>
              <a:gdLst/>
              <a:ahLst/>
              <a:cxnLst/>
              <a:rect l="l" t="t" r="r" b="b"/>
              <a:pathLst>
                <a:path w="344805" h="344804">
                  <a:moveTo>
                    <a:pt x="240065" y="0"/>
                  </a:moveTo>
                  <a:lnTo>
                    <a:pt x="199328" y="8229"/>
                  </a:lnTo>
                  <a:lnTo>
                    <a:pt x="166062" y="30666"/>
                  </a:lnTo>
                  <a:lnTo>
                    <a:pt x="143639" y="63937"/>
                  </a:lnTo>
                  <a:lnTo>
                    <a:pt x="135420" y="104666"/>
                  </a:lnTo>
                  <a:lnTo>
                    <a:pt x="135667" y="111624"/>
                  </a:lnTo>
                  <a:lnTo>
                    <a:pt x="136384" y="118470"/>
                  </a:lnTo>
                  <a:lnTo>
                    <a:pt x="137535" y="125178"/>
                  </a:lnTo>
                  <a:lnTo>
                    <a:pt x="139084" y="131744"/>
                  </a:lnTo>
                  <a:lnTo>
                    <a:pt x="2554" y="268285"/>
                  </a:lnTo>
                  <a:lnTo>
                    <a:pt x="0" y="274462"/>
                  </a:lnTo>
                  <a:lnTo>
                    <a:pt x="0" y="320084"/>
                  </a:lnTo>
                  <a:lnTo>
                    <a:pt x="1936" y="329661"/>
                  </a:lnTo>
                  <a:lnTo>
                    <a:pt x="7215" y="337491"/>
                  </a:lnTo>
                  <a:lnTo>
                    <a:pt x="15041" y="342773"/>
                  </a:lnTo>
                  <a:lnTo>
                    <a:pt x="24617" y="344712"/>
                  </a:lnTo>
                  <a:lnTo>
                    <a:pt x="70165" y="344712"/>
                  </a:lnTo>
                  <a:lnTo>
                    <a:pt x="76332" y="342199"/>
                  </a:lnTo>
                  <a:lnTo>
                    <a:pt x="99661" y="319058"/>
                  </a:lnTo>
                  <a:lnTo>
                    <a:pt x="101651" y="314294"/>
                  </a:lnTo>
                  <a:lnTo>
                    <a:pt x="101651" y="292462"/>
                  </a:lnTo>
                  <a:lnTo>
                    <a:pt x="103104" y="285284"/>
                  </a:lnTo>
                  <a:lnTo>
                    <a:pt x="107064" y="279415"/>
                  </a:lnTo>
                  <a:lnTo>
                    <a:pt x="112933" y="275455"/>
                  </a:lnTo>
                  <a:lnTo>
                    <a:pt x="120111" y="274002"/>
                  </a:lnTo>
                  <a:lnTo>
                    <a:pt x="126268" y="274002"/>
                  </a:lnTo>
                  <a:lnTo>
                    <a:pt x="133452" y="272547"/>
                  </a:lnTo>
                  <a:lnTo>
                    <a:pt x="139324" y="268583"/>
                  </a:lnTo>
                  <a:lnTo>
                    <a:pt x="143285" y="262711"/>
                  </a:lnTo>
                  <a:lnTo>
                    <a:pt x="144739" y="255531"/>
                  </a:lnTo>
                  <a:lnTo>
                    <a:pt x="144739" y="249374"/>
                  </a:lnTo>
                  <a:lnTo>
                    <a:pt x="146192" y="242194"/>
                  </a:lnTo>
                  <a:lnTo>
                    <a:pt x="150152" y="236322"/>
                  </a:lnTo>
                  <a:lnTo>
                    <a:pt x="156021" y="232358"/>
                  </a:lnTo>
                  <a:lnTo>
                    <a:pt x="163199" y="230903"/>
                  </a:lnTo>
                  <a:lnTo>
                    <a:pt x="185031" y="230903"/>
                  </a:lnTo>
                  <a:lnTo>
                    <a:pt x="189805" y="228924"/>
                  </a:lnTo>
                  <a:lnTo>
                    <a:pt x="212988" y="205658"/>
                  </a:lnTo>
                  <a:lnTo>
                    <a:pt x="258161" y="205658"/>
                  </a:lnTo>
                  <a:lnTo>
                    <a:pt x="280790" y="201088"/>
                  </a:lnTo>
                  <a:lnTo>
                    <a:pt x="314050" y="178660"/>
                  </a:lnTo>
                  <a:lnTo>
                    <a:pt x="336477" y="145397"/>
                  </a:lnTo>
                  <a:lnTo>
                    <a:pt x="343462" y="110802"/>
                  </a:lnTo>
                  <a:lnTo>
                    <a:pt x="264683" y="110802"/>
                  </a:lnTo>
                  <a:lnTo>
                    <a:pt x="252700" y="108384"/>
                  </a:lnTo>
                  <a:lnTo>
                    <a:pt x="242919" y="101788"/>
                  </a:lnTo>
                  <a:lnTo>
                    <a:pt x="236326" y="92006"/>
                  </a:lnTo>
                  <a:lnTo>
                    <a:pt x="233909" y="80028"/>
                  </a:lnTo>
                  <a:lnTo>
                    <a:pt x="236326" y="68045"/>
                  </a:lnTo>
                  <a:lnTo>
                    <a:pt x="242919" y="58260"/>
                  </a:lnTo>
                  <a:lnTo>
                    <a:pt x="252700" y="51663"/>
                  </a:lnTo>
                  <a:lnTo>
                    <a:pt x="264683" y="49244"/>
                  </a:lnTo>
                  <a:lnTo>
                    <a:pt x="326573" y="49244"/>
                  </a:lnTo>
                  <a:lnTo>
                    <a:pt x="314029" y="30652"/>
                  </a:lnTo>
                  <a:lnTo>
                    <a:pt x="280767" y="8224"/>
                  </a:lnTo>
                  <a:lnTo>
                    <a:pt x="240065" y="0"/>
                  </a:lnTo>
                  <a:close/>
                </a:path>
                <a:path w="344805" h="344804">
                  <a:moveTo>
                    <a:pt x="258161" y="205658"/>
                  </a:moveTo>
                  <a:lnTo>
                    <a:pt x="212988" y="205658"/>
                  </a:lnTo>
                  <a:lnTo>
                    <a:pt x="219544" y="207205"/>
                  </a:lnTo>
                  <a:lnTo>
                    <a:pt x="226248" y="208353"/>
                  </a:lnTo>
                  <a:lnTo>
                    <a:pt x="233091" y="209067"/>
                  </a:lnTo>
                  <a:lnTo>
                    <a:pt x="240065" y="209312"/>
                  </a:lnTo>
                  <a:lnTo>
                    <a:pt x="258161" y="205658"/>
                  </a:lnTo>
                  <a:close/>
                </a:path>
                <a:path w="344805" h="344804">
                  <a:moveTo>
                    <a:pt x="326573" y="49244"/>
                  </a:moveTo>
                  <a:lnTo>
                    <a:pt x="264683" y="49244"/>
                  </a:lnTo>
                  <a:lnTo>
                    <a:pt x="276665" y="51663"/>
                  </a:lnTo>
                  <a:lnTo>
                    <a:pt x="286446" y="58260"/>
                  </a:lnTo>
                  <a:lnTo>
                    <a:pt x="293039" y="68045"/>
                  </a:lnTo>
                  <a:lnTo>
                    <a:pt x="295456" y="80028"/>
                  </a:lnTo>
                  <a:lnTo>
                    <a:pt x="293039" y="92006"/>
                  </a:lnTo>
                  <a:lnTo>
                    <a:pt x="286446" y="101788"/>
                  </a:lnTo>
                  <a:lnTo>
                    <a:pt x="276665" y="108384"/>
                  </a:lnTo>
                  <a:lnTo>
                    <a:pt x="264683" y="110802"/>
                  </a:lnTo>
                  <a:lnTo>
                    <a:pt x="343462" y="110802"/>
                  </a:lnTo>
                  <a:lnTo>
                    <a:pt x="344697" y="104646"/>
                  </a:lnTo>
                  <a:lnTo>
                    <a:pt x="336462" y="63915"/>
                  </a:lnTo>
                  <a:lnTo>
                    <a:pt x="326573" y="49244"/>
                  </a:lnTo>
                  <a:close/>
                </a:path>
              </a:pathLst>
            </a:custGeom>
            <a:solidFill>
              <a:srgbClr val="603990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93796DD-D54C-AD57-9154-338CC69DC8FE}"/>
                </a:ext>
              </a:extLst>
            </p:cNvPr>
            <p:cNvGrpSpPr/>
            <p:nvPr/>
          </p:nvGrpSpPr>
          <p:grpSpPr>
            <a:xfrm>
              <a:off x="12672404" y="8030470"/>
              <a:ext cx="976931" cy="977005"/>
              <a:chOff x="12075691" y="7584571"/>
              <a:chExt cx="976931" cy="977005"/>
            </a:xfrm>
          </p:grpSpPr>
          <p:pic>
            <p:nvPicPr>
              <p:cNvPr id="21" name="object 28">
                <a:extLst>
                  <a:ext uri="{FF2B5EF4-FFF2-40B4-BE49-F238E27FC236}">
                    <a16:creationId xmlns:a16="http://schemas.microsoft.com/office/drawing/2014/main" id="{6BBFE044-052B-26FA-1009-79322CD48A62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2075691" y="7584571"/>
                <a:ext cx="976931" cy="977005"/>
              </a:xfrm>
              <a:prstGeom prst="rect">
                <a:avLst/>
              </a:prstGeom>
            </p:spPr>
          </p:pic>
          <p:pic>
            <p:nvPicPr>
              <p:cNvPr id="31" name="object 38">
                <a:extLst>
                  <a:ext uri="{FF2B5EF4-FFF2-40B4-BE49-F238E27FC236}">
                    <a16:creationId xmlns:a16="http://schemas.microsoft.com/office/drawing/2014/main" id="{CB9018FC-B253-C981-2BE8-6A133853FA53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2259719" y="7764479"/>
                <a:ext cx="560798" cy="614894"/>
              </a:xfrm>
              <a:prstGeom prst="rect">
                <a:avLst/>
              </a:prstGeom>
            </p:spPr>
          </p:pic>
          <p:sp>
            <p:nvSpPr>
              <p:cNvPr id="32" name="object 39">
                <a:extLst>
                  <a:ext uri="{FF2B5EF4-FFF2-40B4-BE49-F238E27FC236}">
                    <a16:creationId xmlns:a16="http://schemas.microsoft.com/office/drawing/2014/main" id="{1CEBBF70-7C85-C442-7728-769026F713B4}"/>
                  </a:ext>
                </a:extLst>
              </p:cNvPr>
              <p:cNvSpPr/>
              <p:nvPr/>
            </p:nvSpPr>
            <p:spPr>
              <a:xfrm>
                <a:off x="12307853" y="7764479"/>
                <a:ext cx="560878" cy="615047"/>
              </a:xfrm>
              <a:custGeom>
                <a:avLst/>
                <a:gdLst/>
                <a:ahLst/>
                <a:cxnLst/>
                <a:rect l="l" t="t" r="r" b="b"/>
                <a:pathLst>
                  <a:path w="315594" h="346075">
                    <a:moveTo>
                      <a:pt x="27203" y="0"/>
                    </a:moveTo>
                    <a:lnTo>
                      <a:pt x="22690" y="2869"/>
                    </a:lnTo>
                    <a:lnTo>
                      <a:pt x="8258" y="16753"/>
                    </a:lnTo>
                    <a:lnTo>
                      <a:pt x="526" y="34504"/>
                    </a:lnTo>
                    <a:lnTo>
                      <a:pt x="0" y="53860"/>
                    </a:lnTo>
                    <a:lnTo>
                      <a:pt x="7183" y="72563"/>
                    </a:lnTo>
                    <a:lnTo>
                      <a:pt x="178769" y="311561"/>
                    </a:lnTo>
                    <a:lnTo>
                      <a:pt x="211515" y="339607"/>
                    </a:lnTo>
                    <a:lnTo>
                      <a:pt x="236485" y="345989"/>
                    </a:lnTo>
                    <a:lnTo>
                      <a:pt x="241951" y="345989"/>
                    </a:lnTo>
                    <a:lnTo>
                      <a:pt x="281918" y="334303"/>
                    </a:lnTo>
                    <a:lnTo>
                      <a:pt x="306245" y="306985"/>
                    </a:lnTo>
                    <a:lnTo>
                      <a:pt x="241804" y="306985"/>
                    </a:lnTo>
                    <a:lnTo>
                      <a:pt x="227862" y="304171"/>
                    </a:lnTo>
                    <a:lnTo>
                      <a:pt x="216476" y="296496"/>
                    </a:lnTo>
                    <a:lnTo>
                      <a:pt x="208799" y="285110"/>
                    </a:lnTo>
                    <a:lnTo>
                      <a:pt x="205983" y="271164"/>
                    </a:lnTo>
                    <a:lnTo>
                      <a:pt x="208799" y="257224"/>
                    </a:lnTo>
                    <a:lnTo>
                      <a:pt x="216476" y="245841"/>
                    </a:lnTo>
                    <a:lnTo>
                      <a:pt x="227862" y="238167"/>
                    </a:lnTo>
                    <a:lnTo>
                      <a:pt x="241804" y="235354"/>
                    </a:lnTo>
                    <a:lnTo>
                      <a:pt x="306571" y="235354"/>
                    </a:lnTo>
                    <a:lnTo>
                      <a:pt x="304902" y="231008"/>
                    </a:lnTo>
                    <a:lnTo>
                      <a:pt x="291769" y="217354"/>
                    </a:lnTo>
                    <a:lnTo>
                      <a:pt x="189732" y="217354"/>
                    </a:lnTo>
                    <a:lnTo>
                      <a:pt x="33161" y="1141"/>
                    </a:lnTo>
                    <a:lnTo>
                      <a:pt x="27203" y="0"/>
                    </a:lnTo>
                    <a:close/>
                  </a:path>
                  <a:path w="315594" h="346075">
                    <a:moveTo>
                      <a:pt x="306571" y="235354"/>
                    </a:moveTo>
                    <a:lnTo>
                      <a:pt x="241804" y="235354"/>
                    </a:lnTo>
                    <a:lnTo>
                      <a:pt x="255745" y="238167"/>
                    </a:lnTo>
                    <a:lnTo>
                      <a:pt x="267132" y="245841"/>
                    </a:lnTo>
                    <a:lnTo>
                      <a:pt x="274809" y="257224"/>
                    </a:lnTo>
                    <a:lnTo>
                      <a:pt x="277625" y="271164"/>
                    </a:lnTo>
                    <a:lnTo>
                      <a:pt x="274809" y="285110"/>
                    </a:lnTo>
                    <a:lnTo>
                      <a:pt x="267132" y="296496"/>
                    </a:lnTo>
                    <a:lnTo>
                      <a:pt x="255745" y="304171"/>
                    </a:lnTo>
                    <a:lnTo>
                      <a:pt x="241804" y="306985"/>
                    </a:lnTo>
                    <a:lnTo>
                      <a:pt x="306245" y="306985"/>
                    </a:lnTo>
                    <a:lnTo>
                      <a:pt x="314770" y="287411"/>
                    </a:lnTo>
                    <a:lnTo>
                      <a:pt x="315549" y="258723"/>
                    </a:lnTo>
                    <a:lnTo>
                      <a:pt x="306571" y="235354"/>
                    </a:lnTo>
                    <a:close/>
                  </a:path>
                  <a:path w="315594" h="346075">
                    <a:moveTo>
                      <a:pt x="229321" y="197367"/>
                    </a:moveTo>
                    <a:lnTo>
                      <a:pt x="201606" y="208014"/>
                    </a:lnTo>
                    <a:lnTo>
                      <a:pt x="197303" y="210747"/>
                    </a:lnTo>
                    <a:lnTo>
                      <a:pt x="193334" y="213867"/>
                    </a:lnTo>
                    <a:lnTo>
                      <a:pt x="189732" y="217354"/>
                    </a:lnTo>
                    <a:lnTo>
                      <a:pt x="291769" y="217354"/>
                    </a:lnTo>
                    <a:lnTo>
                      <a:pt x="284319" y="209609"/>
                    </a:lnTo>
                    <a:lnTo>
                      <a:pt x="258009" y="198147"/>
                    </a:lnTo>
                    <a:lnTo>
                      <a:pt x="229321" y="197367"/>
                    </a:lnTo>
                    <a:close/>
                  </a:path>
                </a:pathLst>
              </a:custGeom>
              <a:solidFill>
                <a:srgbClr val="60399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</p:grpSp>
        <p:sp>
          <p:nvSpPr>
            <p:cNvPr id="33" name="object 40">
              <a:extLst>
                <a:ext uri="{FF2B5EF4-FFF2-40B4-BE49-F238E27FC236}">
                  <a16:creationId xmlns:a16="http://schemas.microsoft.com/office/drawing/2014/main" id="{1F02BCCD-357B-7CE3-0229-767738491FDA}"/>
                </a:ext>
              </a:extLst>
            </p:cNvPr>
            <p:cNvSpPr/>
            <p:nvPr/>
          </p:nvSpPr>
          <p:spPr>
            <a:xfrm>
              <a:off x="6534299" y="4741989"/>
              <a:ext cx="2061570" cy="379286"/>
            </a:xfrm>
            <a:custGeom>
              <a:avLst/>
              <a:gdLst/>
              <a:ahLst/>
              <a:cxnLst/>
              <a:rect l="l" t="t" r="r" b="b"/>
              <a:pathLst>
                <a:path w="725169" h="162560">
                  <a:moveTo>
                    <a:pt x="0" y="162529"/>
                  </a:moveTo>
                  <a:lnTo>
                    <a:pt x="101955" y="60574"/>
                  </a:lnTo>
                  <a:lnTo>
                    <a:pt x="133453" y="34747"/>
                  </a:lnTo>
                  <a:lnTo>
                    <a:pt x="169051" y="15742"/>
                  </a:lnTo>
                  <a:lnTo>
                    <a:pt x="207662" y="4010"/>
                  </a:lnTo>
                  <a:lnTo>
                    <a:pt x="248201" y="0"/>
                  </a:lnTo>
                  <a:lnTo>
                    <a:pt x="724731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4" name="object 41">
              <a:extLst>
                <a:ext uri="{FF2B5EF4-FFF2-40B4-BE49-F238E27FC236}">
                  <a16:creationId xmlns:a16="http://schemas.microsoft.com/office/drawing/2014/main" id="{F2583F75-F906-6C50-3FE2-EB953FAB3526}"/>
                </a:ext>
              </a:extLst>
            </p:cNvPr>
            <p:cNvSpPr/>
            <p:nvPr/>
          </p:nvSpPr>
          <p:spPr>
            <a:xfrm>
              <a:off x="6648064" y="7338513"/>
              <a:ext cx="1685201" cy="1236161"/>
            </a:xfrm>
            <a:custGeom>
              <a:avLst/>
              <a:gdLst/>
              <a:ahLst/>
              <a:cxnLst/>
              <a:rect l="l" t="t" r="r" b="b"/>
              <a:pathLst>
                <a:path w="758825" h="528954">
                  <a:moveTo>
                    <a:pt x="0" y="528957"/>
                  </a:moveTo>
                  <a:lnTo>
                    <a:pt x="229846" y="528957"/>
                  </a:lnTo>
                  <a:lnTo>
                    <a:pt x="758814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5" name="object 42">
              <a:extLst>
                <a:ext uri="{FF2B5EF4-FFF2-40B4-BE49-F238E27FC236}">
                  <a16:creationId xmlns:a16="http://schemas.microsoft.com/office/drawing/2014/main" id="{06F89742-27D2-0603-FEA4-D301694D0A4D}"/>
                </a:ext>
              </a:extLst>
            </p:cNvPr>
            <p:cNvSpPr/>
            <p:nvPr/>
          </p:nvSpPr>
          <p:spPr>
            <a:xfrm>
              <a:off x="6648064" y="6863927"/>
              <a:ext cx="1474564" cy="45719"/>
            </a:xfrm>
            <a:custGeom>
              <a:avLst/>
              <a:gdLst/>
              <a:ahLst/>
              <a:cxnLst/>
              <a:rect l="l" t="t" r="r" b="b"/>
              <a:pathLst>
                <a:path w="688975">
                  <a:moveTo>
                    <a:pt x="0" y="0"/>
                  </a:moveTo>
                  <a:lnTo>
                    <a:pt x="688764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6" name="object 43">
              <a:extLst>
                <a:ext uri="{FF2B5EF4-FFF2-40B4-BE49-F238E27FC236}">
                  <a16:creationId xmlns:a16="http://schemas.microsoft.com/office/drawing/2014/main" id="{E3B45DF4-AC07-96E5-E7F5-839C8B3BBF8D}"/>
                </a:ext>
              </a:extLst>
            </p:cNvPr>
            <p:cNvSpPr/>
            <p:nvPr/>
          </p:nvSpPr>
          <p:spPr>
            <a:xfrm>
              <a:off x="10749969" y="3966864"/>
              <a:ext cx="1922434" cy="1212461"/>
            </a:xfrm>
            <a:custGeom>
              <a:avLst/>
              <a:gdLst/>
              <a:ahLst/>
              <a:cxnLst/>
              <a:rect l="l" t="t" r="r" b="b"/>
              <a:pathLst>
                <a:path w="798194" h="348614">
                  <a:moveTo>
                    <a:pt x="797829" y="0"/>
                  </a:moveTo>
                  <a:lnTo>
                    <a:pt x="348010" y="0"/>
                  </a:lnTo>
                  <a:lnTo>
                    <a:pt x="0" y="347999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7" name="object 44">
              <a:extLst>
                <a:ext uri="{FF2B5EF4-FFF2-40B4-BE49-F238E27FC236}">
                  <a16:creationId xmlns:a16="http://schemas.microsoft.com/office/drawing/2014/main" id="{17242843-C80F-B6A7-0E97-6CF5E6E2FB09}"/>
                </a:ext>
              </a:extLst>
            </p:cNvPr>
            <p:cNvSpPr/>
            <p:nvPr/>
          </p:nvSpPr>
          <p:spPr>
            <a:xfrm flipV="1">
              <a:off x="10974901" y="5332902"/>
              <a:ext cx="1697502" cy="250385"/>
            </a:xfrm>
            <a:custGeom>
              <a:avLst/>
              <a:gdLst/>
              <a:ahLst/>
              <a:cxnLst/>
              <a:rect l="l" t="t" r="r" b="b"/>
              <a:pathLst>
                <a:path w="697230">
                  <a:moveTo>
                    <a:pt x="696910" y="0"/>
                  </a:moveTo>
                  <a:lnTo>
                    <a:pt x="0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8" name="object 45">
              <a:extLst>
                <a:ext uri="{FF2B5EF4-FFF2-40B4-BE49-F238E27FC236}">
                  <a16:creationId xmlns:a16="http://schemas.microsoft.com/office/drawing/2014/main" id="{A1FF0AE9-4D20-0450-9D49-14E925B60B2A}"/>
                </a:ext>
              </a:extLst>
            </p:cNvPr>
            <p:cNvSpPr/>
            <p:nvPr/>
          </p:nvSpPr>
          <p:spPr>
            <a:xfrm>
              <a:off x="10974900" y="7007911"/>
              <a:ext cx="1697503" cy="45719"/>
            </a:xfrm>
            <a:custGeom>
              <a:avLst/>
              <a:gdLst/>
              <a:ahLst/>
              <a:cxnLst/>
              <a:rect l="l" t="t" r="r" b="b"/>
              <a:pathLst>
                <a:path w="697230">
                  <a:moveTo>
                    <a:pt x="696910" y="0"/>
                  </a:moveTo>
                  <a:lnTo>
                    <a:pt x="0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9" name="object 46">
              <a:extLst>
                <a:ext uri="{FF2B5EF4-FFF2-40B4-BE49-F238E27FC236}">
                  <a16:creationId xmlns:a16="http://schemas.microsoft.com/office/drawing/2014/main" id="{D152A2E8-B63C-B9EF-6BF3-0CF3D658339E}"/>
                </a:ext>
              </a:extLst>
            </p:cNvPr>
            <p:cNvSpPr/>
            <p:nvPr/>
          </p:nvSpPr>
          <p:spPr>
            <a:xfrm>
              <a:off x="10670440" y="7531940"/>
              <a:ext cx="2001964" cy="1098429"/>
            </a:xfrm>
            <a:custGeom>
              <a:avLst/>
              <a:gdLst/>
              <a:ahLst/>
              <a:cxnLst/>
              <a:rect l="l" t="t" r="r" b="b"/>
              <a:pathLst>
                <a:path w="868680" h="382904">
                  <a:moveTo>
                    <a:pt x="868224" y="382648"/>
                  </a:moveTo>
                  <a:lnTo>
                    <a:pt x="382637" y="382648"/>
                  </a:lnTo>
                  <a:lnTo>
                    <a:pt x="0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40" name="object 47">
              <a:extLst>
                <a:ext uri="{FF2B5EF4-FFF2-40B4-BE49-F238E27FC236}">
                  <a16:creationId xmlns:a16="http://schemas.microsoft.com/office/drawing/2014/main" id="{03EB6673-F6F4-4C8B-CE8D-D38591A07451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64136" y="4325288"/>
              <a:ext cx="3710304" cy="3710304"/>
            </a:xfrm>
            <a:prstGeom prst="rect">
              <a:avLst/>
            </a:prstGeom>
          </p:spPr>
        </p:pic>
        <p:sp>
          <p:nvSpPr>
            <p:cNvPr id="41" name="object 48">
              <a:extLst>
                <a:ext uri="{FF2B5EF4-FFF2-40B4-BE49-F238E27FC236}">
                  <a16:creationId xmlns:a16="http://schemas.microsoft.com/office/drawing/2014/main" id="{E6A25735-4691-3A76-4447-D951CB12E414}"/>
                </a:ext>
              </a:extLst>
            </p:cNvPr>
            <p:cNvSpPr/>
            <p:nvPr/>
          </p:nvSpPr>
          <p:spPr>
            <a:xfrm>
              <a:off x="8993007" y="5175310"/>
              <a:ext cx="1452412" cy="2011034"/>
            </a:xfrm>
            <a:custGeom>
              <a:avLst/>
              <a:gdLst/>
              <a:ahLst/>
              <a:cxnLst/>
              <a:rect l="l" t="t" r="r" b="b"/>
              <a:pathLst>
                <a:path w="817244" h="1131570">
                  <a:moveTo>
                    <a:pt x="0" y="171303"/>
                  </a:moveTo>
                  <a:lnTo>
                    <a:pt x="0" y="282787"/>
                  </a:lnTo>
                  <a:lnTo>
                    <a:pt x="75442" y="282787"/>
                  </a:lnTo>
                  <a:lnTo>
                    <a:pt x="98601" y="285677"/>
                  </a:lnTo>
                  <a:lnTo>
                    <a:pt x="116404" y="294345"/>
                  </a:lnTo>
                  <a:lnTo>
                    <a:pt x="128852" y="308792"/>
                  </a:lnTo>
                  <a:lnTo>
                    <a:pt x="135943" y="329016"/>
                  </a:lnTo>
                  <a:lnTo>
                    <a:pt x="135943" y="524120"/>
                  </a:lnTo>
                  <a:lnTo>
                    <a:pt x="140487" y="524120"/>
                  </a:lnTo>
                  <a:lnTo>
                    <a:pt x="144110" y="524350"/>
                  </a:lnTo>
                  <a:lnTo>
                    <a:pt x="146822" y="524800"/>
                  </a:lnTo>
                  <a:lnTo>
                    <a:pt x="135943" y="524800"/>
                  </a:lnTo>
                  <a:lnTo>
                    <a:pt x="135943" y="798059"/>
                  </a:lnTo>
                  <a:lnTo>
                    <a:pt x="131441" y="813225"/>
                  </a:lnTo>
                  <a:lnTo>
                    <a:pt x="123370" y="824059"/>
                  </a:lnTo>
                  <a:lnTo>
                    <a:pt x="111730" y="830561"/>
                  </a:lnTo>
                  <a:lnTo>
                    <a:pt x="96520" y="832728"/>
                  </a:lnTo>
                  <a:lnTo>
                    <a:pt x="21077" y="832728"/>
                  </a:lnTo>
                  <a:lnTo>
                    <a:pt x="0" y="957133"/>
                  </a:lnTo>
                  <a:lnTo>
                    <a:pt x="210045" y="957803"/>
                  </a:lnTo>
                  <a:lnTo>
                    <a:pt x="210045" y="1131138"/>
                  </a:lnTo>
                  <a:lnTo>
                    <a:pt x="314754" y="1131138"/>
                  </a:lnTo>
                  <a:lnTo>
                    <a:pt x="314754" y="959834"/>
                  </a:lnTo>
                  <a:lnTo>
                    <a:pt x="502361" y="959834"/>
                  </a:lnTo>
                  <a:lnTo>
                    <a:pt x="502361" y="957803"/>
                  </a:lnTo>
                  <a:lnTo>
                    <a:pt x="554964" y="953901"/>
                  </a:lnTo>
                  <a:lnTo>
                    <a:pt x="601269" y="947604"/>
                  </a:lnTo>
                  <a:lnTo>
                    <a:pt x="643501" y="937992"/>
                  </a:lnTo>
                  <a:lnTo>
                    <a:pt x="683863" y="924139"/>
                  </a:lnTo>
                  <a:lnTo>
                    <a:pt x="720050" y="906214"/>
                  </a:lnTo>
                  <a:lnTo>
                    <a:pt x="762470" y="871676"/>
                  </a:lnTo>
                  <a:lnTo>
                    <a:pt x="788267" y="834068"/>
                  </a:lnTo>
                  <a:lnTo>
                    <a:pt x="374554" y="834068"/>
                  </a:lnTo>
                  <a:lnTo>
                    <a:pt x="320398" y="833398"/>
                  </a:lnTo>
                  <a:lnTo>
                    <a:pt x="316765" y="833398"/>
                  </a:lnTo>
                  <a:lnTo>
                    <a:pt x="316765" y="603625"/>
                  </a:lnTo>
                  <a:lnTo>
                    <a:pt x="383787" y="602314"/>
                  </a:lnTo>
                  <a:lnTo>
                    <a:pt x="790390" y="602274"/>
                  </a:lnTo>
                  <a:lnTo>
                    <a:pt x="785148" y="593416"/>
                  </a:lnTo>
                  <a:lnTo>
                    <a:pt x="762930" y="569927"/>
                  </a:lnTo>
                  <a:lnTo>
                    <a:pt x="735697" y="550429"/>
                  </a:lnTo>
                  <a:lnTo>
                    <a:pt x="703450" y="534922"/>
                  </a:lnTo>
                  <a:lnTo>
                    <a:pt x="666189" y="523408"/>
                  </a:lnTo>
                  <a:lnTo>
                    <a:pt x="700586" y="499448"/>
                  </a:lnTo>
                  <a:lnTo>
                    <a:pt x="358169" y="499448"/>
                  </a:lnTo>
                  <a:lnTo>
                    <a:pt x="319047" y="498937"/>
                  </a:lnTo>
                  <a:lnTo>
                    <a:pt x="316775" y="498937"/>
                  </a:lnTo>
                  <a:lnTo>
                    <a:pt x="316775" y="290242"/>
                  </a:lnTo>
                  <a:lnTo>
                    <a:pt x="380333" y="289216"/>
                  </a:lnTo>
                  <a:lnTo>
                    <a:pt x="740440" y="289198"/>
                  </a:lnTo>
                  <a:lnTo>
                    <a:pt x="739753" y="287425"/>
                  </a:lnTo>
                  <a:lnTo>
                    <a:pt x="719139" y="254525"/>
                  </a:lnTo>
                  <a:lnTo>
                    <a:pt x="691101" y="228020"/>
                  </a:lnTo>
                  <a:lnTo>
                    <a:pt x="656273" y="207749"/>
                  </a:lnTo>
                  <a:lnTo>
                    <a:pt x="617857" y="192454"/>
                  </a:lnTo>
                  <a:lnTo>
                    <a:pt x="576017" y="181689"/>
                  </a:lnTo>
                  <a:lnTo>
                    <a:pt x="528428" y="174044"/>
                  </a:lnTo>
                  <a:lnTo>
                    <a:pt x="508819" y="171984"/>
                  </a:lnTo>
                  <a:lnTo>
                    <a:pt x="144110" y="171984"/>
                  </a:lnTo>
                  <a:lnTo>
                    <a:pt x="0" y="171303"/>
                  </a:lnTo>
                  <a:close/>
                </a:path>
                <a:path w="817244" h="1131570">
                  <a:moveTo>
                    <a:pt x="502361" y="959834"/>
                  </a:moveTo>
                  <a:lnTo>
                    <a:pt x="314754" y="959834"/>
                  </a:lnTo>
                  <a:lnTo>
                    <a:pt x="330644" y="960141"/>
                  </a:lnTo>
                  <a:lnTo>
                    <a:pt x="397684" y="960525"/>
                  </a:lnTo>
                  <a:lnTo>
                    <a:pt x="397684" y="1131138"/>
                  </a:lnTo>
                  <a:lnTo>
                    <a:pt x="502361" y="1131138"/>
                  </a:lnTo>
                  <a:lnTo>
                    <a:pt x="502361" y="959834"/>
                  </a:lnTo>
                  <a:close/>
                </a:path>
                <a:path w="817244" h="1131570">
                  <a:moveTo>
                    <a:pt x="790390" y="602274"/>
                  </a:moveTo>
                  <a:lnTo>
                    <a:pt x="392899" y="602274"/>
                  </a:lnTo>
                  <a:lnTo>
                    <a:pt x="402204" y="602399"/>
                  </a:lnTo>
                  <a:lnTo>
                    <a:pt x="413127" y="602776"/>
                  </a:lnTo>
                  <a:lnTo>
                    <a:pt x="454172" y="605447"/>
                  </a:lnTo>
                  <a:lnTo>
                    <a:pt x="500548" y="612727"/>
                  </a:lnTo>
                  <a:lnTo>
                    <a:pt x="546134" y="627468"/>
                  </a:lnTo>
                  <a:lnTo>
                    <a:pt x="580919" y="650264"/>
                  </a:lnTo>
                  <a:lnTo>
                    <a:pt x="603353" y="684842"/>
                  </a:lnTo>
                  <a:lnTo>
                    <a:pt x="609091" y="718501"/>
                  </a:lnTo>
                  <a:lnTo>
                    <a:pt x="608688" y="727810"/>
                  </a:lnTo>
                  <a:lnTo>
                    <a:pt x="595233" y="767793"/>
                  </a:lnTo>
                  <a:lnTo>
                    <a:pt x="567046" y="796175"/>
                  </a:lnTo>
                  <a:lnTo>
                    <a:pt x="526832" y="815032"/>
                  </a:lnTo>
                  <a:lnTo>
                    <a:pt x="489115" y="824561"/>
                  </a:lnTo>
                  <a:lnTo>
                    <a:pt x="450342" y="830330"/>
                  </a:lnTo>
                  <a:lnTo>
                    <a:pt x="399666" y="833494"/>
                  </a:lnTo>
                  <a:lnTo>
                    <a:pt x="374554" y="834068"/>
                  </a:lnTo>
                  <a:lnTo>
                    <a:pt x="788267" y="834068"/>
                  </a:lnTo>
                  <a:lnTo>
                    <a:pt x="807818" y="784273"/>
                  </a:lnTo>
                  <a:lnTo>
                    <a:pt x="815713" y="738888"/>
                  </a:lnTo>
                  <a:lnTo>
                    <a:pt x="817133" y="694368"/>
                  </a:lnTo>
                  <a:lnTo>
                    <a:pt x="812509" y="655283"/>
                  </a:lnTo>
                  <a:lnTo>
                    <a:pt x="801845" y="621632"/>
                  </a:lnTo>
                  <a:lnTo>
                    <a:pt x="790390" y="602274"/>
                  </a:lnTo>
                  <a:close/>
                </a:path>
                <a:path w="817244" h="1131570">
                  <a:moveTo>
                    <a:pt x="740440" y="289198"/>
                  </a:moveTo>
                  <a:lnTo>
                    <a:pt x="388281" y="289198"/>
                  </a:lnTo>
                  <a:lnTo>
                    <a:pt x="397502" y="289476"/>
                  </a:lnTo>
                  <a:lnTo>
                    <a:pt x="407997" y="290051"/>
                  </a:lnTo>
                  <a:lnTo>
                    <a:pt x="452587" y="294745"/>
                  </a:lnTo>
                  <a:lnTo>
                    <a:pt x="498958" y="307571"/>
                  </a:lnTo>
                  <a:lnTo>
                    <a:pt x="537465" y="332597"/>
                  </a:lnTo>
                  <a:lnTo>
                    <a:pt x="558683" y="373764"/>
                  </a:lnTo>
                  <a:lnTo>
                    <a:pt x="560810" y="394919"/>
                  </a:lnTo>
                  <a:lnTo>
                    <a:pt x="560429" y="404225"/>
                  </a:lnTo>
                  <a:lnTo>
                    <a:pt x="547055" y="443958"/>
                  </a:lnTo>
                  <a:lnTo>
                    <a:pt x="517610" y="470052"/>
                  </a:lnTo>
                  <a:lnTo>
                    <a:pt x="478226" y="486697"/>
                  </a:lnTo>
                  <a:lnTo>
                    <a:pt x="435284" y="495431"/>
                  </a:lnTo>
                  <a:lnTo>
                    <a:pt x="371852" y="499283"/>
                  </a:lnTo>
                  <a:lnTo>
                    <a:pt x="358169" y="499448"/>
                  </a:lnTo>
                  <a:lnTo>
                    <a:pt x="700586" y="499448"/>
                  </a:lnTo>
                  <a:lnTo>
                    <a:pt x="709737" y="493073"/>
                  </a:lnTo>
                  <a:lnTo>
                    <a:pt x="739093" y="453729"/>
                  </a:lnTo>
                  <a:lnTo>
                    <a:pt x="754261" y="405378"/>
                  </a:lnTo>
                  <a:lnTo>
                    <a:pt x="755244" y="348020"/>
                  </a:lnTo>
                  <a:lnTo>
                    <a:pt x="752161" y="326331"/>
                  </a:lnTo>
                  <a:lnTo>
                    <a:pt x="746998" y="306134"/>
                  </a:lnTo>
                  <a:lnTo>
                    <a:pt x="740440" y="289198"/>
                  </a:lnTo>
                  <a:close/>
                </a:path>
                <a:path w="817244" h="1131570">
                  <a:moveTo>
                    <a:pt x="314733" y="0"/>
                  </a:moveTo>
                  <a:lnTo>
                    <a:pt x="210045" y="0"/>
                  </a:lnTo>
                  <a:lnTo>
                    <a:pt x="210045" y="171303"/>
                  </a:lnTo>
                  <a:lnTo>
                    <a:pt x="197508" y="171599"/>
                  </a:lnTo>
                  <a:lnTo>
                    <a:pt x="144110" y="171984"/>
                  </a:lnTo>
                  <a:lnTo>
                    <a:pt x="508819" y="171984"/>
                  </a:lnTo>
                  <a:lnTo>
                    <a:pt x="502340" y="171303"/>
                  </a:lnTo>
                  <a:lnTo>
                    <a:pt x="502340" y="167900"/>
                  </a:lnTo>
                  <a:lnTo>
                    <a:pt x="314733" y="167900"/>
                  </a:lnTo>
                  <a:lnTo>
                    <a:pt x="314733" y="0"/>
                  </a:lnTo>
                  <a:close/>
                </a:path>
                <a:path w="817244" h="1131570">
                  <a:moveTo>
                    <a:pt x="502340" y="0"/>
                  </a:moveTo>
                  <a:lnTo>
                    <a:pt x="397663" y="0"/>
                  </a:lnTo>
                  <a:lnTo>
                    <a:pt x="397663" y="166539"/>
                  </a:lnTo>
                  <a:lnTo>
                    <a:pt x="382284" y="166625"/>
                  </a:lnTo>
                  <a:lnTo>
                    <a:pt x="314733" y="167900"/>
                  </a:lnTo>
                  <a:lnTo>
                    <a:pt x="502340" y="167900"/>
                  </a:lnTo>
                  <a:lnTo>
                    <a:pt x="5023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42" name="object 49">
              <a:extLst>
                <a:ext uri="{FF2B5EF4-FFF2-40B4-BE49-F238E27FC236}">
                  <a16:creationId xmlns:a16="http://schemas.microsoft.com/office/drawing/2014/main" id="{F410FE81-43EE-3265-7D5E-20A69EAC2464}"/>
                </a:ext>
              </a:extLst>
            </p:cNvPr>
            <p:cNvSpPr txBox="1"/>
            <p:nvPr/>
          </p:nvSpPr>
          <p:spPr>
            <a:xfrm>
              <a:off x="14243050" y="3585685"/>
              <a:ext cx="3053793" cy="76235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spc="-10" dirty="0">
                  <a:solidFill>
                    <a:srgbClr val="57585B"/>
                  </a:solidFill>
                  <a:latin typeface="Open Sans"/>
                  <a:cs typeface="Open Sans"/>
                </a:rPr>
                <a:t>Arquitetura de Rede Ponto a Ponto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43" name="object 50">
              <a:extLst>
                <a:ext uri="{FF2B5EF4-FFF2-40B4-BE49-F238E27FC236}">
                  <a16:creationId xmlns:a16="http://schemas.microsoft.com/office/drawing/2014/main" id="{508DDB87-579A-39FA-076F-AB0CD1A7843B}"/>
                </a:ext>
              </a:extLst>
            </p:cNvPr>
            <p:cNvSpPr txBox="1"/>
            <p:nvPr/>
          </p:nvSpPr>
          <p:spPr>
            <a:xfrm>
              <a:off x="14243050" y="5146593"/>
              <a:ext cx="4882593" cy="75212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Função de </a:t>
              </a:r>
              <a:r>
                <a:rPr lang="pt-PT" sz="2400" dirty="0" err="1">
                  <a:solidFill>
                    <a:srgbClr val="57585B"/>
                  </a:solidFill>
                  <a:latin typeface="Open Sans"/>
                  <a:cs typeface="Open Sans"/>
                </a:rPr>
                <a:t>Hash</a:t>
              </a: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 (ou de dispersão) e Árvores de </a:t>
              </a:r>
              <a:r>
                <a:rPr lang="pt-PT" sz="2400" dirty="0" err="1">
                  <a:solidFill>
                    <a:srgbClr val="57585B"/>
                  </a:solidFill>
                  <a:latin typeface="Open Sans"/>
                  <a:cs typeface="Open Sans"/>
                </a:rPr>
                <a:t>Merkle</a:t>
              </a: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 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44" name="object 51">
              <a:extLst>
                <a:ext uri="{FF2B5EF4-FFF2-40B4-BE49-F238E27FC236}">
                  <a16:creationId xmlns:a16="http://schemas.microsoft.com/office/drawing/2014/main" id="{C74A0EED-4CD3-301A-1E9A-F0125338A592}"/>
                </a:ext>
              </a:extLst>
            </p:cNvPr>
            <p:cNvSpPr txBox="1"/>
            <p:nvPr/>
          </p:nvSpPr>
          <p:spPr>
            <a:xfrm>
              <a:off x="14243050" y="6562897"/>
              <a:ext cx="2176612" cy="76235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Criptografia de Chave Pública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45" name="object 52">
              <a:extLst>
                <a:ext uri="{FF2B5EF4-FFF2-40B4-BE49-F238E27FC236}">
                  <a16:creationId xmlns:a16="http://schemas.microsoft.com/office/drawing/2014/main" id="{5F32B452-D31A-7CF4-EAD3-2E118B150FF9}"/>
                </a:ext>
              </a:extLst>
            </p:cNvPr>
            <p:cNvSpPr txBox="1"/>
            <p:nvPr/>
          </p:nvSpPr>
          <p:spPr>
            <a:xfrm>
              <a:off x="14243050" y="8115791"/>
              <a:ext cx="3968193" cy="75212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Redução da Recompensa de Bloco para Metade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46" name="object 18">
              <a:extLst>
                <a:ext uri="{FF2B5EF4-FFF2-40B4-BE49-F238E27FC236}">
                  <a16:creationId xmlns:a16="http://schemas.microsoft.com/office/drawing/2014/main" id="{044D657B-480B-DD3A-2660-A367E3996210}"/>
                </a:ext>
              </a:extLst>
            </p:cNvPr>
            <p:cNvSpPr txBox="1"/>
            <p:nvPr/>
          </p:nvSpPr>
          <p:spPr>
            <a:xfrm>
              <a:off x="1794127" y="6482748"/>
              <a:ext cx="3356386" cy="76235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algn="r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Registos Criptográficos de Data e Hora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911B3284-1BDF-48E0-C8BD-06F2976E4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74468"/>
            <a:stretch>
              <a:fillRect/>
            </a:stretch>
          </p:blipFill>
          <p:spPr>
            <a:xfrm>
              <a:off x="12870384" y="5439152"/>
              <a:ext cx="616901" cy="459570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E93DCB1-D814-21B1-F394-3EACCFE12F8D}"/>
                </a:ext>
              </a:extLst>
            </p:cNvPr>
            <p:cNvGrpSpPr/>
            <p:nvPr/>
          </p:nvGrpSpPr>
          <p:grpSpPr>
            <a:xfrm>
              <a:off x="12648365" y="3521200"/>
              <a:ext cx="976931" cy="976986"/>
              <a:chOff x="12672404" y="3718353"/>
              <a:chExt cx="976931" cy="976986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8EA76FF-A02F-85B0-988A-CC13373960F4}"/>
                  </a:ext>
                </a:extLst>
              </p:cNvPr>
              <p:cNvGrpSpPr/>
              <p:nvPr/>
            </p:nvGrpSpPr>
            <p:grpSpPr>
              <a:xfrm>
                <a:off x="12672404" y="3718353"/>
                <a:ext cx="976931" cy="976986"/>
                <a:chOff x="12075691" y="3985006"/>
                <a:chExt cx="976931" cy="976986"/>
              </a:xfrm>
            </p:grpSpPr>
            <p:pic>
              <p:nvPicPr>
                <p:cNvPr id="18" name="object 25">
                  <a:extLst>
                    <a:ext uri="{FF2B5EF4-FFF2-40B4-BE49-F238E27FC236}">
                      <a16:creationId xmlns:a16="http://schemas.microsoft.com/office/drawing/2014/main" id="{EC5FD4B1-D6BC-0C8C-CDCB-733C936DF0FA}"/>
                    </a:ext>
                  </a:extLst>
                </p:cNvPr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2075691" y="3985006"/>
                  <a:ext cx="976931" cy="976986"/>
                </a:xfrm>
                <a:prstGeom prst="rect">
                  <a:avLst/>
                </a:prstGeom>
              </p:spPr>
            </p:pic>
            <p:sp>
              <p:nvSpPr>
                <p:cNvPr id="26" name="object 33">
                  <a:extLst>
                    <a:ext uri="{FF2B5EF4-FFF2-40B4-BE49-F238E27FC236}">
                      <a16:creationId xmlns:a16="http://schemas.microsoft.com/office/drawing/2014/main" id="{471089BF-89E3-0F03-84F5-E6BCCC1B4E85}"/>
                    </a:ext>
                  </a:extLst>
                </p:cNvPr>
                <p:cNvSpPr/>
                <p:nvPr/>
              </p:nvSpPr>
              <p:spPr>
                <a:xfrm>
                  <a:off x="12582122" y="4492639"/>
                  <a:ext cx="180564" cy="180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20205" y="80797"/>
                      </a:moveTo>
                      <a:lnTo>
                        <a:pt x="0" y="80797"/>
                      </a:lnTo>
                      <a:lnTo>
                        <a:pt x="0" y="101003"/>
                      </a:lnTo>
                      <a:lnTo>
                        <a:pt x="20205" y="101003"/>
                      </a:lnTo>
                      <a:lnTo>
                        <a:pt x="20205" y="80797"/>
                      </a:lnTo>
                      <a:close/>
                    </a:path>
                    <a:path w="101600" h="101600">
                      <a:moveTo>
                        <a:pt x="60591" y="80797"/>
                      </a:moveTo>
                      <a:lnTo>
                        <a:pt x="40398" y="80797"/>
                      </a:lnTo>
                      <a:lnTo>
                        <a:pt x="40398" y="101003"/>
                      </a:lnTo>
                      <a:lnTo>
                        <a:pt x="60591" y="101003"/>
                      </a:lnTo>
                      <a:lnTo>
                        <a:pt x="60591" y="80797"/>
                      </a:lnTo>
                      <a:close/>
                    </a:path>
                    <a:path w="101600" h="101600">
                      <a:moveTo>
                        <a:pt x="100990" y="80797"/>
                      </a:moveTo>
                      <a:lnTo>
                        <a:pt x="80797" y="80797"/>
                      </a:lnTo>
                      <a:lnTo>
                        <a:pt x="80797" y="101003"/>
                      </a:lnTo>
                      <a:lnTo>
                        <a:pt x="100990" y="101003"/>
                      </a:lnTo>
                      <a:lnTo>
                        <a:pt x="100990" y="80797"/>
                      </a:lnTo>
                      <a:close/>
                    </a:path>
                    <a:path w="101600" h="101600">
                      <a:moveTo>
                        <a:pt x="100990" y="40398"/>
                      </a:moveTo>
                      <a:lnTo>
                        <a:pt x="80797" y="40398"/>
                      </a:lnTo>
                      <a:lnTo>
                        <a:pt x="80797" y="60604"/>
                      </a:lnTo>
                      <a:lnTo>
                        <a:pt x="100990" y="60604"/>
                      </a:lnTo>
                      <a:lnTo>
                        <a:pt x="100990" y="40398"/>
                      </a:lnTo>
                      <a:close/>
                    </a:path>
                    <a:path w="101600" h="101600">
                      <a:moveTo>
                        <a:pt x="100990" y="0"/>
                      </a:moveTo>
                      <a:lnTo>
                        <a:pt x="80797" y="0"/>
                      </a:lnTo>
                      <a:lnTo>
                        <a:pt x="80797" y="20205"/>
                      </a:lnTo>
                      <a:lnTo>
                        <a:pt x="100990" y="20205"/>
                      </a:lnTo>
                      <a:lnTo>
                        <a:pt x="100990" y="0"/>
                      </a:lnTo>
                      <a:close/>
                    </a:path>
                  </a:pathLst>
                </a:custGeom>
                <a:solidFill>
                  <a:srgbClr val="603990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pic>
              <p:nvPicPr>
                <p:cNvPr id="27" name="object 34">
                  <a:extLst>
                    <a:ext uri="{FF2B5EF4-FFF2-40B4-BE49-F238E27FC236}">
                      <a16:creationId xmlns:a16="http://schemas.microsoft.com/office/drawing/2014/main" id="{0AC70787-C2A8-B154-9FD2-045D89B25620}"/>
                    </a:ext>
                  </a:extLst>
                </p:cNvPr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2257874" y="4384951"/>
                  <a:ext cx="288363" cy="287172"/>
                </a:xfrm>
                <a:prstGeom prst="rect">
                  <a:avLst/>
                </a:prstGeom>
              </p:spPr>
            </p:pic>
          </p:grpSp>
          <p:pic>
            <p:nvPicPr>
              <p:cNvPr id="52" name="Graphic 51">
                <a:extLst>
                  <a:ext uri="{FF2B5EF4-FFF2-40B4-BE49-F238E27FC236}">
                    <a16:creationId xmlns:a16="http://schemas.microsoft.com/office/drawing/2014/main" id="{FED59D83-1944-67F8-A1E1-D61E997725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r="1184" b="62929"/>
              <a:stretch>
                <a:fillRect/>
              </a:stretch>
            </p:blipFill>
            <p:spPr>
              <a:xfrm>
                <a:off x="12856069" y="3885453"/>
                <a:ext cx="609600" cy="66728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0895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ECE8-1927-A73F-DFB3-54652DB7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2" y="1006475"/>
            <a:ext cx="17338675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9.1.1 Criptografia de chave privada e criptografia de chave pública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5D03E8-B409-75E5-D94A-83E8FD021EDB}"/>
              </a:ext>
            </a:extLst>
          </p:cNvPr>
          <p:cNvSpPr/>
          <p:nvPr/>
        </p:nvSpPr>
        <p:spPr>
          <a:xfrm>
            <a:off x="1382712" y="3368675"/>
            <a:ext cx="17338675" cy="19050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A </a:t>
            </a:r>
            <a:r>
              <a:rPr lang="pt-PT" sz="3200" b="1" dirty="0">
                <a:solidFill>
                  <a:srgbClr val="FBB040"/>
                </a:solidFill>
              </a:rPr>
              <a:t>criptografia</a:t>
            </a:r>
            <a:r>
              <a:rPr lang="pt-PT" sz="3200" dirty="0">
                <a:solidFill>
                  <a:srgbClr val="58595B"/>
                </a:solidFill>
              </a:rPr>
              <a:t> é um conjunto de técnicas usadas para proteger informações, tornando-as ilegíveis para pessoas não autorizadas.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D6D857-1F5D-9F6D-8019-B3B6633ED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2" y="6011075"/>
            <a:ext cx="17338674" cy="4291799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A encriptação transforma informações em um código ilegível para proteger seu conteúdo, como trancar um cofre com uma chave secreta.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A desencriptação faz o processo inverso — torna os dados legíveis novamente, abrindo o cofre com a chave correta.</a:t>
            </a:r>
          </a:p>
        </p:txBody>
      </p:sp>
    </p:spTree>
    <p:extLst>
      <p:ext uri="{BB962C8B-B14F-4D97-AF65-F5344CB8AC3E}">
        <p14:creationId xmlns:p14="http://schemas.microsoft.com/office/powerpoint/2010/main" val="18492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4610-FF33-271C-4CBB-AF79A3CFC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221764"/>
            <a:ext cx="7450137" cy="3330237"/>
          </a:xfrm>
        </p:spPr>
        <p:txBody>
          <a:bodyPr>
            <a:normAutofit lnSpcReduction="10000"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sz="3000" dirty="0"/>
              <a:t>A </a:t>
            </a:r>
            <a:r>
              <a:rPr lang="pt-PT" sz="3000" b="1" dirty="0"/>
              <a:t>criptografia de chave privada </a:t>
            </a:r>
            <a:r>
              <a:rPr lang="pt-PT" sz="3000" dirty="0"/>
              <a:t>exige a partilha de uma chave secreta entre as partes, o que pode ser arriscado se for intercetada por terceiros.</a:t>
            </a:r>
          </a:p>
          <a:p>
            <a:endParaRPr lang="pt-P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FFEDC-BD98-012C-F789-1FAF6A10A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51224" y="3221764"/>
            <a:ext cx="9570163" cy="7485922"/>
          </a:xfrm>
        </p:spPr>
        <p:txBody>
          <a:bodyPr>
            <a:normAutofit lnSpcReduction="10000"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sz="3000" dirty="0"/>
              <a:t>A </a:t>
            </a:r>
            <a:r>
              <a:rPr lang="pt-PT" sz="3000" b="1" dirty="0"/>
              <a:t>criptografia de chave pública </a:t>
            </a:r>
            <a:r>
              <a:rPr lang="pt-PT" sz="3000" dirty="0"/>
              <a:t>usa duas chaves: uma pública, que pode ser partilhada, e uma privada, que é secreta.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sz="3000" dirty="0"/>
              <a:t>Qualquer pessoa pode verificar uma assinatura criada com a chave pública, mas apenas quem possui a chave privada consegue gerar essa assinatura.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CC73B3-791C-1866-7E15-F9BC65C15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2" y="1006475"/>
            <a:ext cx="17338675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9.1.1 Criptografia de chave privada e criptografia de chave pública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BC4B9DC-D26E-19A8-CAED-A3E3238288B4}"/>
              </a:ext>
            </a:extLst>
          </p:cNvPr>
          <p:cNvGrpSpPr/>
          <p:nvPr/>
        </p:nvGrpSpPr>
        <p:grpSpPr>
          <a:xfrm>
            <a:off x="2314103" y="7296783"/>
            <a:ext cx="6067033" cy="2460487"/>
            <a:chOff x="2711359" y="7178675"/>
            <a:chExt cx="6067033" cy="2460487"/>
          </a:xfrm>
        </p:grpSpPr>
        <p:pic>
          <p:nvPicPr>
            <p:cNvPr id="9" name="Graphic 8" descr="User with solid fill">
              <a:extLst>
                <a:ext uri="{FF2B5EF4-FFF2-40B4-BE49-F238E27FC236}">
                  <a16:creationId xmlns:a16="http://schemas.microsoft.com/office/drawing/2014/main" id="{53FCED07-CED2-A682-6814-5CFF9FE17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25876" y="7178675"/>
              <a:ext cx="1260000" cy="126000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2E42B2B-B86B-9392-733E-3B64B5DC426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88799" y="8037483"/>
              <a:ext cx="685799" cy="685800"/>
              <a:chOff x="5094651" y="9315502"/>
              <a:chExt cx="987372" cy="987373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5D826D3-E0D1-8FF6-BC03-BCA0E922F4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94651" y="9315502"/>
                <a:ext cx="987372" cy="987373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6" name="Graphic 5" descr="Key with solid fill">
                <a:extLst>
                  <a:ext uri="{FF2B5EF4-FFF2-40B4-BE49-F238E27FC236}">
                    <a16:creationId xmlns:a16="http://schemas.microsoft.com/office/drawing/2014/main" id="{D0FBCBEC-6769-C8FB-A664-AAB6B600DE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20385740">
                <a:off x="5246944" y="9467795"/>
                <a:ext cx="682787" cy="682787"/>
              </a:xfrm>
              <a:prstGeom prst="rect">
                <a:avLst/>
              </a:prstGeom>
            </p:spPr>
          </p:pic>
        </p:grp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D475FA74-E63F-CF86-DDDC-E80954335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26981" y="7178675"/>
              <a:ext cx="1260000" cy="12600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713814A-BCD8-79E5-18A7-DB5D517817C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89904" y="8037483"/>
              <a:ext cx="685799" cy="685800"/>
              <a:chOff x="5094651" y="9315502"/>
              <a:chExt cx="987372" cy="987373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E8FF344-2178-4497-4924-6C3C78FCC4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94651" y="9315502"/>
                <a:ext cx="987372" cy="987373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14" name="Graphic 13" descr="Key with solid fill">
                <a:extLst>
                  <a:ext uri="{FF2B5EF4-FFF2-40B4-BE49-F238E27FC236}">
                    <a16:creationId xmlns:a16="http://schemas.microsoft.com/office/drawing/2014/main" id="{ABCF0E28-A6F1-8C51-47F6-A2503F512A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20385740">
                <a:off x="5246944" y="9467795"/>
                <a:ext cx="682787" cy="682787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F9BAD8-47E9-E79F-EDC8-50793FEA590B}"/>
                </a:ext>
              </a:extLst>
            </p:cNvPr>
            <p:cNvSpPr txBox="1"/>
            <p:nvPr/>
          </p:nvSpPr>
          <p:spPr>
            <a:xfrm>
              <a:off x="2711359" y="8931276"/>
              <a:ext cx="208903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Encripta com</a:t>
              </a:r>
              <a:b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Chave Privada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D280C6-F2ED-2645-874B-BE6C2D90BB06}"/>
                </a:ext>
              </a:extLst>
            </p:cNvPr>
            <p:cNvSpPr txBox="1"/>
            <p:nvPr/>
          </p:nvSpPr>
          <p:spPr>
            <a:xfrm>
              <a:off x="5735571" y="8931275"/>
              <a:ext cx="304282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Desencripta com</a:t>
              </a:r>
              <a:b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mesma Chave Privada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C8B46F-9AAF-F1E6-3573-209A97C40CDA}"/>
                </a:ext>
              </a:extLst>
            </p:cNvPr>
            <p:cNvSpPr txBox="1"/>
            <p:nvPr/>
          </p:nvSpPr>
          <p:spPr>
            <a:xfrm>
              <a:off x="3596651" y="7921565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0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93356E1-33DC-4E93-F285-59373CB12D2F}"/>
                </a:ext>
              </a:extLst>
            </p:cNvPr>
            <p:cNvSpPr txBox="1"/>
            <p:nvPr/>
          </p:nvSpPr>
          <p:spPr>
            <a:xfrm>
              <a:off x="7097756" y="7921565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0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C5E293F-8028-6AF2-3D9F-A7FD9809BE7A}"/>
              </a:ext>
            </a:extLst>
          </p:cNvPr>
          <p:cNvGrpSpPr/>
          <p:nvPr/>
        </p:nvGrpSpPr>
        <p:grpSpPr>
          <a:xfrm>
            <a:off x="10878744" y="8018812"/>
            <a:ext cx="6115121" cy="2438565"/>
            <a:chOff x="10832145" y="8648397"/>
            <a:chExt cx="6115121" cy="2438565"/>
          </a:xfrm>
        </p:grpSpPr>
        <p:pic>
          <p:nvPicPr>
            <p:cNvPr id="21" name="Graphic 20" descr="User with solid fill">
              <a:extLst>
                <a:ext uri="{FF2B5EF4-FFF2-40B4-BE49-F238E27FC236}">
                  <a16:creationId xmlns:a16="http://schemas.microsoft.com/office/drawing/2014/main" id="{0AE0E4ED-B67D-E949-FD2D-A39143145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028291" y="8648397"/>
              <a:ext cx="1260000" cy="1260000"/>
            </a:xfrm>
            <a:prstGeom prst="rect">
              <a:avLst/>
            </a:prstGeom>
          </p:spPr>
        </p:pic>
        <p:pic>
          <p:nvPicPr>
            <p:cNvPr id="17" name="Graphic 16" descr="User with solid fill">
              <a:extLst>
                <a:ext uri="{FF2B5EF4-FFF2-40B4-BE49-F238E27FC236}">
                  <a16:creationId xmlns:a16="http://schemas.microsoft.com/office/drawing/2014/main" id="{EFACD7D9-C99F-2BE1-E61E-60B81267D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527186" y="8648397"/>
              <a:ext cx="1260000" cy="1260000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215DEE7-8D62-0B73-F14F-8868A64B44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796651" y="9507205"/>
              <a:ext cx="685799" cy="685800"/>
              <a:chOff x="10143151" y="9315502"/>
              <a:chExt cx="987372" cy="987373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FCAB005-36FA-2370-28C8-ECB34069620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43151" y="9315502"/>
                <a:ext cx="987372" cy="987373"/>
              </a:xfrm>
              <a:prstGeom prst="ellipse">
                <a:avLst/>
              </a:prstGeom>
              <a:solidFill>
                <a:srgbClr val="E4E0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pic>
            <p:nvPicPr>
              <p:cNvPr id="20" name="Graphic 19" descr="Key with solid fill">
                <a:extLst>
                  <a:ext uri="{FF2B5EF4-FFF2-40B4-BE49-F238E27FC236}">
                    <a16:creationId xmlns:a16="http://schemas.microsoft.com/office/drawing/2014/main" id="{761A8A12-F272-AE6C-EC9F-F2A6CDBAC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20385740">
                <a:off x="10295442" y="9467795"/>
                <a:ext cx="682786" cy="682788"/>
              </a:xfrm>
              <a:prstGeom prst="rect">
                <a:avLst/>
              </a:prstGeom>
            </p:spPr>
          </p:pic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04753CD-727E-33F4-E926-91DBAA3041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91452" y="9507205"/>
              <a:ext cx="685799" cy="685800"/>
            </a:xfrm>
            <a:prstGeom prst="ellipse">
              <a:avLst/>
            </a:prstGeom>
            <a:solidFill>
              <a:srgbClr val="E4E0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07883C4-0A61-992A-044E-1D70369397B2}"/>
                </a:ext>
              </a:extLst>
            </p:cNvPr>
            <p:cNvSpPr txBox="1"/>
            <p:nvPr/>
          </p:nvSpPr>
          <p:spPr>
            <a:xfrm>
              <a:off x="10832145" y="10379076"/>
              <a:ext cx="265008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Encripta com</a:t>
              </a:r>
              <a:b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Chave Pública do 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799CBF-3690-EA42-9572-42CEE82ACB00}"/>
                </a:ext>
              </a:extLst>
            </p:cNvPr>
            <p:cNvSpPr txBox="1"/>
            <p:nvPr/>
          </p:nvSpPr>
          <p:spPr>
            <a:xfrm>
              <a:off x="14369316" y="10379075"/>
              <a:ext cx="257795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Desencripta com</a:t>
              </a:r>
              <a:b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sua Chave Privada</a:t>
              </a:r>
            </a:p>
          </p:txBody>
        </p:sp>
        <p:pic>
          <p:nvPicPr>
            <p:cNvPr id="28" name="Graphic 27" descr="Key outline">
              <a:extLst>
                <a:ext uri="{FF2B5EF4-FFF2-40B4-BE49-F238E27FC236}">
                  <a16:creationId xmlns:a16="http://schemas.microsoft.com/office/drawing/2014/main" id="{0860919F-20B8-9E7B-11C6-52AA8E95E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20334963">
              <a:off x="12396752" y="9615163"/>
              <a:ext cx="475200" cy="4752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757F85-53F0-508C-2DF2-8E7BFAADF697}"/>
                </a:ext>
              </a:extLst>
            </p:cNvPr>
            <p:cNvSpPr txBox="1"/>
            <p:nvPr/>
          </p:nvSpPr>
          <p:spPr>
            <a:xfrm>
              <a:off x="11997961" y="9370472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0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5B128DF-049D-5B5E-A29C-4551E7C22591}"/>
                </a:ext>
              </a:extLst>
            </p:cNvPr>
            <p:cNvSpPr txBox="1"/>
            <p:nvPr/>
          </p:nvSpPr>
          <p:spPr>
            <a:xfrm>
              <a:off x="15493021" y="9370472"/>
              <a:ext cx="3305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PT" sz="20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70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6664-A4EC-602D-FFAF-AFE58400F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036E8-0BA7-F67C-F3D2-62988495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221764"/>
            <a:ext cx="9126537" cy="708111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ct val="125000"/>
              <a:buNone/>
            </a:pPr>
            <a:r>
              <a:rPr lang="pt-PT" b="1" dirty="0"/>
              <a:t>Então, como é usada a criptografia nas transações Bitcoin?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Cada utilizador tem duas chaves: uma chave privada e uma chave pública.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A chave privada é uma forma de identificação e prova de propriedade.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Assinaturas digitais são criadas para identificar transações únicas.</a:t>
            </a:r>
            <a:endParaRPr lang="pt-PT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3AECE7-5917-4AC6-C2DF-861B82C4D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2" y="1006475"/>
            <a:ext cx="17338675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9.1.1 Criptografia de chave privada e criptografia de chave pública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56BC56B-207E-D75A-0F93-6C2C249DFB00}"/>
              </a:ext>
            </a:extLst>
          </p:cNvPr>
          <p:cNvGrpSpPr/>
          <p:nvPr/>
        </p:nvGrpSpPr>
        <p:grpSpPr>
          <a:xfrm>
            <a:off x="11042650" y="3714319"/>
            <a:ext cx="7143750" cy="6096000"/>
            <a:chOff x="11042650" y="3714319"/>
            <a:chExt cx="7143750" cy="6096000"/>
          </a:xfrm>
        </p:grpSpPr>
        <p:pic>
          <p:nvPicPr>
            <p:cNvPr id="24" name="Picture 23" descr="A diagram of a key and people&#10;&#10;AI-generated content may be incorrect.">
              <a:extLst>
                <a:ext uri="{FF2B5EF4-FFF2-40B4-BE49-F238E27FC236}">
                  <a16:creationId xmlns:a16="http://schemas.microsoft.com/office/drawing/2014/main" id="{0359A344-A63A-F690-AE2B-433624F4D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2650" y="3714319"/>
              <a:ext cx="7143750" cy="60960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1830EC8-9FEA-BBB1-AEDD-67535F31E14F}"/>
                </a:ext>
              </a:extLst>
            </p:cNvPr>
            <p:cNvSpPr txBox="1"/>
            <p:nvPr/>
          </p:nvSpPr>
          <p:spPr>
            <a:xfrm>
              <a:off x="12185650" y="4815905"/>
              <a:ext cx="1733167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PT" sz="20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Autenticação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DB4E359-C759-2A01-4FE4-41439ACADCB5}"/>
                </a:ext>
              </a:extLst>
            </p:cNvPr>
            <p:cNvSpPr txBox="1"/>
            <p:nvPr/>
          </p:nvSpPr>
          <p:spPr>
            <a:xfrm>
              <a:off x="14919433" y="4816475"/>
              <a:ext cx="22663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>
              <a:defPPr>
                <a:defRPr kern="0"/>
              </a:defPPr>
              <a:lvl1pPr>
                <a:defRPr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ctr"/>
              <a:r>
                <a:rPr lang="pt-PT" sz="2000" dirty="0">
                  <a:solidFill>
                    <a:srgbClr val="392569"/>
                  </a:solidFill>
                </a:rPr>
                <a:t>Verificação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162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D624-5C85-35B4-994F-83327CDD9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700EB-CD78-C01C-AD6D-BE49EDF11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3221764"/>
            <a:ext cx="17338674" cy="7081111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ct val="125000"/>
              <a:buNone/>
            </a:pPr>
            <a:r>
              <a:rPr lang="pt-PT" b="1" dirty="0"/>
              <a:t>Resumo de uma transação Bitcoin: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Criação da transação: </a:t>
            </a:r>
            <a:r>
              <a:rPr lang="pt-PT" dirty="0"/>
              <a:t>o utilizador indica o destinatário e o valor.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Assinatura digital: </a:t>
            </a:r>
            <a:r>
              <a:rPr lang="pt-PT" dirty="0"/>
              <a:t>é gerada com a chave privada do remetente para comprovar a autenticidade da transação.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Transmissão à Rede: </a:t>
            </a:r>
            <a:r>
              <a:rPr lang="pt-PT" dirty="0"/>
              <a:t>a transação assinada é transmitida à rede Bitcoin.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Verificação da Rede: </a:t>
            </a:r>
            <a:r>
              <a:rPr lang="pt-PT" dirty="0"/>
              <a:t>os nós da rede Bitcoin usam a chave pública do destinatário para verificar a integridade da transação; e a do remetente para verificar a assinatura digital.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Confirmação: </a:t>
            </a:r>
            <a:r>
              <a:rPr lang="pt-PT" dirty="0"/>
              <a:t>a transação é registada no livro-razão (blockchain), transferindo oficialmente a propriedade.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BCA1C6-08C6-725F-83E8-AD50DE2A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2" y="1006475"/>
            <a:ext cx="17338675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9.1.1 Criptografia de chave privada e criptografia de chave pública</a:t>
            </a:r>
          </a:p>
        </p:txBody>
      </p:sp>
    </p:spTree>
    <p:extLst>
      <p:ext uri="{BB962C8B-B14F-4D97-AF65-F5344CB8AC3E}">
        <p14:creationId xmlns:p14="http://schemas.microsoft.com/office/powerpoint/2010/main" val="169875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4CAF-06F7-D0A1-96A9-C2C5A1DF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9.1.2 Explicação de </a:t>
            </a:r>
            <a:r>
              <a:rPr lang="pt-PT" dirty="0" err="1"/>
              <a:t>hashing</a:t>
            </a:r>
            <a:r>
              <a:rPr lang="pt-PT" dirty="0"/>
              <a:t> (dispersão)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6BA5F4-2B1E-19E2-0E07-BADF2D7C9625}"/>
              </a:ext>
            </a:extLst>
          </p:cNvPr>
          <p:cNvSpPr/>
          <p:nvPr/>
        </p:nvSpPr>
        <p:spPr>
          <a:xfrm>
            <a:off x="1372006" y="2659742"/>
            <a:ext cx="17338674" cy="2215696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Uma </a:t>
            </a:r>
            <a:r>
              <a:rPr lang="pt-PT" sz="3200" b="1" dirty="0">
                <a:solidFill>
                  <a:srgbClr val="FBB040"/>
                </a:solidFill>
              </a:rPr>
              <a:t>função</a:t>
            </a:r>
            <a:r>
              <a:rPr lang="pt-PT" sz="3200" dirty="0">
                <a:solidFill>
                  <a:srgbClr val="58595B"/>
                </a:solidFill>
              </a:rPr>
              <a:t> recebe informação (variáveis) e produz um resultado. Ajudam os computadores a realizar tarefas e a resolver problemas.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39F1C3-9EFF-E7C6-28CE-84B3E835E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2006" y="5534478"/>
            <a:ext cx="17338675" cy="5173207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No Bitcoin, as funções criptográficas garantem que cada transação é válida e segura.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Elas verificam a autenticidade do remetente, o saldo disponível e atualizam os registos da blockchain.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Quando validadas, as transações são adicionadas a um bloco, tornando-se parte permanente e imutável do livro-razão do Bitcoin.</a:t>
            </a:r>
          </a:p>
        </p:txBody>
      </p:sp>
    </p:spTree>
    <p:extLst>
      <p:ext uri="{BB962C8B-B14F-4D97-AF65-F5344CB8AC3E}">
        <p14:creationId xmlns:p14="http://schemas.microsoft.com/office/powerpoint/2010/main" val="2196464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8682-897B-40CF-97F5-61A2824D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6FA6-D84A-6CDB-7CFA-6B5D38E35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9.1.2 Explicação de </a:t>
            </a:r>
            <a:r>
              <a:rPr lang="pt-PT" dirty="0" err="1"/>
              <a:t>hashing</a:t>
            </a:r>
            <a:r>
              <a:rPr lang="pt-PT" dirty="0"/>
              <a:t> (dispersão)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B94B2-5DDC-DAC3-2438-37ACD68B8454}"/>
              </a:ext>
            </a:extLst>
          </p:cNvPr>
          <p:cNvSpPr/>
          <p:nvPr/>
        </p:nvSpPr>
        <p:spPr>
          <a:xfrm>
            <a:off x="1382712" y="2676979"/>
            <a:ext cx="17338674" cy="2063296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Uma </a:t>
            </a:r>
            <a:r>
              <a:rPr lang="pt-PT" sz="3200" b="1" dirty="0">
                <a:solidFill>
                  <a:srgbClr val="FBB040"/>
                </a:solidFill>
              </a:rPr>
              <a:t>função unidirecional</a:t>
            </a:r>
            <a:r>
              <a:rPr lang="pt-PT" sz="3200" dirty="0">
                <a:solidFill>
                  <a:srgbClr val="58595B"/>
                </a:solidFill>
              </a:rPr>
              <a:t> transforma dados de forma irreversível, ou seja, não é possível reverter uma função unidirecional e recuperar as informações originais.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E18F3E-254F-3AB3-C90F-251F01F54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2" y="5959475"/>
            <a:ext cx="10650538" cy="3487286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A criptografia de chave pública baseia-se em funções unidirecionais, que tornam praticamente impossível obter a chave privada a partir da pública.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No Bitcoin essa relação garante segurança.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65C35199-F61A-97D3-79E8-82DDF3574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50" y="5578475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0AF9C1-6DCE-4987-A7A6-5855D766E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8650" y="3444875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99981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tkinson Hyperlegible"/>
              </a:rPr>
            </a:br>
            <a:endParaRPr kumimoji="0" 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08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FCA9B-3971-D97A-8267-AFBD3B056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A88B-6B18-008C-AD4A-65D1E448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9.1.2 Explicação de </a:t>
            </a:r>
            <a:r>
              <a:rPr lang="pt-PT" dirty="0" err="1"/>
              <a:t>hashing</a:t>
            </a:r>
            <a:r>
              <a:rPr lang="pt-PT" dirty="0"/>
              <a:t> (dispersão)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2313A31-3A10-87E0-727D-DDEDC1123015}"/>
              </a:ext>
            </a:extLst>
          </p:cNvPr>
          <p:cNvSpPr/>
          <p:nvPr/>
        </p:nvSpPr>
        <p:spPr>
          <a:xfrm>
            <a:off x="1382712" y="2225675"/>
            <a:ext cx="17338674" cy="2063296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dirty="0">
                <a:solidFill>
                  <a:srgbClr val="58595B"/>
                </a:solidFill>
              </a:rPr>
              <a:t>Uma </a:t>
            </a:r>
            <a:r>
              <a:rPr lang="pt-PT" sz="3200" b="1" dirty="0">
                <a:solidFill>
                  <a:srgbClr val="FBB040"/>
                </a:solidFill>
              </a:rPr>
              <a:t>função de dispersão (função de </a:t>
            </a:r>
            <a:r>
              <a:rPr lang="pt-PT" sz="3200" b="1" i="1" dirty="0" err="1">
                <a:solidFill>
                  <a:srgbClr val="FBB040"/>
                </a:solidFill>
              </a:rPr>
              <a:t>hash</a:t>
            </a:r>
            <a:r>
              <a:rPr lang="pt-PT" sz="3200" b="1" dirty="0">
                <a:solidFill>
                  <a:srgbClr val="FBB040"/>
                </a:solidFill>
              </a:rPr>
              <a:t>)</a:t>
            </a:r>
            <a:r>
              <a:rPr lang="pt-PT" sz="3200" dirty="0">
                <a:solidFill>
                  <a:srgbClr val="58595B"/>
                </a:solidFill>
              </a:rPr>
              <a:t> transforma uma variável num resultado de tamanho fixo (</a:t>
            </a:r>
            <a:r>
              <a:rPr lang="pt-PT" sz="3200" i="1" dirty="0" err="1">
                <a:solidFill>
                  <a:srgbClr val="58595B"/>
                </a:solidFill>
              </a:rPr>
              <a:t>hash</a:t>
            </a:r>
            <a:r>
              <a:rPr lang="pt-PT" sz="3200" dirty="0">
                <a:solidFill>
                  <a:srgbClr val="58595B"/>
                </a:solidFill>
              </a:rPr>
              <a:t>), que serve de identificador único.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7528CD-5C59-3612-E3B0-D8CBA42EAB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2" y="4816477"/>
            <a:ext cx="17338674" cy="5891210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Determinística: </a:t>
            </a:r>
            <a:r>
              <a:rPr lang="pt-PT" dirty="0"/>
              <a:t>a mesma entrada gera sempre o mesmo resultado.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Resistência a pré-imagens: </a:t>
            </a:r>
            <a:r>
              <a:rPr lang="pt-PT" dirty="0"/>
              <a:t>não é possível recuperar os dados originais dado o resultado.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Resistência à correlação: </a:t>
            </a:r>
            <a:r>
              <a:rPr lang="pt-PT" dirty="0"/>
              <a:t>pequenas mudanças na variável resulta num </a:t>
            </a:r>
            <a:r>
              <a:rPr lang="pt-PT" i="1" dirty="0" err="1"/>
              <a:t>hash</a:t>
            </a:r>
            <a:r>
              <a:rPr lang="pt-PT" dirty="0"/>
              <a:t> totalmente novo.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Resistência a colisões: </a:t>
            </a:r>
            <a:r>
              <a:rPr lang="pt-PT" dirty="0"/>
              <a:t>impossível obter dois </a:t>
            </a:r>
            <a:r>
              <a:rPr lang="pt-PT" i="1" dirty="0" err="1"/>
              <a:t>hashes</a:t>
            </a:r>
            <a:r>
              <a:rPr lang="pt-PT" dirty="0"/>
              <a:t> iguais com entradas diferentes.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b="1" dirty="0"/>
              <a:t>Rápido e verificável: </a:t>
            </a:r>
            <a:r>
              <a:rPr lang="pt-PT" dirty="0"/>
              <a:t>fácil de gerar e confirmar.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2DD11-7098-A50F-3278-BEB49DB35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8650" y="3444875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99981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tkinson Hyperlegible"/>
              </a:rPr>
            </a:br>
            <a:endParaRPr kumimoji="0" 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0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23010-399C-0919-7175-CE2398A3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429F7-9B61-4377-3BAB-12E27D3A7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9.1.2 Explicação de </a:t>
            </a:r>
            <a:r>
              <a:rPr lang="pt-PT" dirty="0" err="1"/>
              <a:t>hashing</a:t>
            </a:r>
            <a:r>
              <a:rPr lang="pt-PT" dirty="0"/>
              <a:t> (dispersão)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D9BD38-3A6C-59EE-9DE9-02541FB41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2405" y="3512109"/>
            <a:ext cx="10955338" cy="5738811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No Bitcoin, cada transação é processada por uma função de dispersão, que transforma os dados da transação num código único de tamanho fixo (</a:t>
            </a:r>
            <a:r>
              <a:rPr lang="pt-PT" i="1" dirty="0" err="1"/>
              <a:t>hash</a:t>
            </a:r>
            <a:r>
              <a:rPr lang="pt-PT" dirty="0"/>
              <a:t>).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Este </a:t>
            </a:r>
            <a:r>
              <a:rPr lang="pt-PT" i="1" dirty="0" err="1"/>
              <a:t>hash</a:t>
            </a:r>
            <a:r>
              <a:rPr lang="pt-PT" dirty="0"/>
              <a:t> funciona como uma assinatura digital, permitindo verificar se a transação é autêntica e detetar qualquer alteração nos dados, garantindo a segurança e integridade da blockchain.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D32FC3-1096-508B-C510-88E929171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8650" y="3444875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99981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tkinson Hyperlegible"/>
              </a:rPr>
            </a:br>
            <a:endParaRPr kumimoji="0" 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FD1806-AE87-1F24-5580-17FFA9C1A776}"/>
              </a:ext>
            </a:extLst>
          </p:cNvPr>
          <p:cNvGrpSpPr/>
          <p:nvPr/>
        </p:nvGrpSpPr>
        <p:grpSpPr>
          <a:xfrm>
            <a:off x="13633450" y="3775946"/>
            <a:ext cx="4704558" cy="5211136"/>
            <a:chOff x="14145093" y="5658893"/>
            <a:chExt cx="4704558" cy="52111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0EDA6F-6AC1-7F98-AE9F-C52EEB5D8757}"/>
                </a:ext>
              </a:extLst>
            </p:cNvPr>
            <p:cNvSpPr/>
            <p:nvPr/>
          </p:nvSpPr>
          <p:spPr>
            <a:xfrm>
              <a:off x="14471650" y="7410087"/>
              <a:ext cx="3886200" cy="1676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Função de </a:t>
              </a:r>
              <a:r>
                <a:rPr lang="pt-PT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Hash</a:t>
              </a:r>
              <a:endParaRPr lang="pt-PT" sz="160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Trapezium 6">
              <a:extLst>
                <a:ext uri="{FF2B5EF4-FFF2-40B4-BE49-F238E27FC236}">
                  <a16:creationId xmlns:a16="http://schemas.microsoft.com/office/drawing/2014/main" id="{86EAD89F-0D59-F08D-9DBC-23D113AF60F5}"/>
                </a:ext>
              </a:extLst>
            </p:cNvPr>
            <p:cNvSpPr/>
            <p:nvPr/>
          </p:nvSpPr>
          <p:spPr>
            <a:xfrm rot="10800000">
              <a:off x="14700250" y="6650899"/>
              <a:ext cx="1447800" cy="762000"/>
            </a:xfrm>
            <a:prstGeom prst="trapezoid">
              <a:avLst>
                <a:gd name="adj" fmla="val 4557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8" name="Trapezium 7">
              <a:extLst>
                <a:ext uri="{FF2B5EF4-FFF2-40B4-BE49-F238E27FC236}">
                  <a16:creationId xmlns:a16="http://schemas.microsoft.com/office/drawing/2014/main" id="{4FCC4CCE-1AEA-4FE7-8A02-79CE60E8F46B}"/>
                </a:ext>
              </a:extLst>
            </p:cNvPr>
            <p:cNvSpPr/>
            <p:nvPr/>
          </p:nvSpPr>
          <p:spPr>
            <a:xfrm>
              <a:off x="16888460" y="9083675"/>
              <a:ext cx="1447800" cy="762000"/>
            </a:xfrm>
            <a:prstGeom prst="trapezoid">
              <a:avLst>
                <a:gd name="adj" fmla="val 45571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F77D85-88B1-041B-DF85-7C870CD2E096}"/>
                </a:ext>
              </a:extLst>
            </p:cNvPr>
            <p:cNvSpPr txBox="1"/>
            <p:nvPr/>
          </p:nvSpPr>
          <p:spPr>
            <a:xfrm>
              <a:off x="14928850" y="6842933"/>
              <a:ext cx="9339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Variável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06A1ED-E5CF-4626-79FD-66DD34C12338}"/>
                </a:ext>
              </a:extLst>
            </p:cNvPr>
            <p:cNvSpPr txBox="1"/>
            <p:nvPr/>
          </p:nvSpPr>
          <p:spPr>
            <a:xfrm>
              <a:off x="17043935" y="9327919"/>
              <a:ext cx="1136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Resultado</a:t>
              </a:r>
            </a:p>
          </p:txBody>
        </p:sp>
        <p:pic>
          <p:nvPicPr>
            <p:cNvPr id="12" name="Graphic 11" descr="Document outline">
              <a:extLst>
                <a:ext uri="{FF2B5EF4-FFF2-40B4-BE49-F238E27FC236}">
                  <a16:creationId xmlns:a16="http://schemas.microsoft.com/office/drawing/2014/main" id="{0447F3FD-D737-9FFF-1C16-A7945EBCD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948424" y="5658893"/>
              <a:ext cx="914400" cy="914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6B4165-6917-B823-9B45-28AF5DC0AE97}"/>
                </a:ext>
              </a:extLst>
            </p:cNvPr>
            <p:cNvSpPr txBox="1"/>
            <p:nvPr/>
          </p:nvSpPr>
          <p:spPr>
            <a:xfrm>
              <a:off x="15767050" y="6001921"/>
              <a:ext cx="12426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Mensagem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E0D2A6-7910-BD00-72E2-C6D77184C571}"/>
                </a:ext>
              </a:extLst>
            </p:cNvPr>
            <p:cNvSpPr txBox="1"/>
            <p:nvPr/>
          </p:nvSpPr>
          <p:spPr>
            <a:xfrm>
              <a:off x="14145093" y="10531475"/>
              <a:ext cx="470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Valor de Dispersão de Tamanho Fixo (ou </a:t>
              </a:r>
              <a:r>
                <a:rPr lang="pt-PT" sz="16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digest</a:t>
              </a:r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293935-045E-6F3A-2934-3854B84B3691}"/>
                </a:ext>
              </a:extLst>
            </p:cNvPr>
            <p:cNvSpPr txBox="1"/>
            <p:nvPr/>
          </p:nvSpPr>
          <p:spPr>
            <a:xfrm>
              <a:off x="16549408" y="10107403"/>
              <a:ext cx="2125903" cy="338554"/>
            </a:xfrm>
            <a:prstGeom prst="rect">
              <a:avLst/>
            </a:prstGeom>
            <a:noFill/>
            <a:ln>
              <a:solidFill>
                <a:srgbClr val="58595B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e33d55sqd8a752f85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3594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E559-031B-15CA-DE60-87CC16A8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3248-7B51-A449-8C41-1BD12AF0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9.2 O modelo UTXO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DE51BC-4485-C919-DA6B-368C5D8179A5}"/>
              </a:ext>
            </a:extLst>
          </p:cNvPr>
          <p:cNvSpPr/>
          <p:nvPr/>
        </p:nvSpPr>
        <p:spPr>
          <a:xfrm>
            <a:off x="1382712" y="2225675"/>
            <a:ext cx="14689138" cy="1471609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30000"/>
              </a:lnSpc>
            </a:pPr>
            <a:r>
              <a:rPr lang="pt-PT" sz="3200" b="1" dirty="0">
                <a:solidFill>
                  <a:srgbClr val="FBB040"/>
                </a:solidFill>
              </a:rPr>
              <a:t>UTXO</a:t>
            </a:r>
            <a:r>
              <a:rPr lang="pt-PT" sz="3200" dirty="0">
                <a:solidFill>
                  <a:srgbClr val="58595B"/>
                </a:solidFill>
              </a:rPr>
              <a:t> é a sigla de </a:t>
            </a:r>
            <a:r>
              <a:rPr lang="pt-PT" sz="3200" dirty="0" err="1">
                <a:solidFill>
                  <a:srgbClr val="58595B"/>
                </a:solidFill>
              </a:rPr>
              <a:t>Unspent</a:t>
            </a:r>
            <a:r>
              <a:rPr lang="pt-PT" sz="3200" dirty="0">
                <a:solidFill>
                  <a:srgbClr val="58595B"/>
                </a:solidFill>
              </a:rPr>
              <a:t> </a:t>
            </a:r>
            <a:r>
              <a:rPr lang="pt-PT" sz="3200" dirty="0" err="1">
                <a:solidFill>
                  <a:srgbClr val="58595B"/>
                </a:solidFill>
              </a:rPr>
              <a:t>Transaction</a:t>
            </a:r>
            <a:r>
              <a:rPr lang="pt-PT" sz="3200" dirty="0">
                <a:solidFill>
                  <a:srgbClr val="58595B"/>
                </a:solidFill>
              </a:rPr>
              <a:t> Output (Saída de Transação Não Gasta)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9C11D-D326-BAD1-E585-D7FAA435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8650" y="3444875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99981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tkinson Hyperlegible"/>
              </a:rPr>
            </a:br>
            <a:endParaRPr kumimoji="0" 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DCF2B30-3856-C2A1-EF6B-ED8EC84D0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96677" y="4277413"/>
            <a:ext cx="17224711" cy="6430273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Funcionam como “notas” na tua carteira: cada UTXO representa um valor específico que podes usar numa futura transação.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O saldo da tua carteira é simplesmente a soma de todos os UTXO que te pertencem.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Cada UTXO só pode ser gasto uma vez, garantindo segurança e evitando duplicação de transações.</a:t>
            </a:r>
          </a:p>
        </p:txBody>
      </p:sp>
    </p:spTree>
    <p:extLst>
      <p:ext uri="{BB962C8B-B14F-4D97-AF65-F5344CB8AC3E}">
        <p14:creationId xmlns:p14="http://schemas.microsoft.com/office/powerpoint/2010/main" val="1383158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D75F-E439-600C-1BA9-7F8A3099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A2B0-AC7C-1C17-255B-9E8E3EDAA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9.2 O modelo UTXO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30F739-1C7E-5E7F-89AC-80504B062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8650" y="3444875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99981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P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tkinson Hyperlegible"/>
              </a:rPr>
            </a:br>
            <a:endParaRPr kumimoji="0" 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5628D985-1889-509F-9CA5-AF488EB10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20516"/>
            <a:ext cx="17338675" cy="6430273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dirty="0"/>
              <a:t>Quando fazes uma transação em Bitcoin, os teus UTXO são usados como entrada e transformados em novos UTXO — para o destinatário e para ti como troco — criando sempre novas saídas associadas a novos endereços.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F38D85-A7CC-FC59-BFA4-713EE169477C}"/>
              </a:ext>
            </a:extLst>
          </p:cNvPr>
          <p:cNvGrpSpPr/>
          <p:nvPr/>
        </p:nvGrpSpPr>
        <p:grpSpPr>
          <a:xfrm>
            <a:off x="1974850" y="5807075"/>
            <a:ext cx="8565784" cy="3615643"/>
            <a:chOff x="1638666" y="7373032"/>
            <a:chExt cx="8565784" cy="3615643"/>
          </a:xfrm>
        </p:grpSpPr>
        <p:pic>
          <p:nvPicPr>
            <p:cNvPr id="8" name="Graphic 7" descr="User with solid fill">
              <a:extLst>
                <a:ext uri="{FF2B5EF4-FFF2-40B4-BE49-F238E27FC236}">
                  <a16:creationId xmlns:a16="http://schemas.microsoft.com/office/drawing/2014/main" id="{0E7632A5-C17E-5FCC-9E02-47F74A3BB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38666" y="7373032"/>
              <a:ext cx="1260000" cy="1260000"/>
            </a:xfrm>
            <a:prstGeom prst="rect">
              <a:avLst/>
            </a:prstGeom>
          </p:spPr>
        </p:pic>
        <p:pic>
          <p:nvPicPr>
            <p:cNvPr id="9" name="Graphic 8" descr="User with solid fill">
              <a:extLst>
                <a:ext uri="{FF2B5EF4-FFF2-40B4-BE49-F238E27FC236}">
                  <a16:creationId xmlns:a16="http://schemas.microsoft.com/office/drawing/2014/main" id="{68CC3D88-5676-CED9-9C61-7654413C2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35562" y="7373032"/>
              <a:ext cx="1260000" cy="126000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D04EAB9-D3FA-C1B0-07EE-D7DB08F5C033}"/>
                </a:ext>
              </a:extLst>
            </p:cNvPr>
            <p:cNvCxnSpPr/>
            <p:nvPr/>
          </p:nvCxnSpPr>
          <p:spPr>
            <a:xfrm flipH="1">
              <a:off x="2912562" y="7932262"/>
              <a:ext cx="2160000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01C38E1-7E97-0F65-2BDC-142336927A74}"/>
                </a:ext>
              </a:extLst>
            </p:cNvPr>
            <p:cNvCxnSpPr>
              <a:cxnSpLocks/>
            </p:cNvCxnSpPr>
            <p:nvPr/>
          </p:nvCxnSpPr>
          <p:spPr>
            <a:xfrm>
              <a:off x="2926658" y="8251140"/>
              <a:ext cx="2160000" cy="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9948FD-1CB8-9362-C679-7889469D5AB7}"/>
                </a:ext>
              </a:extLst>
            </p:cNvPr>
            <p:cNvSpPr txBox="1"/>
            <p:nvPr/>
          </p:nvSpPr>
          <p:spPr>
            <a:xfrm>
              <a:off x="3182554" y="7607786"/>
              <a:ext cx="1648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Bens e serviços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E9ED69-2FEC-4498-1EEA-C13CF2F1810E}"/>
                </a:ext>
              </a:extLst>
            </p:cNvPr>
            <p:cNvSpPr txBox="1"/>
            <p:nvPr/>
          </p:nvSpPr>
          <p:spPr>
            <a:xfrm>
              <a:off x="3001962" y="8293586"/>
              <a:ext cx="20372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Transação de 6 BTC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66ABF9F-1D86-56A3-8944-88041F5CEE53}"/>
                </a:ext>
              </a:extLst>
            </p:cNvPr>
            <p:cNvSpPr/>
            <p:nvPr/>
          </p:nvSpPr>
          <p:spPr>
            <a:xfrm>
              <a:off x="1782762" y="9693378"/>
              <a:ext cx="1260000" cy="76199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UTXO</a:t>
              </a:r>
              <a:b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10BTC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A74C6E65-2C33-7598-5C62-7BDC7D5B828D}"/>
                </a:ext>
              </a:extLst>
            </p:cNvPr>
            <p:cNvSpPr/>
            <p:nvPr/>
          </p:nvSpPr>
          <p:spPr>
            <a:xfrm>
              <a:off x="6644273" y="9159885"/>
              <a:ext cx="1260000" cy="76199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UTXO</a:t>
              </a:r>
              <a:b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6BTC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5658128-CADA-9695-C644-50C45FECFE04}"/>
                </a:ext>
              </a:extLst>
            </p:cNvPr>
            <p:cNvSpPr/>
            <p:nvPr/>
          </p:nvSpPr>
          <p:spPr>
            <a:xfrm>
              <a:off x="6622736" y="10226680"/>
              <a:ext cx="1260000" cy="76199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UTXO</a:t>
              </a:r>
              <a:b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4BTC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393E524-BF3C-A8F2-066A-2158AF908610}"/>
                </a:ext>
              </a:extLst>
            </p:cNvPr>
            <p:cNvSpPr/>
            <p:nvPr/>
          </p:nvSpPr>
          <p:spPr>
            <a:xfrm>
              <a:off x="4127899" y="9748366"/>
              <a:ext cx="1409700" cy="62983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Transação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E63337-82D5-F0D2-C23E-72A8364AAC4B}"/>
                </a:ext>
              </a:extLst>
            </p:cNvPr>
            <p:cNvSpPr txBox="1"/>
            <p:nvPr/>
          </p:nvSpPr>
          <p:spPr>
            <a:xfrm>
              <a:off x="8042576" y="9371605"/>
              <a:ext cx="21618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UTXO de pagamento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2FAF1F-AFF6-7EA3-EE5D-236CFC5BC5AF}"/>
                </a:ext>
              </a:extLst>
            </p:cNvPr>
            <p:cNvSpPr txBox="1"/>
            <p:nvPr/>
          </p:nvSpPr>
          <p:spPr>
            <a:xfrm>
              <a:off x="8042576" y="10449552"/>
              <a:ext cx="15646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UTXO de troco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92BB3F2-735F-02B4-486C-F8013ADD39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9380" y="9540882"/>
              <a:ext cx="838582" cy="38099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DA561E3-925F-4CDC-DCED-1180F20F206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577535" y="9679800"/>
              <a:ext cx="0" cy="76697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D0B3715-1857-1C74-D389-8A1F7504969D}"/>
                </a:ext>
              </a:extLst>
            </p:cNvPr>
            <p:cNvCxnSpPr>
              <a:cxnSpLocks/>
            </p:cNvCxnSpPr>
            <p:nvPr/>
          </p:nvCxnSpPr>
          <p:spPr>
            <a:xfrm>
              <a:off x="5709380" y="10234318"/>
              <a:ext cx="838582" cy="380998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1AB0C0F-6136-6970-9B61-C22580249933}"/>
              </a:ext>
            </a:extLst>
          </p:cNvPr>
          <p:cNvSpPr txBox="1"/>
          <p:nvPr/>
        </p:nvSpPr>
        <p:spPr>
          <a:xfrm>
            <a:off x="12201031" y="5419465"/>
            <a:ext cx="5699619" cy="2978410"/>
          </a:xfrm>
          <a:prstGeom prst="rect">
            <a:avLst/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>
            <a:defPPr>
              <a:defRPr kern="0"/>
            </a:defPPr>
            <a:lvl1pPr algn="just">
              <a:lnSpc>
                <a:spcPct val="130000"/>
              </a:lnSpc>
              <a:defRPr sz="3200" b="1">
                <a:solidFill>
                  <a:srgbClr val="FBB040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PT" sz="2800" b="0" kern="120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Não deves divulgar os teus UTXO, porque alguém que os identifique pode seguir as tuas transações e descobrir quanto bitcoin possuis.</a:t>
            </a:r>
          </a:p>
        </p:txBody>
      </p:sp>
      <p:pic>
        <p:nvPicPr>
          <p:cNvPr id="4" name="object 40">
            <a:extLst>
              <a:ext uri="{FF2B5EF4-FFF2-40B4-BE49-F238E27FC236}">
                <a16:creationId xmlns:a16="http://schemas.microsoft.com/office/drawing/2014/main" id="{F50CD004-A6E9-FAD5-7F31-5507FC3DFD9E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241595" y="7847545"/>
            <a:ext cx="3250208" cy="348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75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A579-20F4-32C7-2F47-FC73DBD7C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 Uma análise mais detalhada dos nós e mineradores de Bitcoin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18A32-96A1-7D6B-A6E4-FC692A655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3141730"/>
            <a:ext cx="8505825" cy="1080000"/>
          </a:xfrm>
        </p:spPr>
        <p:txBody>
          <a:bodyPr/>
          <a:lstStyle/>
          <a:p>
            <a:pPr algn="ctr"/>
            <a:r>
              <a:rPr lang="pt-PT" dirty="0" err="1">
                <a:solidFill>
                  <a:srgbClr val="FBB040"/>
                </a:solidFill>
              </a:rPr>
              <a:t>Nós</a:t>
            </a:r>
            <a:r>
              <a:rPr lang="pt-PT" dirty="0">
                <a:solidFill>
                  <a:srgbClr val="FBB040"/>
                </a:solidFill>
              </a:rPr>
              <a:t> de Bitcoin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E9F44-D5F8-91E9-DCDE-FFAEE90BB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4220053"/>
            <a:ext cx="8505825" cy="6031222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São os Guardiões da Validação.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Mantêm uma cópia completa do livro-razão, verificam se todas as transações são válidas e garantem que as regras da rede são seguidas.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Esta tarefa é distribuída por milhares de pessoas no mundo, mantendo o Bitcoin descentralizado e resistente a falhas ou abusos de poder.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7E302-9C4D-7944-BBC2-B8A3B8666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3141730"/>
            <a:ext cx="8547100" cy="1080000"/>
          </a:xfrm>
        </p:spPr>
        <p:txBody>
          <a:bodyPr/>
          <a:lstStyle/>
          <a:p>
            <a:pPr algn="ctr"/>
            <a:r>
              <a:rPr lang="pt-PT" dirty="0">
                <a:solidFill>
                  <a:srgbClr val="FBB040"/>
                </a:solidFill>
              </a:rPr>
              <a:t>Mineradores de Bitcoin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28850-FED8-6480-8629-8D2D53DEF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4220053"/>
            <a:ext cx="8547100" cy="6031222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São os Arquitetos da Segurança.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Utilizam computadores potentes para verificar transações e proteger a rede através do processo de mineração.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sz="2800" dirty="0"/>
              <a:t>Mantêm a blockchain segura contra ataques ou tentativas de manipulação.</a:t>
            </a:r>
          </a:p>
        </p:txBody>
      </p:sp>
    </p:spTree>
    <p:extLst>
      <p:ext uri="{BB962C8B-B14F-4D97-AF65-F5344CB8AC3E}">
        <p14:creationId xmlns:p14="http://schemas.microsoft.com/office/powerpoint/2010/main" val="306041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483E8-C070-1134-1C52-D552FAEDA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EA16-F9A0-A930-7183-1497E498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9.3.1 O que é um nó de Bitcoin e como posso configurar o meu próprio nó?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6A0E71-58ED-E2D3-F014-3230F54A5ACB}"/>
              </a:ext>
            </a:extLst>
          </p:cNvPr>
          <p:cNvSpPr/>
          <p:nvPr/>
        </p:nvSpPr>
        <p:spPr>
          <a:xfrm>
            <a:off x="1376329" y="3216275"/>
            <a:ext cx="17348234" cy="16764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14000"/>
              </a:lnSpc>
            </a:pPr>
            <a:r>
              <a:rPr lang="pt-PT" sz="3200" dirty="0">
                <a:solidFill>
                  <a:srgbClr val="58595B"/>
                </a:solidFill>
              </a:rPr>
              <a:t>Um </a:t>
            </a:r>
            <a:r>
              <a:rPr lang="pt-PT" sz="3200" b="1" dirty="0">
                <a:solidFill>
                  <a:srgbClr val="FBB040"/>
                </a:solidFill>
              </a:rPr>
              <a:t>nó de Bitcoin</a:t>
            </a:r>
            <a:r>
              <a:rPr lang="pt-PT" sz="3200" dirty="0">
                <a:solidFill>
                  <a:srgbClr val="58595B"/>
                </a:solidFill>
              </a:rPr>
              <a:t> é um software que guarda uma cópia completa da blockchain e verifica todas as regras da rede.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2AE3C2E-6D9D-1A3E-4DDC-9CD0B4DF935A}"/>
              </a:ext>
            </a:extLst>
          </p:cNvPr>
          <p:cNvSpPr txBox="1">
            <a:spLocks/>
          </p:cNvSpPr>
          <p:nvPr/>
        </p:nvSpPr>
        <p:spPr>
          <a:xfrm>
            <a:off x="1496677" y="4277413"/>
            <a:ext cx="17224711" cy="6430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ct val="125000"/>
            </a:pPr>
            <a:r>
              <a:rPr lang="pt-PT" dirty="0">
                <a:solidFill>
                  <a:srgbClr val="58595B"/>
                </a:solidFill>
              </a:rPr>
              <a:t>Ter o teu próprio nó significa:</a:t>
            </a:r>
          </a:p>
          <a:p>
            <a:pPr marL="592138" indent="-592138">
              <a:lnSpc>
                <a:spcPct val="15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Participar nas regras da rede (podes recusar mudanças indesejadas).</a:t>
            </a:r>
          </a:p>
          <a:p>
            <a:pPr marL="592138" indent="-592138">
              <a:lnSpc>
                <a:spcPct val="15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Autossuficiência e segurança, porque a tua carteira consulta o teu próprio nó.</a:t>
            </a:r>
          </a:p>
          <a:p>
            <a:pPr marL="592138" indent="-592138">
              <a:lnSpc>
                <a:spcPct val="15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Não depender de terceiros para saber o teu saldo ou validar transações.</a:t>
            </a:r>
          </a:p>
        </p:txBody>
      </p:sp>
    </p:spTree>
    <p:extLst>
      <p:ext uri="{BB962C8B-B14F-4D97-AF65-F5344CB8AC3E}">
        <p14:creationId xmlns:p14="http://schemas.microsoft.com/office/powerpoint/2010/main" val="2754129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51916-EF7E-E83B-47E4-54B8D173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4BFF8-72FF-D500-E2EA-70EA8F23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9.3.1 O que é um nó de Bitcoin e como posso configurar o meu próprio nó?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143639D-634A-EF74-A701-940F54DCE20C}"/>
              </a:ext>
            </a:extLst>
          </p:cNvPr>
          <p:cNvSpPr txBox="1">
            <a:spLocks/>
          </p:cNvSpPr>
          <p:nvPr/>
        </p:nvSpPr>
        <p:spPr>
          <a:xfrm>
            <a:off x="1381125" y="2905813"/>
            <a:ext cx="17224711" cy="1072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ct val="125000"/>
            </a:pPr>
            <a:r>
              <a:rPr lang="pt-PT" dirty="0">
                <a:solidFill>
                  <a:srgbClr val="58595B"/>
                </a:solidFill>
              </a:rPr>
              <a:t>Funções principais dos nós:</a:t>
            </a:r>
            <a:endParaRPr lang="pt-PT" b="0" dirty="0">
              <a:solidFill>
                <a:srgbClr val="58595B"/>
              </a:solidFill>
            </a:endParaRP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5A488B0-360E-2841-3671-99E8AEF52385}"/>
              </a:ext>
            </a:extLst>
          </p:cNvPr>
          <p:cNvSpPr txBox="1">
            <a:spLocks/>
          </p:cNvSpPr>
          <p:nvPr/>
        </p:nvSpPr>
        <p:spPr>
          <a:xfrm>
            <a:off x="4336981" y="7401614"/>
            <a:ext cx="5580000" cy="29718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PT" sz="2800" b="1" dirty="0">
                <a:solidFill>
                  <a:srgbClr val="FBB040"/>
                </a:solidFill>
              </a:rPr>
              <a:t>Informadores da Blockchain</a:t>
            </a:r>
          </a:p>
          <a:p>
            <a:pPr marL="0" indent="0" algn="ctr">
              <a:buNone/>
            </a:pPr>
            <a:r>
              <a:rPr lang="pt-PT" sz="2400" dirty="0"/>
              <a:t>Respondem a pedidos de informação de carteiras e outros softwares.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69D9318C-ACEC-D43E-6ADE-5C9E60D0F259}"/>
              </a:ext>
            </a:extLst>
          </p:cNvPr>
          <p:cNvSpPr txBox="1">
            <a:spLocks/>
          </p:cNvSpPr>
          <p:nvPr/>
        </p:nvSpPr>
        <p:spPr>
          <a:xfrm>
            <a:off x="7262050" y="4130675"/>
            <a:ext cx="5580000" cy="29718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PT" sz="2800" b="1" dirty="0">
                <a:solidFill>
                  <a:srgbClr val="FBB040"/>
                </a:solidFill>
              </a:rPr>
              <a:t>Centro de Comunicações</a:t>
            </a:r>
          </a:p>
          <a:p>
            <a:pPr marL="0" indent="0" algn="ctr">
              <a:buNone/>
            </a:pPr>
            <a:r>
              <a:rPr lang="pt-PT" sz="2400" dirty="0"/>
              <a:t>Conectam-se entre si e partilham transações pendentes na </a:t>
            </a:r>
            <a:r>
              <a:rPr lang="pt-PT" sz="2400" dirty="0" err="1"/>
              <a:t>mempool</a:t>
            </a:r>
            <a:r>
              <a:rPr lang="pt-PT" sz="2400" dirty="0"/>
              <a:t>.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4B41F1F5-1E17-B6AC-4BA8-C9EDC4C84FBA}"/>
              </a:ext>
            </a:extLst>
          </p:cNvPr>
          <p:cNvSpPr txBox="1">
            <a:spLocks/>
          </p:cNvSpPr>
          <p:nvPr/>
        </p:nvSpPr>
        <p:spPr>
          <a:xfrm>
            <a:off x="13143044" y="4130675"/>
            <a:ext cx="5580000" cy="29718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PT" sz="2800" b="1" dirty="0">
                <a:solidFill>
                  <a:srgbClr val="FBB040"/>
                </a:solidFill>
              </a:rPr>
              <a:t>Controladores de Qualidade</a:t>
            </a:r>
          </a:p>
          <a:p>
            <a:pPr marL="0" indent="0" algn="ctr">
              <a:buNone/>
            </a:pPr>
            <a:r>
              <a:rPr lang="pt-PT" sz="2400" dirty="0"/>
              <a:t>Verificam e rejeitam transações inválidas antes de estas entrarem na blockchain.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30973B0-F42E-2005-2D3C-7F084421B120}"/>
              </a:ext>
            </a:extLst>
          </p:cNvPr>
          <p:cNvSpPr txBox="1">
            <a:spLocks/>
          </p:cNvSpPr>
          <p:nvPr/>
        </p:nvSpPr>
        <p:spPr>
          <a:xfrm>
            <a:off x="1381057" y="4130675"/>
            <a:ext cx="5580000" cy="29718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PT" sz="2800" b="1" dirty="0">
                <a:solidFill>
                  <a:srgbClr val="FBB040"/>
                </a:solidFill>
              </a:rPr>
              <a:t>Guardiões da Validação</a:t>
            </a:r>
          </a:p>
          <a:p>
            <a:pPr marL="0" indent="0" algn="ctr">
              <a:buNone/>
            </a:pPr>
            <a:r>
              <a:rPr lang="pt-PT" sz="2400" dirty="0"/>
              <a:t>Mantêm uma cópia da blockchain e garantem que todas as transações seguem as regras.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132EA74-1523-1963-A75E-6F1B3F517D6E}"/>
              </a:ext>
            </a:extLst>
          </p:cNvPr>
          <p:cNvSpPr txBox="1">
            <a:spLocks/>
          </p:cNvSpPr>
          <p:nvPr/>
        </p:nvSpPr>
        <p:spPr>
          <a:xfrm>
            <a:off x="10187120" y="7401614"/>
            <a:ext cx="5580000" cy="2971800"/>
          </a:xfrm>
          <a:prstGeom prst="roundRect">
            <a:avLst>
              <a:gd name="adj" fmla="val 4832"/>
            </a:avLst>
          </a:prstGeom>
          <a:solidFill>
            <a:schemeClr val="bg1"/>
          </a:solidFill>
          <a:effectLst>
            <a:innerShdw blurRad="127000">
              <a:prstClr val="black">
                <a:alpha val="5000"/>
              </a:prstClr>
            </a:innerShdw>
          </a:effectLst>
        </p:spPr>
        <p:txBody>
          <a:bodyPr vert="horz" wrap="square" lIns="144000" tIns="251999" rIns="108000" bIns="251999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 lang="en-PT" sz="2800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PT" sz="2800" b="1" dirty="0">
                <a:solidFill>
                  <a:srgbClr val="FBB040"/>
                </a:solidFill>
              </a:rPr>
              <a:t>Apoio a Novos Nós</a:t>
            </a:r>
          </a:p>
          <a:p>
            <a:pPr marL="0" indent="0" algn="ctr">
              <a:buNone/>
            </a:pPr>
            <a:r>
              <a:rPr lang="pt-PT" sz="2400" dirty="0"/>
              <a:t>Fornecem uma cópia da blockchain a novos nós, que verificam tudo de forma independente.</a:t>
            </a:r>
          </a:p>
        </p:txBody>
      </p:sp>
    </p:spTree>
    <p:extLst>
      <p:ext uri="{BB962C8B-B14F-4D97-AF65-F5344CB8AC3E}">
        <p14:creationId xmlns:p14="http://schemas.microsoft.com/office/powerpoint/2010/main" val="2625310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7766-6E08-AD4C-3604-546091D0E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929B-5884-D2BD-073B-D49A64B8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9.3.2. O que é um minerador de Bitcoin e como funciona a mineração?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F028E4-36E3-5FE1-2DEF-3A26AD201D44}"/>
              </a:ext>
            </a:extLst>
          </p:cNvPr>
          <p:cNvGrpSpPr>
            <a:grpSpLocks noChangeAspect="1"/>
          </p:cNvGrpSpPr>
          <p:nvPr/>
        </p:nvGrpSpPr>
        <p:grpSpPr>
          <a:xfrm>
            <a:off x="1467214" y="4206875"/>
            <a:ext cx="17293152" cy="4648201"/>
            <a:chOff x="2432050" y="2040584"/>
            <a:chExt cx="15308802" cy="411483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21A2CC6-8487-BC39-FF0C-783AD4FF3CE2}"/>
                </a:ext>
              </a:extLst>
            </p:cNvPr>
            <p:cNvSpPr/>
            <p:nvPr/>
          </p:nvSpPr>
          <p:spPr>
            <a:xfrm>
              <a:off x="2432050" y="2478757"/>
              <a:ext cx="15308802" cy="3329505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 objetivo da mineração não é criar bitcoin novo. Isso é apenas um incentivo.</a:t>
              </a:r>
            </a:p>
            <a:p>
              <a:pPr algn="ctr"/>
              <a:r>
                <a:rPr lang="pt-PT" sz="3200" b="1" kern="12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 mineração é o mecanismo através do qual a segurança do Bitcoin se torna descentralizada.</a:t>
              </a:r>
            </a:p>
            <a:p>
              <a:pPr algn="ctr"/>
              <a:endParaRPr lang="pt-PT" sz="3200" b="1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Andreas</a:t>
              </a:r>
              <a:r>
                <a:rPr lang="pt-PT" sz="3200" b="1" kern="120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M. </a:t>
              </a:r>
              <a:r>
                <a:rPr lang="pt-PT" sz="3200" b="1" kern="120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Antonopoulos</a:t>
              </a:r>
              <a:endParaRPr lang="pt-PT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1D8C2780-F3E0-91A5-A140-F503022339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040584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7" name="object 17">
              <a:extLst>
                <a:ext uri="{FF2B5EF4-FFF2-40B4-BE49-F238E27FC236}">
                  <a16:creationId xmlns:a16="http://schemas.microsoft.com/office/drawing/2014/main" id="{95DF20D8-892D-9475-FFB5-47BEC78AD7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490728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</p:grpSp>
    </p:spTree>
    <p:extLst>
      <p:ext uri="{BB962C8B-B14F-4D97-AF65-F5344CB8AC3E}">
        <p14:creationId xmlns:p14="http://schemas.microsoft.com/office/powerpoint/2010/main" val="1998984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8A534-8A5F-97EF-AB88-03020BD6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87D3-ABFD-787A-E7FC-5730EEA8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9.3.2. O que é um minerador de Bitcoin e como funciona a mineração?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F0BBBB3-9CEB-377E-3122-B3D0B0EC6BE0}"/>
              </a:ext>
            </a:extLst>
          </p:cNvPr>
          <p:cNvSpPr txBox="1">
            <a:spLocks/>
          </p:cNvSpPr>
          <p:nvPr/>
        </p:nvSpPr>
        <p:spPr>
          <a:xfrm>
            <a:off x="1496677" y="2987675"/>
            <a:ext cx="11603373" cy="772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Os mineradores recolhem transações não confirmadas, juntam-nas num bloco e usam poder computacional para procurar um </a:t>
            </a:r>
            <a:r>
              <a:rPr lang="pt-PT" b="0" dirty="0" err="1">
                <a:solidFill>
                  <a:srgbClr val="58595B"/>
                </a:solidFill>
              </a:rPr>
              <a:t>hash</a:t>
            </a:r>
            <a:r>
              <a:rPr lang="pt-PT" b="0" dirty="0">
                <a:solidFill>
                  <a:srgbClr val="58595B"/>
                </a:solidFill>
              </a:rPr>
              <a:t> válido, uma solução difícil de encontrar mas fácil de verificar.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Quando um minerador encontra o </a:t>
            </a:r>
            <a:r>
              <a:rPr lang="pt-PT" b="0" dirty="0" err="1">
                <a:solidFill>
                  <a:srgbClr val="58595B"/>
                </a:solidFill>
              </a:rPr>
              <a:t>hash</a:t>
            </a:r>
            <a:r>
              <a:rPr lang="pt-PT" b="0" dirty="0">
                <a:solidFill>
                  <a:srgbClr val="58595B"/>
                </a:solidFill>
              </a:rPr>
              <a:t> correto, envia o bloco para a rede, que o verifica e adiciona à blockchain. Assim, os mineradores garantem a segurança, a ordem das transações e a resistência da rede.</a:t>
            </a:r>
          </a:p>
        </p:txBody>
      </p:sp>
      <p:pic>
        <p:nvPicPr>
          <p:cNvPr id="1026" name="Picture 2" descr="What Is Bitcoin Mining? An Overview of the Process - OpenMarketCap.com">
            <a:extLst>
              <a:ext uri="{FF2B5EF4-FFF2-40B4-BE49-F238E27FC236}">
                <a16:creationId xmlns:a16="http://schemas.microsoft.com/office/drawing/2014/main" id="{AADCE344-BFCC-4623-5E01-D2CE4F0AF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" t="7999" r="46801" b="14001"/>
          <a:stretch>
            <a:fillRect/>
          </a:stretch>
        </p:blipFill>
        <p:spPr bwMode="auto">
          <a:xfrm>
            <a:off x="13833140" y="4371180"/>
            <a:ext cx="4891423" cy="4953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856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3F50-5CD3-786A-1A52-167154E2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4BBF-0612-BB7C-E6FB-DE186184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9.3.2. O que é um minerador de Bitcoin e como funciona a mineração?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CB0AA8-0CA8-8D7B-7D0C-7FC74E8F303E}"/>
              </a:ext>
            </a:extLst>
          </p:cNvPr>
          <p:cNvSpPr txBox="1">
            <a:spLocks/>
          </p:cNvSpPr>
          <p:nvPr/>
        </p:nvSpPr>
        <p:spPr>
          <a:xfrm>
            <a:off x="1496677" y="2987675"/>
            <a:ext cx="8555373" cy="72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Os mineradores são recompensados com bitcoin recém-criado (recompensa de bloco) e com as taxas de transação pagas pelos utilizadores cujas transações incluem no bloco.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Os mineradores escolhem normalmente as transações com taxas mais altas, para maximizar o seu ganho.</a:t>
            </a:r>
          </a:p>
        </p:txBody>
      </p:sp>
      <p:pic>
        <p:nvPicPr>
          <p:cNvPr id="3074" name="Picture 2" descr="Solo Miner Strikes Gold: Wins Bitcoin Block Reward Worth $300K | Coin ...">
            <a:extLst>
              <a:ext uri="{FF2B5EF4-FFF2-40B4-BE49-F238E27FC236}">
                <a16:creationId xmlns:a16="http://schemas.microsoft.com/office/drawing/2014/main" id="{E2861701-FF91-1938-FB99-4A060EA16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8450" y="4511675"/>
            <a:ext cx="6629400" cy="44196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518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78AF-4121-FD8C-F339-2D42C564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0194-DFFF-036C-9E9B-2CD073B34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9.3.2. O que é um minerador de Bitcoin e como funciona a mineração?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C45B6F-1027-58FE-7073-84713ED1CAA5}"/>
              </a:ext>
            </a:extLst>
          </p:cNvPr>
          <p:cNvSpPr txBox="1">
            <a:spLocks/>
          </p:cNvSpPr>
          <p:nvPr/>
        </p:nvSpPr>
        <p:spPr>
          <a:xfrm>
            <a:off x="1496677" y="2987675"/>
            <a:ext cx="10612773" cy="72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SzPct val="125000"/>
            </a:pPr>
            <a:r>
              <a:rPr lang="pt-PT" dirty="0">
                <a:solidFill>
                  <a:srgbClr val="392569"/>
                </a:solidFill>
              </a:rPr>
              <a:t>Bitcoin </a:t>
            </a:r>
            <a:r>
              <a:rPr lang="pt-PT" dirty="0" err="1">
                <a:solidFill>
                  <a:srgbClr val="392569"/>
                </a:solidFill>
              </a:rPr>
              <a:t>Halving</a:t>
            </a:r>
            <a:endParaRPr lang="pt-PT" dirty="0">
              <a:solidFill>
                <a:srgbClr val="392569"/>
              </a:solidFill>
            </a:endParaRP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O </a:t>
            </a:r>
            <a:r>
              <a:rPr lang="pt-PT" b="0" dirty="0" err="1">
                <a:solidFill>
                  <a:srgbClr val="58595B"/>
                </a:solidFill>
              </a:rPr>
              <a:t>halving</a:t>
            </a:r>
            <a:r>
              <a:rPr lang="pt-PT" b="0" dirty="0">
                <a:solidFill>
                  <a:srgbClr val="58595B"/>
                </a:solidFill>
              </a:rPr>
              <a:t> é um evento programado que reduz para metade a recompensa recebida pelos mineradores a cada 210 000 blocos (cerca de 4 anos).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Este mecanismo controla a entrada de novos bitcoins em circulação, garantindo a escassez e mantendo o limite máximo de 21 milhões de moedas.</a:t>
            </a:r>
          </a:p>
        </p:txBody>
      </p:sp>
      <p:pic>
        <p:nvPicPr>
          <p:cNvPr id="5" name="Picture 4" descr="A diagram of a graph of a bitcoin mining&#10;&#10;AI-generated content may be incorrect.">
            <a:extLst>
              <a:ext uri="{FF2B5EF4-FFF2-40B4-BE49-F238E27FC236}">
                <a16:creationId xmlns:a16="http://schemas.microsoft.com/office/drawing/2014/main" id="{ABA7EC67-BFC3-6AE4-486A-FCD1D5F96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0450" y="4587875"/>
            <a:ext cx="6621120" cy="546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43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72A7-FA1D-6A8C-3F99-B154B42F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F91D-45E0-792F-6232-C4AA5F48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9.3.2. O que é um minerador de Bitcoin e como funciona a mineração?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91E47E-F2B8-2BB4-03C9-5BE23855C2C7}"/>
              </a:ext>
            </a:extLst>
          </p:cNvPr>
          <p:cNvSpPr txBox="1">
            <a:spLocks/>
          </p:cNvSpPr>
          <p:nvPr/>
        </p:nvSpPr>
        <p:spPr>
          <a:xfrm>
            <a:off x="1496677" y="2987675"/>
            <a:ext cx="8326773" cy="72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Ao diminuir a emissão, reduz a oferta disponível, o que historicamente tem contribuído para a valorização do Bitcoin.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Mesmo com recompensas menores, os mineradores continuam motivados graças às taxas de transação, ajudando a manter a rede segura e descentralizada.</a:t>
            </a:r>
          </a:p>
        </p:txBody>
      </p:sp>
      <p:pic>
        <p:nvPicPr>
          <p:cNvPr id="5" name="Picture 4" descr="A graph of a price&#10;&#10;AI-generated content may be incorrect.">
            <a:extLst>
              <a:ext uri="{FF2B5EF4-FFF2-40B4-BE49-F238E27FC236}">
                <a16:creationId xmlns:a16="http://schemas.microsoft.com/office/drawing/2014/main" id="{1DFED67E-F667-67F7-48BD-693F146BF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350" y="4206875"/>
            <a:ext cx="9232900" cy="644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1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8D53-D65A-4D3A-8F2A-CEDDF8E9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50D8B-3F6B-3198-9341-A4E18EBF8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9.3.2. O que é um minerador de Bitcoin e como funciona a mineração?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52A00B-9CDD-387D-06FA-050E074A3DE6}"/>
              </a:ext>
            </a:extLst>
          </p:cNvPr>
          <p:cNvSpPr txBox="1">
            <a:spLocks/>
          </p:cNvSpPr>
          <p:nvPr/>
        </p:nvSpPr>
        <p:spPr>
          <a:xfrm>
            <a:off x="1496677" y="2987675"/>
            <a:ext cx="17227886" cy="72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spcBef>
                <a:spcPts val="0"/>
              </a:spcBef>
              <a:spcAft>
                <a:spcPts val="1200"/>
              </a:spcAft>
              <a:buSzPct val="125000"/>
            </a:pPr>
            <a:r>
              <a:rPr lang="pt-PT" sz="3300" dirty="0">
                <a:solidFill>
                  <a:srgbClr val="392569"/>
                </a:solidFill>
              </a:rPr>
              <a:t>Valor de dispersão de bloco (</a:t>
            </a:r>
            <a:r>
              <a:rPr lang="pt-PT" sz="3300" dirty="0" err="1">
                <a:solidFill>
                  <a:srgbClr val="392569"/>
                </a:solidFill>
              </a:rPr>
              <a:t>hash</a:t>
            </a:r>
            <a:r>
              <a:rPr lang="pt-PT" sz="3300" dirty="0">
                <a:solidFill>
                  <a:srgbClr val="392569"/>
                </a:solidFill>
              </a:rPr>
              <a:t>) válido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No Bitcoin, cada bloco possui um </a:t>
            </a:r>
            <a:r>
              <a:rPr lang="pt-PT" b="0" dirty="0" err="1">
                <a:solidFill>
                  <a:srgbClr val="58595B"/>
                </a:solidFill>
              </a:rPr>
              <a:t>hash</a:t>
            </a:r>
            <a:r>
              <a:rPr lang="pt-PT" b="0" dirty="0">
                <a:solidFill>
                  <a:srgbClr val="58595B"/>
                </a:solidFill>
              </a:rPr>
              <a:t> único, que funciona como uma impressão digital das suas transações. Este </a:t>
            </a:r>
            <a:r>
              <a:rPr lang="pt-PT" b="0" dirty="0" err="1">
                <a:solidFill>
                  <a:srgbClr val="58595B"/>
                </a:solidFill>
              </a:rPr>
              <a:t>hash</a:t>
            </a:r>
            <a:r>
              <a:rPr lang="pt-PT" b="0" dirty="0">
                <a:solidFill>
                  <a:srgbClr val="58595B"/>
                </a:solidFill>
              </a:rPr>
              <a:t>:</a:t>
            </a:r>
          </a:p>
          <a:p>
            <a:pPr marL="1049338" lvl="1" indent="-592138">
              <a:lnSpc>
                <a:spcPct val="160000"/>
              </a:lnSpc>
              <a:buSzPct val="110000"/>
              <a:buBlip>
                <a:blip r:embed="rId3"/>
              </a:buBlip>
            </a:pPr>
            <a:r>
              <a:rPr lang="pt-PT" sz="3200" b="0" dirty="0">
                <a:solidFill>
                  <a:srgbClr val="58595B"/>
                </a:solidFill>
              </a:rPr>
              <a:t>Liga cada bloco ao anterior, formando a blockchain;</a:t>
            </a:r>
          </a:p>
          <a:p>
            <a:pPr marL="1049338" lvl="1" indent="-592138">
              <a:lnSpc>
                <a:spcPct val="170000"/>
              </a:lnSpc>
              <a:buSzPct val="110000"/>
              <a:buBlip>
                <a:blip r:embed="rId3"/>
              </a:buBlip>
            </a:pPr>
            <a:r>
              <a:rPr lang="pt-PT" sz="3200" b="0" dirty="0"/>
              <a:t>Garante que os dados do bloco não foram alterados;</a:t>
            </a:r>
          </a:p>
          <a:p>
            <a:pPr marL="1049338" lvl="1" indent="-592138">
              <a:lnSpc>
                <a:spcPct val="170000"/>
              </a:lnSpc>
              <a:buSzPct val="110000"/>
              <a:buBlip>
                <a:blip r:embed="rId3"/>
              </a:buBlip>
            </a:pPr>
            <a:r>
              <a:rPr lang="pt-PT" sz="3200" b="0" dirty="0"/>
              <a:t>Permite a qualquer pessoa verificar a autenticidade e integridade do histórico de transações.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Mineradores competem para encontrar este </a:t>
            </a:r>
            <a:r>
              <a:rPr lang="pt-PT" b="0" dirty="0" err="1">
                <a:solidFill>
                  <a:srgbClr val="58595B"/>
                </a:solidFill>
              </a:rPr>
              <a:t>hash</a:t>
            </a:r>
            <a:r>
              <a:rPr lang="pt-PT" b="0" dirty="0">
                <a:solidFill>
                  <a:srgbClr val="58595B"/>
                </a:solidFill>
              </a:rPr>
              <a:t> válido, e o primeiro bloco, minerado por </a:t>
            </a:r>
            <a:r>
              <a:rPr lang="pt-PT" b="0" dirty="0" err="1">
                <a:solidFill>
                  <a:srgbClr val="58595B"/>
                </a:solidFill>
              </a:rPr>
              <a:t>Satoshi</a:t>
            </a:r>
            <a:r>
              <a:rPr lang="pt-PT" b="0" dirty="0">
                <a:solidFill>
                  <a:srgbClr val="58595B"/>
                </a:solidFill>
              </a:rPr>
              <a:t> </a:t>
            </a:r>
            <a:r>
              <a:rPr lang="pt-PT" b="0" dirty="0" err="1">
                <a:solidFill>
                  <a:srgbClr val="58595B"/>
                </a:solidFill>
              </a:rPr>
              <a:t>Nakamoto</a:t>
            </a:r>
            <a:r>
              <a:rPr lang="pt-PT" b="0" dirty="0">
                <a:solidFill>
                  <a:srgbClr val="58595B"/>
                </a:solidFill>
              </a:rPr>
              <a:t>, gerou 50 bitcoins como recompensa.</a:t>
            </a:r>
          </a:p>
        </p:txBody>
      </p:sp>
    </p:spTree>
    <p:extLst>
      <p:ext uri="{BB962C8B-B14F-4D97-AF65-F5344CB8AC3E}">
        <p14:creationId xmlns:p14="http://schemas.microsoft.com/office/powerpoint/2010/main" val="1370041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2CA8-3B1F-B8EA-C1EC-265081E9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4229-A742-3059-E04B-70DEE16B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9.3.2. O que é um minerador de Bitcoin e como funciona a mineração?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6CBD7D-F588-BBB7-0A8D-B8F02815AA73}"/>
              </a:ext>
            </a:extLst>
          </p:cNvPr>
          <p:cNvSpPr txBox="1">
            <a:spLocks/>
          </p:cNvSpPr>
          <p:nvPr/>
        </p:nvSpPr>
        <p:spPr>
          <a:xfrm>
            <a:off x="1496677" y="2987675"/>
            <a:ext cx="10993773" cy="72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spcBef>
                <a:spcPts val="0"/>
              </a:spcBef>
              <a:spcAft>
                <a:spcPts val="1200"/>
              </a:spcAft>
              <a:buSzPct val="125000"/>
            </a:pPr>
            <a:r>
              <a:rPr lang="pt-PT" sz="3100" dirty="0">
                <a:solidFill>
                  <a:srgbClr val="392569"/>
                </a:solidFill>
              </a:rPr>
              <a:t>Competição para minerar um bloco</a:t>
            </a:r>
            <a:endParaRPr lang="pt-PT" b="0" dirty="0">
              <a:solidFill>
                <a:srgbClr val="58595B"/>
              </a:solidFill>
            </a:endParaRP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Os mineradores competem para encontrar um valor de dispersão de bloco (</a:t>
            </a:r>
            <a:r>
              <a:rPr lang="pt-PT" b="0" dirty="0" err="1">
                <a:solidFill>
                  <a:srgbClr val="58595B"/>
                </a:solidFill>
              </a:rPr>
              <a:t>hash</a:t>
            </a:r>
            <a:r>
              <a:rPr lang="pt-PT" b="0" dirty="0">
                <a:solidFill>
                  <a:srgbClr val="58595B"/>
                </a:solidFill>
              </a:rPr>
              <a:t>) válido que atenda ao objetivo definido pela rede.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O primeiro minerador a encontrar o </a:t>
            </a:r>
            <a:r>
              <a:rPr lang="pt-PT" b="0" dirty="0" err="1">
                <a:solidFill>
                  <a:srgbClr val="58595B"/>
                </a:solidFill>
              </a:rPr>
              <a:t>hash</a:t>
            </a:r>
            <a:r>
              <a:rPr lang="pt-PT" b="0" dirty="0">
                <a:solidFill>
                  <a:srgbClr val="58595B"/>
                </a:solidFill>
              </a:rPr>
              <a:t> correto adiciona o bloco à blockchain e recebe recompensa em bitcoin + taxas de transação.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Esta corrida é chamada de </a:t>
            </a:r>
            <a:r>
              <a:rPr lang="pt-PT" b="0" dirty="0" err="1">
                <a:solidFill>
                  <a:srgbClr val="58595B"/>
                </a:solidFill>
              </a:rPr>
              <a:t>Proof-of-Work</a:t>
            </a:r>
            <a:r>
              <a:rPr lang="pt-PT" b="0" dirty="0">
                <a:solidFill>
                  <a:srgbClr val="58595B"/>
                </a:solidFill>
              </a:rPr>
              <a:t> (</a:t>
            </a:r>
            <a:r>
              <a:rPr lang="pt-PT" b="0" dirty="0" err="1">
                <a:solidFill>
                  <a:srgbClr val="58595B"/>
                </a:solidFill>
              </a:rPr>
              <a:t>PoW</a:t>
            </a:r>
            <a:r>
              <a:rPr lang="pt-PT" b="0" dirty="0">
                <a:solidFill>
                  <a:srgbClr val="58595B"/>
                </a:solidFill>
              </a:rPr>
              <a:t>) e mantém a rede segura e descentralizada.</a:t>
            </a:r>
          </a:p>
        </p:txBody>
      </p:sp>
      <p:pic>
        <p:nvPicPr>
          <p:cNvPr id="7170" name="Picture 2" descr="What is Proof-of-Work? Bitcoin's consensus algorithm explained.">
            <a:extLst>
              <a:ext uri="{FF2B5EF4-FFF2-40B4-BE49-F238E27FC236}">
                <a16:creationId xmlns:a16="http://schemas.microsoft.com/office/drawing/2014/main" id="{C526E5F8-1123-7581-F16C-B87DB62058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3667133" y="4119245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What is Proof-of-Work? Bitcoin's consensus algorithm explained.">
            <a:extLst>
              <a:ext uri="{FF2B5EF4-FFF2-40B4-BE49-F238E27FC236}">
                <a16:creationId xmlns:a16="http://schemas.microsoft.com/office/drawing/2014/main" id="{B96C469E-6D93-1382-471F-A9701D156A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5335967" y="4120787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What is Proof-of-Work? Bitcoin's consensus algorithm explained.">
            <a:extLst>
              <a:ext uri="{FF2B5EF4-FFF2-40B4-BE49-F238E27FC236}">
                <a16:creationId xmlns:a16="http://schemas.microsoft.com/office/drawing/2014/main" id="{907DE891-22D3-3907-D97D-24E1D75512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7004802" y="4119245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What is Proof-of-Work? Bitcoin's consensus algorithm explained.">
            <a:extLst>
              <a:ext uri="{FF2B5EF4-FFF2-40B4-BE49-F238E27FC236}">
                <a16:creationId xmlns:a16="http://schemas.microsoft.com/office/drawing/2014/main" id="{93AFE9DA-222C-C76B-7444-A6C045725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3667133" y="5957933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What is Proof-of-Work? Bitcoin's consensus algorithm explained.">
            <a:extLst>
              <a:ext uri="{FF2B5EF4-FFF2-40B4-BE49-F238E27FC236}">
                <a16:creationId xmlns:a16="http://schemas.microsoft.com/office/drawing/2014/main" id="{7041D19D-22E4-1B6D-6FB9-35BA953F6E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5335967" y="5959475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What is Proof-of-Work? Bitcoin's consensus algorithm explained.">
            <a:extLst>
              <a:ext uri="{FF2B5EF4-FFF2-40B4-BE49-F238E27FC236}">
                <a16:creationId xmlns:a16="http://schemas.microsoft.com/office/drawing/2014/main" id="{9FE66474-9957-DCD3-0F69-6BA75DBE4D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7004802" y="5957933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What is Proof-of-Work? Bitcoin's consensus algorithm explained.">
            <a:extLst>
              <a:ext uri="{FF2B5EF4-FFF2-40B4-BE49-F238E27FC236}">
                <a16:creationId xmlns:a16="http://schemas.microsoft.com/office/drawing/2014/main" id="{59393FF8-9C0F-EA86-D1E3-F0A5DB0F76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3643366" y="7827736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What is Proof-of-Work? Bitcoin's consensus algorithm explained.">
            <a:extLst>
              <a:ext uri="{FF2B5EF4-FFF2-40B4-BE49-F238E27FC236}">
                <a16:creationId xmlns:a16="http://schemas.microsoft.com/office/drawing/2014/main" id="{65E5E91F-CE3D-EF60-03D8-85EEAB416F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5312200" y="7829278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What is Proof-of-Work? Bitcoin's consensus algorithm explained.">
            <a:extLst>
              <a:ext uri="{FF2B5EF4-FFF2-40B4-BE49-F238E27FC236}">
                <a16:creationId xmlns:a16="http://schemas.microsoft.com/office/drawing/2014/main" id="{13F27FBB-89B6-6C8F-CBBD-085498D9CB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167" b="65694" l="76563" r="94063">
                        <a14:foregroundMark x1="76953" y1="64722" x2="78750" y2="63750"/>
                        <a14:foregroundMark x1="79375" y1="64583" x2="82656" y2="66111"/>
                        <a14:foregroundMark x1="82656" y1="66111" x2="88828" y2="65694"/>
                        <a14:foregroundMark x1="88828" y1="65694" x2="79844" y2="64583"/>
                        <a14:foregroundMark x1="76953" y1="65972" x2="76563" y2="64722"/>
                        <a14:foregroundMark x1="92656" y1="40139" x2="94063" y2="45556"/>
                        <a14:foregroundMark x1="94063" y1="45556" x2="93125" y2="45417"/>
                        <a14:foregroundMark x1="90234" y1="36944" x2="87422" y2="34167"/>
                        <a14:foregroundMark x1="87422" y1="34167" x2="88516" y2="36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6719" t="32500" r="4531" b="32500"/>
          <a:stretch>
            <a:fillRect/>
          </a:stretch>
        </p:blipFill>
        <p:spPr bwMode="auto">
          <a:xfrm>
            <a:off x="16981035" y="7827736"/>
            <a:ext cx="175260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Bitcoin Logo, symbol, meaning, history, PNG, brand">
            <a:extLst>
              <a:ext uri="{FF2B5EF4-FFF2-40B4-BE49-F238E27FC236}">
                <a16:creationId xmlns:a16="http://schemas.microsoft.com/office/drawing/2014/main" id="{35DBD79B-D8F0-A523-ECA2-0674CC62C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2767" y="8917274"/>
            <a:ext cx="1384300" cy="77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78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52BC9-6E35-4673-1158-74D20F94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CD12-1015-ED8C-04DB-9D9DA8A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1058075"/>
            <a:ext cx="17340263" cy="1472400"/>
          </a:xfrm>
        </p:spPr>
        <p:txBody>
          <a:bodyPr>
            <a:normAutofit fontScale="90000"/>
          </a:bodyPr>
          <a:lstStyle/>
          <a:p>
            <a:r>
              <a:rPr lang="pt-PT" dirty="0"/>
              <a:t>9.3.2. O que é um minerador de Bitcoin e como funciona a mineração?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4FD9FB-E468-7170-C919-FC6F019F81BE}"/>
              </a:ext>
            </a:extLst>
          </p:cNvPr>
          <p:cNvSpPr txBox="1">
            <a:spLocks/>
          </p:cNvSpPr>
          <p:nvPr/>
        </p:nvSpPr>
        <p:spPr>
          <a:xfrm>
            <a:off x="1496677" y="2987675"/>
            <a:ext cx="17227886" cy="350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spcBef>
                <a:spcPts val="0"/>
              </a:spcBef>
              <a:spcAft>
                <a:spcPts val="1200"/>
              </a:spcAft>
              <a:buSzPct val="125000"/>
            </a:pPr>
            <a:r>
              <a:rPr lang="pt-PT" sz="3100" dirty="0">
                <a:solidFill>
                  <a:srgbClr val="392569"/>
                </a:solidFill>
              </a:rPr>
              <a:t>Ajuste da dificuldade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A dificuldade de mineração é ajustada a cada 2 016 blocos (~2 semanas) para manter a criação de blocos em aproximadamente 10 minutos.</a:t>
            </a:r>
          </a:p>
          <a:p>
            <a:pPr marL="592138" indent="-592138">
              <a:lnSpc>
                <a:spcPct val="16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Quanto maior a dificuldade, mais difícil é encontrar um </a:t>
            </a:r>
            <a:r>
              <a:rPr lang="pt-PT" b="0" dirty="0" err="1">
                <a:solidFill>
                  <a:srgbClr val="58595B"/>
                </a:solidFill>
              </a:rPr>
              <a:t>hash</a:t>
            </a:r>
            <a:r>
              <a:rPr lang="pt-PT" b="0" dirty="0">
                <a:solidFill>
                  <a:srgbClr val="58595B"/>
                </a:solidFill>
              </a:rPr>
              <a:t> válido.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73D9A9-EB39-BDD8-D37A-443B07808BC0}"/>
              </a:ext>
            </a:extLst>
          </p:cNvPr>
          <p:cNvGrpSpPr/>
          <p:nvPr/>
        </p:nvGrpSpPr>
        <p:grpSpPr>
          <a:xfrm>
            <a:off x="3862220" y="7483475"/>
            <a:ext cx="12496800" cy="2969309"/>
            <a:chOff x="4413250" y="7483475"/>
            <a:chExt cx="12496800" cy="296930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6D84F8-CA00-D048-1201-DF26307D76F4}"/>
                </a:ext>
              </a:extLst>
            </p:cNvPr>
            <p:cNvSpPr txBox="1"/>
            <p:nvPr/>
          </p:nvSpPr>
          <p:spPr>
            <a:xfrm>
              <a:off x="10342563" y="8229465"/>
              <a:ext cx="656748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PT" sz="2000" b="1" i="1" dirty="0" err="1">
                  <a:solidFill>
                    <a:srgbClr val="565659"/>
                  </a:solidFill>
                  <a:effectLst/>
                  <a:latin typeface="OpenSans"/>
                </a:rPr>
                <a:t>Hash</a:t>
              </a:r>
              <a:r>
                <a:rPr lang="pt-PT" sz="2000" b="1" i="1" dirty="0">
                  <a:solidFill>
                    <a:srgbClr val="565659"/>
                  </a:solidFill>
                  <a:effectLst/>
                  <a:latin typeface="OpenSans"/>
                </a:rPr>
                <a:t> </a:t>
              </a:r>
              <a:r>
                <a:rPr lang="pt-PT" sz="2000" b="1" dirty="0">
                  <a:solidFill>
                    <a:srgbClr val="565659"/>
                  </a:solidFill>
                  <a:effectLst/>
                  <a:latin typeface="OpenSans"/>
                </a:rPr>
                <a:t>1: </a:t>
              </a:r>
              <a:r>
                <a:rPr lang="pt-PT" sz="2000" dirty="0">
                  <a:solidFill>
                    <a:srgbClr val="565659"/>
                  </a:solidFill>
                  <a:effectLst/>
                  <a:latin typeface="OpenSans"/>
                </a:rPr>
                <a:t>0000A1mINgF0RbL0cK5wItHth3hAy5tAcK </a:t>
              </a:r>
              <a:endParaRPr lang="pt-PT" sz="2000" dirty="0">
                <a:effectLst/>
              </a:endParaRPr>
            </a:p>
            <a:p>
              <a:pPr>
                <a:buNone/>
              </a:pPr>
              <a:r>
                <a:rPr lang="pt-PT" sz="2000" b="1" dirty="0" err="1">
                  <a:solidFill>
                    <a:srgbClr val="565659"/>
                  </a:solidFill>
                  <a:effectLst/>
                  <a:latin typeface="OpenSans"/>
                </a:rPr>
                <a:t>Nível</a:t>
              </a:r>
              <a:r>
                <a:rPr lang="pt-PT" sz="2000" b="1" dirty="0">
                  <a:solidFill>
                    <a:srgbClr val="565659"/>
                  </a:solidFill>
                  <a:effectLst/>
                  <a:latin typeface="OpenSans"/>
                </a:rPr>
                <a:t> de dificuldade: </a:t>
              </a:r>
              <a:r>
                <a:rPr lang="pt-PT" sz="2000" dirty="0">
                  <a:solidFill>
                    <a:srgbClr val="565659"/>
                  </a:solidFill>
                  <a:effectLst/>
                  <a:latin typeface="OpenSans"/>
                </a:rPr>
                <a:t>1</a:t>
              </a:r>
            </a:p>
            <a:p>
              <a:pPr>
                <a:buNone/>
              </a:pPr>
              <a:br>
                <a:rPr lang="pt-PT" sz="2000" dirty="0">
                  <a:solidFill>
                    <a:srgbClr val="565659"/>
                  </a:solidFill>
                  <a:effectLst/>
                  <a:latin typeface="OpenSans"/>
                </a:rPr>
              </a:br>
              <a:r>
                <a:rPr lang="pt-PT" sz="2000" b="1" i="1" dirty="0" err="1">
                  <a:solidFill>
                    <a:srgbClr val="565659"/>
                  </a:solidFill>
                  <a:effectLst/>
                  <a:latin typeface="OpenSans"/>
                </a:rPr>
                <a:t>Hash</a:t>
              </a:r>
              <a:r>
                <a:rPr lang="pt-PT" sz="2000" b="1" i="1" dirty="0">
                  <a:solidFill>
                    <a:srgbClr val="565659"/>
                  </a:solidFill>
                  <a:effectLst/>
                  <a:latin typeface="OpenSans"/>
                </a:rPr>
                <a:t> </a:t>
              </a:r>
              <a:r>
                <a:rPr lang="pt-PT" sz="2000" b="1" dirty="0">
                  <a:solidFill>
                    <a:srgbClr val="565659"/>
                  </a:solidFill>
                  <a:effectLst/>
                  <a:latin typeface="OpenSans"/>
                </a:rPr>
                <a:t>2: </a:t>
              </a:r>
              <a:r>
                <a:rPr lang="pt-PT" sz="2000" dirty="0">
                  <a:solidFill>
                    <a:srgbClr val="565659"/>
                  </a:solidFill>
                  <a:effectLst/>
                  <a:latin typeface="OpenSans"/>
                </a:rPr>
                <a:t>00000000A1mINgF0RbL0cK5wItHth3hAy5tAcK </a:t>
              </a:r>
              <a:endParaRPr lang="pt-PT" sz="2000" dirty="0">
                <a:effectLst/>
              </a:endParaRPr>
            </a:p>
            <a:p>
              <a:pPr>
                <a:buNone/>
              </a:pPr>
              <a:r>
                <a:rPr lang="pt-PT" sz="2000" b="1" dirty="0" err="1">
                  <a:solidFill>
                    <a:srgbClr val="565659"/>
                  </a:solidFill>
                  <a:effectLst/>
                  <a:latin typeface="OpenSans"/>
                </a:rPr>
                <a:t>Nível</a:t>
              </a:r>
              <a:r>
                <a:rPr lang="pt-PT" sz="2000" b="1" dirty="0">
                  <a:solidFill>
                    <a:srgbClr val="565659"/>
                  </a:solidFill>
                  <a:effectLst/>
                  <a:latin typeface="OpenSans"/>
                </a:rPr>
                <a:t> de dificuldade: </a:t>
              </a:r>
              <a:r>
                <a:rPr lang="pt-PT" sz="2000" dirty="0">
                  <a:solidFill>
                    <a:srgbClr val="565659"/>
                  </a:solidFill>
                  <a:effectLst/>
                  <a:latin typeface="OpenSans"/>
                </a:rPr>
                <a:t>2 </a:t>
              </a:r>
              <a:endParaRPr lang="pt-PT" sz="2000" dirty="0">
                <a:effectLst/>
              </a:endParaRPr>
            </a:p>
          </p:txBody>
        </p:sp>
        <p:pic>
          <p:nvPicPr>
            <p:cNvPr id="8196" name="Picture 4" descr="Most Complex Rubiks Cube Japanese Company Develops Possibly The Most">
              <a:extLst>
                <a:ext uri="{FF2B5EF4-FFF2-40B4-BE49-F238E27FC236}">
                  <a16:creationId xmlns:a16="http://schemas.microsoft.com/office/drawing/2014/main" id="{74BAF328-C742-1709-FB3C-C09451D70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3250" y="7483475"/>
              <a:ext cx="5278772" cy="296930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18804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24E8D-D89D-B2D8-6C41-2CEEC5740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1266CBB7-6038-D10C-59C0-11900343E0E5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9.3.2. O que é um minerador de Bitcoin e como funciona a mineração?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6AF5EF-9D22-ED30-3497-1C595FB4E4EA}"/>
              </a:ext>
            </a:extLst>
          </p:cNvPr>
          <p:cNvGrpSpPr/>
          <p:nvPr/>
        </p:nvGrpSpPr>
        <p:grpSpPr>
          <a:xfrm>
            <a:off x="1503364" y="2489350"/>
            <a:ext cx="17218024" cy="8820000"/>
            <a:chOff x="2660653" y="2345026"/>
            <a:chExt cx="17218024" cy="8820000"/>
          </a:xfrm>
        </p:grpSpPr>
        <p:sp>
          <p:nvSpPr>
            <p:cNvPr id="4" name="Rounded Rectangular Callout 3">
              <a:extLst>
                <a:ext uri="{FF2B5EF4-FFF2-40B4-BE49-F238E27FC236}">
                  <a16:creationId xmlns:a16="http://schemas.microsoft.com/office/drawing/2014/main" id="{5AB20BB6-F61B-A1ED-3888-0D118E7C4358}"/>
                </a:ext>
              </a:extLst>
            </p:cNvPr>
            <p:cNvSpPr/>
            <p:nvPr/>
          </p:nvSpPr>
          <p:spPr>
            <a:xfrm rot="16200000">
              <a:off x="6271421" y="-698629"/>
              <a:ext cx="1471610" cy="8693145"/>
            </a:xfrm>
            <a:prstGeom prst="wedgeRoundRectCallout">
              <a:avLst>
                <a:gd name="adj1" fmla="val 18997"/>
                <a:gd name="adj2" fmla="val 60080"/>
                <a:gd name="adj3" fmla="val 16667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90000" rIns="288000" bIns="90000" rtlCol="0" anchor="ctr"/>
            <a:lstStyle/>
            <a:p>
              <a:pPr algn="ctr">
                <a:spcAft>
                  <a:spcPts val="1200"/>
                </a:spcAft>
              </a:pPr>
              <a:r>
                <a:rPr lang="pt-PT" sz="20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Os mineradores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– os </a:t>
              </a:r>
              <a:r>
                <a:rPr lang="pt-PT" sz="20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nós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que trabalham para manter e atualizar o </a:t>
              </a:r>
              <a:r>
                <a:rPr lang="pt-PT" sz="20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livro-razão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– </a:t>
              </a:r>
              <a:r>
                <a:rPr lang="pt-PT" sz="20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reúnem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todos os dados das </a:t>
              </a:r>
              <a:r>
                <a:rPr lang="pt-PT" sz="20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transações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mais recentes. </a:t>
              </a:r>
            </a:p>
            <a:p>
              <a:pPr algn="ctr"/>
              <a:endParaRPr lang="pt-PT" sz="1600" dirty="0"/>
            </a:p>
          </p:txBody>
        </p:sp>
        <p:sp>
          <p:nvSpPr>
            <p:cNvPr id="5" name="Rounded Rectangular Callout 4">
              <a:extLst>
                <a:ext uri="{FF2B5EF4-FFF2-40B4-BE49-F238E27FC236}">
                  <a16:creationId xmlns:a16="http://schemas.microsoft.com/office/drawing/2014/main" id="{244CBEBD-0D92-0BB2-7422-221A46A0EE4E}"/>
                </a:ext>
              </a:extLst>
            </p:cNvPr>
            <p:cNvSpPr/>
            <p:nvPr/>
          </p:nvSpPr>
          <p:spPr>
            <a:xfrm rot="16200000">
              <a:off x="6604709" y="720019"/>
              <a:ext cx="805033" cy="8693145"/>
            </a:xfrm>
            <a:prstGeom prst="wedgeRoundRectCallout">
              <a:avLst>
                <a:gd name="adj1" fmla="val 37416"/>
                <a:gd name="adj2" fmla="val 61185"/>
                <a:gd name="adj3" fmla="val 16667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90000" rIns="72000" bIns="90000" rtlCol="0" anchor="ctr"/>
            <a:lstStyle/>
            <a:p>
              <a:pPr algn="ctr">
                <a:spcAft>
                  <a:spcPts val="1200"/>
                </a:spcAft>
              </a:pP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Eles agrupam tudo num </a:t>
              </a:r>
              <a:r>
                <a:rPr lang="pt-PT" sz="2000" b="1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bloco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para adicionar à blockchain.</a:t>
              </a:r>
              <a:endParaRPr lang="pt-PT" sz="1600" dirty="0"/>
            </a:p>
          </p:txBody>
        </p:sp>
        <p:sp>
          <p:nvSpPr>
            <p:cNvPr id="6" name="Rounded Rectangular Callout 5">
              <a:extLst>
                <a:ext uri="{FF2B5EF4-FFF2-40B4-BE49-F238E27FC236}">
                  <a16:creationId xmlns:a16="http://schemas.microsoft.com/office/drawing/2014/main" id="{FC3D9D8E-342B-669B-1A06-14146FF0A31A}"/>
                </a:ext>
              </a:extLst>
            </p:cNvPr>
            <p:cNvSpPr/>
            <p:nvPr/>
          </p:nvSpPr>
          <p:spPr>
            <a:xfrm rot="16200000">
              <a:off x="5762942" y="2883219"/>
              <a:ext cx="2488567" cy="8693144"/>
            </a:xfrm>
            <a:prstGeom prst="wedgeRoundRectCallout">
              <a:avLst>
                <a:gd name="adj1" fmla="val 15911"/>
                <a:gd name="adj2" fmla="val 61448"/>
                <a:gd name="adj3" fmla="val 16667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90000" rIns="72000" bIns="90000" rtlCol="0" anchor="ctr"/>
            <a:lstStyle/>
            <a:p>
              <a:pPr algn="ctr">
                <a:spcAft>
                  <a:spcPts val="1200"/>
                </a:spcAft>
              </a:pP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Em seguida, calculam um </a:t>
              </a:r>
              <a:r>
                <a:rPr lang="pt-PT" sz="2000" b="1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hash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para esse bloco – processam todos os dados através de um algoritmo que gera uma sequência única.</a:t>
              </a:r>
              <a:b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Repetem o processo, várias vezes. Eles estão à procura de um </a:t>
              </a:r>
              <a:r>
                <a:rPr lang="pt-PT" sz="20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hash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válido, que comece com uma longa sequência de zeros.</a:t>
              </a:r>
              <a:b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 primeiro minerador a encontrar um </a:t>
              </a:r>
              <a:r>
                <a:rPr lang="pt-PT" sz="2000" kern="1200" dirty="0" err="1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hash</a:t>
              </a:r>
              <a:r>
                <a:rPr lang="pt-PT" sz="200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válido ganha bitcoins recém-criados, e o seu bloco é adicionado à blockchain.</a:t>
              </a:r>
              <a:endParaRPr lang="pt-PT" sz="1600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9A1652A-9D8E-93CF-C1DB-85F627B7D3D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747250" y="2345026"/>
              <a:ext cx="10131427" cy="8820000"/>
              <a:chOff x="10039838" y="2471809"/>
              <a:chExt cx="9880112" cy="8601217"/>
            </a:xfrm>
          </p:grpSpPr>
          <p:pic>
            <p:nvPicPr>
              <p:cNvPr id="8" name="Picture 7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108BE715-D5B2-0F41-D2AA-A07F9BD37B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834"/>
              <a:stretch>
                <a:fillRect/>
              </a:stretch>
            </p:blipFill>
            <p:spPr>
              <a:xfrm>
                <a:off x="10052050" y="4206875"/>
                <a:ext cx="9867900" cy="6866151"/>
              </a:xfrm>
              <a:prstGeom prst="rect">
                <a:avLst/>
              </a:prstGeom>
            </p:spPr>
          </p:pic>
          <p:pic>
            <p:nvPicPr>
              <p:cNvPr id="9" name="Picture 8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A71E8CDF-C134-227C-825B-F6C89D482E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1006"/>
              <a:stretch>
                <a:fillRect/>
              </a:stretch>
            </p:blipFill>
            <p:spPr>
              <a:xfrm>
                <a:off x="10039838" y="2471809"/>
                <a:ext cx="9867900" cy="173506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54252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37AE-CE63-7E3B-839A-2C2AB1D6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51954538-73F2-02F3-34E4-77F3EA2D8C19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9.4 O que é a </a:t>
            </a:r>
            <a:r>
              <a:rPr lang="pt-PT" sz="6700" dirty="0" err="1"/>
              <a:t>mempool</a:t>
            </a:r>
            <a:r>
              <a:rPr lang="pt-PT" sz="6700" dirty="0"/>
              <a:t> (memória de transações)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231B194-3063-0182-98A0-B0A990A6F334}"/>
              </a:ext>
            </a:extLst>
          </p:cNvPr>
          <p:cNvSpPr/>
          <p:nvPr/>
        </p:nvSpPr>
        <p:spPr>
          <a:xfrm>
            <a:off x="1366770" y="3292475"/>
            <a:ext cx="17348234" cy="1143000"/>
          </a:xfrm>
          <a:prstGeom prst="roundRect">
            <a:avLst>
              <a:gd name="adj" fmla="val 8003"/>
            </a:avLst>
          </a:prstGeom>
          <a:gradFill flip="none" rotWithShape="1">
            <a:gsLst>
              <a:gs pos="64000">
                <a:srgbClr val="E4E0FD"/>
              </a:gs>
              <a:gs pos="22000">
                <a:srgbClr val="F1EEFE"/>
              </a:gs>
              <a:gs pos="0">
                <a:srgbClr val="FEFEFF"/>
              </a:gs>
            </a:gsLst>
            <a:lin ang="16200000" scaled="1"/>
            <a:tileRect/>
          </a:gradFill>
          <a:ln w="12700">
            <a:solidFill>
              <a:srgbClr val="613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bIns="36000" rtlCol="0" anchor="ctr"/>
          <a:lstStyle/>
          <a:p>
            <a:pPr algn="just">
              <a:lnSpc>
                <a:spcPct val="114000"/>
              </a:lnSpc>
            </a:pPr>
            <a:r>
              <a:rPr lang="pt-PT" sz="3200" b="1" dirty="0" err="1">
                <a:solidFill>
                  <a:srgbClr val="FBB040"/>
                </a:solidFill>
              </a:rPr>
              <a:t>Mempool</a:t>
            </a:r>
            <a:r>
              <a:rPr lang="pt-PT" sz="3200" dirty="0">
                <a:solidFill>
                  <a:srgbClr val="58595B"/>
                </a:solidFill>
              </a:rPr>
              <a:t> é o local onde as transações aguardam para serem confirmadas num bloco.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C47B4-A392-54D1-6C55-8DF277A7A3E1}"/>
              </a:ext>
            </a:extLst>
          </p:cNvPr>
          <p:cNvSpPr txBox="1">
            <a:spLocks/>
          </p:cNvSpPr>
          <p:nvPr/>
        </p:nvSpPr>
        <p:spPr>
          <a:xfrm>
            <a:off x="1496677" y="4277413"/>
            <a:ext cx="17218327" cy="610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ct val="125000"/>
            </a:pPr>
            <a:r>
              <a:rPr lang="pt-PT" b="0" dirty="0">
                <a:solidFill>
                  <a:srgbClr val="58595B"/>
                </a:solidFill>
              </a:rPr>
              <a:t>O principal objetivo da </a:t>
            </a:r>
            <a:r>
              <a:rPr lang="pt-PT" b="0" dirty="0" err="1">
                <a:solidFill>
                  <a:srgbClr val="58595B"/>
                </a:solidFill>
              </a:rPr>
              <a:t>mempool</a:t>
            </a:r>
            <a:r>
              <a:rPr lang="pt-PT" b="0" dirty="0">
                <a:solidFill>
                  <a:srgbClr val="58595B"/>
                </a:solidFill>
              </a:rPr>
              <a:t> é:</a:t>
            </a:r>
          </a:p>
          <a:p>
            <a:pPr marL="592138" indent="-592138">
              <a:lnSpc>
                <a:spcPct val="15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Reencaminhar transações não confirmadas.</a:t>
            </a:r>
          </a:p>
          <a:p>
            <a:pPr marL="592138" indent="-592138">
              <a:lnSpc>
                <a:spcPct val="15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Fornecer aos mineradores transações para serem mineradas.</a:t>
            </a:r>
          </a:p>
          <a:p>
            <a:pPr marL="592138" indent="-592138">
              <a:lnSpc>
                <a:spcPct val="150000"/>
              </a:lnSpc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Permite a sincronização entre nós, garantindo que todos conhecem as transações pendentes.</a:t>
            </a:r>
          </a:p>
        </p:txBody>
      </p:sp>
    </p:spTree>
    <p:extLst>
      <p:ext uri="{BB962C8B-B14F-4D97-AF65-F5344CB8AC3E}">
        <p14:creationId xmlns:p14="http://schemas.microsoft.com/office/powerpoint/2010/main" val="580595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1B7BF-A0A2-2A3F-773E-9A9E3CCA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750DFA87-70BF-FCE6-A2BE-E73A2460FE07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9.4 O que é a </a:t>
            </a:r>
            <a:r>
              <a:rPr lang="pt-PT" sz="6700" dirty="0" err="1"/>
              <a:t>mempool</a:t>
            </a:r>
            <a:r>
              <a:rPr lang="pt-PT" sz="6700" dirty="0"/>
              <a:t> (memória de transações)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4F108-9CFF-2E50-22DC-A5538B215828}"/>
              </a:ext>
            </a:extLst>
          </p:cNvPr>
          <p:cNvSpPr txBox="1">
            <a:spLocks/>
          </p:cNvSpPr>
          <p:nvPr/>
        </p:nvSpPr>
        <p:spPr>
          <a:xfrm>
            <a:off x="1382713" y="3140075"/>
            <a:ext cx="17338675" cy="61016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ct val="125000"/>
            </a:pPr>
            <a:r>
              <a:rPr lang="pt-PT" sz="3000" dirty="0">
                <a:solidFill>
                  <a:srgbClr val="58595B"/>
                </a:solidFill>
              </a:rPr>
              <a:t>Verificação e inclusão de transações na </a:t>
            </a:r>
            <a:r>
              <a:rPr lang="pt-PT" sz="3000" dirty="0" err="1">
                <a:solidFill>
                  <a:srgbClr val="58595B"/>
                </a:solidFill>
              </a:rPr>
              <a:t>Mempool</a:t>
            </a:r>
            <a:endParaRPr lang="pt-PT" sz="3000" b="0" dirty="0">
              <a:solidFill>
                <a:srgbClr val="58595B"/>
              </a:solidFill>
            </a:endParaRPr>
          </a:p>
          <a:p>
            <a:pPr marL="592138" indent="-592138">
              <a:lnSpc>
                <a:spcPct val="150000"/>
              </a:lnSpc>
              <a:spcAft>
                <a:spcPts val="1200"/>
              </a:spcAft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As transações enviadas à rede são verificadas pelos nós para garantir que são válidas e que o saldo ainda não foi gasto.</a:t>
            </a:r>
          </a:p>
          <a:p>
            <a:pPr marL="592138" indent="-592138">
              <a:lnSpc>
                <a:spcPct val="150000"/>
              </a:lnSpc>
              <a:spcAft>
                <a:spcPts val="1200"/>
              </a:spcAft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Transações verificadas são adicionadas à </a:t>
            </a:r>
            <a:r>
              <a:rPr lang="pt-PT" b="0" dirty="0" err="1">
                <a:solidFill>
                  <a:srgbClr val="58595B"/>
                </a:solidFill>
              </a:rPr>
              <a:t>mempool</a:t>
            </a:r>
            <a:r>
              <a:rPr lang="pt-PT" b="0" dirty="0">
                <a:solidFill>
                  <a:srgbClr val="58595B"/>
                </a:solidFill>
              </a:rPr>
              <a:t> e partilhadas com outros nós para nova verificação.</a:t>
            </a:r>
          </a:p>
          <a:p>
            <a:pPr marL="592138" indent="-592138">
              <a:lnSpc>
                <a:spcPct val="150000"/>
              </a:lnSpc>
              <a:spcAft>
                <a:spcPts val="1200"/>
              </a:spcAft>
              <a:buSzPct val="125000"/>
              <a:buBlip>
                <a:blip r:embed="rId3"/>
              </a:buBlip>
            </a:pPr>
            <a:r>
              <a:rPr lang="pt-PT" b="0" dirty="0">
                <a:solidFill>
                  <a:srgbClr val="58595B"/>
                </a:solidFill>
              </a:rPr>
              <a:t>Quando a maioria dos nós concorda, as transações ficam disponíveis para os mineradores incluírem em blocos.</a:t>
            </a:r>
          </a:p>
        </p:txBody>
      </p:sp>
    </p:spTree>
    <p:extLst>
      <p:ext uri="{BB962C8B-B14F-4D97-AF65-F5344CB8AC3E}">
        <p14:creationId xmlns:p14="http://schemas.microsoft.com/office/powerpoint/2010/main" val="3698797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7D855-2045-3FC3-07B5-035705713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4BB2A2F3-D778-EF14-DE86-F4EBD2EA3B2B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9.4 O que é a </a:t>
            </a:r>
            <a:r>
              <a:rPr lang="pt-PT" sz="6700" dirty="0" err="1"/>
              <a:t>mempool</a:t>
            </a:r>
            <a:r>
              <a:rPr lang="pt-PT" sz="6700" dirty="0"/>
              <a:t> (memória de transações)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D3675-FC6C-3266-5181-DE1957279141}"/>
              </a:ext>
            </a:extLst>
          </p:cNvPr>
          <p:cNvSpPr txBox="1">
            <a:spLocks/>
          </p:cNvSpPr>
          <p:nvPr/>
        </p:nvSpPr>
        <p:spPr>
          <a:xfrm>
            <a:off x="1426392" y="3058214"/>
            <a:ext cx="12668295" cy="61016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ct val="125000"/>
            </a:pPr>
            <a:r>
              <a:rPr lang="pt-PT" sz="2800" dirty="0">
                <a:solidFill>
                  <a:srgbClr val="58595B"/>
                </a:solidFill>
              </a:rPr>
              <a:t>Razões para atraso ou rejeição de transações</a:t>
            </a:r>
          </a:p>
          <a:p>
            <a:pPr marL="592138" indent="-592138">
              <a:lnSpc>
                <a:spcPct val="150000"/>
              </a:lnSpc>
              <a:spcAft>
                <a:spcPts val="1200"/>
              </a:spcAft>
              <a:buSzPct val="125000"/>
              <a:buBlip>
                <a:blip r:embed="rId3"/>
              </a:buBlip>
            </a:pPr>
            <a:r>
              <a:rPr lang="pt-PT" sz="2800" dirty="0">
                <a:solidFill>
                  <a:srgbClr val="58595B"/>
                </a:solidFill>
              </a:rPr>
              <a:t>Taxas baixas: </a:t>
            </a:r>
            <a:r>
              <a:rPr lang="pt-PT" sz="2800" b="0" dirty="0">
                <a:solidFill>
                  <a:srgbClr val="58595B"/>
                </a:solidFill>
              </a:rPr>
              <a:t>mineradores priorizam transações com taxas mais altas.</a:t>
            </a:r>
          </a:p>
          <a:p>
            <a:pPr marL="592138" indent="-592138">
              <a:lnSpc>
                <a:spcPct val="150000"/>
              </a:lnSpc>
              <a:spcAft>
                <a:spcPts val="1200"/>
              </a:spcAft>
              <a:buSzPct val="125000"/>
              <a:buBlip>
                <a:blip r:embed="rId3"/>
              </a:buBlip>
            </a:pPr>
            <a:r>
              <a:rPr lang="pt-PT" sz="2800" dirty="0">
                <a:solidFill>
                  <a:srgbClr val="58595B"/>
                </a:solidFill>
              </a:rPr>
              <a:t>Congestionamento da rede: </a:t>
            </a:r>
            <a:r>
              <a:rPr lang="pt-PT" sz="2800" b="0" dirty="0">
                <a:solidFill>
                  <a:srgbClr val="58595B"/>
                </a:solidFill>
              </a:rPr>
              <a:t>atrasos podem ocorrer mesmo com taxas adequadas.</a:t>
            </a:r>
          </a:p>
          <a:p>
            <a:pPr marL="592138" indent="-592138">
              <a:lnSpc>
                <a:spcPct val="150000"/>
              </a:lnSpc>
              <a:spcAft>
                <a:spcPts val="1200"/>
              </a:spcAft>
              <a:buSzPct val="125000"/>
              <a:buBlip>
                <a:blip r:embed="rId3"/>
              </a:buBlip>
            </a:pPr>
            <a:r>
              <a:rPr lang="pt-PT" sz="2800" dirty="0">
                <a:solidFill>
                  <a:srgbClr val="58595B"/>
                </a:solidFill>
              </a:rPr>
              <a:t>Tentativa de gasto duplo: </a:t>
            </a:r>
            <a:r>
              <a:rPr lang="pt-PT" sz="2800" b="0" dirty="0">
                <a:solidFill>
                  <a:srgbClr val="58595B"/>
                </a:solidFill>
              </a:rPr>
              <a:t>transação é rejeitada.</a:t>
            </a:r>
          </a:p>
          <a:p>
            <a:pPr marL="592138" indent="-592138">
              <a:lnSpc>
                <a:spcPct val="150000"/>
              </a:lnSpc>
              <a:spcAft>
                <a:spcPts val="1200"/>
              </a:spcAft>
              <a:buSzPct val="125000"/>
              <a:buBlip>
                <a:blip r:embed="rId3"/>
              </a:buBlip>
            </a:pPr>
            <a:r>
              <a:rPr lang="pt-PT" sz="2800" dirty="0">
                <a:solidFill>
                  <a:srgbClr val="58595B"/>
                </a:solidFill>
              </a:rPr>
              <a:t>Dados incorretos ou incompletos: </a:t>
            </a:r>
            <a:r>
              <a:rPr lang="pt-PT" sz="2800" b="0" dirty="0">
                <a:solidFill>
                  <a:srgbClr val="58595B"/>
                </a:solidFill>
              </a:rPr>
              <a:t>transação inválida.</a:t>
            </a:r>
          </a:p>
          <a:p>
            <a:pPr marL="592138" indent="-592138">
              <a:lnSpc>
                <a:spcPct val="150000"/>
              </a:lnSpc>
              <a:spcAft>
                <a:spcPts val="1200"/>
              </a:spcAft>
              <a:buSzPct val="125000"/>
              <a:buBlip>
                <a:blip r:embed="rId3"/>
              </a:buBlip>
            </a:pPr>
            <a:r>
              <a:rPr lang="pt-PT" sz="2800" dirty="0">
                <a:solidFill>
                  <a:srgbClr val="58595B"/>
                </a:solidFill>
              </a:rPr>
              <a:t>Transação malformada: </a:t>
            </a:r>
            <a:r>
              <a:rPr lang="pt-PT" sz="2800" b="0" dirty="0">
                <a:solidFill>
                  <a:srgbClr val="58595B"/>
                </a:solidFill>
              </a:rPr>
              <a:t>rejeitada pela rede.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703A1A-EF0F-ED47-55F3-D499CB4F47F9}"/>
              </a:ext>
            </a:extLst>
          </p:cNvPr>
          <p:cNvGrpSpPr>
            <a:grpSpLocks noChangeAspect="1"/>
          </p:cNvGrpSpPr>
          <p:nvPr/>
        </p:nvGrpSpPr>
        <p:grpSpPr>
          <a:xfrm>
            <a:off x="14301712" y="5966540"/>
            <a:ext cx="4419676" cy="5433264"/>
            <a:chOff x="14243050" y="5322652"/>
            <a:chExt cx="4813729" cy="591768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F9F104-4FD8-1F66-DE91-DC09A55610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434352" y="8180235"/>
              <a:ext cx="2803242" cy="3060104"/>
              <a:chOff x="14530349" y="7426609"/>
              <a:chExt cx="3553373" cy="3878970"/>
            </a:xfrm>
          </p:grpSpPr>
          <p:pic>
            <p:nvPicPr>
              <p:cNvPr id="32" name="object 11">
                <a:extLst>
                  <a:ext uri="{FF2B5EF4-FFF2-40B4-BE49-F238E27FC236}">
                    <a16:creationId xmlns:a16="http://schemas.microsoft.com/office/drawing/2014/main" id="{DFAD648A-F428-0836-7A8C-CC9EDD0593A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4920499" y="7426609"/>
                <a:ext cx="3163223" cy="3100357"/>
              </a:xfrm>
              <a:prstGeom prst="rect">
                <a:avLst/>
              </a:prstGeom>
            </p:spPr>
          </p:pic>
          <p:pic>
            <p:nvPicPr>
              <p:cNvPr id="33" name="object 12">
                <a:extLst>
                  <a:ext uri="{FF2B5EF4-FFF2-40B4-BE49-F238E27FC236}">
                    <a16:creationId xmlns:a16="http://schemas.microsoft.com/office/drawing/2014/main" id="{D231F8FB-781E-6989-37A9-72CC1E6EC944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5004217" y="10778884"/>
                <a:ext cx="3037354" cy="526695"/>
              </a:xfrm>
              <a:prstGeom prst="rect">
                <a:avLst/>
              </a:prstGeom>
            </p:spPr>
          </p:pic>
          <p:pic>
            <p:nvPicPr>
              <p:cNvPr id="34" name="object 13">
                <a:extLst>
                  <a:ext uri="{FF2B5EF4-FFF2-40B4-BE49-F238E27FC236}">
                    <a16:creationId xmlns:a16="http://schemas.microsoft.com/office/drawing/2014/main" id="{8599041E-6E5F-B44A-4A1E-E3BD72F65B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4530349" y="7626060"/>
                <a:ext cx="3330278" cy="3330309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054D9E-8CA1-8814-1DD9-1D325B8653A7}"/>
                </a:ext>
              </a:extLst>
            </p:cNvPr>
            <p:cNvGrpSpPr/>
            <p:nvPr/>
          </p:nvGrpSpPr>
          <p:grpSpPr>
            <a:xfrm>
              <a:off x="14243050" y="5322652"/>
              <a:ext cx="4813729" cy="2720398"/>
              <a:chOff x="14180045" y="4712884"/>
              <a:chExt cx="4419534" cy="2654993"/>
            </a:xfrm>
          </p:grpSpPr>
          <p:pic>
            <p:nvPicPr>
              <p:cNvPr id="7" name="object 14">
                <a:extLst>
                  <a:ext uri="{FF2B5EF4-FFF2-40B4-BE49-F238E27FC236}">
                    <a16:creationId xmlns:a16="http://schemas.microsoft.com/office/drawing/2014/main" id="{B04D9519-9C21-8DC3-B59C-FB959FB3CF30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180045" y="4824565"/>
                <a:ext cx="4419255" cy="2421704"/>
              </a:xfrm>
              <a:prstGeom prst="rect">
                <a:avLst/>
              </a:prstGeom>
            </p:spPr>
          </p:pic>
          <p:sp>
            <p:nvSpPr>
              <p:cNvPr id="8" name="object 15">
                <a:extLst>
                  <a:ext uri="{FF2B5EF4-FFF2-40B4-BE49-F238E27FC236}">
                    <a16:creationId xmlns:a16="http://schemas.microsoft.com/office/drawing/2014/main" id="{8EAF180E-901F-10BD-2898-0E190BEFA3B4}"/>
                  </a:ext>
                </a:extLst>
              </p:cNvPr>
              <p:cNvSpPr/>
              <p:nvPr/>
            </p:nvSpPr>
            <p:spPr>
              <a:xfrm>
                <a:off x="14180095" y="4824543"/>
                <a:ext cx="861579" cy="2422177"/>
              </a:xfrm>
              <a:custGeom>
                <a:avLst/>
                <a:gdLst/>
                <a:ahLst/>
                <a:cxnLst/>
                <a:rect l="l" t="t" r="r" b="b"/>
                <a:pathLst>
                  <a:path w="728345" h="2089150">
                    <a:moveTo>
                      <a:pt x="728271" y="2088721"/>
                    </a:moveTo>
                    <a:lnTo>
                      <a:pt x="183795" y="2088721"/>
                    </a:lnTo>
                    <a:lnTo>
                      <a:pt x="134936" y="2082156"/>
                    </a:lnTo>
                    <a:lnTo>
                      <a:pt x="91031" y="2063627"/>
                    </a:lnTo>
                    <a:lnTo>
                      <a:pt x="53833" y="2034888"/>
                    </a:lnTo>
                    <a:lnTo>
                      <a:pt x="25094" y="1997690"/>
                    </a:lnTo>
                    <a:lnTo>
                      <a:pt x="6565" y="1953785"/>
                    </a:lnTo>
                    <a:lnTo>
                      <a:pt x="0" y="1904926"/>
                    </a:lnTo>
                    <a:lnTo>
                      <a:pt x="0" y="183795"/>
                    </a:lnTo>
                    <a:lnTo>
                      <a:pt x="6565" y="134936"/>
                    </a:lnTo>
                    <a:lnTo>
                      <a:pt x="25094" y="91031"/>
                    </a:lnTo>
                    <a:lnTo>
                      <a:pt x="53833" y="53833"/>
                    </a:lnTo>
                    <a:lnTo>
                      <a:pt x="91031" y="25094"/>
                    </a:lnTo>
                    <a:lnTo>
                      <a:pt x="134936" y="6565"/>
                    </a:lnTo>
                    <a:lnTo>
                      <a:pt x="183795" y="0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9" name="object 16">
                <a:extLst>
                  <a:ext uri="{FF2B5EF4-FFF2-40B4-BE49-F238E27FC236}">
                    <a16:creationId xmlns:a16="http://schemas.microsoft.com/office/drawing/2014/main" id="{E18D4BA7-DD5B-4688-F6EC-71F6A18E2F20}"/>
                  </a:ext>
                </a:extLst>
              </p:cNvPr>
              <p:cNvSpPr/>
              <p:nvPr/>
            </p:nvSpPr>
            <p:spPr>
              <a:xfrm>
                <a:off x="15411160" y="7246224"/>
                <a:ext cx="21888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850390">
                    <a:moveTo>
                      <a:pt x="1850090" y="0"/>
                    </a:moveTo>
                    <a:lnTo>
                      <a:pt x="0" y="0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sp>
            <p:nvSpPr>
              <p:cNvPr id="10" name="object 17">
                <a:extLst>
                  <a:ext uri="{FF2B5EF4-FFF2-40B4-BE49-F238E27FC236}">
                    <a16:creationId xmlns:a16="http://schemas.microsoft.com/office/drawing/2014/main" id="{46395139-5EE0-D5B5-36E6-76350F16CE5F}"/>
                  </a:ext>
                </a:extLst>
              </p:cNvPr>
              <p:cNvSpPr/>
              <p:nvPr/>
            </p:nvSpPr>
            <p:spPr>
              <a:xfrm>
                <a:off x="14999276" y="4824545"/>
                <a:ext cx="3600303" cy="2422177"/>
              </a:xfrm>
              <a:custGeom>
                <a:avLst/>
                <a:gdLst/>
                <a:ahLst/>
                <a:cxnLst/>
                <a:rect l="l" t="t" r="r" b="b"/>
                <a:pathLst>
                  <a:path w="3043554" h="2089150">
                    <a:moveTo>
                      <a:pt x="0" y="0"/>
                    </a:moveTo>
                    <a:lnTo>
                      <a:pt x="2859546" y="0"/>
                    </a:lnTo>
                    <a:lnTo>
                      <a:pt x="2908405" y="6565"/>
                    </a:lnTo>
                    <a:lnTo>
                      <a:pt x="2952310" y="25094"/>
                    </a:lnTo>
                    <a:lnTo>
                      <a:pt x="2989508" y="53833"/>
                    </a:lnTo>
                    <a:lnTo>
                      <a:pt x="3018247" y="91031"/>
                    </a:lnTo>
                    <a:lnTo>
                      <a:pt x="3036776" y="134936"/>
                    </a:lnTo>
                    <a:lnTo>
                      <a:pt x="3043341" y="183795"/>
                    </a:lnTo>
                    <a:lnTo>
                      <a:pt x="3043341" y="1904926"/>
                    </a:lnTo>
                    <a:lnTo>
                      <a:pt x="3036776" y="1953785"/>
                    </a:lnTo>
                    <a:lnTo>
                      <a:pt x="3018247" y="1997690"/>
                    </a:lnTo>
                    <a:lnTo>
                      <a:pt x="2989508" y="2034888"/>
                    </a:lnTo>
                    <a:lnTo>
                      <a:pt x="2952310" y="2063627"/>
                    </a:lnTo>
                    <a:lnTo>
                      <a:pt x="2908405" y="2082156"/>
                    </a:lnTo>
                    <a:lnTo>
                      <a:pt x="2859546" y="2088721"/>
                    </a:lnTo>
                    <a:lnTo>
                      <a:pt x="2646202" y="2088721"/>
                    </a:lnTo>
                  </a:path>
                </a:pathLst>
              </a:custGeom>
              <a:ln w="1207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  <p:pic>
            <p:nvPicPr>
              <p:cNvPr id="11" name="object 18">
                <a:extLst>
                  <a:ext uri="{FF2B5EF4-FFF2-40B4-BE49-F238E27FC236}">
                    <a16:creationId xmlns:a16="http://schemas.microsoft.com/office/drawing/2014/main" id="{70ED9E68-BECA-6F82-DF87-F34E0C0AFEAD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724829" y="4712886"/>
                <a:ext cx="167809" cy="224905"/>
              </a:xfrm>
              <a:prstGeom prst="rect">
                <a:avLst/>
              </a:prstGeom>
            </p:spPr>
          </p:pic>
          <p:pic>
            <p:nvPicPr>
              <p:cNvPr id="12" name="object 19">
                <a:extLst>
                  <a:ext uri="{FF2B5EF4-FFF2-40B4-BE49-F238E27FC236}">
                    <a16:creationId xmlns:a16="http://schemas.microsoft.com/office/drawing/2014/main" id="{FD2D602A-FD2A-17E7-DB7A-9226EA9862DF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7679667" y="7142972"/>
                <a:ext cx="167809" cy="224905"/>
              </a:xfrm>
              <a:prstGeom prst="rect">
                <a:avLst/>
              </a:prstGeom>
            </p:spPr>
          </p:pic>
          <p:pic>
            <p:nvPicPr>
              <p:cNvPr id="14" name="object 20">
                <a:extLst>
                  <a:ext uri="{FF2B5EF4-FFF2-40B4-BE49-F238E27FC236}">
                    <a16:creationId xmlns:a16="http://schemas.microsoft.com/office/drawing/2014/main" id="{B17B2561-4E84-4318-D9A7-E356E66FF804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4522395" y="4712884"/>
                <a:ext cx="167809" cy="224796"/>
              </a:xfrm>
              <a:prstGeom prst="rect">
                <a:avLst/>
              </a:prstGeom>
            </p:spPr>
          </p:pic>
          <p:pic>
            <p:nvPicPr>
              <p:cNvPr id="30" name="object 21">
                <a:extLst>
                  <a:ext uri="{FF2B5EF4-FFF2-40B4-BE49-F238E27FC236}">
                    <a16:creationId xmlns:a16="http://schemas.microsoft.com/office/drawing/2014/main" id="{6933CF3C-E4AB-C6CA-7BC8-7C5976462FF5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7882098" y="7142968"/>
                <a:ext cx="167809" cy="224796"/>
              </a:xfrm>
              <a:prstGeom prst="rect">
                <a:avLst/>
              </a:prstGeom>
            </p:spPr>
          </p:pic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A63ABA0-90AD-AC0C-5278-FFE21E0E367E}"/>
                  </a:ext>
                </a:extLst>
              </p:cNvPr>
              <p:cNvCxnSpPr/>
              <p:nvPr/>
            </p:nvCxnSpPr>
            <p:spPr>
              <a:xfrm>
                <a:off x="14999276" y="7246224"/>
                <a:ext cx="460590" cy="0"/>
              </a:xfrm>
              <a:prstGeom prst="line">
                <a:avLst/>
              </a:prstGeom>
              <a:ln w="12700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FE37B37-35E0-1137-FB0F-A86DE9243E82}"/>
              </a:ext>
            </a:extLst>
          </p:cNvPr>
          <p:cNvSpPr txBox="1">
            <a:spLocks/>
          </p:cNvSpPr>
          <p:nvPr/>
        </p:nvSpPr>
        <p:spPr>
          <a:xfrm>
            <a:off x="14301433" y="6081651"/>
            <a:ext cx="4419651" cy="227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25000"/>
            </a:pPr>
            <a:r>
              <a:rPr lang="pt-PT" sz="2000" spc="10" dirty="0">
                <a:solidFill>
                  <a:srgbClr val="241B54"/>
                </a:solidFill>
                <a:latin typeface="Open Sans"/>
                <a:cs typeface="Open Sans"/>
              </a:rPr>
              <a:t>Dicas para evitar rejeição:</a:t>
            </a:r>
          </a:p>
          <a:p>
            <a:pPr algn="ctr">
              <a:buSzPct val="125000"/>
            </a:pPr>
            <a:r>
              <a:rPr lang="pt-PT" sz="2000" b="0" spc="10" dirty="0">
                <a:solidFill>
                  <a:srgbClr val="241B54"/>
                </a:solidFill>
                <a:latin typeface="Open Sans"/>
                <a:cs typeface="Open Sans"/>
              </a:rPr>
              <a:t>Incluir uma taxa suficientemente alta e verificar todos os dados da transação antes de enviar.</a:t>
            </a:r>
          </a:p>
        </p:txBody>
      </p:sp>
    </p:spTree>
    <p:extLst>
      <p:ext uri="{BB962C8B-B14F-4D97-AF65-F5344CB8AC3E}">
        <p14:creationId xmlns:p14="http://schemas.microsoft.com/office/powerpoint/2010/main" val="2684972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EB659-CB5F-C847-1DB4-6483FB98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9BCAFFAB-3A19-867F-8E56-E0852DA0CCC0}"/>
              </a:ext>
            </a:extLst>
          </p:cNvPr>
          <p:cNvSpPr txBox="1">
            <a:spLocks/>
          </p:cNvSpPr>
          <p:nvPr/>
        </p:nvSpPr>
        <p:spPr>
          <a:xfrm>
            <a:off x="1382713" y="930275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pt-PT" sz="6700" dirty="0"/>
              <a:t>9.5 O processo completo das transações Bitcoin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69B67-EE34-8170-42BA-59EC0A8FD5DA}"/>
              </a:ext>
            </a:extLst>
          </p:cNvPr>
          <p:cNvSpPr txBox="1">
            <a:spLocks/>
          </p:cNvSpPr>
          <p:nvPr/>
        </p:nvSpPr>
        <p:spPr>
          <a:xfrm>
            <a:off x="6501221" y="2225676"/>
            <a:ext cx="7101658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SzPct val="125000"/>
            </a:pPr>
            <a:r>
              <a:rPr lang="pt-PT" sz="2400" dirty="0">
                <a:solidFill>
                  <a:srgbClr val="392569"/>
                </a:solidFill>
              </a:rPr>
              <a:t>Processo completo de uma transação Bitcoin</a:t>
            </a:r>
          </a:p>
        </p:txBody>
      </p: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2EBC719A-D256-DB4B-191D-FC2BC66BCEEF}"/>
              </a:ext>
            </a:extLst>
          </p:cNvPr>
          <p:cNvGrpSpPr>
            <a:grpSpLocks noChangeAspect="1"/>
          </p:cNvGrpSpPr>
          <p:nvPr/>
        </p:nvGrpSpPr>
        <p:grpSpPr>
          <a:xfrm>
            <a:off x="811899" y="3673475"/>
            <a:ext cx="18480302" cy="6480000"/>
            <a:chOff x="476115" y="3872222"/>
            <a:chExt cx="19621635" cy="6880201"/>
          </a:xfrm>
        </p:grpSpPr>
        <p:pic>
          <p:nvPicPr>
            <p:cNvPr id="6" name="Graphic 5" descr="User outline">
              <a:extLst>
                <a:ext uri="{FF2B5EF4-FFF2-40B4-BE49-F238E27FC236}">
                  <a16:creationId xmlns:a16="http://schemas.microsoft.com/office/drawing/2014/main" id="{07E9D5E9-0417-0006-A69B-483796988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68886" y="3872222"/>
              <a:ext cx="1080000" cy="1080000"/>
            </a:xfrm>
            <a:prstGeom prst="rect">
              <a:avLst/>
            </a:prstGeom>
          </p:spPr>
        </p:pic>
        <p:pic>
          <p:nvPicPr>
            <p:cNvPr id="9" name="Graphic 8" descr="Key outline">
              <a:extLst>
                <a:ext uri="{FF2B5EF4-FFF2-40B4-BE49-F238E27FC236}">
                  <a16:creationId xmlns:a16="http://schemas.microsoft.com/office/drawing/2014/main" id="{2751E11D-F7F1-6885-7777-CCF9FA30B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0784621">
              <a:off x="5869329" y="3919671"/>
              <a:ext cx="1080000" cy="1080000"/>
            </a:xfrm>
            <a:prstGeom prst="rect">
              <a:avLst/>
            </a:prstGeom>
          </p:spPr>
        </p:pic>
        <p:pic>
          <p:nvPicPr>
            <p:cNvPr id="25" name="Graphic 24" descr="Clipboard Mixed outline">
              <a:extLst>
                <a:ext uri="{FF2B5EF4-FFF2-40B4-BE49-F238E27FC236}">
                  <a16:creationId xmlns:a16="http://schemas.microsoft.com/office/drawing/2014/main" id="{A68F40A0-B3F7-6864-59CF-1DFD0983A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745841" y="3919671"/>
              <a:ext cx="1080000" cy="1080000"/>
            </a:xfrm>
            <a:prstGeom prst="rect">
              <a:avLst/>
            </a:prstGeom>
          </p:spPr>
        </p:pic>
        <p:grpSp>
          <p:nvGrpSpPr>
            <p:cNvPr id="1062" name="Group 1061">
              <a:extLst>
                <a:ext uri="{FF2B5EF4-FFF2-40B4-BE49-F238E27FC236}">
                  <a16:creationId xmlns:a16="http://schemas.microsoft.com/office/drawing/2014/main" id="{BFC319CD-8585-58AF-EB20-532CB6F559BF}"/>
                </a:ext>
              </a:extLst>
            </p:cNvPr>
            <p:cNvGrpSpPr/>
            <p:nvPr/>
          </p:nvGrpSpPr>
          <p:grpSpPr>
            <a:xfrm>
              <a:off x="16506152" y="7630480"/>
              <a:ext cx="3591598" cy="2819024"/>
              <a:chOff x="374537" y="7788651"/>
              <a:chExt cx="3591598" cy="2819024"/>
            </a:xfrm>
          </p:grpSpPr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3DA29E3C-77B5-CC36-73EA-F2DEBD3DA29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720336" y="7788651"/>
                <a:ext cx="900000" cy="900000"/>
              </a:xfrm>
              <a:prstGeom prst="cube">
                <a:avLst>
                  <a:gd name="adj" fmla="val 21241"/>
                </a:avLst>
              </a:prstGeom>
              <a:gradFill>
                <a:gsLst>
                  <a:gs pos="40000">
                    <a:srgbClr val="8C3BF0"/>
                  </a:gs>
                  <a:gs pos="100000">
                    <a:srgbClr val="175CB4"/>
                  </a:gs>
                </a:gsLst>
                <a:lin ang="5400000" scaled="1"/>
              </a:gra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4CE92824-88C8-C050-4A39-14F65CC237C9}"/>
                  </a:ext>
                </a:extLst>
              </p:cNvPr>
              <p:cNvSpPr txBox="1"/>
              <p:nvPr/>
            </p:nvSpPr>
            <p:spPr>
              <a:xfrm>
                <a:off x="374537" y="9278593"/>
                <a:ext cx="3591598" cy="1329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4000"/>
                  </a:lnSpc>
                  <a:buSzPct val="125000"/>
                </a:pPr>
                <a:r>
                  <a:rPr lang="pt-PT" sz="1800" b="0" dirty="0">
                    <a:solidFill>
                      <a:srgbClr val="58595B"/>
                    </a:solidFill>
                  </a:rPr>
                  <a:t>Os mineradores selecionam transações da </a:t>
                </a:r>
                <a:r>
                  <a:rPr lang="pt-PT" sz="1800" b="0" dirty="0" err="1">
                    <a:solidFill>
                      <a:srgbClr val="58595B"/>
                    </a:solidFill>
                  </a:rPr>
                  <a:t>mempool</a:t>
                </a:r>
                <a:r>
                  <a:rPr lang="pt-PT" sz="1800" b="0" dirty="0">
                    <a:solidFill>
                      <a:srgbClr val="58595B"/>
                    </a:solidFill>
                  </a:rPr>
                  <a:t>, priorizando as com taxas mais altas.</a:t>
                </a:r>
              </a:p>
            </p:txBody>
          </p:sp>
        </p:grpSp>
        <p:grpSp>
          <p:nvGrpSpPr>
            <p:cNvPr id="1061" name="Group 1060">
              <a:extLst>
                <a:ext uri="{FF2B5EF4-FFF2-40B4-BE49-F238E27FC236}">
                  <a16:creationId xmlns:a16="http://schemas.microsoft.com/office/drawing/2014/main" id="{83370525-618E-B5DA-55F6-8ABC2141656F}"/>
                </a:ext>
              </a:extLst>
            </p:cNvPr>
            <p:cNvGrpSpPr/>
            <p:nvPr/>
          </p:nvGrpSpPr>
          <p:grpSpPr>
            <a:xfrm>
              <a:off x="12557352" y="7687902"/>
              <a:ext cx="3591598" cy="3062816"/>
              <a:chOff x="4374979" y="7860651"/>
              <a:chExt cx="3591598" cy="3062816"/>
            </a:xfrm>
          </p:grpSpPr>
          <p:pic>
            <p:nvPicPr>
              <p:cNvPr id="1026" name="Picture 2" descr="Mining pickaxe silhouette icon or digging Vector Image">
                <a:extLst>
                  <a:ext uri="{FF2B5EF4-FFF2-40B4-BE49-F238E27FC236}">
                    <a16:creationId xmlns:a16="http://schemas.microsoft.com/office/drawing/2014/main" id="{B8816BD8-986F-B313-3379-9E79C4C106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546" t="6988" r="12896" b="20244"/>
              <a:stretch>
                <a:fillRect/>
              </a:stretch>
            </p:blipFill>
            <p:spPr bwMode="auto">
              <a:xfrm flipH="1">
                <a:off x="5751065" y="7860651"/>
                <a:ext cx="839427" cy="75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29" name="TextBox 1028">
                <a:extLst>
                  <a:ext uri="{FF2B5EF4-FFF2-40B4-BE49-F238E27FC236}">
                    <a16:creationId xmlns:a16="http://schemas.microsoft.com/office/drawing/2014/main" id="{216FB699-D3E9-3041-AEE6-59F687FB7849}"/>
                  </a:ext>
                </a:extLst>
              </p:cNvPr>
              <p:cNvSpPr txBox="1"/>
              <p:nvPr/>
            </p:nvSpPr>
            <p:spPr>
              <a:xfrm>
                <a:off x="4374979" y="9278593"/>
                <a:ext cx="3591598" cy="1644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4000"/>
                  </a:lnSpc>
                  <a:buSzPct val="125000"/>
                </a:pPr>
                <a:r>
                  <a:rPr lang="pt-PT" sz="1800" b="0" dirty="0">
                    <a:solidFill>
                      <a:srgbClr val="58595B"/>
                    </a:solidFill>
                  </a:rPr>
                  <a:t>Cada minerador compete para encontrar um </a:t>
                </a:r>
                <a:r>
                  <a:rPr lang="pt-PT" sz="1800" b="0" dirty="0" err="1">
                    <a:solidFill>
                      <a:srgbClr val="58595B"/>
                    </a:solidFill>
                  </a:rPr>
                  <a:t>hash</a:t>
                </a:r>
                <a:r>
                  <a:rPr lang="pt-PT" sz="1800" b="0" dirty="0">
                    <a:solidFill>
                      <a:srgbClr val="58595B"/>
                    </a:solidFill>
                  </a:rPr>
                  <a:t> válido do bloco (</a:t>
                </a:r>
                <a:r>
                  <a:rPr lang="pt-PT" sz="1800" b="0" dirty="0" err="1">
                    <a:solidFill>
                      <a:srgbClr val="58595B"/>
                    </a:solidFill>
                  </a:rPr>
                  <a:t>Proof-of-Work</a:t>
                </a:r>
                <a:r>
                  <a:rPr lang="pt-PT" sz="1800" b="0" dirty="0">
                    <a:solidFill>
                      <a:srgbClr val="58595B"/>
                    </a:solidFill>
                  </a:rPr>
                  <a:t>); o primeiro a encontrar o </a:t>
                </a:r>
                <a:r>
                  <a:rPr lang="pt-PT" sz="1800" b="0" dirty="0" err="1">
                    <a:solidFill>
                      <a:srgbClr val="58595B"/>
                    </a:solidFill>
                  </a:rPr>
                  <a:t>hash</a:t>
                </a:r>
                <a:r>
                  <a:rPr lang="pt-PT" sz="1800" b="0" dirty="0">
                    <a:solidFill>
                      <a:srgbClr val="58595B"/>
                    </a:solidFill>
                  </a:rPr>
                  <a:t> compartilha o bloco com a rede.</a:t>
                </a:r>
              </a:p>
            </p:txBody>
          </p:sp>
        </p:grpSp>
        <p:grpSp>
          <p:nvGrpSpPr>
            <p:cNvPr id="1059" name="Group 1058">
              <a:extLst>
                <a:ext uri="{FF2B5EF4-FFF2-40B4-BE49-F238E27FC236}">
                  <a16:creationId xmlns:a16="http://schemas.microsoft.com/office/drawing/2014/main" id="{9EC94431-A779-2BB1-A23A-CCBD11CC6676}"/>
                </a:ext>
              </a:extLst>
            </p:cNvPr>
            <p:cNvGrpSpPr/>
            <p:nvPr/>
          </p:nvGrpSpPr>
          <p:grpSpPr>
            <a:xfrm>
              <a:off x="4659752" y="7808722"/>
              <a:ext cx="3591598" cy="2640782"/>
              <a:chOff x="12251492" y="7968977"/>
              <a:chExt cx="3591598" cy="264078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7A3574F-5851-EB53-C784-E813C6AC949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2948272" y="7968977"/>
                <a:ext cx="2056778" cy="504000"/>
                <a:chOff x="5526045" y="8778875"/>
                <a:chExt cx="2350603" cy="5760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919AA9B2-80CF-F80F-7CC6-AE0D29ADB0B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692732" y="8778875"/>
                  <a:ext cx="2183916" cy="573486"/>
                  <a:chOff x="8359342" y="3429000"/>
                  <a:chExt cx="4631284" cy="1216152"/>
                </a:xfrm>
              </p:grpSpPr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4BDA4B8A-B393-EC97-D2DA-82AA7F2C4C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359342" y="4037076"/>
                    <a:ext cx="4109804" cy="0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Cube 47">
                    <a:extLst>
                      <a:ext uri="{FF2B5EF4-FFF2-40B4-BE49-F238E27FC236}">
                        <a16:creationId xmlns:a16="http://schemas.microsoft.com/office/drawing/2014/main" id="{408DDD01-41DD-5AD6-4BC7-A17E0E98E8FB}"/>
                      </a:ext>
                    </a:extLst>
                  </p:cNvPr>
                  <p:cNvSpPr/>
                  <p:nvPr/>
                </p:nvSpPr>
                <p:spPr>
                  <a:xfrm flipH="1">
                    <a:off x="9886937" y="3429000"/>
                    <a:ext cx="1216152" cy="1216152"/>
                  </a:xfrm>
                  <a:prstGeom prst="cube">
                    <a:avLst>
                      <a:gd name="adj" fmla="val 212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49" name="Cube 48">
                    <a:extLst>
                      <a:ext uri="{FF2B5EF4-FFF2-40B4-BE49-F238E27FC236}">
                        <a16:creationId xmlns:a16="http://schemas.microsoft.com/office/drawing/2014/main" id="{5F67C9A1-6CF7-BC60-72DE-F3B9F9CA5B85}"/>
                      </a:ext>
                    </a:extLst>
                  </p:cNvPr>
                  <p:cNvSpPr/>
                  <p:nvPr/>
                </p:nvSpPr>
                <p:spPr>
                  <a:xfrm flipH="1">
                    <a:off x="11774474" y="3429000"/>
                    <a:ext cx="1216152" cy="1216152"/>
                  </a:xfrm>
                  <a:prstGeom prst="cube">
                    <a:avLst>
                      <a:gd name="adj" fmla="val 212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144910EE-81B1-C451-7D92-C10C59D2E3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526045" y="8778875"/>
                  <a:ext cx="576000" cy="576000"/>
                </a:xfrm>
                <a:prstGeom prst="cube">
                  <a:avLst>
                    <a:gd name="adj" fmla="val 21241"/>
                  </a:avLst>
                </a:prstGeom>
                <a:gradFill>
                  <a:gsLst>
                    <a:gs pos="40000">
                      <a:srgbClr val="8C3BF0"/>
                    </a:gs>
                    <a:gs pos="100000">
                      <a:srgbClr val="175CB4"/>
                    </a:gs>
                  </a:gsLst>
                  <a:lin ang="5400000" scaled="1"/>
                </a:gra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5DE9423C-3774-8473-F7D4-E70081DCF312}"/>
                  </a:ext>
                </a:extLst>
              </p:cNvPr>
              <p:cNvSpPr txBox="1"/>
              <p:nvPr/>
            </p:nvSpPr>
            <p:spPr>
              <a:xfrm>
                <a:off x="12251492" y="9280677"/>
                <a:ext cx="3591598" cy="1329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4000"/>
                  </a:lnSpc>
                  <a:buSzPct val="125000"/>
                </a:pPr>
                <a:r>
                  <a:rPr lang="pt-PT" sz="1800" b="0" dirty="0">
                    <a:solidFill>
                      <a:srgbClr val="58595B"/>
                    </a:solidFill>
                  </a:rPr>
                  <a:t>Quando a maioria concorda, o bloco é adicionado à blockchain, confirmando a transação no endereço de destino.</a:t>
                </a:r>
              </a:p>
            </p:txBody>
          </p:sp>
        </p:grpSp>
        <p:grpSp>
          <p:nvGrpSpPr>
            <p:cNvPr id="1058" name="Group 1057">
              <a:extLst>
                <a:ext uri="{FF2B5EF4-FFF2-40B4-BE49-F238E27FC236}">
                  <a16:creationId xmlns:a16="http://schemas.microsoft.com/office/drawing/2014/main" id="{509A2DCF-31DE-7B5A-1190-EC1B261DF338}"/>
                </a:ext>
              </a:extLst>
            </p:cNvPr>
            <p:cNvGrpSpPr/>
            <p:nvPr/>
          </p:nvGrpSpPr>
          <p:grpSpPr>
            <a:xfrm>
              <a:off x="476115" y="7771545"/>
              <a:ext cx="3826435" cy="2980878"/>
              <a:chOff x="16014194" y="7942589"/>
              <a:chExt cx="3826435" cy="2980878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5A5B9BC-7885-910C-B131-E87DAAF3D7A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6505758" y="7942589"/>
                <a:ext cx="2843309" cy="504000"/>
                <a:chOff x="5522999" y="8777618"/>
                <a:chExt cx="3249496" cy="576000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F59E7C23-16EE-4539-39A9-F5BCC2C100D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5522999" y="8778875"/>
                  <a:ext cx="3249496" cy="573486"/>
                  <a:chOff x="7999400" y="3429000"/>
                  <a:chExt cx="6890989" cy="1216152"/>
                </a:xfrm>
              </p:grpSpPr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CDA3427D-5B11-2AE2-6764-A7DCE7710FEF}"/>
                      </a:ext>
                    </a:extLst>
                  </p:cNvPr>
                  <p:cNvCxnSpPr/>
                  <p:nvPr/>
                </p:nvCxnSpPr>
                <p:spPr>
                  <a:xfrm>
                    <a:off x="8277896" y="4037076"/>
                    <a:ext cx="6333997" cy="0"/>
                  </a:xfrm>
                  <a:prstGeom prst="line">
                    <a:avLst/>
                  </a:prstGeom>
                  <a:ln w="38100">
                    <a:solidFill>
                      <a:schemeClr val="bg1">
                        <a:lumMod val="75000"/>
                      </a:schemeClr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" name="Cube 28">
                    <a:extLst>
                      <a:ext uri="{FF2B5EF4-FFF2-40B4-BE49-F238E27FC236}">
                        <a16:creationId xmlns:a16="http://schemas.microsoft.com/office/drawing/2014/main" id="{620A97A6-BB6F-201A-6DA3-30CBD2675B74}"/>
                      </a:ext>
                    </a:extLst>
                  </p:cNvPr>
                  <p:cNvSpPr/>
                  <p:nvPr/>
                </p:nvSpPr>
                <p:spPr>
                  <a:xfrm flipH="1">
                    <a:off x="7999400" y="3429000"/>
                    <a:ext cx="1216152" cy="1216152"/>
                  </a:xfrm>
                  <a:prstGeom prst="cube">
                    <a:avLst>
                      <a:gd name="adj" fmla="val 212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30" name="Cube 29">
                    <a:extLst>
                      <a:ext uri="{FF2B5EF4-FFF2-40B4-BE49-F238E27FC236}">
                        <a16:creationId xmlns:a16="http://schemas.microsoft.com/office/drawing/2014/main" id="{6E00A408-606D-A567-CF90-9C75704A2091}"/>
                      </a:ext>
                    </a:extLst>
                  </p:cNvPr>
                  <p:cNvSpPr/>
                  <p:nvPr/>
                </p:nvSpPr>
                <p:spPr>
                  <a:xfrm flipH="1">
                    <a:off x="9886937" y="3429000"/>
                    <a:ext cx="1216152" cy="1216152"/>
                  </a:xfrm>
                  <a:prstGeom prst="cube">
                    <a:avLst>
                      <a:gd name="adj" fmla="val 212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sp>
                <p:nvSpPr>
                  <p:cNvPr id="31" name="Cube 30">
                    <a:extLst>
                      <a:ext uri="{FF2B5EF4-FFF2-40B4-BE49-F238E27FC236}">
                        <a16:creationId xmlns:a16="http://schemas.microsoft.com/office/drawing/2014/main" id="{7B8FCA19-A9D5-0264-92CF-4AF0B820319B}"/>
                      </a:ext>
                    </a:extLst>
                  </p:cNvPr>
                  <p:cNvSpPr/>
                  <p:nvPr/>
                </p:nvSpPr>
                <p:spPr>
                  <a:xfrm flipH="1">
                    <a:off x="13674238" y="3429000"/>
                    <a:ext cx="1216151" cy="1216152"/>
                  </a:xfrm>
                  <a:prstGeom prst="cube">
                    <a:avLst>
                      <a:gd name="adj" fmla="val 21241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</p:grp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6CE493E-B62F-C0A0-2524-18819AD877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7303163" y="8777618"/>
                  <a:ext cx="576000" cy="576000"/>
                </a:xfrm>
                <a:prstGeom prst="cube">
                  <a:avLst>
                    <a:gd name="adj" fmla="val 21241"/>
                  </a:avLst>
                </a:prstGeom>
                <a:gradFill>
                  <a:gsLst>
                    <a:gs pos="40000">
                      <a:srgbClr val="8C3BF0"/>
                    </a:gs>
                    <a:gs pos="100000">
                      <a:srgbClr val="175CB4"/>
                    </a:gs>
                  </a:gsLst>
                  <a:lin ang="5400000" scaled="1"/>
                </a:gra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</p:grp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706DA367-36E1-E70B-A71F-21BE100D11E2}"/>
                  </a:ext>
                </a:extLst>
              </p:cNvPr>
              <p:cNvSpPr txBox="1"/>
              <p:nvPr/>
            </p:nvSpPr>
            <p:spPr>
              <a:xfrm>
                <a:off x="16014194" y="9278593"/>
                <a:ext cx="3826435" cy="1644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4000"/>
                  </a:lnSpc>
                  <a:buSzPct val="125000"/>
                </a:pPr>
                <a:r>
                  <a:rPr lang="pt-PT" sz="1800" b="0" dirty="0">
                    <a:solidFill>
                      <a:srgbClr val="58595B"/>
                    </a:solidFill>
                  </a:rPr>
                  <a:t>Com a adição de blocos subsequentes, o número de confirmações aumenta, reforçando a segurança e tornando a transação praticamente irreversível.</a:t>
                </a:r>
              </a:p>
            </p:txBody>
          </p:sp>
        </p:grp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93B14E9E-59D1-E1D3-C105-0E538E09881D}"/>
                </a:ext>
              </a:extLst>
            </p:cNvPr>
            <p:cNvSpPr txBox="1"/>
            <p:nvPr/>
          </p:nvSpPr>
          <p:spPr>
            <a:xfrm>
              <a:off x="613087" y="5143266"/>
              <a:ext cx="3591598" cy="1329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4000"/>
                </a:lnSpc>
                <a:buSzPct val="125000"/>
              </a:pPr>
              <a:r>
                <a:rPr lang="pt-PT" sz="1800" b="0" dirty="0">
                  <a:solidFill>
                    <a:srgbClr val="58595B"/>
                  </a:solidFill>
                </a:rPr>
                <a:t>O utilizador cria a transação, seleciona os UTXO a gastar, define o endereço de destino e adiciona uma taxa.</a:t>
              </a:r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F6D5BCF4-44BE-35DA-64CD-81E1641A8A8E}"/>
                </a:ext>
              </a:extLst>
            </p:cNvPr>
            <p:cNvSpPr txBox="1"/>
            <p:nvPr/>
          </p:nvSpPr>
          <p:spPr>
            <a:xfrm>
              <a:off x="4613529" y="5143266"/>
              <a:ext cx="3591598" cy="1013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4000"/>
                </a:lnSpc>
                <a:buSzPct val="125000"/>
              </a:pPr>
              <a:r>
                <a:rPr lang="pt-PT" sz="1800" b="0" dirty="0">
                  <a:solidFill>
                    <a:srgbClr val="58595B"/>
                  </a:solidFill>
                </a:rPr>
                <a:t>Assina a transação com a chave privada para garantir autenticidade.</a:t>
              </a: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C03C3034-4807-58D3-C47F-E67B5331545E}"/>
                </a:ext>
              </a:extLst>
            </p:cNvPr>
            <p:cNvSpPr txBox="1"/>
            <p:nvPr/>
          </p:nvSpPr>
          <p:spPr>
            <a:xfrm>
              <a:off x="12490042" y="5145350"/>
              <a:ext cx="3591598" cy="1013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4000"/>
                </a:lnSpc>
                <a:buSzPct val="125000"/>
              </a:pPr>
              <a:r>
                <a:rPr lang="pt-PT" sz="1800" b="0" dirty="0">
                  <a:solidFill>
                    <a:srgbClr val="58595B"/>
                  </a:solidFill>
                </a:rPr>
                <a:t>Os nós verificam a validade da transação (assinatura e saldo suficiente).</a:t>
              </a: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90520E30-EDA7-A192-A449-86122A025393}"/>
                </a:ext>
              </a:extLst>
            </p:cNvPr>
            <p:cNvSpPr txBox="1"/>
            <p:nvPr/>
          </p:nvSpPr>
          <p:spPr>
            <a:xfrm>
              <a:off x="8755961" y="5145350"/>
              <a:ext cx="3591598" cy="697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4000"/>
                </a:lnSpc>
                <a:buSzPct val="125000"/>
              </a:pPr>
              <a:r>
                <a:rPr lang="pt-PT" sz="1800" b="0" dirty="0">
                  <a:solidFill>
                    <a:srgbClr val="58595B"/>
                  </a:solidFill>
                </a:rPr>
                <a:t>Transmite a transação à rede Bitcoin.</a:t>
              </a:r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13A93EF0-98BA-F11E-91FF-F899AC6051BB}"/>
                </a:ext>
              </a:extLst>
            </p:cNvPr>
            <p:cNvSpPr txBox="1"/>
            <p:nvPr/>
          </p:nvSpPr>
          <p:spPr>
            <a:xfrm>
              <a:off x="16370165" y="5145350"/>
              <a:ext cx="3591598" cy="10132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4000"/>
                </a:lnSpc>
                <a:buSzPct val="125000"/>
              </a:pPr>
              <a:r>
                <a:rPr lang="pt-PT" sz="1800" b="0" dirty="0">
                  <a:solidFill>
                    <a:srgbClr val="58595B"/>
                  </a:solidFill>
                </a:rPr>
                <a:t>Transações válidas são adicionadas à </a:t>
              </a:r>
              <a:r>
                <a:rPr lang="pt-PT" sz="1800" b="0" dirty="0" err="1">
                  <a:solidFill>
                    <a:srgbClr val="58595B"/>
                  </a:solidFill>
                </a:rPr>
                <a:t>mempool</a:t>
              </a:r>
              <a:r>
                <a:rPr lang="pt-PT" sz="1800" b="0" dirty="0">
                  <a:solidFill>
                    <a:srgbClr val="58595B"/>
                  </a:solidFill>
                </a:rPr>
                <a:t> e partilhadas com outros nós.</a:t>
              </a:r>
            </a:p>
          </p:txBody>
        </p:sp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7C778786-048F-711F-DC33-5EE6F503F23A}"/>
                </a:ext>
              </a:extLst>
            </p:cNvPr>
            <p:cNvGrpSpPr/>
            <p:nvPr/>
          </p:nvGrpSpPr>
          <p:grpSpPr>
            <a:xfrm>
              <a:off x="9869772" y="3873159"/>
              <a:ext cx="1080000" cy="1080000"/>
              <a:chOff x="9631222" y="4168098"/>
              <a:chExt cx="1080000" cy="1080000"/>
            </a:xfrm>
          </p:grpSpPr>
          <p:pic>
            <p:nvPicPr>
              <p:cNvPr id="54" name="Graphic 53" descr="Network outline">
                <a:extLst>
                  <a:ext uri="{FF2B5EF4-FFF2-40B4-BE49-F238E27FC236}">
                    <a16:creationId xmlns:a16="http://schemas.microsoft.com/office/drawing/2014/main" id="{1195CF66-77AF-E38E-C9F6-903A6675FE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19923080">
                <a:off x="9631222" y="4168098"/>
                <a:ext cx="1080000" cy="1080000"/>
              </a:xfrm>
              <a:prstGeom prst="rect">
                <a:avLst/>
              </a:prstGeom>
            </p:spPr>
          </p:pic>
          <p:pic>
            <p:nvPicPr>
              <p:cNvPr id="1040" name="Picture 4" descr="Bitcoin Logo, symbol, meaning, history, PNG, brand">
                <a:extLst>
                  <a:ext uri="{FF2B5EF4-FFF2-40B4-BE49-F238E27FC236}">
                    <a16:creationId xmlns:a16="http://schemas.microsoft.com/office/drawing/2014/main" id="{4D2229C1-FF23-E23D-CB06-B8556FFAD0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48973" y="4615593"/>
                <a:ext cx="479967" cy="27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60" name="Group 1059">
              <a:extLst>
                <a:ext uri="{FF2B5EF4-FFF2-40B4-BE49-F238E27FC236}">
                  <a16:creationId xmlns:a16="http://schemas.microsoft.com/office/drawing/2014/main" id="{1EA73456-F7A1-DD62-160F-F985591C87AF}"/>
                </a:ext>
              </a:extLst>
            </p:cNvPr>
            <p:cNvGrpSpPr/>
            <p:nvPr/>
          </p:nvGrpSpPr>
          <p:grpSpPr>
            <a:xfrm>
              <a:off x="8608552" y="7327496"/>
              <a:ext cx="3591598" cy="2811142"/>
              <a:chOff x="8517411" y="7482826"/>
              <a:chExt cx="3591598" cy="2811142"/>
            </a:xfrm>
          </p:grpSpPr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B37E9C23-E32E-9321-4078-2D3EEAD2CD40}"/>
                  </a:ext>
                </a:extLst>
              </p:cNvPr>
              <p:cNvSpPr txBox="1"/>
              <p:nvPr/>
            </p:nvSpPr>
            <p:spPr>
              <a:xfrm>
                <a:off x="8517411" y="9280677"/>
                <a:ext cx="3591598" cy="1013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4000"/>
                  </a:lnSpc>
                  <a:buSzPct val="125000"/>
                </a:pPr>
                <a:r>
                  <a:rPr lang="pt-PT" sz="1800" b="0" dirty="0">
                    <a:solidFill>
                      <a:srgbClr val="58595B"/>
                    </a:solidFill>
                  </a:rPr>
                  <a:t>Os nós verificam a validade do bloco e das transações nele incluídas.</a:t>
                </a:r>
              </a:p>
            </p:txBody>
          </p:sp>
          <p:grpSp>
            <p:nvGrpSpPr>
              <p:cNvPr id="1042" name="Group 1041">
                <a:extLst>
                  <a:ext uri="{FF2B5EF4-FFF2-40B4-BE49-F238E27FC236}">
                    <a16:creationId xmlns:a16="http://schemas.microsoft.com/office/drawing/2014/main" id="{0BA9C6BE-DFF6-BA02-1CB8-269CBD39DC10}"/>
                  </a:ext>
                </a:extLst>
              </p:cNvPr>
              <p:cNvGrpSpPr/>
              <p:nvPr/>
            </p:nvGrpSpPr>
            <p:grpSpPr>
              <a:xfrm>
                <a:off x="9573116" y="7482826"/>
                <a:ext cx="1196212" cy="1424976"/>
                <a:chOff x="9573116" y="7482826"/>
                <a:chExt cx="1196212" cy="1424976"/>
              </a:xfrm>
            </p:grpSpPr>
            <p:grpSp>
              <p:nvGrpSpPr>
                <p:cNvPr id="1033" name="Group 1032">
                  <a:extLst>
                    <a:ext uri="{FF2B5EF4-FFF2-40B4-BE49-F238E27FC236}">
                      <a16:creationId xmlns:a16="http://schemas.microsoft.com/office/drawing/2014/main" id="{918D5DAE-3126-353F-6C27-D0E75CC04674}"/>
                    </a:ext>
                  </a:extLst>
                </p:cNvPr>
                <p:cNvGrpSpPr/>
                <p:nvPr/>
              </p:nvGrpSpPr>
              <p:grpSpPr>
                <a:xfrm>
                  <a:off x="9573116" y="7482826"/>
                  <a:ext cx="1196212" cy="1424976"/>
                  <a:chOff x="8622335" y="9493726"/>
                  <a:chExt cx="1196212" cy="1424976"/>
                </a:xfrm>
              </p:grpSpPr>
              <p:sp>
                <p:nvSpPr>
                  <p:cNvPr id="51" name="Cube 50">
                    <a:extLst>
                      <a:ext uri="{FF2B5EF4-FFF2-40B4-BE49-F238E27FC236}">
                        <a16:creationId xmlns:a16="http://schemas.microsoft.com/office/drawing/2014/main" id="{2FA99FA4-DC97-900B-A809-9946BD932C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9238176" y="10342702"/>
                    <a:ext cx="576000" cy="576000"/>
                  </a:xfrm>
                  <a:prstGeom prst="cube">
                    <a:avLst>
                      <a:gd name="adj" fmla="val 21241"/>
                    </a:avLst>
                  </a:prstGeom>
                  <a:gradFill>
                    <a:gsLst>
                      <a:gs pos="40000">
                        <a:srgbClr val="8C3BF0"/>
                      </a:gs>
                      <a:gs pos="100000">
                        <a:srgbClr val="175CB4"/>
                      </a:gs>
                    </a:gsLst>
                    <a:lin ang="5400000" scaled="1"/>
                  </a:gradFill>
                  <a:ln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 dirty="0"/>
                  </a:p>
                </p:txBody>
              </p:sp>
              <p:pic>
                <p:nvPicPr>
                  <p:cNvPr id="52" name="Graphic 51" descr="Network outline">
                    <a:extLst>
                      <a:ext uri="{FF2B5EF4-FFF2-40B4-BE49-F238E27FC236}">
                        <a16:creationId xmlns:a16="http://schemas.microsoft.com/office/drawing/2014/main" id="{7572579A-887D-ACDF-9F84-0E757F2368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 rot="19923080">
                    <a:off x="8622335" y="9493726"/>
                    <a:ext cx="1080000" cy="1080000"/>
                  </a:xfrm>
                  <a:prstGeom prst="rect">
                    <a:avLst/>
                  </a:prstGeom>
                </p:spPr>
              </p:pic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6D912FA6-2C5C-41BF-FEE6-546E8252504C}"/>
                      </a:ext>
                    </a:extLst>
                  </p:cNvPr>
                  <p:cNvSpPr txBox="1"/>
                  <p:nvPr/>
                </p:nvSpPr>
                <p:spPr>
                  <a:xfrm>
                    <a:off x="9403049" y="10549370"/>
                    <a:ext cx="4154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dirty="0"/>
                      <a:t>✅</a:t>
                    </a:r>
                  </a:p>
                </p:txBody>
              </p:sp>
            </p:grpSp>
            <p:pic>
              <p:nvPicPr>
                <p:cNvPr id="1041" name="Picture 4" descr="Bitcoin Logo, symbol, meaning, history, PNG, brand">
                  <a:extLst>
                    <a:ext uri="{FF2B5EF4-FFF2-40B4-BE49-F238E27FC236}">
                      <a16:creationId xmlns:a16="http://schemas.microsoft.com/office/drawing/2014/main" id="{2678F2F5-1BEE-F33D-5C36-B11B7CAC188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899650" y="7931010"/>
                  <a:ext cx="479967" cy="27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pic>
          <p:nvPicPr>
            <p:cNvPr id="1044" name="Picture 6" descr="Bitcoin Mempool: How It Works &amp; Speed Up Transactions | Bitsgap blog">
              <a:extLst>
                <a:ext uri="{FF2B5EF4-FFF2-40B4-BE49-F238E27FC236}">
                  <a16:creationId xmlns:a16="http://schemas.microsoft.com/office/drawing/2014/main" id="{92E723DC-FC16-499F-5A62-1165BF3700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705" t="46240" r="40708" b="30122"/>
            <a:stretch>
              <a:fillRect/>
            </a:stretch>
          </p:blipFill>
          <p:spPr bwMode="auto">
            <a:xfrm>
              <a:off x="17765079" y="4056787"/>
              <a:ext cx="1073745" cy="792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51" name="Straight Arrow Connector 1050">
              <a:extLst>
                <a:ext uri="{FF2B5EF4-FFF2-40B4-BE49-F238E27FC236}">
                  <a16:creationId xmlns:a16="http://schemas.microsoft.com/office/drawing/2014/main" id="{1643E14F-2E4F-0C68-71D0-6DF6E2698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76000" y="8075107"/>
              <a:ext cx="14478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Arrow Connector 1051">
              <a:extLst>
                <a:ext uri="{FF2B5EF4-FFF2-40B4-BE49-F238E27FC236}">
                  <a16:creationId xmlns:a16="http://schemas.microsoft.com/office/drawing/2014/main" id="{1FA4F24A-5EA0-B5D6-B8DB-7356C0BE8A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62200" y="8075107"/>
              <a:ext cx="14478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Arrow Connector 1052">
              <a:extLst>
                <a:ext uri="{FF2B5EF4-FFF2-40B4-BE49-F238E27FC236}">
                  <a16:creationId xmlns:a16="http://schemas.microsoft.com/office/drawing/2014/main" id="{CB0B88C8-DDA3-D29C-B168-8E8B8AD6F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72200" y="8075107"/>
              <a:ext cx="14478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Arrow Connector 1053">
              <a:extLst>
                <a:ext uri="{FF2B5EF4-FFF2-40B4-BE49-F238E27FC236}">
                  <a16:creationId xmlns:a16="http://schemas.microsoft.com/office/drawing/2014/main" id="{5B976C58-3536-D845-60EC-483AFD7D3A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2800" y="8075107"/>
              <a:ext cx="900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Arrow Connector 1062">
              <a:extLst>
                <a:ext uri="{FF2B5EF4-FFF2-40B4-BE49-F238E27FC236}">
                  <a16:creationId xmlns:a16="http://schemas.microsoft.com/office/drawing/2014/main" id="{709D5094-8345-5A65-E0BB-B3BA5ED01DD5}"/>
                </a:ext>
              </a:extLst>
            </p:cNvPr>
            <p:cNvCxnSpPr/>
            <p:nvPr/>
          </p:nvCxnSpPr>
          <p:spPr>
            <a:xfrm>
              <a:off x="7776000" y="4459671"/>
              <a:ext cx="14478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Arrow Connector 1063">
              <a:extLst>
                <a:ext uri="{FF2B5EF4-FFF2-40B4-BE49-F238E27FC236}">
                  <a16:creationId xmlns:a16="http://schemas.microsoft.com/office/drawing/2014/main" id="{D091FF41-1EBA-A03C-74B6-7D0481390C3A}"/>
                </a:ext>
              </a:extLst>
            </p:cNvPr>
            <p:cNvCxnSpPr/>
            <p:nvPr/>
          </p:nvCxnSpPr>
          <p:spPr>
            <a:xfrm>
              <a:off x="11662200" y="4459671"/>
              <a:ext cx="14478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Arrow Connector 1064">
              <a:extLst>
                <a:ext uri="{FF2B5EF4-FFF2-40B4-BE49-F238E27FC236}">
                  <a16:creationId xmlns:a16="http://schemas.microsoft.com/office/drawing/2014/main" id="{12A1DF95-361A-F0DA-9832-E0228860840B}"/>
                </a:ext>
              </a:extLst>
            </p:cNvPr>
            <p:cNvCxnSpPr/>
            <p:nvPr/>
          </p:nvCxnSpPr>
          <p:spPr>
            <a:xfrm>
              <a:off x="15472200" y="4459671"/>
              <a:ext cx="14478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Arrow Connector 1065">
              <a:extLst>
                <a:ext uri="{FF2B5EF4-FFF2-40B4-BE49-F238E27FC236}">
                  <a16:creationId xmlns:a16="http://schemas.microsoft.com/office/drawing/2014/main" id="{695C7070-D6C3-98BB-E23E-49BCE412B551}"/>
                </a:ext>
              </a:extLst>
            </p:cNvPr>
            <p:cNvCxnSpPr/>
            <p:nvPr/>
          </p:nvCxnSpPr>
          <p:spPr>
            <a:xfrm>
              <a:off x="3585000" y="4459671"/>
              <a:ext cx="14478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Arrow Connector 1066">
              <a:extLst>
                <a:ext uri="{FF2B5EF4-FFF2-40B4-BE49-F238E27FC236}">
                  <a16:creationId xmlns:a16="http://schemas.microsoft.com/office/drawing/2014/main" id="{4C9C0FA4-451E-15EF-4A83-37F0FA98B172}"/>
                </a:ext>
              </a:extLst>
            </p:cNvPr>
            <p:cNvCxnSpPr>
              <a:cxnSpLocks/>
            </p:cNvCxnSpPr>
            <p:nvPr/>
          </p:nvCxnSpPr>
          <p:spPr>
            <a:xfrm>
              <a:off x="18291600" y="6398707"/>
              <a:ext cx="0" cy="8407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9936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5017</TotalTime>
  <Words>2449</Words>
  <Application>Microsoft Macintosh PowerPoint</Application>
  <PresentationFormat>Custom</PresentationFormat>
  <Paragraphs>233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Atkinson Hyperlegible</vt:lpstr>
      <vt:lpstr>Open Sans</vt:lpstr>
      <vt:lpstr>Open Sans Light</vt:lpstr>
      <vt:lpstr>OpenSans</vt:lpstr>
      <vt:lpstr>Ubuntu Light</vt:lpstr>
      <vt:lpstr>1_Custom Design</vt:lpstr>
      <vt:lpstr>Uma Introdução ao lado técnico do Bitcoin</vt:lpstr>
      <vt:lpstr>9.0 Introdução</vt:lpstr>
      <vt:lpstr>9.0 Introdução</vt:lpstr>
      <vt:lpstr>9.1.1 Criptografia de chave privada e criptografia de chave pública</vt:lpstr>
      <vt:lpstr>9.1.1 Criptografia de chave privada e criptografia de chave pública</vt:lpstr>
      <vt:lpstr>9.1.1 Criptografia de chave privada e criptografia de chave pública</vt:lpstr>
      <vt:lpstr>9.1.1 Criptografia de chave privada e criptografia de chave pública</vt:lpstr>
      <vt:lpstr>9.1.2 Explicação de hashing (dispersão)</vt:lpstr>
      <vt:lpstr>9.1.2 Explicação de hashing (dispersão)</vt:lpstr>
      <vt:lpstr>9.1.2 Explicação de hashing (dispersão)</vt:lpstr>
      <vt:lpstr>9.1.2 Explicação de hashing (dispersão)</vt:lpstr>
      <vt:lpstr>9.2 O modelo UTXO</vt:lpstr>
      <vt:lpstr>9.2 O modelo UTXO</vt:lpstr>
      <vt:lpstr>9.3 Uma análise mais detalhada dos nós e mineradores de Bitcoin</vt:lpstr>
      <vt:lpstr>9.3.1 O que é um nó de Bitcoin e como posso configurar o meu próprio nó?</vt:lpstr>
      <vt:lpstr>9.3.1 O que é um nó de Bitcoin e como posso configurar o meu próprio nó?</vt:lpstr>
      <vt:lpstr>9.3.2. O que é um minerador de Bitcoin e como funciona a mineração?</vt:lpstr>
      <vt:lpstr>9.3.2. O que é um minerador de Bitcoin e como funciona a mineração?</vt:lpstr>
      <vt:lpstr>9.3.2. O que é um minerador de Bitcoin e como funciona a mineração?</vt:lpstr>
      <vt:lpstr>9.3.2. O que é um minerador de Bitcoin e como funciona a mineração?</vt:lpstr>
      <vt:lpstr>9.3.2. O que é um minerador de Bitcoin e como funciona a mineração?</vt:lpstr>
      <vt:lpstr>9.3.2. O que é um minerador de Bitcoin e como funciona a mineração?</vt:lpstr>
      <vt:lpstr>9.3.2. O que é um minerador de Bitcoin e como funciona a mineração?</vt:lpstr>
      <vt:lpstr>9.3.2. O que é um minerador de Bitcoin e como funciona a mineração?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337</cp:revision>
  <dcterms:created xsi:type="dcterms:W3CDTF">2024-11-12T03:26:48Z</dcterms:created>
  <dcterms:modified xsi:type="dcterms:W3CDTF">2025-11-18T15:53:50Z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