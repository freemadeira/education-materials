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8" r:id="rId1"/>
  </p:sldMasterIdLst>
  <p:notesMasterIdLst>
    <p:notesMasterId r:id="rId10"/>
  </p:notesMasterIdLst>
  <p:sldIdLst>
    <p:sldId id="260" r:id="rId2"/>
    <p:sldId id="276" r:id="rId3"/>
    <p:sldId id="337" r:id="rId4"/>
    <p:sldId id="346" r:id="rId5"/>
    <p:sldId id="344" r:id="rId6"/>
    <p:sldId id="349" r:id="rId7"/>
    <p:sldId id="269" r:id="rId8"/>
    <p:sldId id="268" r:id="rId9"/>
  </p:sldIdLst>
  <p:sldSz cx="20104100" cy="11309350"/>
  <p:notesSz cx="20104100" cy="113093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9256A"/>
    <a:srgbClr val="2F5FB3"/>
    <a:srgbClr val="CCDEF9"/>
    <a:srgbClr val="F9B84C"/>
    <a:srgbClr val="FFDC74"/>
    <a:srgbClr val="FFB75D"/>
    <a:srgbClr val="FF9E1D"/>
    <a:srgbClr val="FFBC58"/>
    <a:srgbClr val="BCBCBC"/>
    <a:srgbClr val="A4A4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401FDE-61A2-D075-F698-8C18AC3E633F}" v="380" dt="2025-11-04T10:01:55.430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69"/>
    <p:restoredTop sz="93918"/>
  </p:normalViewPr>
  <p:slideViewPr>
    <p:cSldViewPr>
      <p:cViewPr varScale="1">
        <p:scale>
          <a:sx n="62" d="100"/>
          <a:sy n="62" d="100"/>
        </p:scale>
        <p:origin x="1240" y="20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806190-753F-B441-B6BD-4CD1B6C676A4}" type="datetimeFigureOut">
              <a:rPr lang="en-PT" smtClean="0"/>
              <a:t>16/11/2025</a:t>
            </a:fld>
            <a:endParaRPr lang="en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2BDFA0-B2CB-F643-A7D4-44C1F02A8DE8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007679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2BDFA0-B2CB-F643-A7D4-44C1F02A8DE8}" type="slidenum">
              <a:rPr lang="en-PT" smtClean="0"/>
              <a:t>2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8516759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3">
            <a:extLst>
              <a:ext uri="{FF2B5EF4-FFF2-40B4-BE49-F238E27FC236}">
                <a16:creationId xmlns:a16="http://schemas.microsoft.com/office/drawing/2014/main" id="{8989FBFA-0A59-F895-70E1-7D2A78E89463}"/>
              </a:ext>
            </a:extLst>
          </p:cNvPr>
          <p:cNvSpPr txBox="1"/>
          <p:nvPr userDrawn="1"/>
        </p:nvSpPr>
        <p:spPr>
          <a:xfrm>
            <a:off x="15919450" y="10284003"/>
            <a:ext cx="2790723" cy="414857"/>
          </a:xfrm>
          <a:prstGeom prst="rect">
            <a:avLst/>
          </a:prstGeom>
        </p:spPr>
        <p:txBody>
          <a:bodyPr vert="horz" wrap="square" lIns="0" tIns="75565" rIns="0" bIns="0" rtlCol="0">
            <a:spAutoFit/>
          </a:bodyPr>
          <a:lstStyle/>
          <a:p>
            <a:pPr marL="12700" algn="r">
              <a:spcBef>
                <a:spcPts val="595"/>
              </a:spcBef>
            </a:pPr>
            <a:r>
              <a:rPr lang="pt-PT" sz="2200" b="1" i="1" dirty="0">
                <a:solidFill>
                  <a:srgbClr val="FFFFFF"/>
                </a:solidFill>
                <a:latin typeface="Open Sans"/>
                <a:cs typeface="Open Sans"/>
              </a:rPr>
              <a:t>2025</a:t>
            </a:r>
            <a:endParaRPr sz="1650" dirty="0">
              <a:latin typeface="Open Sans Light"/>
              <a:cs typeface="Open Sans Light"/>
            </a:endParaRPr>
          </a:p>
        </p:txBody>
      </p:sp>
      <p:pic>
        <p:nvPicPr>
          <p:cNvPr id="11" name="object 4">
            <a:extLst>
              <a:ext uri="{FF2B5EF4-FFF2-40B4-BE49-F238E27FC236}">
                <a16:creationId xmlns:a16="http://schemas.microsoft.com/office/drawing/2014/main" id="{614F2C05-B827-E769-869E-A3BF56A914E1}"/>
              </a:ext>
            </a:extLst>
          </p:cNvPr>
          <p:cNvPicPr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7461636" y="9540875"/>
            <a:ext cx="1273721" cy="678795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B713F4C0-5C97-2B8D-A32C-F48226619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9548" y="1642219"/>
            <a:ext cx="17338675" cy="1463700"/>
          </a:xfrm>
        </p:spPr>
        <p:txBody>
          <a:bodyPr anchor="t">
            <a:normAutofit/>
          </a:bodyPr>
          <a:lstStyle>
            <a:lvl1pPr>
              <a:defRPr lang="en-PT" sz="7400" b="1" i="0" kern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PT" dirty="0"/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2E312E16-9584-D7B3-7B88-21458C9FBADE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1383517" y="601663"/>
            <a:ext cx="17313491" cy="97622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lang="en-PT" sz="5800" b="0" i="0" dirty="0">
                <a:solidFill>
                  <a:schemeClr val="bg1"/>
                </a:solidFill>
                <a:latin typeface="Ubuntu Light"/>
                <a:ea typeface="+mj-ea"/>
                <a:cs typeface="Ubuntu Ligh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PT" dirty="0"/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5B12DCEC-016D-97EA-5E80-9A10849740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2712" y="3368675"/>
            <a:ext cx="17338675" cy="73390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 sz="3200">
                <a:solidFill>
                  <a:schemeClr val="bg1"/>
                </a:solidFill>
              </a:defRPr>
            </a:lvl2pPr>
            <a:lvl3pPr marL="914400" indent="0">
              <a:buNone/>
              <a:defRPr sz="28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227383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1F7DA-DD75-4AF1-99D3-BACF7C5CA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13013" y="1851025"/>
            <a:ext cx="15078075" cy="3937000"/>
          </a:xfrm>
        </p:spPr>
        <p:txBody>
          <a:bodyPr anchor="b">
            <a:normAutofit/>
          </a:bodyPr>
          <a:lstStyle>
            <a:lvl1pPr algn="ctr">
              <a:defRPr lang="en-PT" sz="7400" b="1" i="0" kern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P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8F8D16-9FCF-612A-CB90-38F6CEA146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3013" y="5940425"/>
            <a:ext cx="15078075" cy="27305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lang="en-PT" sz="5800" b="0" i="0" kern="1200" spc="-25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3778572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A4A01-9D54-73A9-7F54-31626191B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713" y="601664"/>
            <a:ext cx="17338675" cy="14724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02D9D-896F-FB87-A8A7-DC5D858D4F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82713" y="2301875"/>
            <a:ext cx="8593137" cy="8405811"/>
          </a:xfrm>
          <a:prstGeom prst="rect">
            <a:avLst/>
          </a:prstGeom>
        </p:spPr>
        <p:txBody>
          <a:bodyPr/>
          <a:lstStyle>
            <a:lvl2pPr marL="12700" marR="0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  <a:defRPr/>
            </a:lvl2pPr>
          </a:lstStyle>
          <a:p>
            <a:pPr marL="12700" marR="0" lvl="1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</a:pPr>
            <a:r>
              <a:rPr lang="en-GB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C2BF4-CC5D-4E9E-838E-93C00EABBF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128250" y="2301875"/>
            <a:ext cx="8593138" cy="8405811"/>
          </a:xfrm>
          <a:prstGeom prst="rect">
            <a:avLst/>
          </a:prstGeom>
        </p:spPr>
        <p:txBody>
          <a:bodyPr/>
          <a:lstStyle>
            <a:lvl2pPr marL="12700" marR="0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  <a:defRPr/>
            </a:lvl2pPr>
          </a:lstStyle>
          <a:p>
            <a:pPr marL="12700" marR="0" lvl="1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</a:pPr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6066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BF709-FAF1-2507-082C-24B92C7B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300" y="601663"/>
            <a:ext cx="17340263" cy="1472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PT"/>
            </a:lvl1pPr>
          </a:lstStyle>
          <a:p>
            <a:pPr lvl="0"/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7E7870-07E7-9960-2FD7-CC65D9768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4300" y="2237964"/>
            <a:ext cx="8505825" cy="1080000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buNone/>
              <a:defRPr lang="en-GB" sz="3200" b="1" i="0" kern="1200" dirty="0" smtClean="0">
                <a:solidFill>
                  <a:srgbClr val="251B5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3CD55D-ADCF-8B08-2444-3E6F436EAB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84300" y="3481865"/>
            <a:ext cx="8505825" cy="7225822"/>
          </a:xfrm>
          <a:prstGeom prst="rect">
            <a:avLst/>
          </a:prstGeom>
        </p:spPr>
        <p:txBody>
          <a:bodyPr/>
          <a:lstStyle>
            <a:lvl2pPr marL="12700" marR="0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  <a:defRPr/>
            </a:lvl2pPr>
          </a:lstStyle>
          <a:p>
            <a:pPr marL="12700" marR="0" lvl="1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</a:pPr>
            <a:r>
              <a:rPr lang="en-GB" dirty="0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B58E6B-9046-4406-1246-9D0D85EB35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0177463" y="2237964"/>
            <a:ext cx="8547100" cy="1080000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buNone/>
              <a:defRPr lang="en-GB" sz="3200" b="1" i="0" kern="1200" smtClean="0">
                <a:solidFill>
                  <a:srgbClr val="251B5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4C1B51-CDD4-A4F7-DA9D-B40D1A3813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0177463" y="3481865"/>
            <a:ext cx="8547100" cy="7225822"/>
          </a:xfrm>
          <a:prstGeom prst="rect">
            <a:avLst/>
          </a:prstGeom>
        </p:spPr>
        <p:txBody>
          <a:bodyPr/>
          <a:lstStyle>
            <a:lvl2pPr marL="12700" marR="0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  <a:defRPr/>
            </a:lvl2pPr>
          </a:lstStyle>
          <a:p>
            <a:pPr marL="12700" marR="0" lvl="1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</a:pPr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66560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CBE64-74E1-AAFB-2FEC-3C7C28084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3246849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CBE64-74E1-AAFB-2FEC-3C7C28084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PT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86287BF9-E319-1393-4A5E-804B9FC0B1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2713" y="2301875"/>
            <a:ext cx="17338675" cy="84058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3799640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051E5-DEA9-6BF8-6F9B-EEE66AE7C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300" y="754063"/>
            <a:ext cx="8439150" cy="1364400"/>
          </a:xfrm>
        </p:spPr>
        <p:txBody>
          <a:bodyPr anchor="ctr">
            <a:noAutofit/>
          </a:bodyPr>
          <a:lstStyle>
            <a:lvl1pPr>
              <a:defRPr lang="en-PT" sz="7400" b="1" i="0" kern="1200" dirty="0">
                <a:solidFill>
                  <a:srgbClr val="251B5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PT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7653D5-7794-C41A-9DD6-3910C4EAAF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052050" y="1628775"/>
            <a:ext cx="8672513" cy="892651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T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31992960-9DC4-AC57-14E2-FE9C2142B8B5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382713" y="2301875"/>
            <a:ext cx="8439151" cy="8253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24106456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16938-309D-4211-98D7-1067DBDB07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 err="1"/>
              <a:t>Caixas</a:t>
            </a:r>
            <a:r>
              <a:rPr lang="en-GB" dirty="0"/>
              <a:t> de </a:t>
            </a:r>
            <a:r>
              <a:rPr lang="en-GB" dirty="0" err="1"/>
              <a:t>texto</a:t>
            </a:r>
            <a:endParaRPr lang="en-PT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3F8E8CE-5C66-BFF0-8EBA-AFCAC710C6D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441450" y="2225675"/>
            <a:ext cx="17230977" cy="4600756"/>
            <a:chOff x="2813050" y="4486266"/>
            <a:chExt cx="15308802" cy="408752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07D29E82-B7E4-1BE8-E299-86B33C4D5471}"/>
                </a:ext>
              </a:extLst>
            </p:cNvPr>
            <p:cNvSpPr/>
            <p:nvPr/>
          </p:nvSpPr>
          <p:spPr>
            <a:xfrm>
              <a:off x="2813050" y="4892675"/>
              <a:ext cx="15308802" cy="3339117"/>
            </a:xfrm>
            <a:prstGeom prst="roundRect">
              <a:avLst/>
            </a:prstGeom>
            <a:gradFill flip="none" rotWithShape="1">
              <a:gsLst>
                <a:gs pos="64000">
                  <a:srgbClr val="E4E0FD"/>
                </a:gs>
                <a:gs pos="22000">
                  <a:srgbClr val="F1EEFE"/>
                </a:gs>
                <a:gs pos="0">
                  <a:srgbClr val="FEFEFF"/>
                </a:gs>
              </a:gsLst>
              <a:lin ang="16200000" scaled="1"/>
              <a:tileRect/>
            </a:gradFill>
            <a:ln w="12700">
              <a:solidFill>
                <a:srgbClr val="6139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rIns="540000" rtlCol="0" anchor="ctr"/>
            <a:lstStyle/>
            <a:p>
              <a:pPr algn="ctr"/>
              <a:endParaRPr lang="en-GB" sz="3200" b="1" kern="1200" dirty="0">
                <a:solidFill>
                  <a:srgbClr val="FBB0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FA58915-BF8B-865E-2A90-E53EDFD6E0C1}"/>
                </a:ext>
              </a:extLst>
            </p:cNvPr>
            <p:cNvGrpSpPr/>
            <p:nvPr/>
          </p:nvGrpSpPr>
          <p:grpSpPr>
            <a:xfrm>
              <a:off x="3339290" y="4486266"/>
              <a:ext cx="1113010" cy="684000"/>
              <a:chOff x="3117850" y="2659357"/>
              <a:chExt cx="1113010" cy="684000"/>
            </a:xfrm>
          </p:grpSpPr>
          <p:pic>
            <p:nvPicPr>
              <p:cNvPr id="9" name="object 10">
                <a:extLst>
                  <a:ext uri="{FF2B5EF4-FFF2-40B4-BE49-F238E27FC236}">
                    <a16:creationId xmlns:a16="http://schemas.microsoft.com/office/drawing/2014/main" id="{96F4CA46-016A-4A4A-D7A9-BB0AD2137AAD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27450" y="2659357"/>
                <a:ext cx="503410" cy="684000"/>
              </a:xfrm>
              <a:prstGeom prst="rect">
                <a:avLst/>
              </a:prstGeom>
            </p:spPr>
          </p:pic>
          <p:pic>
            <p:nvPicPr>
              <p:cNvPr id="10" name="object 10">
                <a:extLst>
                  <a:ext uri="{FF2B5EF4-FFF2-40B4-BE49-F238E27FC236}">
                    <a16:creationId xmlns:a16="http://schemas.microsoft.com/office/drawing/2014/main" id="{73D0768D-76BA-0C17-37C3-4306316DE19F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117850" y="2659357"/>
                <a:ext cx="503410" cy="684000"/>
              </a:xfrm>
              <a:prstGeom prst="rect">
                <a:avLst/>
              </a:prstGeom>
            </p:spPr>
          </p:pic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8D3AAAC-924D-2E08-3F08-2FBEC9E4EDC1}"/>
                </a:ext>
              </a:extLst>
            </p:cNvPr>
            <p:cNvGrpSpPr/>
            <p:nvPr/>
          </p:nvGrpSpPr>
          <p:grpSpPr>
            <a:xfrm rot="10800000">
              <a:off x="16468044" y="7889792"/>
              <a:ext cx="1113010" cy="684000"/>
              <a:chOff x="3117850" y="2659357"/>
              <a:chExt cx="1113010" cy="684000"/>
            </a:xfrm>
          </p:grpSpPr>
          <p:pic>
            <p:nvPicPr>
              <p:cNvPr id="7" name="object 10">
                <a:extLst>
                  <a:ext uri="{FF2B5EF4-FFF2-40B4-BE49-F238E27FC236}">
                    <a16:creationId xmlns:a16="http://schemas.microsoft.com/office/drawing/2014/main" id="{49008B3A-3CD4-5144-57BC-BC850EC74CB5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27450" y="2659357"/>
                <a:ext cx="503410" cy="684000"/>
              </a:xfrm>
              <a:prstGeom prst="rect">
                <a:avLst/>
              </a:prstGeom>
            </p:spPr>
          </p:pic>
          <p:pic>
            <p:nvPicPr>
              <p:cNvPr id="8" name="object 10">
                <a:extLst>
                  <a:ext uri="{FF2B5EF4-FFF2-40B4-BE49-F238E27FC236}">
                    <a16:creationId xmlns:a16="http://schemas.microsoft.com/office/drawing/2014/main" id="{AA2A24D8-7CD5-2334-B6D3-4C84B1D9CEE4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117850" y="2659357"/>
                <a:ext cx="503410" cy="684000"/>
              </a:xfrm>
              <a:prstGeom prst="rect">
                <a:avLst/>
              </a:prstGeom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5623DCB-56B2-0700-16EE-D45981DA30F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441450" y="6768919"/>
            <a:ext cx="17293152" cy="4448356"/>
            <a:chOff x="2432050" y="2478758"/>
            <a:chExt cx="15308802" cy="3937917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F0CEF03E-A728-A527-B2E8-FAC006662993}"/>
                </a:ext>
              </a:extLst>
            </p:cNvPr>
            <p:cNvSpPr/>
            <p:nvPr/>
          </p:nvSpPr>
          <p:spPr>
            <a:xfrm>
              <a:off x="2432050" y="2811758"/>
              <a:ext cx="15308802" cy="3339117"/>
            </a:xfrm>
            <a:prstGeom prst="roundRect">
              <a:avLst/>
            </a:prstGeom>
            <a:gradFill flip="none" rotWithShape="1">
              <a:gsLst>
                <a:gs pos="7000">
                  <a:srgbClr val="161346"/>
                </a:gs>
                <a:gs pos="69000">
                  <a:srgbClr val="392569"/>
                </a:gs>
                <a:gs pos="99000">
                  <a:srgbClr val="653B93"/>
                </a:gs>
              </a:gsLst>
              <a:lin ang="10800000" scaled="1"/>
              <a:tileRect/>
            </a:gradFill>
            <a:ln w="12700">
              <a:solidFill>
                <a:srgbClr val="6139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rIns="540000" rtlCol="0" anchor="ctr"/>
            <a:lstStyle/>
            <a:p>
              <a:pPr algn="ctr"/>
              <a:endParaRPr lang="en-GB" sz="3200" b="1" kern="1200" dirty="0">
                <a:solidFill>
                  <a:srgbClr val="FBB0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3" name="object 16">
              <a:extLst>
                <a:ext uri="{FF2B5EF4-FFF2-40B4-BE49-F238E27FC236}">
                  <a16:creationId xmlns:a16="http://schemas.microsoft.com/office/drawing/2014/main" id="{B3CFF4FB-E36B-1EA1-B4E9-8FF0EC3C20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89250" y="2478758"/>
              <a:ext cx="1082250" cy="666000"/>
            </a:xfrm>
            <a:custGeom>
              <a:avLst/>
              <a:gdLst/>
              <a:ahLst/>
              <a:cxnLst/>
              <a:rect l="l" t="t" r="r" b="b"/>
              <a:pathLst>
                <a:path w="487044" h="299720">
                  <a:moveTo>
                    <a:pt x="220649" y="109423"/>
                  </a:moveTo>
                  <a:lnTo>
                    <a:pt x="211632" y="66548"/>
                  </a:lnTo>
                  <a:lnTo>
                    <a:pt x="187693" y="31673"/>
                  </a:lnTo>
                  <a:lnTo>
                    <a:pt x="152438" y="8318"/>
                  </a:lnTo>
                  <a:lnTo>
                    <a:pt x="109423" y="0"/>
                  </a:lnTo>
                  <a:lnTo>
                    <a:pt x="66548" y="9017"/>
                  </a:lnTo>
                  <a:lnTo>
                    <a:pt x="31673" y="32956"/>
                  </a:lnTo>
                  <a:lnTo>
                    <a:pt x="8318" y="68224"/>
                  </a:lnTo>
                  <a:lnTo>
                    <a:pt x="0" y="111239"/>
                  </a:lnTo>
                  <a:lnTo>
                    <a:pt x="368" y="119291"/>
                  </a:lnTo>
                  <a:lnTo>
                    <a:pt x="15646" y="178536"/>
                  </a:lnTo>
                  <a:lnTo>
                    <a:pt x="36449" y="220433"/>
                  </a:lnTo>
                  <a:lnTo>
                    <a:pt x="70332" y="261975"/>
                  </a:lnTo>
                  <a:lnTo>
                    <a:pt x="120472" y="297065"/>
                  </a:lnTo>
                  <a:lnTo>
                    <a:pt x="127469" y="299237"/>
                  </a:lnTo>
                  <a:lnTo>
                    <a:pt x="134632" y="299059"/>
                  </a:lnTo>
                  <a:lnTo>
                    <a:pt x="144462" y="255079"/>
                  </a:lnTo>
                  <a:lnTo>
                    <a:pt x="139217" y="243890"/>
                  </a:lnTo>
                  <a:lnTo>
                    <a:pt x="135013" y="231495"/>
                  </a:lnTo>
                  <a:lnTo>
                    <a:pt x="132664" y="218376"/>
                  </a:lnTo>
                  <a:lnTo>
                    <a:pt x="167817" y="204495"/>
                  </a:lnTo>
                  <a:lnTo>
                    <a:pt x="195783" y="180086"/>
                  </a:lnTo>
                  <a:lnTo>
                    <a:pt x="214198" y="147586"/>
                  </a:lnTo>
                  <a:lnTo>
                    <a:pt x="220649" y="109423"/>
                  </a:lnTo>
                  <a:close/>
                </a:path>
                <a:path w="487044" h="299720">
                  <a:moveTo>
                    <a:pt x="486829" y="110324"/>
                  </a:moveTo>
                  <a:lnTo>
                    <a:pt x="478167" y="67386"/>
                  </a:lnTo>
                  <a:lnTo>
                    <a:pt x="454520" y="32308"/>
                  </a:lnTo>
                  <a:lnTo>
                    <a:pt x="419455" y="8661"/>
                  </a:lnTo>
                  <a:lnTo>
                    <a:pt x="376516" y="0"/>
                  </a:lnTo>
                  <a:lnTo>
                    <a:pt x="333565" y="8661"/>
                  </a:lnTo>
                  <a:lnTo>
                    <a:pt x="298488" y="32308"/>
                  </a:lnTo>
                  <a:lnTo>
                    <a:pt x="274853" y="67386"/>
                  </a:lnTo>
                  <a:lnTo>
                    <a:pt x="266179" y="110324"/>
                  </a:lnTo>
                  <a:lnTo>
                    <a:pt x="266471" y="118376"/>
                  </a:lnTo>
                  <a:lnTo>
                    <a:pt x="281266" y="177749"/>
                  </a:lnTo>
                  <a:lnTo>
                    <a:pt x="301726" y="219811"/>
                  </a:lnTo>
                  <a:lnTo>
                    <a:pt x="335267" y="261632"/>
                  </a:lnTo>
                  <a:lnTo>
                    <a:pt x="385114" y="297141"/>
                  </a:lnTo>
                  <a:lnTo>
                    <a:pt x="392112" y="299364"/>
                  </a:lnTo>
                  <a:lnTo>
                    <a:pt x="399275" y="299250"/>
                  </a:lnTo>
                  <a:lnTo>
                    <a:pt x="409460" y="255346"/>
                  </a:lnTo>
                  <a:lnTo>
                    <a:pt x="404304" y="244119"/>
                  </a:lnTo>
                  <a:lnTo>
                    <a:pt x="400215" y="231698"/>
                  </a:lnTo>
                  <a:lnTo>
                    <a:pt x="397967" y="218567"/>
                  </a:lnTo>
                  <a:lnTo>
                    <a:pt x="433222" y="204965"/>
                  </a:lnTo>
                  <a:lnTo>
                    <a:pt x="461391" y="180797"/>
                  </a:lnTo>
                  <a:lnTo>
                    <a:pt x="480072" y="148437"/>
                  </a:lnTo>
                  <a:lnTo>
                    <a:pt x="486829" y="110324"/>
                  </a:lnTo>
                  <a:close/>
                </a:path>
              </a:pathLst>
            </a:custGeom>
            <a:solidFill>
              <a:srgbClr val="251B5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7">
              <a:extLst>
                <a:ext uri="{FF2B5EF4-FFF2-40B4-BE49-F238E27FC236}">
                  <a16:creationId xmlns:a16="http://schemas.microsoft.com/office/drawing/2014/main" id="{FD38801D-612D-53A9-E76A-87F1708446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148050" y="5751986"/>
              <a:ext cx="1080119" cy="664689"/>
            </a:xfrm>
            <a:custGeom>
              <a:avLst/>
              <a:gdLst/>
              <a:ahLst/>
              <a:cxnLst/>
              <a:rect l="l" t="t" r="r" b="b"/>
              <a:pathLst>
                <a:path w="487045" h="299720">
                  <a:moveTo>
                    <a:pt x="220649" y="110337"/>
                  </a:moveTo>
                  <a:lnTo>
                    <a:pt x="211988" y="67398"/>
                  </a:lnTo>
                  <a:lnTo>
                    <a:pt x="188341" y="32321"/>
                  </a:lnTo>
                  <a:lnTo>
                    <a:pt x="153263" y="8674"/>
                  </a:lnTo>
                  <a:lnTo>
                    <a:pt x="110324" y="0"/>
                  </a:lnTo>
                  <a:lnTo>
                    <a:pt x="67373" y="8674"/>
                  </a:lnTo>
                  <a:lnTo>
                    <a:pt x="32308" y="32321"/>
                  </a:lnTo>
                  <a:lnTo>
                    <a:pt x="8674" y="67398"/>
                  </a:lnTo>
                  <a:lnTo>
                    <a:pt x="0" y="110337"/>
                  </a:lnTo>
                  <a:lnTo>
                    <a:pt x="6769" y="148450"/>
                  </a:lnTo>
                  <a:lnTo>
                    <a:pt x="25438" y="180797"/>
                  </a:lnTo>
                  <a:lnTo>
                    <a:pt x="53619" y="204978"/>
                  </a:lnTo>
                  <a:lnTo>
                    <a:pt x="88861" y="218579"/>
                  </a:lnTo>
                  <a:lnTo>
                    <a:pt x="86626" y="231711"/>
                  </a:lnTo>
                  <a:lnTo>
                    <a:pt x="82524" y="244119"/>
                  </a:lnTo>
                  <a:lnTo>
                    <a:pt x="77368" y="255358"/>
                  </a:lnTo>
                  <a:lnTo>
                    <a:pt x="71970" y="264934"/>
                  </a:lnTo>
                  <a:lnTo>
                    <a:pt x="69164" y="271881"/>
                  </a:lnTo>
                  <a:lnTo>
                    <a:pt x="94729" y="299377"/>
                  </a:lnTo>
                  <a:lnTo>
                    <a:pt x="101714" y="297141"/>
                  </a:lnTo>
                  <a:lnTo>
                    <a:pt x="151561" y="261645"/>
                  </a:lnTo>
                  <a:lnTo>
                    <a:pt x="185102" y="219824"/>
                  </a:lnTo>
                  <a:lnTo>
                    <a:pt x="205562" y="177761"/>
                  </a:lnTo>
                  <a:lnTo>
                    <a:pt x="218084" y="133997"/>
                  </a:lnTo>
                  <a:lnTo>
                    <a:pt x="220357" y="118389"/>
                  </a:lnTo>
                  <a:lnTo>
                    <a:pt x="220649" y="110337"/>
                  </a:lnTo>
                  <a:close/>
                </a:path>
                <a:path w="487045" h="299720">
                  <a:moveTo>
                    <a:pt x="486829" y="111239"/>
                  </a:moveTo>
                  <a:lnTo>
                    <a:pt x="478510" y="68224"/>
                  </a:lnTo>
                  <a:lnTo>
                    <a:pt x="455155" y="32969"/>
                  </a:lnTo>
                  <a:lnTo>
                    <a:pt x="420281" y="9029"/>
                  </a:lnTo>
                  <a:lnTo>
                    <a:pt x="377418" y="12"/>
                  </a:lnTo>
                  <a:lnTo>
                    <a:pt x="334403" y="8331"/>
                  </a:lnTo>
                  <a:lnTo>
                    <a:pt x="299135" y="31686"/>
                  </a:lnTo>
                  <a:lnTo>
                    <a:pt x="275209" y="66560"/>
                  </a:lnTo>
                  <a:lnTo>
                    <a:pt x="266179" y="109435"/>
                  </a:lnTo>
                  <a:lnTo>
                    <a:pt x="272630" y="147599"/>
                  </a:lnTo>
                  <a:lnTo>
                    <a:pt x="291045" y="180098"/>
                  </a:lnTo>
                  <a:lnTo>
                    <a:pt x="319024" y="204508"/>
                  </a:lnTo>
                  <a:lnTo>
                    <a:pt x="354164" y="218376"/>
                  </a:lnTo>
                  <a:lnTo>
                    <a:pt x="351815" y="231508"/>
                  </a:lnTo>
                  <a:lnTo>
                    <a:pt x="347611" y="243890"/>
                  </a:lnTo>
                  <a:lnTo>
                    <a:pt x="342366" y="255092"/>
                  </a:lnTo>
                  <a:lnTo>
                    <a:pt x="336880" y="264617"/>
                  </a:lnTo>
                  <a:lnTo>
                    <a:pt x="334010" y="271538"/>
                  </a:lnTo>
                  <a:lnTo>
                    <a:pt x="359359" y="299237"/>
                  </a:lnTo>
                  <a:lnTo>
                    <a:pt x="366369" y="297065"/>
                  </a:lnTo>
                  <a:lnTo>
                    <a:pt x="416509" y="261975"/>
                  </a:lnTo>
                  <a:lnTo>
                    <a:pt x="450392" y="220446"/>
                  </a:lnTo>
                  <a:lnTo>
                    <a:pt x="471182" y="178549"/>
                  </a:lnTo>
                  <a:lnTo>
                    <a:pt x="484073" y="134886"/>
                  </a:lnTo>
                  <a:lnTo>
                    <a:pt x="486473" y="119291"/>
                  </a:lnTo>
                  <a:lnTo>
                    <a:pt x="486829" y="111239"/>
                  </a:lnTo>
                  <a:close/>
                </a:path>
              </a:pathLst>
            </a:custGeom>
            <a:solidFill>
              <a:srgbClr val="673C9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542223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logo with a yellow sun and black text&#10;&#10;AI-generated content may be incorrect.">
            <a:extLst>
              <a:ext uri="{FF2B5EF4-FFF2-40B4-BE49-F238E27FC236}">
                <a16:creationId xmlns:a16="http://schemas.microsoft.com/office/drawing/2014/main" id="{2C462808-59C4-0F22-BB9F-CCDF019BB63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5850" y="3582035"/>
            <a:ext cx="7772400" cy="4145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833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9906EF-074F-36B1-517B-391937DDEC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46861" y="598216"/>
            <a:ext cx="10177701" cy="10112919"/>
          </a:xfrm>
        </p:spPr>
        <p:txBody>
          <a:bodyPr/>
          <a:lstStyle>
            <a:lvl1pPr>
              <a:defRPr sz="5277" b="0" i="0">
                <a:latin typeface="Avenir Light" panose="020B0402020203020204" pitchFamily="34" charset="77"/>
              </a:defRPr>
            </a:lvl1pPr>
            <a:lvl2pPr>
              <a:defRPr sz="4617" b="0" i="0"/>
            </a:lvl2pPr>
            <a:lvl3pPr>
              <a:defRPr sz="3958" b="0" i="0"/>
            </a:lvl3pPr>
            <a:lvl4pPr>
              <a:defRPr sz="3298" b="0" i="0"/>
            </a:lvl4pPr>
            <a:lvl5pPr>
              <a:defRPr sz="3298" b="0" i="0"/>
            </a:lvl5pPr>
            <a:lvl6pPr>
              <a:defRPr sz="3298"/>
            </a:lvl6pPr>
            <a:lvl7pPr>
              <a:defRPr sz="3298"/>
            </a:lvl7pPr>
            <a:lvl8pPr>
              <a:defRPr sz="3298"/>
            </a:lvl8pPr>
            <a:lvl9pPr>
              <a:defRPr sz="3298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PT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044CB8-65BF-9F64-500B-A226371F35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84776" y="2193328"/>
            <a:ext cx="6484095" cy="8517807"/>
          </a:xfrm>
        </p:spPr>
        <p:txBody>
          <a:bodyPr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3298" b="0" i="0">
                <a:latin typeface="Avenir Light" panose="020B0402020203020204" pitchFamily="34" charset="77"/>
              </a:defRPr>
            </a:lvl1pPr>
            <a:lvl2pPr marL="753923" indent="0">
              <a:buNone/>
              <a:defRPr sz="2309"/>
            </a:lvl2pPr>
            <a:lvl3pPr marL="1507846" indent="0">
              <a:buNone/>
              <a:defRPr sz="1979"/>
            </a:lvl3pPr>
            <a:lvl4pPr marL="2261768" indent="0">
              <a:buNone/>
              <a:defRPr sz="1649"/>
            </a:lvl4pPr>
            <a:lvl5pPr marL="3015691" indent="0">
              <a:buNone/>
              <a:defRPr sz="1649"/>
            </a:lvl5pPr>
            <a:lvl6pPr marL="3769614" indent="0">
              <a:buNone/>
              <a:defRPr sz="1649"/>
            </a:lvl6pPr>
            <a:lvl7pPr marL="4523537" indent="0">
              <a:buNone/>
              <a:defRPr sz="1649"/>
            </a:lvl7pPr>
            <a:lvl8pPr marL="5277460" indent="0">
              <a:buNone/>
              <a:defRPr sz="1649"/>
            </a:lvl8pPr>
            <a:lvl9pPr marL="6031382" indent="0">
              <a:buNone/>
              <a:defRPr sz="1649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F745174-D40C-4A1A-DEC9-05F4721B5B67}"/>
              </a:ext>
            </a:extLst>
          </p:cNvPr>
          <p:cNvSpPr>
            <a:spLocks noGrp="1"/>
          </p:cNvSpPr>
          <p:nvPr>
            <p:ph type="body" sz="half" idx="10" hasCustomPrompt="1"/>
          </p:nvPr>
        </p:nvSpPr>
        <p:spPr>
          <a:xfrm>
            <a:off x="1384776" y="598216"/>
            <a:ext cx="6484095" cy="1329706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5936" b="0" i="0">
                <a:latin typeface="Avenir Medium" panose="02000503020000020003" pitchFamily="2" charset="0"/>
              </a:defRPr>
            </a:lvl1pPr>
            <a:lvl2pPr marL="753923" indent="0">
              <a:buNone/>
              <a:defRPr sz="2309"/>
            </a:lvl2pPr>
            <a:lvl3pPr marL="1507846" indent="0">
              <a:buNone/>
              <a:defRPr sz="1979"/>
            </a:lvl3pPr>
            <a:lvl4pPr marL="2261768" indent="0">
              <a:buNone/>
              <a:defRPr sz="1649"/>
            </a:lvl4pPr>
            <a:lvl5pPr marL="3015691" indent="0">
              <a:buNone/>
              <a:defRPr sz="1649"/>
            </a:lvl5pPr>
            <a:lvl6pPr marL="3769614" indent="0">
              <a:buNone/>
              <a:defRPr sz="1649"/>
            </a:lvl6pPr>
            <a:lvl7pPr marL="4523537" indent="0">
              <a:buNone/>
              <a:defRPr sz="1649"/>
            </a:lvl7pPr>
            <a:lvl8pPr marL="5277460" indent="0">
              <a:buNone/>
              <a:defRPr sz="1649"/>
            </a:lvl8pPr>
            <a:lvl9pPr marL="6031382" indent="0">
              <a:buNone/>
              <a:defRPr sz="1649"/>
            </a:lvl9pPr>
          </a:lstStyle>
          <a:p>
            <a:pPr lvl="0"/>
            <a:r>
              <a:rPr lang="en-GB" dirty="0"/>
              <a:t>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68183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úvid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CE3253F-773F-42FB-EB13-8F960268D436}"/>
              </a:ext>
            </a:extLst>
          </p:cNvPr>
          <p:cNvSpPr txBox="1">
            <a:spLocks/>
          </p:cNvSpPr>
          <p:nvPr userDrawn="1"/>
        </p:nvSpPr>
        <p:spPr>
          <a:xfrm>
            <a:off x="1382713" y="4918870"/>
            <a:ext cx="17338675" cy="14716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PT" sz="7400" b="1" i="0" kern="1200" dirty="0">
                <a:solidFill>
                  <a:srgbClr val="251B5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GB" dirty="0" err="1"/>
              <a:t>Esclarecimento</a:t>
            </a:r>
            <a:r>
              <a:rPr lang="en-GB" dirty="0"/>
              <a:t> de </a:t>
            </a:r>
            <a:r>
              <a:rPr lang="en-GB" dirty="0" err="1"/>
              <a:t>dúvidas</a:t>
            </a:r>
            <a:endParaRPr lang="en-GB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D50785F-F9BE-8C2E-1CC4-AC143A747D6E}"/>
              </a:ext>
            </a:extLst>
          </p:cNvPr>
          <p:cNvGrpSpPr/>
          <p:nvPr userDrawn="1"/>
        </p:nvGrpSpPr>
        <p:grpSpPr>
          <a:xfrm>
            <a:off x="1382713" y="7788275"/>
            <a:ext cx="2819364" cy="3498604"/>
            <a:chOff x="10661650" y="7173860"/>
            <a:chExt cx="2819364" cy="3498604"/>
          </a:xfrm>
        </p:grpSpPr>
        <p:pic>
          <p:nvPicPr>
            <p:cNvPr id="2052" name="Picture 4" descr="Thinking Bubble, Thought, Creative Free PNG">
              <a:extLst>
                <a:ext uri="{FF2B5EF4-FFF2-40B4-BE49-F238E27FC236}">
                  <a16:creationId xmlns:a16="http://schemas.microsoft.com/office/drawing/2014/main" id="{6C240295-4B5D-5F2D-2499-C58A304CF1F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463873">
              <a:off x="12338014" y="7173860"/>
              <a:ext cx="1143000" cy="12095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object 49">
              <a:extLst>
                <a:ext uri="{FF2B5EF4-FFF2-40B4-BE49-F238E27FC236}">
                  <a16:creationId xmlns:a16="http://schemas.microsoft.com/office/drawing/2014/main" id="{3BF697C5-C66F-8CDC-DA2C-04341361A8CF}"/>
                </a:ext>
              </a:extLst>
            </p:cNvPr>
            <p:cNvPicPr/>
            <p:nvPr userDrawn="1"/>
          </p:nvPicPr>
          <p:blipFill>
            <a:blip r:embed="rId3" cstate="print"/>
            <a:stretch>
              <a:fillRect/>
            </a:stretch>
          </p:blipFill>
          <p:spPr>
            <a:xfrm>
              <a:off x="10661650" y="8093075"/>
              <a:ext cx="2134792" cy="2579389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5D1189C-F066-647C-9B72-285F8BC82E36}"/>
                </a:ext>
              </a:extLst>
            </p:cNvPr>
            <p:cNvSpPr txBox="1"/>
            <p:nvPr userDrawn="1"/>
          </p:nvSpPr>
          <p:spPr>
            <a:xfrm>
              <a:off x="12719050" y="7323634"/>
              <a:ext cx="45720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T" sz="4000" b="1" i="0" kern="1200" dirty="0">
                  <a:solidFill>
                    <a:srgbClr val="58595B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3049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61F273-D823-AE26-1462-3E538D7D8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713" y="601664"/>
            <a:ext cx="17338675" cy="14716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PT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83DB76-D669-AFBE-4517-FAECCDB7EA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2713" y="2301875"/>
            <a:ext cx="17338675" cy="84058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1081798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79" r:id="rId2"/>
    <p:sldLayoutId id="2147483682" r:id="rId3"/>
    <p:sldLayoutId id="2147483683" r:id="rId4"/>
    <p:sldLayoutId id="2147483684" r:id="rId5"/>
    <p:sldLayoutId id="2147483688" r:id="rId6"/>
    <p:sldLayoutId id="2147483687" r:id="rId7"/>
    <p:sldLayoutId id="2147483689" r:id="rId8"/>
    <p:sldLayoutId id="2147483690" r:id="rId9"/>
    <p:sldLayoutId id="2147483691" r:id="rId10"/>
    <p:sldLayoutId id="214748369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PT" sz="7400" b="1" i="0" kern="1200" dirty="0">
          <a:solidFill>
            <a:srgbClr val="251B55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5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rgbClr val="58595B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6858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lang="en-PT" sz="2800" kern="1200" spc="-10" dirty="0" smtClean="0">
          <a:solidFill>
            <a:srgbClr val="58595B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430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58595B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6002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58595B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20574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58595B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microsoft.com/office/2007/relationships/hdphoto" Target="../media/hdphoto1.wdp"/><Relationship Id="rId11" Type="http://schemas.openxmlformats.org/officeDocument/2006/relationships/image" Target="../media/image13.png"/><Relationship Id="rId5" Type="http://schemas.openxmlformats.org/officeDocument/2006/relationships/image" Target="../media/image9.png"/><Relationship Id="rId10" Type="http://schemas.openxmlformats.org/officeDocument/2006/relationships/image" Target="../media/image12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515B-A057-7374-4463-2EFD066FD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PT" dirty="0">
                <a:latin typeface="Open Sans"/>
                <a:ea typeface="Open Sans"/>
                <a:cs typeface="Open Sans"/>
              </a:rPr>
              <a:t>Rede </a:t>
            </a:r>
            <a:r>
              <a:rPr lang="pt-PT" dirty="0" err="1">
                <a:latin typeface="Open Sans"/>
                <a:ea typeface="Open Sans"/>
                <a:cs typeface="Open Sans"/>
              </a:rPr>
              <a:t>Lightning</a:t>
            </a:r>
            <a:r>
              <a:rPr lang="pt-PT" dirty="0">
                <a:latin typeface="Open Sans"/>
                <a:ea typeface="Open Sans"/>
                <a:cs typeface="Open Sans"/>
              </a:rPr>
              <a:t>: Usar bitcoin no dia a dia</a:t>
            </a:r>
            <a:endParaRPr lang="pt-P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B419-C206-2CAA-7F36-14E774E4B75C}"/>
              </a:ext>
            </a:extLst>
          </p:cNvPr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r>
              <a:rPr lang="pt-PT" dirty="0"/>
              <a:t>Capítulo #8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6E78AC-9731-A805-E836-E847F667B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pt-PT" dirty="0">
                <a:latin typeface="Open Sans"/>
                <a:ea typeface="Open Sans"/>
                <a:cs typeface="Open Sans"/>
              </a:rPr>
              <a:t>Demonstração: Diferentes tipos de carteiras </a:t>
            </a:r>
            <a:r>
              <a:rPr lang="pt-PT" dirty="0" err="1">
                <a:latin typeface="Open Sans"/>
                <a:ea typeface="Open Sans"/>
                <a:cs typeface="Open Sans"/>
              </a:rPr>
              <a:t>Lightning</a:t>
            </a:r>
            <a:endParaRPr lang="pt-PT" dirty="0" err="1"/>
          </a:p>
          <a:p>
            <a:r>
              <a:rPr lang="pt-PT" dirty="0">
                <a:latin typeface="Open Sans"/>
                <a:ea typeface="Open Sans"/>
                <a:cs typeface="Open Sans"/>
              </a:rPr>
              <a:t>Atividade: Configurar uma carteira de Bitcoin </a:t>
            </a:r>
            <a:r>
              <a:rPr lang="pt-PT" dirty="0" err="1">
                <a:latin typeface="Open Sans"/>
                <a:ea typeface="Open Sans"/>
                <a:cs typeface="Open Sans"/>
              </a:rPr>
              <a:t>Lightning</a:t>
            </a:r>
          </a:p>
          <a:p>
            <a:r>
              <a:rPr lang="pt-PT" dirty="0">
                <a:latin typeface="Open Sans"/>
                <a:ea typeface="Open Sans"/>
                <a:cs typeface="Open Sans"/>
              </a:rPr>
              <a:t>Atividade: Enviar e receber transações </a:t>
            </a:r>
            <a:r>
              <a:rPr lang="pt-PT" dirty="0" err="1">
                <a:latin typeface="Open Sans"/>
                <a:ea typeface="Open Sans"/>
                <a:cs typeface="Open Sans"/>
              </a:rPr>
              <a:t>Lightning</a:t>
            </a:r>
            <a:endParaRPr lang="pt-PT" dirty="0" err="1"/>
          </a:p>
        </p:txBody>
      </p:sp>
    </p:spTree>
    <p:extLst>
      <p:ext uri="{BB962C8B-B14F-4D97-AF65-F5344CB8AC3E}">
        <p14:creationId xmlns:p14="http://schemas.microsoft.com/office/powerpoint/2010/main" val="2252863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2D20B-2D5C-A8A7-C26D-D5AAB7F5E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B57DE-7327-8389-3812-FA42D3E25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pt-PT" sz="5700" dirty="0"/>
              <a:t>Demonstração: Tipos de carteiras </a:t>
            </a:r>
            <a:r>
              <a:rPr lang="pt-PT" sz="5700" dirty="0" err="1"/>
              <a:t>Lightning</a:t>
            </a:r>
            <a:endParaRPr lang="pt-PT" sz="5700" dirty="0"/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7C6381B6-4270-D080-1F14-847AF50ABB7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96979331"/>
              </p:ext>
            </p:extLst>
          </p:nvPr>
        </p:nvGraphicFramePr>
        <p:xfrm>
          <a:off x="965657" y="2144486"/>
          <a:ext cx="18172785" cy="856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90917">
                  <a:extLst>
                    <a:ext uri="{9D8B030D-6E8A-4147-A177-3AD203B41FA5}">
                      <a16:colId xmlns:a16="http://schemas.microsoft.com/office/drawing/2014/main" val="2636362406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3599351231"/>
                    </a:ext>
                  </a:extLst>
                </a:gridCol>
                <a:gridCol w="4724400">
                  <a:extLst>
                    <a:ext uri="{9D8B030D-6E8A-4147-A177-3AD203B41FA5}">
                      <a16:colId xmlns:a16="http://schemas.microsoft.com/office/drawing/2014/main" val="4218618019"/>
                    </a:ext>
                  </a:extLst>
                </a:gridCol>
                <a:gridCol w="1733868">
                  <a:extLst>
                    <a:ext uri="{9D8B030D-6E8A-4147-A177-3AD203B41FA5}">
                      <a16:colId xmlns:a16="http://schemas.microsoft.com/office/drawing/2014/main" val="3079766672"/>
                    </a:ext>
                  </a:extLst>
                </a:gridCol>
                <a:gridCol w="5328000">
                  <a:extLst>
                    <a:ext uri="{9D8B030D-6E8A-4147-A177-3AD203B41FA5}">
                      <a16:colId xmlns:a16="http://schemas.microsoft.com/office/drawing/2014/main" val="1046306852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chemeClr val="bg1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Carteira</a:t>
                      </a:r>
                    </a:p>
                  </a:txBody>
                  <a:tcPr anchor="ctr">
                    <a:solidFill>
                      <a:srgbClr val="39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chemeClr val="bg1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Custódia</a:t>
                      </a:r>
                    </a:p>
                  </a:txBody>
                  <a:tcPr anchor="ctr">
                    <a:solidFill>
                      <a:srgbClr val="39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chemeClr val="bg1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Tipo de Operação</a:t>
                      </a:r>
                    </a:p>
                  </a:txBody>
                  <a:tcPr anchor="ctr">
                    <a:solidFill>
                      <a:srgbClr val="39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chemeClr val="bg1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Privacidade</a:t>
                      </a:r>
                    </a:p>
                  </a:txBody>
                  <a:tcPr anchor="ctr">
                    <a:solidFill>
                      <a:srgbClr val="3925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chemeClr val="bg1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Características</a:t>
                      </a:r>
                    </a:p>
                  </a:txBody>
                  <a:tcPr anchor="ctr">
                    <a:solidFill>
                      <a:srgbClr val="3925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55463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Phoenix</a:t>
                      </a:r>
                    </a:p>
                  </a:txBody>
                  <a:tcPr marL="1260000" marT="198000" marB="198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Não-</a:t>
                      </a:r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custodial</a:t>
                      </a:r>
                      <a:endParaRPr lang="pt-PT" sz="2000" dirty="0">
                        <a:solidFill>
                          <a:srgbClr val="58595B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Nó </a:t>
                      </a:r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Lightning</a:t>
                      </a: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integrado no telemóvel</a:t>
                      </a: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Alta</a:t>
                      </a: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Faz </a:t>
                      </a:r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splicing</a:t>
                      </a: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e gere canais em segundo plano. Ideal para uso diário. Código aberto.</a:t>
                      </a:r>
                    </a:p>
                  </a:txBody>
                  <a:tcPr marT="198000" marB="198000" anchor="ctr"/>
                </a:tc>
                <a:extLst>
                  <a:ext uri="{0D108BD9-81ED-4DB2-BD59-A6C34878D82A}">
                    <a16:rowId xmlns:a16="http://schemas.microsoft.com/office/drawing/2014/main" val="40933283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Breez</a:t>
                      </a:r>
                      <a:endParaRPr lang="pt-PT" sz="2000" dirty="0">
                        <a:solidFill>
                          <a:srgbClr val="58595B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260000" marT="198000" marB="198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Não-</a:t>
                      </a:r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custodial</a:t>
                      </a:r>
                      <a:endParaRPr lang="pt-PT" sz="2000" dirty="0">
                        <a:solidFill>
                          <a:srgbClr val="58595B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Nó </a:t>
                      </a:r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Lightning</a:t>
                      </a: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integrado no telemóvel e canais geridos por servidor parceiro (LSP)</a:t>
                      </a: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Média-alta</a:t>
                      </a: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Código aberto. Experiência fluida com backups automáticos.</a:t>
                      </a:r>
                    </a:p>
                  </a:txBody>
                  <a:tcPr marT="198000" marB="198000" anchor="ctr"/>
                </a:tc>
                <a:extLst>
                  <a:ext uri="{0D108BD9-81ED-4DB2-BD59-A6C34878D82A}">
                    <a16:rowId xmlns:a16="http://schemas.microsoft.com/office/drawing/2014/main" val="31888968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Zeus</a:t>
                      </a:r>
                    </a:p>
                  </a:txBody>
                  <a:tcPr marL="1260000" marT="198000" marB="198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Não-</a:t>
                      </a:r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custodial</a:t>
                      </a:r>
                      <a:endParaRPr lang="pt-PT" sz="2000" dirty="0">
                        <a:solidFill>
                          <a:srgbClr val="58595B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Liga-se ao teu nó de </a:t>
                      </a:r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Lightning</a:t>
                      </a: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 ou nó </a:t>
                      </a:r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Lightning</a:t>
                      </a: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integrado no telemóvel </a:t>
                      </a: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Média-alta</a:t>
                      </a: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Código aberto. Total controlo e privacidade máxima. Requer conhecimentos técnicos. </a:t>
                      </a:r>
                    </a:p>
                  </a:txBody>
                  <a:tcPr marT="198000" marB="198000" anchor="ctr"/>
                </a:tc>
                <a:extLst>
                  <a:ext uri="{0D108BD9-81ED-4DB2-BD59-A6C34878D82A}">
                    <a16:rowId xmlns:a16="http://schemas.microsoft.com/office/drawing/2014/main" val="28440919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BlueWallet</a:t>
                      </a:r>
                      <a:endParaRPr lang="pt-PT" sz="2000" dirty="0">
                        <a:solidFill>
                          <a:srgbClr val="58595B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260000" marT="198000" marB="198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Não-</a:t>
                      </a:r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custodial</a:t>
                      </a:r>
                      <a:endParaRPr lang="pt-PT" sz="2000" dirty="0">
                        <a:solidFill>
                          <a:srgbClr val="58595B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Liga-se ao teu nó de </a:t>
                      </a:r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Lightning</a:t>
                      </a: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via </a:t>
                      </a:r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LNDHub</a:t>
                      </a:r>
                      <a:endParaRPr lang="pt-PT" sz="2000" dirty="0">
                        <a:solidFill>
                          <a:srgbClr val="58595B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Média</a:t>
                      </a: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Código aberto. </a:t>
                      </a:r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Lightning</a:t>
                      </a: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requer configuração técnica.</a:t>
                      </a:r>
                    </a:p>
                  </a:txBody>
                  <a:tcPr marT="198000" marB="198000" anchor="ctr"/>
                </a:tc>
                <a:extLst>
                  <a:ext uri="{0D108BD9-81ED-4DB2-BD59-A6C34878D82A}">
                    <a16:rowId xmlns:a16="http://schemas.microsoft.com/office/drawing/2014/main" val="825750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Bitkit</a:t>
                      </a:r>
                      <a:endParaRPr lang="pt-PT" sz="2000" dirty="0">
                        <a:solidFill>
                          <a:srgbClr val="58595B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260000" marT="198000" marB="198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Não-</a:t>
                      </a:r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custodial</a:t>
                      </a:r>
                      <a:endParaRPr lang="pt-PT" sz="2000" dirty="0">
                        <a:solidFill>
                          <a:srgbClr val="58595B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Nó </a:t>
                      </a:r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Lightning</a:t>
                      </a: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integrado no telemóvel</a:t>
                      </a: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Alta</a:t>
                      </a: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Código aberto. Suporta </a:t>
                      </a:r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Nostr</a:t>
                      </a: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e identidades descentralizadas (DID). Foco em privacidade e autonomia.</a:t>
                      </a:r>
                    </a:p>
                  </a:txBody>
                  <a:tcPr marT="198000" marB="198000" anchor="ctr"/>
                </a:tc>
                <a:extLst>
                  <a:ext uri="{0D108BD9-81ED-4DB2-BD59-A6C34878D82A}">
                    <a16:rowId xmlns:a16="http://schemas.microsoft.com/office/drawing/2014/main" val="26429920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Wallet</a:t>
                      </a: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</a:t>
                      </a:r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of</a:t>
                      </a: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</a:t>
                      </a:r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Satoshi</a:t>
                      </a:r>
                      <a:endParaRPr lang="pt-PT" sz="2000" dirty="0">
                        <a:solidFill>
                          <a:srgbClr val="58595B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260000" marT="198000" marB="198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2000" kern="12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Versão </a:t>
                      </a:r>
                      <a:r>
                        <a:rPr lang="pt-PT" sz="2000" kern="12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Custodial</a:t>
                      </a:r>
                      <a:r>
                        <a:rPr lang="pt-PT" sz="2000" kern="12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e versão não-</a:t>
                      </a:r>
                      <a:r>
                        <a:rPr lang="pt-PT" sz="2000" kern="12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costudial</a:t>
                      </a:r>
                      <a:endParaRPr lang="pt-PT" sz="2000" kern="1200" dirty="0">
                        <a:solidFill>
                          <a:srgbClr val="58595B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Custodial</a:t>
                      </a: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com nó central da empresa e usa </a:t>
                      </a:r>
                      <a:r>
                        <a:rPr lang="en-GB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Spark </a:t>
                      </a:r>
                      <a:r>
                        <a:rPr lang="en-GB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na</a:t>
                      </a:r>
                      <a:r>
                        <a:rPr lang="en-GB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</a:t>
                      </a:r>
                      <a:r>
                        <a:rPr lang="en-GB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versão</a:t>
                      </a:r>
                      <a:r>
                        <a:rPr lang="en-GB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</a:t>
                      </a:r>
                      <a:r>
                        <a:rPr lang="en-GB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não</a:t>
                      </a:r>
                      <a:r>
                        <a:rPr lang="en-GB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-custodial</a:t>
                      </a:r>
                      <a:endParaRPr lang="pt-PT" sz="2000" dirty="0">
                        <a:solidFill>
                          <a:srgbClr val="58595B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Baixa</a:t>
                      </a: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Simples e popular. Ideal para iniciantes, mas sem </a:t>
                      </a:r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auto-custódia</a:t>
                      </a: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.</a:t>
                      </a:r>
                    </a:p>
                  </a:txBody>
                  <a:tcPr marT="198000" marB="198000" anchor="ctr"/>
                </a:tc>
                <a:extLst>
                  <a:ext uri="{0D108BD9-81ED-4DB2-BD59-A6C34878D82A}">
                    <a16:rowId xmlns:a16="http://schemas.microsoft.com/office/drawing/2014/main" val="3832068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pt-PT" sz="20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Blink</a:t>
                      </a:r>
                      <a:endParaRPr lang="pt-PT" sz="2000" dirty="0">
                        <a:solidFill>
                          <a:srgbClr val="58595B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260000" marT="198000" marB="198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2000" kern="1200" dirty="0" err="1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Custodial</a:t>
                      </a:r>
                      <a:endParaRPr lang="pt-PT" sz="2000" kern="1200" dirty="0">
                        <a:solidFill>
                          <a:srgbClr val="58595B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Nó central da empresa</a:t>
                      </a: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Média-baixa</a:t>
                      </a:r>
                    </a:p>
                  </a:txBody>
                  <a:tcPr marT="198000" marB="198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2000" dirty="0">
                          <a:solidFill>
                            <a:srgbClr val="58595B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Focada em pagamentos comunitários, prática mas não soberana.</a:t>
                      </a:r>
                    </a:p>
                  </a:txBody>
                  <a:tcPr marT="198000" marB="198000" anchor="ctr"/>
                </a:tc>
                <a:extLst>
                  <a:ext uri="{0D108BD9-81ED-4DB2-BD59-A6C34878D82A}">
                    <a16:rowId xmlns:a16="http://schemas.microsoft.com/office/drawing/2014/main" val="257862481"/>
                  </a:ext>
                </a:extLst>
              </a:tr>
            </a:tbl>
          </a:graphicData>
        </a:graphic>
      </p:graphicFrame>
      <p:pic>
        <p:nvPicPr>
          <p:cNvPr id="1026" name="Picture 2" descr="Phoenix - Software Wallet">
            <a:extLst>
              <a:ext uri="{FF2B5EF4-FFF2-40B4-BE49-F238E27FC236}">
                <a16:creationId xmlns:a16="http://schemas.microsoft.com/office/drawing/2014/main" id="{23518D0C-6035-75AE-9189-CC2A2088B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6774" y="3011486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reez: Lightning Client &amp; POS - Apps on Google Play">
            <a:extLst>
              <a:ext uri="{FF2B5EF4-FFF2-40B4-BE49-F238E27FC236}">
                <a16:creationId xmlns:a16="http://schemas.microsoft.com/office/drawing/2014/main" id="{70CDF981-9D03-4751-6C45-B2BCE36E8D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15" t="18815" r="17685" b="17685"/>
          <a:stretch>
            <a:fillRect/>
          </a:stretch>
        </p:blipFill>
        <p:spPr bwMode="auto">
          <a:xfrm>
            <a:off x="1363874" y="4383086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ZEUS Wallet - Apps on Google Play">
            <a:extLst>
              <a:ext uri="{FF2B5EF4-FFF2-40B4-BE49-F238E27FC236}">
                <a16:creationId xmlns:a16="http://schemas.microsoft.com/office/drawing/2014/main" id="{6B2AFFDE-4576-63A4-E9D7-18F8535F47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29492" y1="14453" x2="37891" y2="16797"/>
                        <a14:foregroundMark x1="37891" y1="16797" x2="44727" y2="14063"/>
                        <a14:foregroundMark x1="44727" y1="14063" x2="37500" y2="13477"/>
                        <a14:foregroundMark x1="37500" y1="13477" x2="32031" y2="19922"/>
                        <a14:foregroundMark x1="32031" y1="19922" x2="33789" y2="25586"/>
                        <a14:foregroundMark x1="22070" y1="12109" x2="22070" y2="12109"/>
                        <a14:foregroundMark x1="55664" y1="12305" x2="55664" y2="12305"/>
                        <a14:foregroundMark x1="65234" y1="73047" x2="58984" y2="81055"/>
                        <a14:foregroundMark x1="58984" y1="81055" x2="52148" y2="85742"/>
                        <a14:foregroundMark x1="52148" y1="85742" x2="74023" y2="83984"/>
                        <a14:foregroundMark x1="74023" y1="83984" x2="69336" y2="76172"/>
                        <a14:foregroundMark x1="69336" y1="76172" x2="65820" y2="74219"/>
                        <a14:foregroundMark x1="45313" y1="87891" x2="43555" y2="8808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8774" y="5449886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BlueWallet - Bitcoin wallet App - App Store">
            <a:extLst>
              <a:ext uri="{FF2B5EF4-FFF2-40B4-BE49-F238E27FC236}">
                <a16:creationId xmlns:a16="http://schemas.microsoft.com/office/drawing/2014/main" id="{31732501-D1DE-6D89-D738-19D3E28858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53833" y1="63810" x2="63167" y2="66984"/>
                        <a14:foregroundMark x1="63167" y1="66984" x2="59167" y2="69683"/>
                        <a14:foregroundMark x1="59167" y1="69683" x2="55667" y2="69841"/>
                        <a14:foregroundMark x1="55667" y1="69841" x2="59583" y2="67143"/>
                        <a14:foregroundMark x1="59583" y1="67143" x2="53917" y2="64444"/>
                        <a14:foregroundMark x1="53917" y1="64444" x2="57250" y2="64444"/>
                        <a14:foregroundMark x1="57250" y1="64444" x2="50667" y2="65397"/>
                        <a14:foregroundMark x1="50667" y1="65397" x2="54333" y2="68095"/>
                        <a14:foregroundMark x1="54333" y1="68095" x2="58667" y2="65238"/>
                        <a14:foregroundMark x1="58667" y1="65238" x2="61417" y2="69365"/>
                        <a14:foregroundMark x1="61417" y1="69365" x2="57833" y2="66667"/>
                        <a14:foregroundMark x1="57833" y1="66667" x2="54750" y2="67937"/>
                        <a14:foregroundMark x1="54750" y1="67937" x2="57917" y2="66032"/>
                        <a14:foregroundMark x1="57917" y1="66032" x2="53583" y2="68730"/>
                        <a14:foregroundMark x1="53583" y1="68730" x2="53833" y2="6619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633" t="10583" r="29621" b="11806"/>
          <a:stretch>
            <a:fillRect/>
          </a:stretch>
        </p:blipFill>
        <p:spPr bwMode="auto">
          <a:xfrm>
            <a:off x="1350924" y="6516686"/>
            <a:ext cx="684000" cy="68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allet of Satoshi - Apps on Google Play">
            <a:extLst>
              <a:ext uri="{FF2B5EF4-FFF2-40B4-BE49-F238E27FC236}">
                <a16:creationId xmlns:a16="http://schemas.microsoft.com/office/drawing/2014/main" id="{C9E509CD-A6C9-C25A-A95F-2608076DE1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8774" y="8912486"/>
            <a:ext cx="576000" cy="57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Blink Branding &amp; Onboarding Resources">
            <a:extLst>
              <a:ext uri="{FF2B5EF4-FFF2-40B4-BE49-F238E27FC236}">
                <a16:creationId xmlns:a16="http://schemas.microsoft.com/office/drawing/2014/main" id="{285A2490-E038-884A-46F5-05037F6F862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4" t="7334" r="7334" b="7334"/>
          <a:stretch>
            <a:fillRect/>
          </a:stretch>
        </p:blipFill>
        <p:spPr bwMode="auto">
          <a:xfrm>
            <a:off x="1378039" y="9869486"/>
            <a:ext cx="648000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Bitkit | Bitcoin &amp; Lightning Wallet for Android &amp; iOS">
            <a:extLst>
              <a:ext uri="{FF2B5EF4-FFF2-40B4-BE49-F238E27FC236}">
                <a16:creationId xmlns:a16="http://schemas.microsoft.com/office/drawing/2014/main" id="{EEAA9B49-1F4C-D887-6758-DFAD046C1E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8039" y="7733486"/>
            <a:ext cx="668123" cy="61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9590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 descr="A screenshot of a phone&#10;&#10;AI-generated content may be incorrect.">
            <a:extLst>
              <a:ext uri="{FF2B5EF4-FFF2-40B4-BE49-F238E27FC236}">
                <a16:creationId xmlns:a16="http://schemas.microsoft.com/office/drawing/2014/main" id="{EA4A0A48-0F7E-FF1B-9390-D59AA5BC44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673954" y="599857"/>
            <a:ext cx="5086215" cy="10109640"/>
          </a:xfrm>
        </p:spPr>
      </p:pic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DBFAB75-A968-1CEF-587D-87D691F3CB5D}"/>
              </a:ext>
            </a:extLst>
          </p:cNvPr>
          <p:cNvSpPr txBox="1">
            <a:spLocks/>
          </p:cNvSpPr>
          <p:nvPr/>
        </p:nvSpPr>
        <p:spPr>
          <a:xfrm>
            <a:off x="1211373" y="1133366"/>
            <a:ext cx="11075251" cy="13296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en-PT"/>
            </a:defPPr>
            <a:lvl1pPr marL="0" indent="0" algn="l" defTabSz="1507846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968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3923" indent="0" algn="l" defTabSz="1507846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n-PT" sz="2968" kern="1200" spc="-1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07846" indent="0" algn="l" defTabSz="1507846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None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61768" indent="0" algn="l" defTabSz="1507846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None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015691" indent="0" algn="l" defTabSz="1507846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None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769614" indent="0" algn="l" defTabSz="150784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523537" indent="0" algn="l" defTabSz="150784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277460" indent="0" algn="l" defTabSz="150784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031382" indent="0" algn="l" defTabSz="150784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sz="6700" b="1" dirty="0">
                <a:solidFill>
                  <a:srgbClr val="251B55"/>
                </a:solidFill>
                <a:latin typeface="Open Sans"/>
                <a:ea typeface="Open Sans"/>
                <a:cs typeface="Open Sans"/>
              </a:rPr>
              <a:t>Configurar uma carteira Bitcoin </a:t>
            </a:r>
            <a:r>
              <a:rPr lang="pt-PT" sz="6700" b="1" dirty="0" err="1">
                <a:solidFill>
                  <a:srgbClr val="251B55"/>
                </a:solidFill>
                <a:latin typeface="Open Sans"/>
                <a:ea typeface="Open Sans"/>
                <a:cs typeface="Open Sans"/>
              </a:rPr>
              <a:t>Lightning</a:t>
            </a:r>
            <a:endParaRPr lang="pt-PT" sz="6700" b="1" dirty="0">
              <a:latin typeface="Open Sans"/>
              <a:ea typeface="Open Sans"/>
              <a:cs typeface="Open Sans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E54D2068-5118-C723-8103-1C58181E1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9614" y="599082"/>
            <a:ext cx="5090516" cy="10106486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C6023D5-64D0-ADC4-EE44-9DBC3229179F}"/>
              </a:ext>
            </a:extLst>
          </p:cNvPr>
          <p:cNvSpPr txBox="1">
            <a:spLocks/>
          </p:cNvSpPr>
          <p:nvPr/>
        </p:nvSpPr>
        <p:spPr>
          <a:xfrm>
            <a:off x="1218885" y="4130675"/>
            <a:ext cx="8831294" cy="433594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5277" b="0" i="0" kern="1200">
                <a:solidFill>
                  <a:srgbClr val="58595B"/>
                </a:solidFill>
                <a:latin typeface="Avenir Light" panose="020B0402020203020204" pitchFamily="34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PT" sz="4617" b="0" i="0" kern="1200" spc="-1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958" b="0" i="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b="0" i="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b="0" i="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SzPct val="125000"/>
              <a:buNone/>
            </a:pPr>
            <a:r>
              <a:rPr lang="pt-PT" sz="3200" b="1" dirty="0">
                <a:latin typeface="Open Sans"/>
                <a:ea typeface="Open Sans"/>
                <a:cs typeface="Open Sans"/>
              </a:rPr>
              <a:t>Instalar </a:t>
            </a:r>
            <a:r>
              <a:rPr lang="pt-PT" sz="3200" b="1" dirty="0" err="1">
                <a:latin typeface="Open Sans"/>
                <a:ea typeface="Open Sans"/>
                <a:cs typeface="Open Sans"/>
              </a:rPr>
              <a:t>Wallet</a:t>
            </a:r>
            <a:r>
              <a:rPr lang="pt-PT" sz="3200" b="1" dirty="0">
                <a:latin typeface="Open Sans"/>
                <a:ea typeface="Open Sans"/>
                <a:cs typeface="Open Sans"/>
              </a:rPr>
              <a:t> </a:t>
            </a:r>
            <a:r>
              <a:rPr lang="pt-PT" sz="3200" b="1" dirty="0" err="1">
                <a:latin typeface="Open Sans"/>
                <a:ea typeface="Open Sans"/>
                <a:cs typeface="Open Sans"/>
              </a:rPr>
              <a:t>of</a:t>
            </a:r>
            <a:r>
              <a:rPr lang="pt-PT" sz="3200" b="1" dirty="0">
                <a:latin typeface="Open Sans"/>
                <a:ea typeface="Open Sans"/>
                <a:cs typeface="Open Sans"/>
              </a:rPr>
              <a:t> </a:t>
            </a:r>
            <a:r>
              <a:rPr lang="pt-PT" sz="3200" b="1" dirty="0" err="1">
                <a:latin typeface="Open Sans"/>
                <a:ea typeface="Open Sans"/>
                <a:cs typeface="Open Sans"/>
              </a:rPr>
              <a:t>Satoshi</a:t>
            </a:r>
            <a:endParaRPr lang="pt-PT" sz="3200" b="1" dirty="0">
              <a:latin typeface="Open Sans"/>
              <a:ea typeface="Open Sans"/>
              <a:cs typeface="Open Sans"/>
            </a:endParaRPr>
          </a:p>
          <a:p>
            <a:pPr marL="571500" indent="-571500">
              <a:buSzPct val="125000"/>
              <a:buBlip>
                <a:blip r:embed="rId4"/>
              </a:buBlip>
            </a:pPr>
            <a:r>
              <a:rPr lang="pt-PT" sz="3200" dirty="0">
                <a:latin typeface="Open Sans"/>
                <a:ea typeface="Open Sans"/>
                <a:cs typeface="Open Sans"/>
              </a:rPr>
              <a:t>Com a configuração base, é uma carteira </a:t>
            </a:r>
            <a:r>
              <a:rPr lang="pt-PT" sz="3200" dirty="0" err="1">
                <a:latin typeface="Open Sans"/>
                <a:ea typeface="Open Sans"/>
                <a:cs typeface="Open Sans"/>
              </a:rPr>
              <a:t>Lightning</a:t>
            </a:r>
            <a:r>
              <a:rPr lang="pt-PT" sz="3200" dirty="0">
                <a:latin typeface="Open Sans"/>
                <a:ea typeface="Open Sans"/>
                <a:cs typeface="Open Sans"/>
              </a:rPr>
              <a:t> </a:t>
            </a:r>
            <a:r>
              <a:rPr lang="pt-PT" sz="3200" dirty="0" err="1">
                <a:latin typeface="Open Sans"/>
                <a:ea typeface="Open Sans"/>
                <a:cs typeface="Open Sans"/>
              </a:rPr>
              <a:t>custodial</a:t>
            </a:r>
            <a:r>
              <a:rPr lang="pt-PT" sz="3200" dirty="0">
                <a:latin typeface="Open Sans"/>
                <a:ea typeface="Open Sans"/>
                <a:cs typeface="Open Sans"/>
              </a:rPr>
              <a:t> – as chaves privadas pertencem à entidade terceira.</a:t>
            </a:r>
          </a:p>
          <a:p>
            <a:pPr marL="571500" indent="-571500">
              <a:buSzPct val="125000"/>
              <a:buBlip>
                <a:blip r:embed="rId4"/>
              </a:buBlip>
            </a:pPr>
            <a:r>
              <a:rPr lang="pt-PT" sz="3200" dirty="0">
                <a:latin typeface="Open Sans"/>
                <a:ea typeface="Open Sans"/>
                <a:cs typeface="Open Sans"/>
              </a:rPr>
              <a:t>Existe uma versão não-</a:t>
            </a:r>
            <a:r>
              <a:rPr lang="pt-PT" sz="3200" dirty="0" err="1">
                <a:latin typeface="Open Sans"/>
                <a:ea typeface="Open Sans"/>
                <a:cs typeface="Open Sans"/>
              </a:rPr>
              <a:t>custodial</a:t>
            </a:r>
            <a:r>
              <a:rPr lang="pt-PT" sz="3200" dirty="0">
                <a:latin typeface="Open Sans"/>
                <a:ea typeface="Open Sans"/>
                <a:cs typeface="Open Sans"/>
              </a:rPr>
              <a:t> que se pode configurar na aplicação.</a:t>
            </a:r>
          </a:p>
        </p:txBody>
      </p:sp>
    </p:spTree>
    <p:extLst>
      <p:ext uri="{BB962C8B-B14F-4D97-AF65-F5344CB8AC3E}">
        <p14:creationId xmlns:p14="http://schemas.microsoft.com/office/powerpoint/2010/main" val="4124956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16E2B-05C8-C0F3-C0B7-4F3BC0B74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AD51D2-D0D9-7AD9-3F5F-BBCC9EF8CF2B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1212007" y="598570"/>
            <a:ext cx="7230008" cy="1329613"/>
          </a:xfrm>
        </p:spPr>
        <p:txBody>
          <a:bodyPr/>
          <a:lstStyle>
            <a:defPPr>
              <a:defRPr lang="en-PT"/>
            </a:defPPr>
            <a:lvl1pPr marL="0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3923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07846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61768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015691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769614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523537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277460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031382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sz="6700" b="1" dirty="0">
                <a:solidFill>
                  <a:srgbClr val="251B55"/>
                </a:solidFill>
                <a:latin typeface="Open Sans"/>
                <a:ea typeface="Open Sans"/>
                <a:cs typeface="Open Sans"/>
              </a:rPr>
              <a:t>Receber Bitcoin</a:t>
            </a:r>
          </a:p>
        </p:txBody>
      </p:sp>
      <p:cxnSp>
        <p:nvCxnSpPr>
          <p:cNvPr id="30" name="Curved Connector 29">
            <a:extLst>
              <a:ext uri="{FF2B5EF4-FFF2-40B4-BE49-F238E27FC236}">
                <a16:creationId xmlns:a16="http://schemas.microsoft.com/office/drawing/2014/main" id="{808A670B-9639-22F9-2E85-42D5225FB5C1}"/>
              </a:ext>
            </a:extLst>
          </p:cNvPr>
          <p:cNvCxnSpPr>
            <a:cxnSpLocks/>
          </p:cNvCxnSpPr>
          <p:nvPr/>
        </p:nvCxnSpPr>
        <p:spPr>
          <a:xfrm rot="16200000" flipH="1">
            <a:off x="6693440" y="8093785"/>
            <a:ext cx="598173" cy="2417112"/>
          </a:xfrm>
          <a:prstGeom prst="curvedConnector2">
            <a:avLst/>
          </a:prstGeom>
          <a:ln w="12700">
            <a:solidFill>
              <a:schemeClr val="bg1">
                <a:lumMod val="9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green screen with a yellow circle and a check mark&#10;&#10;Description automatically generated">
            <a:extLst>
              <a:ext uri="{FF2B5EF4-FFF2-40B4-BE49-F238E27FC236}">
                <a16:creationId xmlns:a16="http://schemas.microsoft.com/office/drawing/2014/main" id="{31A345F2-18D1-B524-D0B1-65F500027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7491" y="6462248"/>
            <a:ext cx="2142986" cy="4224743"/>
          </a:xfrm>
          <a:prstGeom prst="rect">
            <a:avLst/>
          </a:prstGeom>
        </p:spPr>
      </p:pic>
      <p:pic>
        <p:nvPicPr>
          <p:cNvPr id="11" name="Content Placeholder 10" descr="A screen shot of a phone&#10;&#10;AI-generated content may be incorrect.">
            <a:extLst>
              <a:ext uri="{FF2B5EF4-FFF2-40B4-BE49-F238E27FC236}">
                <a16:creationId xmlns:a16="http://schemas.microsoft.com/office/drawing/2014/main" id="{E02C52D4-7834-E6F4-0E01-258754D3791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636839" y="599857"/>
            <a:ext cx="5086215" cy="10109640"/>
          </a:xfr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74F96C50-E293-177F-8239-C2BFB86FF7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34518" y="599082"/>
            <a:ext cx="5090516" cy="1010648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741E5C5-EC10-2C6C-5EAA-A27D9258151F}"/>
              </a:ext>
            </a:extLst>
          </p:cNvPr>
          <p:cNvSpPr txBox="1">
            <a:spLocks/>
          </p:cNvSpPr>
          <p:nvPr/>
        </p:nvSpPr>
        <p:spPr>
          <a:xfrm>
            <a:off x="1218885" y="2676044"/>
            <a:ext cx="8379440" cy="433594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5277" b="0" i="0" kern="1200">
                <a:solidFill>
                  <a:srgbClr val="58595B"/>
                </a:solidFill>
                <a:latin typeface="Avenir Light" panose="020B0402020203020204" pitchFamily="34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PT" sz="4617" b="0" i="0" kern="1200" spc="-1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958" b="0" i="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b="0" i="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b="0" i="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571500">
              <a:buSzPct val="125000"/>
              <a:buBlip>
                <a:blip r:embed="rId5"/>
              </a:buBlip>
            </a:pPr>
            <a:r>
              <a:rPr lang="pt-PT" sz="3200" dirty="0">
                <a:latin typeface="Open Sans"/>
                <a:ea typeface="Open Sans"/>
                <a:cs typeface="Open Sans"/>
              </a:rPr>
              <a:t>No </a:t>
            </a:r>
            <a:r>
              <a:rPr lang="pt-PT" sz="3200" dirty="0" err="1">
                <a:latin typeface="Open Sans"/>
                <a:ea typeface="Open Sans"/>
                <a:cs typeface="Open Sans"/>
              </a:rPr>
              <a:t>menú</a:t>
            </a:r>
            <a:r>
              <a:rPr lang="pt-PT" sz="3200" dirty="0">
                <a:latin typeface="Open Sans"/>
                <a:ea typeface="Open Sans"/>
                <a:cs typeface="Open Sans"/>
              </a:rPr>
              <a:t> inicial clicar em “Receber” </a:t>
            </a:r>
          </a:p>
          <a:p>
            <a:pPr marL="571500" indent="-571500">
              <a:buSzPct val="125000"/>
              <a:buBlip>
                <a:blip r:embed="rId5"/>
              </a:buBlip>
            </a:pPr>
            <a:r>
              <a:rPr lang="pt-PT" sz="3200" dirty="0">
                <a:latin typeface="Open Sans"/>
                <a:ea typeface="Open Sans"/>
                <a:cs typeface="Open Sans"/>
              </a:rPr>
              <a:t>Será disponibilizado um código QR para partilhar com quem lhe quer enviar Bitcoin </a:t>
            </a:r>
          </a:p>
          <a:p>
            <a:pPr marL="571500" indent="-571500">
              <a:buSzPct val="125000"/>
              <a:buBlip>
                <a:blip r:embed="rId5"/>
              </a:buBlip>
            </a:pPr>
            <a:r>
              <a:rPr lang="pt-PT" sz="3200" dirty="0">
                <a:latin typeface="Open Sans"/>
                <a:ea typeface="Open Sans"/>
                <a:cs typeface="Open Sans"/>
              </a:rPr>
              <a:t>Também é possível escolher qual o montante a receber clicando em “Quantidade/Nota” </a:t>
            </a:r>
          </a:p>
          <a:p>
            <a:pPr marL="571500" indent="-571500">
              <a:buSzPct val="125000"/>
              <a:buBlip>
                <a:blip r:embed="rId5"/>
              </a:buBlip>
            </a:pPr>
            <a:r>
              <a:rPr lang="pt-PT" sz="3200" dirty="0">
                <a:latin typeface="Open Sans"/>
                <a:ea typeface="Open Sans"/>
                <a:cs typeface="Open Sans"/>
              </a:rPr>
              <a:t>Será exibida uma mensagem de sucesso</a:t>
            </a:r>
          </a:p>
        </p:txBody>
      </p:sp>
    </p:spTree>
    <p:extLst>
      <p:ext uri="{BB962C8B-B14F-4D97-AF65-F5344CB8AC3E}">
        <p14:creationId xmlns:p14="http://schemas.microsoft.com/office/powerpoint/2010/main" val="4213861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F4BC64-7E5A-9B5D-33F9-CA7463672F08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1212007" y="598570"/>
            <a:ext cx="6656865" cy="1329613"/>
          </a:xfrm>
        </p:spPr>
        <p:txBody>
          <a:bodyPr/>
          <a:lstStyle>
            <a:defPPr>
              <a:defRPr lang="en-PT"/>
            </a:defPPr>
            <a:lvl1pPr marL="0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3923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07846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61768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015691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769614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523537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277460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031382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sz="6700" b="1" dirty="0">
                <a:solidFill>
                  <a:srgbClr val="251B55"/>
                </a:solidFill>
                <a:latin typeface="Open Sans"/>
                <a:ea typeface="Open Sans"/>
                <a:cs typeface="Open Sans"/>
              </a:rPr>
              <a:t>Enviar Bitcoin</a:t>
            </a:r>
          </a:p>
        </p:txBody>
      </p:sp>
      <p:pic>
        <p:nvPicPr>
          <p:cNvPr id="23" name="Picture 22" descr="A yellow circle with a check mark in it&#10;&#10;Description automatically generated">
            <a:extLst>
              <a:ext uri="{FF2B5EF4-FFF2-40B4-BE49-F238E27FC236}">
                <a16:creationId xmlns:a16="http://schemas.microsoft.com/office/drawing/2014/main" id="{3F0233D8-C43A-9EC0-46AA-19F88DA533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031" y="6467692"/>
            <a:ext cx="2140148" cy="4241805"/>
          </a:xfrm>
          <a:prstGeom prst="rect">
            <a:avLst/>
          </a:prstGeom>
        </p:spPr>
      </p:pic>
      <p:cxnSp>
        <p:nvCxnSpPr>
          <p:cNvPr id="30" name="Curved Connector 29">
            <a:extLst>
              <a:ext uri="{FF2B5EF4-FFF2-40B4-BE49-F238E27FC236}">
                <a16:creationId xmlns:a16="http://schemas.microsoft.com/office/drawing/2014/main" id="{FFE0A996-D5A5-DC19-0C2A-3390B0338B1E}"/>
              </a:ext>
            </a:extLst>
          </p:cNvPr>
          <p:cNvCxnSpPr>
            <a:cxnSpLocks/>
          </p:cNvCxnSpPr>
          <p:nvPr/>
        </p:nvCxnSpPr>
        <p:spPr>
          <a:xfrm rot="16200000" flipH="1">
            <a:off x="6153330" y="8093785"/>
            <a:ext cx="598173" cy="2417112"/>
          </a:xfrm>
          <a:prstGeom prst="curvedConnector2">
            <a:avLst/>
          </a:prstGeom>
          <a:ln w="12700">
            <a:solidFill>
              <a:schemeClr val="bg1">
                <a:lumMod val="9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Content Placeholder 7" descr="A screen shot of a phone&#10;&#10;AI-generated content may be incorrect.">
            <a:extLst>
              <a:ext uri="{FF2B5EF4-FFF2-40B4-BE49-F238E27FC236}">
                <a16:creationId xmlns:a16="http://schemas.microsoft.com/office/drawing/2014/main" id="{0869B7AB-2857-87D2-2FCF-719CDAAF5C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636839" y="599857"/>
            <a:ext cx="5086215" cy="10109640"/>
          </a:xfr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959161D7-C913-6B87-AFFB-1F4708B652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34518" y="599082"/>
            <a:ext cx="5090516" cy="1010648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DA08F0A-E5F2-0276-608E-6F95D521E753}"/>
              </a:ext>
            </a:extLst>
          </p:cNvPr>
          <p:cNvSpPr txBox="1">
            <a:spLocks/>
          </p:cNvSpPr>
          <p:nvPr/>
        </p:nvSpPr>
        <p:spPr>
          <a:xfrm>
            <a:off x="1218885" y="2828536"/>
            <a:ext cx="7895132" cy="433594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5277" b="0" i="0" kern="1200">
                <a:solidFill>
                  <a:srgbClr val="58595B"/>
                </a:solidFill>
                <a:latin typeface="Avenir Light" panose="020B0402020203020204" pitchFamily="34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PT" sz="4617" b="0" i="0" kern="1200" spc="-1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958" b="0" i="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b="0" i="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b="0" i="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571500">
              <a:buSzPct val="125000"/>
              <a:buBlip>
                <a:blip r:embed="rId5"/>
              </a:buBlip>
            </a:pPr>
            <a:r>
              <a:rPr lang="pt-PT" sz="3200" dirty="0">
                <a:latin typeface="Open Sans"/>
                <a:ea typeface="Open Sans"/>
                <a:cs typeface="Open Sans"/>
              </a:rPr>
              <a:t>No </a:t>
            </a:r>
            <a:r>
              <a:rPr lang="pt-PT" sz="3200" dirty="0" err="1">
                <a:latin typeface="Open Sans"/>
                <a:ea typeface="Open Sans"/>
                <a:cs typeface="Open Sans"/>
              </a:rPr>
              <a:t>menú</a:t>
            </a:r>
            <a:r>
              <a:rPr lang="pt-PT" sz="3200" dirty="0">
                <a:latin typeface="Open Sans"/>
                <a:ea typeface="Open Sans"/>
                <a:cs typeface="Open Sans"/>
              </a:rPr>
              <a:t> inicial clicar em “Enviar” </a:t>
            </a:r>
            <a:endParaRPr lang="pt-PT" sz="3200" dirty="0">
              <a:latin typeface="Open Sans" panose="020B0606030504020204" pitchFamily="34" charset="0"/>
            </a:endParaRPr>
          </a:p>
          <a:p>
            <a:pPr marL="571500" indent="-571500">
              <a:buSzPct val="125000"/>
              <a:buBlip>
                <a:blip r:embed="rId5"/>
              </a:buBlip>
            </a:pPr>
            <a:r>
              <a:rPr lang="pt-PT" sz="3200" dirty="0">
                <a:latin typeface="Open Sans"/>
                <a:ea typeface="Open Sans"/>
                <a:cs typeface="Open Sans"/>
              </a:rPr>
              <a:t>Ler o código QR do endereço para onde se quer enviar Bitcoin </a:t>
            </a:r>
            <a:endParaRPr lang="pt-PT" sz="3200" dirty="0">
              <a:latin typeface="Open Sans" panose="020B0606030504020204" pitchFamily="34" charset="0"/>
            </a:endParaRPr>
          </a:p>
          <a:p>
            <a:pPr marL="571500" indent="-571500">
              <a:buSzPct val="125000"/>
              <a:buBlip>
                <a:blip r:embed="rId5"/>
              </a:buBlip>
            </a:pPr>
            <a:r>
              <a:rPr lang="pt-PT" sz="3200" dirty="0">
                <a:latin typeface="Open Sans"/>
                <a:ea typeface="Open Sans"/>
                <a:cs typeface="Open Sans"/>
              </a:rPr>
              <a:t>Selecionar o montante a enviar e clicar em “Enviar” </a:t>
            </a:r>
            <a:endParaRPr lang="pt-PT" sz="3200" dirty="0">
              <a:latin typeface="Open Sans" panose="020B0606030504020204" pitchFamily="34" charset="0"/>
            </a:endParaRPr>
          </a:p>
          <a:p>
            <a:pPr marL="571500" indent="-571500">
              <a:buSzPct val="125000"/>
              <a:buBlip>
                <a:blip r:embed="rId5"/>
              </a:buBlip>
            </a:pPr>
            <a:r>
              <a:rPr lang="pt-PT" sz="3200" dirty="0">
                <a:latin typeface="Open Sans"/>
                <a:ea typeface="Open Sans"/>
                <a:cs typeface="Open Sans"/>
              </a:rPr>
              <a:t>Será exibida uma mensagem de sucesso</a:t>
            </a:r>
            <a:endParaRPr lang="pt-PT" sz="3200" dirty="0">
              <a:latin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080235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95065-BE42-A55B-0AC2-2F8220898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E292E9-4797-BE9A-3869-86F8141787E5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1212007" y="598570"/>
            <a:ext cx="6656865" cy="1329613"/>
          </a:xfrm>
        </p:spPr>
        <p:txBody>
          <a:bodyPr/>
          <a:lstStyle>
            <a:defPPr>
              <a:defRPr lang="en-PT"/>
            </a:defPPr>
            <a:lvl1pPr marL="0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3923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07846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61768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015691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769614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523537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277460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031382" algn="l" defTabSz="1507846" rtl="0" eaLnBrk="1" latinLnBrk="0" hangingPunct="1"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sz="6700" b="1" dirty="0">
                <a:solidFill>
                  <a:srgbClr val="251B55"/>
                </a:solidFill>
                <a:latin typeface="Open Sans"/>
                <a:ea typeface="Open Sans"/>
                <a:cs typeface="Open Sans"/>
              </a:rPr>
              <a:t>Enviar Bitcoin</a:t>
            </a:r>
          </a:p>
        </p:txBody>
      </p:sp>
      <p:cxnSp>
        <p:nvCxnSpPr>
          <p:cNvPr id="30" name="Curved Connector 29">
            <a:extLst>
              <a:ext uri="{FF2B5EF4-FFF2-40B4-BE49-F238E27FC236}">
                <a16:creationId xmlns:a16="http://schemas.microsoft.com/office/drawing/2014/main" id="{F2A974FA-AE8A-DA94-B8BF-52006ADE40E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153330" y="8093785"/>
            <a:ext cx="598173" cy="2417112"/>
          </a:xfrm>
          <a:prstGeom prst="curvedConnector2">
            <a:avLst/>
          </a:prstGeom>
          <a:ln w="12700">
            <a:solidFill>
              <a:schemeClr val="bg1">
                <a:lumMod val="9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4B3C67D-9E4E-D391-0B98-92FEE21B0B72}"/>
              </a:ext>
            </a:extLst>
          </p:cNvPr>
          <p:cNvSpPr txBox="1">
            <a:spLocks/>
          </p:cNvSpPr>
          <p:nvPr/>
        </p:nvSpPr>
        <p:spPr>
          <a:xfrm>
            <a:off x="1212007" y="3673475"/>
            <a:ext cx="7895132" cy="433594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5277" b="0" i="0" kern="1200">
                <a:solidFill>
                  <a:srgbClr val="58595B"/>
                </a:solidFill>
                <a:latin typeface="Avenir Light" panose="020B0402020203020204" pitchFamily="34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PT" sz="4617" b="0" i="0" kern="1200" spc="-1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958" b="0" i="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b="0" i="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b="0" i="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571500">
              <a:buSzPct val="125000"/>
              <a:buBlip>
                <a:blip r:embed="rId2"/>
              </a:buBlip>
            </a:pPr>
            <a:r>
              <a:rPr lang="pt-PT" sz="3200" dirty="0">
                <a:latin typeface="Open Sans"/>
                <a:ea typeface="Open Sans"/>
                <a:cs typeface="Open Sans"/>
              </a:rPr>
              <a:t>Vamos experimentar fazer um ”carrossel de transações” com um grupo de voluntários</a:t>
            </a:r>
          </a:p>
          <a:p>
            <a:pPr marL="571500" indent="-571500">
              <a:buSzPct val="125000"/>
              <a:buBlip>
                <a:blip r:embed="rId2"/>
              </a:buBlip>
            </a:pPr>
            <a:r>
              <a:rPr lang="pt-PT" sz="3200" dirty="0">
                <a:latin typeface="Open Sans"/>
                <a:ea typeface="Open Sans"/>
                <a:cs typeface="Open Sans"/>
              </a:rPr>
              <a:t>Os </a:t>
            </a:r>
            <a:r>
              <a:rPr lang="pt-PT" sz="3200" dirty="0" err="1">
                <a:latin typeface="Open Sans"/>
                <a:ea typeface="Open Sans"/>
                <a:cs typeface="Open Sans"/>
              </a:rPr>
              <a:t>sats</a:t>
            </a:r>
            <a:r>
              <a:rPr lang="pt-PT" sz="3200" dirty="0">
                <a:latin typeface="Open Sans"/>
                <a:ea typeface="Open Sans"/>
                <a:cs typeface="Open Sans"/>
              </a:rPr>
              <a:t> vão sair de um aluno e vão dar a volta por todos até chegarem à carteira de onde saíram inicialmente</a:t>
            </a:r>
            <a:endParaRPr lang="pt-PT" sz="3200" dirty="0">
              <a:latin typeface="Open Sans"/>
            </a:endParaRP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78B4435D-C4B6-2786-35DA-1650413BEA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8450" y="3114675"/>
            <a:ext cx="5664200" cy="5664200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4208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7218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a yellow sun and black text&#10;&#10;AI-generated content may be incorrect.">
            <a:extLst>
              <a:ext uri="{FF2B5EF4-FFF2-40B4-BE49-F238E27FC236}">
                <a16:creationId xmlns:a16="http://schemas.microsoft.com/office/drawing/2014/main" id="{5C804049-FBAA-4F11-AD08-1A3A749D74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5850" y="3582035"/>
            <a:ext cx="7772400" cy="4145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178460"/>
      </p:ext>
    </p:extLst>
  </p:cSld>
  <p:clrMapOvr>
    <a:masterClrMapping/>
  </p:clrMapOvr>
</p:sld>
</file>

<file path=ppt/theme/theme1.xml><?xml version="1.0" encoding="utf-8"?>
<a:theme xmlns:a="http://schemas.openxmlformats.org/drawingml/2006/main" name="1_Custom Design">
  <a:themeElements>
    <a:clrScheme name="Custom 1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4349</TotalTime>
  <Words>382</Words>
  <Application>Microsoft Macintosh PowerPoint</Application>
  <PresentationFormat>Custom</PresentationFormat>
  <Paragraphs>64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Arial</vt:lpstr>
      <vt:lpstr>Avenir Light</vt:lpstr>
      <vt:lpstr>Avenir Medium</vt:lpstr>
      <vt:lpstr>Open Sans</vt:lpstr>
      <vt:lpstr>Open Sans Light</vt:lpstr>
      <vt:lpstr>Ubuntu Light</vt:lpstr>
      <vt:lpstr>1_Custom Design</vt:lpstr>
      <vt:lpstr>Rede Lightning: Usar bitcoin no dia a dia</vt:lpstr>
      <vt:lpstr>Demonstração: Tipos de carteiras Lightning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Source</dc:title>
  <dc:creator>z2020</dc:creator>
  <cp:lastModifiedBy>INES RAMALHETE SALVADO PAZ LOURO</cp:lastModifiedBy>
  <cp:revision>331</cp:revision>
  <dcterms:created xsi:type="dcterms:W3CDTF">2024-11-12T03:26:48Z</dcterms:created>
  <dcterms:modified xsi:type="dcterms:W3CDTF">2025-11-16T02:15:02Z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2024-11-12T00:00:00Z</vt:filetime>
  </property>
  <property fmtid="{D5CDD505-2E9C-101B-9397-08002B2CF9AE}" pid="3" name="Creator">
    <vt:lpwstr>Adobe Illustrator 29.0 (Windows)</vt:lpwstr>
  </property>
  <property fmtid="{D5CDD505-2E9C-101B-9397-08002B2CF9AE}" pid="4" name="LastSaved">
    <vt:filetime>2024-11-12T00:00:00Z</vt:filetime>
  </property>
  <property fmtid="{D5CDD505-2E9C-101B-9397-08002B2CF9AE}" pid="5" name="Producer">
    <vt:lpwstr>Adobe PDF library 17.00</vt:lpwstr>
  </property>
</Properties>
</file>