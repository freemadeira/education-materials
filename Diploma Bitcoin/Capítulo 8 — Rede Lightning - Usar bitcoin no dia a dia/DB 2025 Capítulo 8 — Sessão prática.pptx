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0"/>
  </p:notesMasterIdLst>
  <p:sldIdLst>
    <p:sldId id="260" r:id="rId2"/>
    <p:sldId id="276" r:id="rId3"/>
    <p:sldId id="337" r:id="rId4"/>
    <p:sldId id="346" r:id="rId5"/>
    <p:sldId id="344" r:id="rId6"/>
    <p:sldId id="349" r:id="rId7"/>
    <p:sldId id="269" r:id="rId8"/>
    <p:sldId id="268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256A"/>
    <a:srgbClr val="2F5FB3"/>
    <a:srgbClr val="CCDEF9"/>
    <a:srgbClr val="F9B84C"/>
    <a:srgbClr val="FFDC74"/>
    <a:srgbClr val="FFB75D"/>
    <a:srgbClr val="FF9E1D"/>
    <a:srgbClr val="FFBC58"/>
    <a:srgbClr val="BCBCBC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01FDE-61A2-D075-F698-8C18AC3E633F}" v="380" dt="2025-11-04T10:01:55.4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/>
    <p:restoredTop sz="93918"/>
  </p:normalViewPr>
  <p:slideViewPr>
    <p:cSldViewPr>
      <p:cViewPr varScale="1">
        <p:scale>
          <a:sx n="51" d="100"/>
          <a:sy n="51" d="100"/>
        </p:scale>
        <p:origin x="1840" y="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17/04/2026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5167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598216"/>
            <a:ext cx="10177701" cy="10112919"/>
          </a:xfrm>
        </p:spPr>
        <p:txBody>
          <a:bodyPr/>
          <a:lstStyle>
            <a:lvl1pPr>
              <a:defRPr sz="5277" b="0" i="0">
                <a:latin typeface="Avenir Light" panose="020B0402020203020204" pitchFamily="34" charset="77"/>
              </a:defRPr>
            </a:lvl1pPr>
            <a:lvl2pPr>
              <a:defRPr sz="4617" b="0" i="0"/>
            </a:lvl2pPr>
            <a:lvl3pPr>
              <a:defRPr sz="3958" b="0" i="0"/>
            </a:lvl3pPr>
            <a:lvl4pPr>
              <a:defRPr sz="3298" b="0" i="0"/>
            </a:lvl4pPr>
            <a:lvl5pPr>
              <a:defRPr sz="3298" b="0" i="0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2193328"/>
            <a:ext cx="6484095" cy="8517807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98" b="0" i="0">
                <a:latin typeface="Avenir Light" panose="020B0402020203020204" pitchFamily="34" charset="77"/>
              </a:defRPr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F745174-D40C-4A1A-DEC9-05F4721B5B6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84776" y="598216"/>
            <a:ext cx="6484095" cy="132970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5936" b="0" i="0">
                <a:latin typeface="Avenir Medium" panose="02000503020000020003" pitchFamily="2" charset="0"/>
              </a:defRPr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GB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81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304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>
                <a:latin typeface="Open Sans"/>
                <a:ea typeface="Open Sans"/>
                <a:cs typeface="Open Sans"/>
              </a:rPr>
              <a:t>Rede </a:t>
            </a:r>
            <a:r>
              <a:rPr lang="pt-PT" dirty="0" err="1">
                <a:latin typeface="Open Sans"/>
                <a:ea typeface="Open Sans"/>
                <a:cs typeface="Open Sans"/>
              </a:rPr>
              <a:t>Lightning</a:t>
            </a:r>
            <a:r>
              <a:rPr lang="pt-PT" dirty="0">
                <a:latin typeface="Open Sans"/>
                <a:ea typeface="Open Sans"/>
                <a:cs typeface="Open Sans"/>
              </a:rPr>
              <a:t>: Usar bitcoin no dia a dia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latin typeface="Open Sans"/>
                <a:ea typeface="Open Sans"/>
                <a:cs typeface="Open Sans"/>
              </a:rPr>
              <a:t>Demonstração: Diferentes tipos de carteiras </a:t>
            </a:r>
            <a:r>
              <a:rPr lang="pt-PT" dirty="0" err="1">
                <a:latin typeface="Open Sans"/>
                <a:ea typeface="Open Sans"/>
                <a:cs typeface="Open Sans"/>
              </a:rPr>
              <a:t>Lightning</a:t>
            </a:r>
            <a:endParaRPr lang="pt-PT" dirty="0" err="1"/>
          </a:p>
          <a:p>
            <a:r>
              <a:rPr lang="pt-PT" dirty="0">
                <a:latin typeface="Open Sans"/>
                <a:ea typeface="Open Sans"/>
                <a:cs typeface="Open Sans"/>
              </a:rPr>
              <a:t>Atividade: Configurar uma carteira de Bitcoin </a:t>
            </a:r>
            <a:r>
              <a:rPr lang="pt-PT" dirty="0" err="1">
                <a:latin typeface="Open Sans"/>
                <a:ea typeface="Open Sans"/>
                <a:cs typeface="Open Sans"/>
              </a:rPr>
              <a:t>Lightning</a:t>
            </a:r>
          </a:p>
          <a:p>
            <a:r>
              <a:rPr lang="pt-PT" dirty="0">
                <a:latin typeface="Open Sans"/>
                <a:ea typeface="Open Sans"/>
                <a:cs typeface="Open Sans"/>
              </a:rPr>
              <a:t>Atividade: Enviar e receber transações </a:t>
            </a:r>
            <a:r>
              <a:rPr lang="pt-PT" dirty="0" err="1">
                <a:latin typeface="Open Sans"/>
                <a:ea typeface="Open Sans"/>
                <a:cs typeface="Open Sans"/>
              </a:rPr>
              <a:t>Lightning</a:t>
            </a:r>
            <a:endParaRPr lang="pt-PT" dirty="0" err="1"/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D20B-2D5C-A8A7-C26D-D5AAB7F5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57DE-7327-8389-3812-FA42D3E2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PT" sz="5700" dirty="0"/>
              <a:t>Demonstração: Tipos de carteiras </a:t>
            </a:r>
            <a:r>
              <a:rPr lang="pt-PT" sz="5700" dirty="0" err="1"/>
              <a:t>Lightning</a:t>
            </a:r>
            <a:endParaRPr lang="pt-PT" sz="57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C6381B6-4270-D080-1F14-847AF50AB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979331"/>
              </p:ext>
            </p:extLst>
          </p:nvPr>
        </p:nvGraphicFramePr>
        <p:xfrm>
          <a:off x="965657" y="2144486"/>
          <a:ext cx="18172785" cy="85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917">
                  <a:extLst>
                    <a:ext uri="{9D8B030D-6E8A-4147-A177-3AD203B41FA5}">
                      <a16:colId xmlns:a16="http://schemas.microsoft.com/office/drawing/2014/main" val="263636240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59935123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4218618019"/>
                    </a:ext>
                  </a:extLst>
                </a:gridCol>
                <a:gridCol w="1733868">
                  <a:extLst>
                    <a:ext uri="{9D8B030D-6E8A-4147-A177-3AD203B41FA5}">
                      <a16:colId xmlns:a16="http://schemas.microsoft.com/office/drawing/2014/main" val="3079766672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104630685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Carteira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Custódia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Tipo de Operação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Privacidade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Características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46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Phoenix</a:t>
                      </a: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Não-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Nó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integrado no telemóvel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Alta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Faz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splicing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e gere canais em segundo plano. Ideal para uso diário. Código aberto.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4093328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Breez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Não-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Nó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integrado no telemóvel e canais geridos por servidor parceiro (LSP)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Média-alta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Código aberto. Experiência fluida com backups automáticos.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318889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Zeus</a:t>
                      </a: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Não-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Liga-se ao teu nó de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ou nó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integrado no telemóvel 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Média-alta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Código aberto. Total controlo e privacidade máxima. Requer conhecimentos técnicos. 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2844091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BlueWallet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Não-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Liga-se ao teu nó de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via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LNDHub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Média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Código aberto.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requer configuração técnica.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82575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Bitkit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Não-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Nó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Lightning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integrado no telemóvel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Alta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Código aberto. Suporta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Nostr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e identidades descentralizadas (DID). Foco em privacidade e autonomia.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264299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Wallet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of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Satoshi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kern="12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Versão </a:t>
                      </a:r>
                      <a:r>
                        <a:rPr lang="pt-PT" sz="2000" kern="12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r>
                        <a:rPr lang="pt-PT" sz="2000" kern="12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e versão não-</a:t>
                      </a:r>
                      <a:r>
                        <a:rPr lang="pt-PT" sz="2000" kern="12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costudial</a:t>
                      </a:r>
                      <a:endParaRPr lang="pt-PT" sz="2000" kern="12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com nó central da empresa e usa </a:t>
                      </a:r>
                      <a:r>
                        <a:rPr lang="en-GB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Spark </a:t>
                      </a:r>
                      <a:r>
                        <a:rPr lang="en-GB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</a:t>
                      </a:r>
                      <a:r>
                        <a:rPr lang="en-GB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versão</a:t>
                      </a:r>
                      <a:r>
                        <a:rPr lang="en-GB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não</a:t>
                      </a:r>
                      <a:r>
                        <a:rPr lang="en-GB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-custodial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Baixa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Simples e popular. Ideal para iniciantes, mas sem </a:t>
                      </a:r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auto-custódia</a:t>
                      </a: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3832068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PT" sz="20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Blink</a:t>
                      </a:r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60000"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kern="120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Custodial</a:t>
                      </a:r>
                      <a:endParaRPr lang="pt-PT" sz="2000" kern="12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Nó central da empresa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Média-baixa</a:t>
                      </a:r>
                    </a:p>
                  </a:txBody>
                  <a:tcPr marT="198000" marB="19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Focada em pagamentos comunitários, prática mas não soberana.</a:t>
                      </a:r>
                    </a:p>
                  </a:txBody>
                  <a:tcPr marT="198000" marB="198000" anchor="ctr"/>
                </a:tc>
                <a:extLst>
                  <a:ext uri="{0D108BD9-81ED-4DB2-BD59-A6C34878D82A}">
                    <a16:rowId xmlns:a16="http://schemas.microsoft.com/office/drawing/2014/main" val="257862481"/>
                  </a:ext>
                </a:extLst>
              </a:tr>
            </a:tbl>
          </a:graphicData>
        </a:graphic>
      </p:graphicFrame>
      <p:pic>
        <p:nvPicPr>
          <p:cNvPr id="1026" name="Picture 2" descr="Phoenix - Software Wallet">
            <a:extLst>
              <a:ext uri="{FF2B5EF4-FFF2-40B4-BE49-F238E27FC236}">
                <a16:creationId xmlns:a16="http://schemas.microsoft.com/office/drawing/2014/main" id="{23518D0C-6035-75AE-9189-CC2A2088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774" y="301148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eez: Lightning Client &amp; POS - Apps on Google Play">
            <a:extLst>
              <a:ext uri="{FF2B5EF4-FFF2-40B4-BE49-F238E27FC236}">
                <a16:creationId xmlns:a16="http://schemas.microsoft.com/office/drawing/2014/main" id="{70CDF981-9D03-4751-6C45-B2BCE36E8D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5" t="18815" r="17685" b="17685"/>
          <a:stretch>
            <a:fillRect/>
          </a:stretch>
        </p:blipFill>
        <p:spPr bwMode="auto">
          <a:xfrm>
            <a:off x="1363874" y="4383086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EUS Wallet - Apps on Google Play">
            <a:extLst>
              <a:ext uri="{FF2B5EF4-FFF2-40B4-BE49-F238E27FC236}">
                <a16:creationId xmlns:a16="http://schemas.microsoft.com/office/drawing/2014/main" id="{6B2AFFDE-4576-63A4-E9D7-18F8535F4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9492" y1="14453" x2="37891" y2="16797"/>
                        <a14:foregroundMark x1="37891" y1="16797" x2="44727" y2="14063"/>
                        <a14:foregroundMark x1="44727" y1="14063" x2="37500" y2="13477"/>
                        <a14:foregroundMark x1="37500" y1="13477" x2="32031" y2="19922"/>
                        <a14:foregroundMark x1="32031" y1="19922" x2="33789" y2="25586"/>
                        <a14:foregroundMark x1="22070" y1="12109" x2="22070" y2="12109"/>
                        <a14:foregroundMark x1="55664" y1="12305" x2="55664" y2="12305"/>
                        <a14:foregroundMark x1="65234" y1="73047" x2="58984" y2="81055"/>
                        <a14:foregroundMark x1="58984" y1="81055" x2="52148" y2="85742"/>
                        <a14:foregroundMark x1="52148" y1="85742" x2="74023" y2="83984"/>
                        <a14:foregroundMark x1="74023" y1="83984" x2="69336" y2="76172"/>
                        <a14:foregroundMark x1="69336" y1="76172" x2="65820" y2="74219"/>
                        <a14:foregroundMark x1="45313" y1="87891" x2="43555" y2="880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74" y="5449886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ueWallet - Bitcoin wallet App - App Store">
            <a:extLst>
              <a:ext uri="{FF2B5EF4-FFF2-40B4-BE49-F238E27FC236}">
                <a16:creationId xmlns:a16="http://schemas.microsoft.com/office/drawing/2014/main" id="{31732501-D1DE-6D89-D738-19D3E2885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3833" y1="63810" x2="63167" y2="66984"/>
                        <a14:foregroundMark x1="63167" y1="66984" x2="59167" y2="69683"/>
                        <a14:foregroundMark x1="59167" y1="69683" x2="55667" y2="69841"/>
                        <a14:foregroundMark x1="55667" y1="69841" x2="59583" y2="67143"/>
                        <a14:foregroundMark x1="59583" y1="67143" x2="53917" y2="64444"/>
                        <a14:foregroundMark x1="53917" y1="64444" x2="57250" y2="64444"/>
                        <a14:foregroundMark x1="57250" y1="64444" x2="50667" y2="65397"/>
                        <a14:foregroundMark x1="50667" y1="65397" x2="54333" y2="68095"/>
                        <a14:foregroundMark x1="54333" y1="68095" x2="58667" y2="65238"/>
                        <a14:foregroundMark x1="58667" y1="65238" x2="61417" y2="69365"/>
                        <a14:foregroundMark x1="61417" y1="69365" x2="57833" y2="66667"/>
                        <a14:foregroundMark x1="57833" y1="66667" x2="54750" y2="67937"/>
                        <a14:foregroundMark x1="54750" y1="67937" x2="57917" y2="66032"/>
                        <a14:foregroundMark x1="57917" y1="66032" x2="53583" y2="68730"/>
                        <a14:foregroundMark x1="53583" y1="68730" x2="53833" y2="661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633" t="10583" r="29621" b="11806"/>
          <a:stretch>
            <a:fillRect/>
          </a:stretch>
        </p:blipFill>
        <p:spPr bwMode="auto">
          <a:xfrm>
            <a:off x="1350924" y="6516686"/>
            <a:ext cx="684000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llet of Satoshi - Apps on Google Play">
            <a:extLst>
              <a:ext uri="{FF2B5EF4-FFF2-40B4-BE49-F238E27FC236}">
                <a16:creationId xmlns:a16="http://schemas.microsoft.com/office/drawing/2014/main" id="{C9E509CD-A6C9-C25A-A95F-2608076D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774" y="8912486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link Branding &amp; Onboarding Resources">
            <a:extLst>
              <a:ext uri="{FF2B5EF4-FFF2-40B4-BE49-F238E27FC236}">
                <a16:creationId xmlns:a16="http://schemas.microsoft.com/office/drawing/2014/main" id="{285A2490-E038-884A-46F5-05037F6F8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7334" r="7334" b="7334"/>
          <a:stretch>
            <a:fillRect/>
          </a:stretch>
        </p:blipFill>
        <p:spPr bwMode="auto">
          <a:xfrm>
            <a:off x="1378039" y="9869486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tkit | Bitcoin &amp; Lightning Wallet for Android &amp; iOS">
            <a:extLst>
              <a:ext uri="{FF2B5EF4-FFF2-40B4-BE49-F238E27FC236}">
                <a16:creationId xmlns:a16="http://schemas.microsoft.com/office/drawing/2014/main" id="{EEAA9B49-1F4C-D887-6758-DFAD046C1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039" y="7733486"/>
            <a:ext cx="668123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5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phone&#10;&#10;AI-generated content may be incorrect.">
            <a:extLst>
              <a:ext uri="{FF2B5EF4-FFF2-40B4-BE49-F238E27FC236}">
                <a16:creationId xmlns:a16="http://schemas.microsoft.com/office/drawing/2014/main" id="{EA4A0A48-0F7E-FF1B-9390-D59AA5BC4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3954" y="599857"/>
            <a:ext cx="5086215" cy="10109640"/>
          </a:xfr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DBFAB75-A968-1CEF-587D-87D691F3CB5D}"/>
              </a:ext>
            </a:extLst>
          </p:cNvPr>
          <p:cNvSpPr txBox="1">
            <a:spLocks/>
          </p:cNvSpPr>
          <p:nvPr/>
        </p:nvSpPr>
        <p:spPr>
          <a:xfrm>
            <a:off x="1211373" y="1133366"/>
            <a:ext cx="11075251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PT"/>
            </a:defPPr>
            <a:lvl1pPr marL="0" indent="0" algn="l" defTabSz="1507846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96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3923" indent="0" algn="l" defTabSz="1507846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968" kern="1200" spc="-1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07846" indent="0" algn="l" defTabSz="1507846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61768" indent="0" algn="l" defTabSz="1507846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15691" indent="0" algn="l" defTabSz="1507846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9614" indent="0" algn="l" defTabSz="15078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15078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15078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15078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700" b="1" dirty="0">
                <a:solidFill>
                  <a:srgbClr val="251B55"/>
                </a:solidFill>
                <a:latin typeface="Open Sans"/>
                <a:ea typeface="Open Sans"/>
                <a:cs typeface="Open Sans"/>
              </a:rPr>
              <a:t>Configurar uma carteira Bitcoin </a:t>
            </a:r>
            <a:r>
              <a:rPr lang="pt-PT" sz="6700" b="1" dirty="0" err="1">
                <a:solidFill>
                  <a:srgbClr val="251B55"/>
                </a:solidFill>
                <a:latin typeface="Open Sans"/>
                <a:ea typeface="Open Sans"/>
                <a:cs typeface="Open Sans"/>
              </a:rPr>
              <a:t>Lightning</a:t>
            </a:r>
            <a:endParaRPr lang="pt-PT" sz="6700" b="1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54D2068-5118-C723-8103-1C58181E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614" y="599082"/>
            <a:ext cx="5090516" cy="1010648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C6023D5-64D0-ADC4-EE44-9DBC3229179F}"/>
              </a:ext>
            </a:extLst>
          </p:cNvPr>
          <p:cNvSpPr txBox="1">
            <a:spLocks/>
          </p:cNvSpPr>
          <p:nvPr/>
        </p:nvSpPr>
        <p:spPr>
          <a:xfrm>
            <a:off x="1218885" y="4130675"/>
            <a:ext cx="8831294" cy="4335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5277" b="0" i="0" kern="1200">
                <a:solidFill>
                  <a:srgbClr val="58595B"/>
                </a:solidFill>
                <a:latin typeface="Avenir Light" panose="020B0402020203020204" pitchFamily="34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4617" b="0" i="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95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25000"/>
              <a:buNone/>
            </a:pPr>
            <a:r>
              <a:rPr lang="pt-PT" sz="3200" b="1" dirty="0">
                <a:latin typeface="Open Sans"/>
                <a:ea typeface="Open Sans"/>
                <a:cs typeface="Open Sans"/>
              </a:rPr>
              <a:t>Instalar </a:t>
            </a:r>
            <a:r>
              <a:rPr lang="pt-PT" sz="3200" b="1" dirty="0" err="1">
                <a:latin typeface="Open Sans"/>
                <a:ea typeface="Open Sans"/>
                <a:cs typeface="Open Sans"/>
              </a:rPr>
              <a:t>Wallet</a:t>
            </a:r>
            <a:r>
              <a:rPr lang="pt-PT" sz="3200" b="1" dirty="0">
                <a:latin typeface="Open Sans"/>
                <a:ea typeface="Open Sans"/>
                <a:cs typeface="Open Sans"/>
              </a:rPr>
              <a:t> </a:t>
            </a:r>
            <a:r>
              <a:rPr lang="pt-PT" sz="3200" b="1" dirty="0" err="1">
                <a:latin typeface="Open Sans"/>
                <a:ea typeface="Open Sans"/>
                <a:cs typeface="Open Sans"/>
              </a:rPr>
              <a:t>of</a:t>
            </a:r>
            <a:r>
              <a:rPr lang="pt-PT" sz="3200" b="1" dirty="0">
                <a:latin typeface="Open Sans"/>
                <a:ea typeface="Open Sans"/>
                <a:cs typeface="Open Sans"/>
              </a:rPr>
              <a:t> </a:t>
            </a:r>
            <a:r>
              <a:rPr lang="pt-PT" sz="3200" b="1" dirty="0" err="1">
                <a:latin typeface="Open Sans"/>
                <a:ea typeface="Open Sans"/>
                <a:cs typeface="Open Sans"/>
              </a:rPr>
              <a:t>Satoshi</a:t>
            </a:r>
            <a:endParaRPr lang="pt-PT" sz="3200" b="1" dirty="0">
              <a:latin typeface="Open Sans"/>
              <a:ea typeface="Open Sans"/>
              <a:cs typeface="Open Sans"/>
            </a:endParaRPr>
          </a:p>
          <a:p>
            <a:pPr marL="571500" indent="-571500">
              <a:buSzPct val="125000"/>
              <a:buBlip>
                <a:blip r:embed="rId4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É uma carteira </a:t>
            </a:r>
            <a:r>
              <a:rPr lang="pt-PT" sz="3200" dirty="0" err="1">
                <a:latin typeface="Open Sans"/>
                <a:ea typeface="Open Sans"/>
                <a:cs typeface="Open Sans"/>
              </a:rPr>
              <a:t>Lightning</a:t>
            </a:r>
            <a:r>
              <a:rPr lang="pt-PT" sz="3200" dirty="0">
                <a:latin typeface="Open Sans"/>
                <a:ea typeface="Open Sans"/>
                <a:cs typeface="Open Sans"/>
              </a:rPr>
              <a:t> não-</a:t>
            </a:r>
            <a:r>
              <a:rPr lang="pt-PT" sz="3200" dirty="0" err="1">
                <a:latin typeface="Open Sans"/>
                <a:ea typeface="Open Sans"/>
                <a:cs typeface="Open Sans"/>
              </a:rPr>
              <a:t>custodial</a:t>
            </a:r>
            <a:endParaRPr lang="pt-PT" sz="3200" dirty="0">
              <a:latin typeface="Open Sans"/>
              <a:ea typeface="Open Sans"/>
              <a:cs typeface="Open Sans"/>
            </a:endParaRPr>
          </a:p>
          <a:p>
            <a:pPr marL="571500" indent="-571500">
              <a:buSzPct val="125000"/>
              <a:buBlip>
                <a:blip r:embed="rId4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Pode ser feita uma cópia de segurança da chave privada</a:t>
            </a:r>
          </a:p>
        </p:txBody>
      </p:sp>
    </p:spTree>
    <p:extLst>
      <p:ext uri="{BB962C8B-B14F-4D97-AF65-F5344CB8AC3E}">
        <p14:creationId xmlns:p14="http://schemas.microsoft.com/office/powerpoint/2010/main" val="412495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6E2B-05C8-C0F3-C0B7-4F3BC0B7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D51D2-D0D9-7AD9-3F5F-BBCC9EF8CF2B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212007" y="598570"/>
            <a:ext cx="7230008" cy="1329613"/>
          </a:xfrm>
        </p:spPr>
        <p:txBody>
          <a:bodyPr/>
          <a:lstStyle>
            <a:defPPr>
              <a:defRPr lang="en-PT"/>
            </a:defPPr>
            <a:lvl1pPr marL="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3923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07846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61768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15691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9614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700" b="1" dirty="0">
                <a:solidFill>
                  <a:srgbClr val="251B55"/>
                </a:solidFill>
                <a:latin typeface="Open Sans"/>
                <a:ea typeface="Open Sans"/>
                <a:cs typeface="Open Sans"/>
              </a:rPr>
              <a:t>Receber Bitcoin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808A670B-9639-22F9-2E85-42D5225FB5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93440" y="8093785"/>
            <a:ext cx="598173" cy="2417112"/>
          </a:xfrm>
          <a:prstGeom prst="curvedConnector2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een screen with a yellow circle and a check mark&#10;&#10;Description automatically generated">
            <a:extLst>
              <a:ext uri="{FF2B5EF4-FFF2-40B4-BE49-F238E27FC236}">
                <a16:creationId xmlns:a16="http://schemas.microsoft.com/office/drawing/2014/main" id="{31A345F2-18D1-B524-D0B1-65F500027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491" y="6462248"/>
            <a:ext cx="2142986" cy="4224743"/>
          </a:xfrm>
          <a:prstGeom prst="rect">
            <a:avLst/>
          </a:prstGeom>
        </p:spPr>
      </p:pic>
      <p:pic>
        <p:nvPicPr>
          <p:cNvPr id="11" name="Content Placeholder 10" descr="A screen shot of a phone&#10;&#10;AI-generated content may be incorrect.">
            <a:extLst>
              <a:ext uri="{FF2B5EF4-FFF2-40B4-BE49-F238E27FC236}">
                <a16:creationId xmlns:a16="http://schemas.microsoft.com/office/drawing/2014/main" id="{E02C52D4-7834-E6F4-0E01-258754D37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36839" y="599857"/>
            <a:ext cx="5086215" cy="10109640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4F96C50-E293-177F-8239-C2BFB86FF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4518" y="599082"/>
            <a:ext cx="5090516" cy="101064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41E5C5-EC10-2C6C-5EAA-A27D9258151F}"/>
              </a:ext>
            </a:extLst>
          </p:cNvPr>
          <p:cNvSpPr txBox="1">
            <a:spLocks/>
          </p:cNvSpPr>
          <p:nvPr/>
        </p:nvSpPr>
        <p:spPr>
          <a:xfrm>
            <a:off x="1218885" y="2676044"/>
            <a:ext cx="8379440" cy="4335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5277" b="0" i="0" kern="1200">
                <a:solidFill>
                  <a:srgbClr val="58595B"/>
                </a:solidFill>
                <a:latin typeface="Avenir Light" panose="020B0402020203020204" pitchFamily="34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4617" b="0" i="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95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No </a:t>
            </a:r>
            <a:r>
              <a:rPr lang="pt-PT" sz="3200" dirty="0" err="1">
                <a:latin typeface="Open Sans"/>
                <a:ea typeface="Open Sans"/>
                <a:cs typeface="Open Sans"/>
              </a:rPr>
              <a:t>menú</a:t>
            </a:r>
            <a:r>
              <a:rPr lang="pt-PT" sz="3200" dirty="0">
                <a:latin typeface="Open Sans"/>
                <a:ea typeface="Open Sans"/>
                <a:cs typeface="Open Sans"/>
              </a:rPr>
              <a:t> inicial clicar em “Receber” </a:t>
            </a: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Será disponibilizado um código QR para partilhar com quem lhe quer enviar Bitcoin </a:t>
            </a: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Também é possível escolher qual o montante a receber clicando em “Quantidade/Nota” </a:t>
            </a: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Será exibida uma mensagem de sucesso</a:t>
            </a:r>
          </a:p>
        </p:txBody>
      </p:sp>
    </p:spTree>
    <p:extLst>
      <p:ext uri="{BB962C8B-B14F-4D97-AF65-F5344CB8AC3E}">
        <p14:creationId xmlns:p14="http://schemas.microsoft.com/office/powerpoint/2010/main" val="42138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212007" y="598570"/>
            <a:ext cx="6656865" cy="1329613"/>
          </a:xfrm>
        </p:spPr>
        <p:txBody>
          <a:bodyPr/>
          <a:lstStyle>
            <a:defPPr>
              <a:defRPr lang="en-PT"/>
            </a:defPPr>
            <a:lvl1pPr marL="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3923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07846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61768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15691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9614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700" b="1" dirty="0">
                <a:solidFill>
                  <a:srgbClr val="251B55"/>
                </a:solidFill>
                <a:latin typeface="Open Sans"/>
                <a:ea typeface="Open Sans"/>
                <a:cs typeface="Open Sans"/>
              </a:rPr>
              <a:t>Enviar Bitcoin</a:t>
            </a:r>
          </a:p>
        </p:txBody>
      </p:sp>
      <p:pic>
        <p:nvPicPr>
          <p:cNvPr id="23" name="Picture 22" descr="A yellow circle with a check mark in it&#10;&#10;Description automatically generated">
            <a:extLst>
              <a:ext uri="{FF2B5EF4-FFF2-40B4-BE49-F238E27FC236}">
                <a16:creationId xmlns:a16="http://schemas.microsoft.com/office/drawing/2014/main" id="{3F0233D8-C43A-9EC0-46AA-19F88DA5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031" y="6467692"/>
            <a:ext cx="2140148" cy="4241805"/>
          </a:xfrm>
          <a:prstGeom prst="rect">
            <a:avLst/>
          </a:prstGeom>
        </p:spPr>
      </p:pic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FFE0A996-D5A5-DC19-0C2A-3390B0338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3330" y="8093785"/>
            <a:ext cx="598173" cy="2417112"/>
          </a:xfrm>
          <a:prstGeom prst="curvedConnector2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screen shot of a phone&#10;&#10;AI-generated content may be incorrect.">
            <a:extLst>
              <a:ext uri="{FF2B5EF4-FFF2-40B4-BE49-F238E27FC236}">
                <a16:creationId xmlns:a16="http://schemas.microsoft.com/office/drawing/2014/main" id="{0869B7AB-2857-87D2-2FCF-719CDAAF5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36839" y="599857"/>
            <a:ext cx="5086215" cy="10109640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59161D7-C913-6B87-AFFB-1F4708B65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4518" y="599082"/>
            <a:ext cx="5090516" cy="101064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A08F0A-E5F2-0276-608E-6F95D521E753}"/>
              </a:ext>
            </a:extLst>
          </p:cNvPr>
          <p:cNvSpPr txBox="1">
            <a:spLocks/>
          </p:cNvSpPr>
          <p:nvPr/>
        </p:nvSpPr>
        <p:spPr>
          <a:xfrm>
            <a:off x="1218885" y="2828536"/>
            <a:ext cx="7895132" cy="4335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5277" b="0" i="0" kern="1200">
                <a:solidFill>
                  <a:srgbClr val="58595B"/>
                </a:solidFill>
                <a:latin typeface="Avenir Light" panose="020B0402020203020204" pitchFamily="34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4617" b="0" i="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95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No </a:t>
            </a:r>
            <a:r>
              <a:rPr lang="pt-PT" sz="3200" dirty="0" err="1">
                <a:latin typeface="Open Sans"/>
                <a:ea typeface="Open Sans"/>
                <a:cs typeface="Open Sans"/>
              </a:rPr>
              <a:t>menú</a:t>
            </a:r>
            <a:r>
              <a:rPr lang="pt-PT" sz="3200" dirty="0">
                <a:latin typeface="Open Sans"/>
                <a:ea typeface="Open Sans"/>
                <a:cs typeface="Open Sans"/>
              </a:rPr>
              <a:t> inicial clicar em “Enviar” </a:t>
            </a:r>
            <a:endParaRPr lang="pt-PT" sz="3200" dirty="0">
              <a:latin typeface="Open Sans" panose="020B0606030504020204" pitchFamily="34" charset="0"/>
            </a:endParaRP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Ler o código QR do endereço para onde se quer enviar Bitcoin </a:t>
            </a:r>
            <a:endParaRPr lang="pt-PT" sz="3200" dirty="0">
              <a:latin typeface="Open Sans" panose="020B0606030504020204" pitchFamily="34" charset="0"/>
            </a:endParaRP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Selecionar o montante a enviar e clicar em “Enviar” </a:t>
            </a:r>
            <a:endParaRPr lang="pt-PT" sz="3200" dirty="0">
              <a:latin typeface="Open Sans" panose="020B0606030504020204" pitchFamily="34" charset="0"/>
            </a:endParaRPr>
          </a:p>
          <a:p>
            <a:pPr marL="571500" indent="-571500">
              <a:buSzPct val="125000"/>
              <a:buBlip>
                <a:blip r:embed="rId5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Será exibida uma mensagem de sucesso</a:t>
            </a:r>
            <a:endParaRPr lang="pt-PT" sz="3200" dirty="0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02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5065-BE42-A55B-0AC2-2F822089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292E9-4797-BE9A-3869-86F8141787E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212007" y="598570"/>
            <a:ext cx="6656865" cy="1329613"/>
          </a:xfrm>
        </p:spPr>
        <p:txBody>
          <a:bodyPr/>
          <a:lstStyle>
            <a:defPPr>
              <a:defRPr lang="en-PT"/>
            </a:defPPr>
            <a:lvl1pPr marL="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3923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07846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61768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15691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9614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algn="l" defTabSz="1507846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700" b="1" dirty="0">
                <a:solidFill>
                  <a:srgbClr val="251B55"/>
                </a:solidFill>
                <a:latin typeface="Open Sans"/>
                <a:ea typeface="Open Sans"/>
                <a:cs typeface="Open Sans"/>
              </a:rPr>
              <a:t>Enviar Bitcoin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F2A974FA-AE8A-DA94-B8BF-52006ADE40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3330" y="8093785"/>
            <a:ext cx="598173" cy="2417112"/>
          </a:xfrm>
          <a:prstGeom prst="curvedConnector2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B3C67D-9E4E-D391-0B98-92FEE21B0B72}"/>
              </a:ext>
            </a:extLst>
          </p:cNvPr>
          <p:cNvSpPr txBox="1">
            <a:spLocks/>
          </p:cNvSpPr>
          <p:nvPr/>
        </p:nvSpPr>
        <p:spPr>
          <a:xfrm>
            <a:off x="1212007" y="3673475"/>
            <a:ext cx="7895132" cy="4335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5277" b="0" i="0" kern="1200">
                <a:solidFill>
                  <a:srgbClr val="58595B"/>
                </a:solidFill>
                <a:latin typeface="Avenir Light" panose="020B0402020203020204" pitchFamily="34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4617" b="0" i="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95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b="0" i="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SzPct val="125000"/>
              <a:buBlip>
                <a:blip r:embed="rId2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Vamos experimentar fazer um ”carrossel de transações” com um grupo de voluntários</a:t>
            </a:r>
          </a:p>
          <a:p>
            <a:pPr marL="571500" indent="-571500">
              <a:buSzPct val="125000"/>
              <a:buBlip>
                <a:blip r:embed="rId2"/>
              </a:buBlip>
            </a:pPr>
            <a:r>
              <a:rPr lang="pt-PT" sz="3200" dirty="0">
                <a:latin typeface="Open Sans"/>
                <a:ea typeface="Open Sans"/>
                <a:cs typeface="Open Sans"/>
              </a:rPr>
              <a:t>Os </a:t>
            </a:r>
            <a:r>
              <a:rPr lang="pt-PT" sz="3200" dirty="0" err="1">
                <a:latin typeface="Open Sans"/>
                <a:ea typeface="Open Sans"/>
                <a:cs typeface="Open Sans"/>
              </a:rPr>
              <a:t>sats</a:t>
            </a:r>
            <a:r>
              <a:rPr lang="pt-PT" sz="3200" dirty="0">
                <a:latin typeface="Open Sans"/>
                <a:ea typeface="Open Sans"/>
                <a:cs typeface="Open Sans"/>
              </a:rPr>
              <a:t> vão sair de um aluno e vão dar a volta por todos até chegarem à carteira de onde saíram inicialmente</a:t>
            </a:r>
            <a:endParaRPr lang="pt-PT" sz="3200" dirty="0">
              <a:latin typeface="Open Sans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8B4435D-C4B6-2786-35DA-1650413BE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450" y="3114675"/>
            <a:ext cx="5664200" cy="5664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20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4350</TotalTime>
  <Words>367</Words>
  <Application>Microsoft Macintosh PowerPoint</Application>
  <PresentationFormat>Custom</PresentationFormat>
  <Paragraphs>64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Avenir Light</vt:lpstr>
      <vt:lpstr>Avenir Medium</vt:lpstr>
      <vt:lpstr>Open Sans</vt:lpstr>
      <vt:lpstr>Open Sans Light</vt:lpstr>
      <vt:lpstr>Ubuntu Light</vt:lpstr>
      <vt:lpstr>1_Custom Design</vt:lpstr>
      <vt:lpstr>Rede Lightning: Usar bitcoin no dia a dia</vt:lpstr>
      <vt:lpstr>Demonstração: Tipos de carteiras Lightning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332</cp:revision>
  <dcterms:created xsi:type="dcterms:W3CDTF">2024-11-12T03:26:48Z</dcterms:created>
  <dcterms:modified xsi:type="dcterms:W3CDTF">2026-04-17T11:18:48Z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