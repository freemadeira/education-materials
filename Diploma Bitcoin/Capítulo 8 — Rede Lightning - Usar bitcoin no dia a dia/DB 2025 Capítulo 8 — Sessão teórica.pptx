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20"/>
  </p:notesMasterIdLst>
  <p:sldIdLst>
    <p:sldId id="260" r:id="rId2"/>
    <p:sldId id="265" r:id="rId3"/>
    <p:sldId id="269" r:id="rId4"/>
    <p:sldId id="270" r:id="rId5"/>
    <p:sldId id="271" r:id="rId6"/>
    <p:sldId id="273" r:id="rId7"/>
    <p:sldId id="275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268" r:id="rId1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B657"/>
    <a:srgbClr val="58595B"/>
    <a:srgbClr val="392569"/>
    <a:srgbClr val="FBB040"/>
    <a:srgbClr val="E4E0FD"/>
    <a:srgbClr val="175CB4"/>
    <a:srgbClr val="8C3BF0"/>
    <a:srgbClr val="0051FF"/>
    <a:srgbClr val="FF9415"/>
    <a:srgbClr val="161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0"/>
    <p:restoredTop sz="93918"/>
  </p:normalViewPr>
  <p:slideViewPr>
    <p:cSldViewPr>
      <p:cViewPr>
        <p:scale>
          <a:sx n="46" d="100"/>
          <a:sy n="46" d="100"/>
        </p:scale>
        <p:origin x="1864" y="6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29/10/2025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0EA7-420F-5F78-CD9E-446F9FE0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11986-C451-67B5-D4BE-4FE866893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C3760-BFD9-5EB4-E463-3717A177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A4256-1EFC-BC17-DE54-D31B95DEA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6947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7841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AD1E7-C74B-D03D-C4AF-59308F06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ABDBF-0B93-CA99-7290-3A308617E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5504C-7D9B-1204-3444-4716F8FA4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87FC2-40EA-849E-0DCE-D980036F5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09701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tcmap.org/community/free-madeira/merchant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Rede </a:t>
            </a:r>
            <a:r>
              <a:rPr lang="pt-PT" dirty="0" err="1"/>
              <a:t>Lightning</a:t>
            </a:r>
            <a:r>
              <a:rPr lang="pt-PT" dirty="0"/>
              <a:t>: Usar bitcoin no dia a 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140075"/>
            <a:ext cx="17338675" cy="7339012"/>
          </a:xfrm>
        </p:spPr>
        <p:txBody>
          <a:bodyPr>
            <a:noAutofit/>
          </a:bodyPr>
          <a:lstStyle/>
          <a:p>
            <a:r>
              <a:rPr lang="pt-PT" sz="2200" dirty="0"/>
              <a:t>8.0 Introdução</a:t>
            </a:r>
          </a:p>
          <a:p>
            <a:r>
              <a:rPr lang="pt-PT" sz="2200" dirty="0"/>
              <a:t>8.1 A rede </a:t>
            </a:r>
            <a:r>
              <a:rPr lang="pt-PT" sz="2200" dirty="0" err="1"/>
              <a:t>Lightning</a:t>
            </a:r>
            <a:endParaRPr lang="pt-PT" sz="2200" dirty="0"/>
          </a:p>
          <a:p>
            <a:r>
              <a:rPr lang="pt-PT" sz="2200" dirty="0"/>
              <a:t>8.2 Diferentes tipos de Carteiras </a:t>
            </a:r>
            <a:r>
              <a:rPr lang="pt-PT" sz="2200" dirty="0" err="1"/>
              <a:t>Lightning</a:t>
            </a:r>
            <a:endParaRPr lang="pt-PT" sz="2200" dirty="0"/>
          </a:p>
          <a:p>
            <a:r>
              <a:rPr lang="pt-PT" sz="2200" dirty="0"/>
              <a:t>	8.2.1 Carteiras custodiais e não-custodiais</a:t>
            </a:r>
          </a:p>
          <a:p>
            <a:r>
              <a:rPr lang="pt-PT" sz="2200" dirty="0"/>
              <a:t>	8.2.2 Código aberto e código fechado</a:t>
            </a:r>
          </a:p>
          <a:p>
            <a:r>
              <a:rPr lang="pt-PT" sz="2200" dirty="0"/>
              <a:t>8.3 Configurar uma Carteira de Bitcoin </a:t>
            </a:r>
            <a:r>
              <a:rPr lang="pt-PT" sz="2200" dirty="0" err="1"/>
              <a:t>Lightning</a:t>
            </a:r>
            <a:endParaRPr lang="pt-PT" sz="2200" dirty="0"/>
          </a:p>
          <a:p>
            <a:r>
              <a:rPr lang="pt-PT" sz="2200" dirty="0"/>
              <a:t>8.4 Receber e enviar transações </a:t>
            </a:r>
            <a:r>
              <a:rPr lang="pt-PT" sz="2200" dirty="0" err="1"/>
              <a:t>Lightning</a:t>
            </a:r>
            <a:endParaRPr lang="pt-PT" sz="2200" dirty="0"/>
          </a:p>
          <a:p>
            <a:r>
              <a:rPr lang="pt-PT" sz="2200" dirty="0"/>
              <a:t>8.5 Comprar café e mercearias com bitcoin</a:t>
            </a:r>
          </a:p>
          <a:p>
            <a:r>
              <a:rPr lang="pt-PT" sz="2200" dirty="0"/>
              <a:t>	8.5.1 Online: Plug-ins de pagamento - Comércio eletrónico</a:t>
            </a:r>
          </a:p>
          <a:p>
            <a:r>
              <a:rPr lang="pt-PT" sz="2200" dirty="0"/>
              <a:t>	8.5.2 Presencialmente: Encontra um comerciante na tua área de residência</a:t>
            </a:r>
          </a:p>
          <a:p>
            <a:r>
              <a:rPr lang="pt-PT" sz="2200" dirty="0"/>
              <a:t>8.5.3 Ferramentas de transição: vales, cartões de oferta e cartões de pagamento</a:t>
            </a:r>
          </a:p>
          <a:p>
            <a:r>
              <a:rPr lang="pt-PT" sz="2200" dirty="0"/>
              <a:t>8.5.4 Economias circulares e o bitcoin como meio de troca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ABA8-AE8B-6BEE-D822-7F7D9737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73A7-D073-8764-6DA7-76BD2F11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982664"/>
            <a:ext cx="17338675" cy="1471611"/>
          </a:xfrm>
        </p:spPr>
        <p:txBody>
          <a:bodyPr>
            <a:normAutofit/>
          </a:bodyPr>
          <a:lstStyle/>
          <a:p>
            <a:r>
              <a:rPr lang="pt-PT" dirty="0"/>
              <a:t>8.0 Introdução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220175-B2A3-3536-67F3-D18470555F83}"/>
              </a:ext>
            </a:extLst>
          </p:cNvPr>
          <p:cNvGrpSpPr>
            <a:grpSpLocks noChangeAspect="1"/>
          </p:cNvGrpSpPr>
          <p:nvPr/>
        </p:nvGrpSpPr>
        <p:grpSpPr>
          <a:xfrm>
            <a:off x="1428236" y="3902075"/>
            <a:ext cx="17293152" cy="4256046"/>
            <a:chOff x="2432050" y="2040584"/>
            <a:chExt cx="15308802" cy="3767678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5526D77-5CF8-3113-5CD0-1C8AF5816254}"/>
                </a:ext>
              </a:extLst>
            </p:cNvPr>
            <p:cNvSpPr/>
            <p:nvPr/>
          </p:nvSpPr>
          <p:spPr>
            <a:xfrm>
              <a:off x="2432050" y="2478757"/>
              <a:ext cx="15308802" cy="3002096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Estamos a construir a rede Visa do bitcoin. Mas o que eu acho poderoso é que, ao contrário da Visa, qualquer pessoa pode expandir a rede.</a:t>
              </a:r>
            </a:p>
            <a:p>
              <a:pPr algn="ctr"/>
              <a:endParaRPr lang="pt-PT" sz="3200" b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Elizabeth </a:t>
              </a:r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Stark</a:t>
              </a:r>
              <a:endParaRPr lang="pt-PT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object 16">
              <a:extLst>
                <a:ext uri="{FF2B5EF4-FFF2-40B4-BE49-F238E27FC236}">
                  <a16:creationId xmlns:a16="http://schemas.microsoft.com/office/drawing/2014/main" id="{3D35A605-9D18-B0A9-4919-54D4E8073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040584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33DDD715-BE25-D819-9204-6031D1B739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143573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4119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25C5-E899-A377-535A-E702A1C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8.1 A rede </a:t>
            </a:r>
            <a:r>
              <a:rPr lang="pt-PT" dirty="0" err="1"/>
              <a:t>Lightning</a:t>
            </a:r>
            <a:endParaRPr lang="pt-PT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39567F1-0F31-51B5-DD8D-7B3203358E14}"/>
              </a:ext>
            </a:extLst>
          </p:cNvPr>
          <p:cNvGrpSpPr/>
          <p:nvPr/>
        </p:nvGrpSpPr>
        <p:grpSpPr>
          <a:xfrm>
            <a:off x="7994650" y="5568108"/>
            <a:ext cx="8950410" cy="5139578"/>
            <a:chOff x="1382712" y="5578475"/>
            <a:chExt cx="8950410" cy="513957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76D2D1-A513-5172-8B9A-7E67E6C87BF1}"/>
                </a:ext>
              </a:extLst>
            </p:cNvPr>
            <p:cNvCxnSpPr/>
            <p:nvPr/>
          </p:nvCxnSpPr>
          <p:spPr>
            <a:xfrm>
              <a:off x="2598865" y="9615551"/>
              <a:ext cx="6333996" cy="0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C45D0BA8-858D-A8C1-1481-DADE81DF5BB1}"/>
                </a:ext>
              </a:extLst>
            </p:cNvPr>
            <p:cNvSpPr/>
            <p:nvPr/>
          </p:nvSpPr>
          <p:spPr>
            <a:xfrm flipH="1">
              <a:off x="1382713" y="9007475"/>
              <a:ext cx="1216152" cy="1216152"/>
            </a:xfrm>
            <a:prstGeom prst="cube">
              <a:avLst>
                <a:gd name="adj" fmla="val 21241"/>
              </a:avLst>
            </a:prstGeom>
            <a:gradFill>
              <a:gsLst>
                <a:gs pos="40000">
                  <a:srgbClr val="8C3BF0"/>
                </a:gs>
                <a:gs pos="100000">
                  <a:srgbClr val="175CB4"/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32615DE7-250C-4A1D-B4D7-9E4A9CD9BC12}"/>
                </a:ext>
              </a:extLst>
            </p:cNvPr>
            <p:cNvSpPr/>
            <p:nvPr/>
          </p:nvSpPr>
          <p:spPr>
            <a:xfrm flipH="1">
              <a:off x="3270250" y="9007475"/>
              <a:ext cx="1216152" cy="1216152"/>
            </a:xfrm>
            <a:prstGeom prst="cube">
              <a:avLst>
                <a:gd name="adj" fmla="val 21241"/>
              </a:avLst>
            </a:prstGeom>
            <a:gradFill>
              <a:gsLst>
                <a:gs pos="40000">
                  <a:srgbClr val="8C3BF0"/>
                </a:gs>
                <a:gs pos="100000">
                  <a:srgbClr val="175CB4"/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0F0FC94-8906-94FB-A93F-0FE0FB094C63}"/>
                </a:ext>
              </a:extLst>
            </p:cNvPr>
            <p:cNvSpPr/>
            <p:nvPr/>
          </p:nvSpPr>
          <p:spPr>
            <a:xfrm flipH="1">
              <a:off x="5157787" y="9007475"/>
              <a:ext cx="1216152" cy="1216152"/>
            </a:xfrm>
            <a:prstGeom prst="cube">
              <a:avLst>
                <a:gd name="adj" fmla="val 21241"/>
              </a:avLst>
            </a:prstGeom>
            <a:gradFill>
              <a:gsLst>
                <a:gs pos="40000">
                  <a:srgbClr val="8C3BF0"/>
                </a:gs>
                <a:gs pos="100000">
                  <a:srgbClr val="175CB4"/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82D13058-DAAD-1F56-5727-9E24EB4AE56F}"/>
                </a:ext>
              </a:extLst>
            </p:cNvPr>
            <p:cNvSpPr/>
            <p:nvPr/>
          </p:nvSpPr>
          <p:spPr>
            <a:xfrm flipH="1">
              <a:off x="7045324" y="9007475"/>
              <a:ext cx="1216152" cy="1216152"/>
            </a:xfrm>
            <a:prstGeom prst="cube">
              <a:avLst>
                <a:gd name="adj" fmla="val 21241"/>
              </a:avLst>
            </a:prstGeom>
            <a:gradFill>
              <a:gsLst>
                <a:gs pos="40000">
                  <a:srgbClr val="8C3BF0"/>
                </a:gs>
                <a:gs pos="100000">
                  <a:srgbClr val="175CB4"/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7A7E2C7F-DDF4-2EC0-A8F4-AD109096C92A}"/>
                </a:ext>
              </a:extLst>
            </p:cNvPr>
            <p:cNvSpPr/>
            <p:nvPr/>
          </p:nvSpPr>
          <p:spPr>
            <a:xfrm flipH="1">
              <a:off x="8932861" y="9007475"/>
              <a:ext cx="1216152" cy="1216152"/>
            </a:xfrm>
            <a:prstGeom prst="cube">
              <a:avLst>
                <a:gd name="adj" fmla="val 21241"/>
              </a:avLst>
            </a:prstGeom>
            <a:gradFill>
              <a:gsLst>
                <a:gs pos="40000">
                  <a:srgbClr val="8C3BF0"/>
                </a:gs>
                <a:gs pos="100000">
                  <a:srgbClr val="175CB4"/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ADD963D-6FF2-C486-AD5E-7738A7D3E00A}"/>
                </a:ext>
              </a:extLst>
            </p:cNvPr>
            <p:cNvCxnSpPr/>
            <p:nvPr/>
          </p:nvCxnSpPr>
          <p:spPr>
            <a:xfrm flipV="1">
              <a:off x="3825084" y="7864475"/>
              <a:ext cx="0" cy="99060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1C2DFF96-57A6-489A-FC24-5DF179158941}"/>
                </a:ext>
              </a:extLst>
            </p:cNvPr>
            <p:cNvSpPr/>
            <p:nvPr/>
          </p:nvSpPr>
          <p:spPr>
            <a:xfrm>
              <a:off x="1382712" y="5578475"/>
              <a:ext cx="8666540" cy="2093976"/>
            </a:xfrm>
            <a:prstGeom prst="roundRect">
              <a:avLst>
                <a:gd name="adj" fmla="val 8003"/>
              </a:avLst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0" bIns="36000" rtlCol="0" anchor="ctr"/>
            <a:lstStyle/>
            <a:p>
              <a:pPr algn="just">
                <a:lnSpc>
                  <a:spcPct val="130000"/>
                </a:lnSpc>
              </a:pPr>
              <a:endParaRPr lang="pt-PT" sz="3200" dirty="0">
                <a:solidFill>
                  <a:srgbClr val="58595B"/>
                </a:solidFill>
              </a:endParaRPr>
            </a:p>
          </p:txBody>
        </p:sp>
        <p:pic>
          <p:nvPicPr>
            <p:cNvPr id="19" name="Graphic 18" descr="User with solid fill">
              <a:extLst>
                <a:ext uri="{FF2B5EF4-FFF2-40B4-BE49-F238E27FC236}">
                  <a16:creationId xmlns:a16="http://schemas.microsoft.com/office/drawing/2014/main" id="{6020EE42-6D57-6887-E6F3-D88DC6A04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46250" y="5994875"/>
              <a:ext cx="1260000" cy="1260000"/>
            </a:xfrm>
            <a:prstGeom prst="rect">
              <a:avLst/>
            </a:prstGeom>
          </p:spPr>
        </p:pic>
        <p:pic>
          <p:nvPicPr>
            <p:cNvPr id="21" name="Graphic 20" descr="Store with solid fill">
              <a:extLst>
                <a:ext uri="{FF2B5EF4-FFF2-40B4-BE49-F238E27FC236}">
                  <a16:creationId xmlns:a16="http://schemas.microsoft.com/office/drawing/2014/main" id="{C6D5995E-AB77-A8D6-760A-F3A3A23B7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67538" y="5994875"/>
              <a:ext cx="1260000" cy="1260000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A14765D-1683-8B54-D0A9-F7E5D0B4C2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93850" y="5807075"/>
              <a:ext cx="972000" cy="972000"/>
              <a:chOff x="11118850" y="4359275"/>
              <a:chExt cx="1066800" cy="1066800"/>
            </a:xfrm>
          </p:grpSpPr>
          <p:pic>
            <p:nvPicPr>
              <p:cNvPr id="23" name="Graphic 22" descr="Wallet outline">
                <a:extLst>
                  <a:ext uri="{FF2B5EF4-FFF2-40B4-BE49-F238E27FC236}">
                    <a16:creationId xmlns:a16="http://schemas.microsoft.com/office/drawing/2014/main" id="{84CDA9A8-9EA1-3E04-3948-53CBE3B145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1118850" y="4359275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25" name="Graphic 24" descr="Bitcoin outline">
                <a:extLst>
                  <a:ext uri="{FF2B5EF4-FFF2-40B4-BE49-F238E27FC236}">
                    <a16:creationId xmlns:a16="http://schemas.microsoft.com/office/drawing/2014/main" id="{28331F17-FF62-2B78-6EDA-7A35EA3B8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404450" y="4785716"/>
                <a:ext cx="324000" cy="324000"/>
              </a:xfrm>
              <a:prstGeom prst="rect">
                <a:avLst/>
              </a:prstGeom>
            </p:spPr>
          </p:pic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BCBB50A-2EC3-4DD7-B350-80E49769D218}"/>
                </a:ext>
              </a:extLst>
            </p:cNvPr>
            <p:cNvCxnSpPr/>
            <p:nvPr/>
          </p:nvCxnSpPr>
          <p:spPr>
            <a:xfrm>
              <a:off x="2975650" y="6950075"/>
              <a:ext cx="5400000" cy="0"/>
            </a:xfrm>
            <a:prstGeom prst="line">
              <a:avLst/>
            </a:prstGeom>
            <a:ln w="38100">
              <a:solidFill>
                <a:srgbClr val="FBB04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B69B7D2-6F72-0651-0DE0-687DCB58958B}"/>
                </a:ext>
              </a:extLst>
            </p:cNvPr>
            <p:cNvCxnSpPr>
              <a:cxnSpLocks/>
            </p:cNvCxnSpPr>
            <p:nvPr/>
          </p:nvCxnSpPr>
          <p:spPr>
            <a:xfrm>
              <a:off x="2975650" y="6343225"/>
              <a:ext cx="2047200" cy="0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4B7109C-F0D2-7A07-DB67-941599116AE6}"/>
                </a:ext>
              </a:extLst>
            </p:cNvPr>
            <p:cNvCxnSpPr>
              <a:cxnSpLocks/>
            </p:cNvCxnSpPr>
            <p:nvPr/>
          </p:nvCxnSpPr>
          <p:spPr>
            <a:xfrm>
              <a:off x="6328450" y="6343225"/>
              <a:ext cx="2047200" cy="0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72E231-B7B4-E04F-3016-21602F9C4EA0}"/>
                </a:ext>
              </a:extLst>
            </p:cNvPr>
            <p:cNvSpPr txBox="1"/>
            <p:nvPr/>
          </p:nvSpPr>
          <p:spPr>
            <a:xfrm>
              <a:off x="4490092" y="7007165"/>
              <a:ext cx="23936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0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Canal de </a:t>
              </a:r>
              <a:r>
                <a:rPr lang="pt-PT" sz="20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Lightning</a:t>
              </a:r>
              <a:endParaRPr lang="pt-PT" sz="20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F70B3FF-78D4-D8FD-6BA4-59CF8AAB078E}"/>
                </a:ext>
              </a:extLst>
            </p:cNvPr>
            <p:cNvSpPr txBox="1"/>
            <p:nvPr/>
          </p:nvSpPr>
          <p:spPr>
            <a:xfrm>
              <a:off x="3543357" y="6065001"/>
              <a:ext cx="9460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0,0005BTC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EE9A54-985D-C64C-3EDE-4ABB970FBB7D}"/>
                </a:ext>
              </a:extLst>
            </p:cNvPr>
            <p:cNvSpPr txBox="1"/>
            <p:nvPr/>
          </p:nvSpPr>
          <p:spPr>
            <a:xfrm>
              <a:off x="6896157" y="6063476"/>
              <a:ext cx="9460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0,0005BTC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A918027-4AFF-92FB-7AA1-4A373F41D226}"/>
                </a:ext>
              </a:extLst>
            </p:cNvPr>
            <p:cNvSpPr txBox="1"/>
            <p:nvPr/>
          </p:nvSpPr>
          <p:spPr>
            <a:xfrm>
              <a:off x="6912134" y="7729540"/>
              <a:ext cx="32335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000" dirty="0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Rede </a:t>
              </a:r>
              <a:r>
                <a:rPr lang="pt-PT" sz="2000" dirty="0" err="1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Lightning</a:t>
              </a:r>
              <a:r>
                <a:rPr lang="pt-PT" sz="2000" dirty="0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(</a:t>
              </a:r>
              <a:r>
                <a:rPr lang="pt-PT" sz="2000" i="1" dirty="0" err="1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off-chain</a:t>
              </a:r>
              <a:r>
                <a:rPr lang="pt-PT" sz="2000" dirty="0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63ECEBD-248B-88E3-5D1A-D1F289B09B1D}"/>
                </a:ext>
              </a:extLst>
            </p:cNvPr>
            <p:cNvSpPr txBox="1"/>
            <p:nvPr/>
          </p:nvSpPr>
          <p:spPr>
            <a:xfrm>
              <a:off x="7402512" y="10317943"/>
              <a:ext cx="29306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000" dirty="0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Rede Bitcoin (</a:t>
              </a:r>
              <a:r>
                <a:rPr lang="pt-PT" sz="2000" i="1" dirty="0" err="1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on-chain</a:t>
              </a:r>
              <a:r>
                <a:rPr lang="pt-PT" sz="2000" dirty="0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)</a:t>
              </a:r>
            </a:p>
          </p:txBody>
        </p:sp>
      </p:grp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88AC7AC3-E4FA-FF1E-F83D-FDD1F8666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6"/>
            <a:ext cx="17338675" cy="3656918"/>
          </a:xfrm>
        </p:spPr>
        <p:txBody>
          <a:bodyPr/>
          <a:lstStyle/>
          <a:p>
            <a:pPr marL="592138" indent="-592138">
              <a:buSzPct val="125000"/>
              <a:buBlip>
                <a:blip r:embed="rId10"/>
              </a:buBlip>
            </a:pPr>
            <a:r>
              <a:rPr lang="pt-PT" dirty="0"/>
              <a:t>Rede </a:t>
            </a:r>
            <a:r>
              <a:rPr lang="pt-PT" dirty="0" err="1"/>
              <a:t>Lightning</a:t>
            </a:r>
            <a:r>
              <a:rPr lang="pt-PT" dirty="0"/>
              <a:t> é um sistema que permite realizar pagamentos rápidos e baratos com bitcoin. Funciona através de uma carteira partilhada entre duas partes, permitindo transações ilimitadas fora da blockchain principal. No fim, apenas o saldo final é registado na rede principal.</a:t>
            </a:r>
          </a:p>
          <a:p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94069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245A-077C-EB8C-2E39-A01E46C0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8.1 A rede </a:t>
            </a:r>
            <a:r>
              <a:rPr lang="pt-PT" dirty="0" err="1"/>
              <a:t>Lightning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3E03E-B5B8-FC14-B44D-A18CDFD9A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6"/>
            <a:ext cx="17338675" cy="3321628"/>
          </a:xfrm>
        </p:spPr>
        <p:txBody>
          <a:bodyPr/>
          <a:lstStyle/>
          <a:p>
            <a:pPr marL="592138" indent="-592138">
              <a:buSzPct val="125000"/>
              <a:buBlip>
                <a:blip r:embed="rId2"/>
              </a:buBlip>
            </a:pPr>
            <a:r>
              <a:rPr lang="pt-PT" dirty="0"/>
              <a:t>Com a </a:t>
            </a:r>
            <a:r>
              <a:rPr lang="pt-PT" dirty="0" err="1"/>
              <a:t>Lightning</a:t>
            </a:r>
            <a:r>
              <a:rPr lang="pt-PT" dirty="0"/>
              <a:t>, podes enviar dinheiro a qualquer pessoa da rede, mesmo sem teres um canal direto com ela — o pagamento percorre a rede até chegar ao destino.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E87850C-A14E-2FEF-5530-029E517E1ED8}"/>
              </a:ext>
            </a:extLst>
          </p:cNvPr>
          <p:cNvCxnSpPr>
            <a:cxnSpLocks/>
          </p:cNvCxnSpPr>
          <p:nvPr/>
        </p:nvCxnSpPr>
        <p:spPr>
          <a:xfrm>
            <a:off x="6391409" y="7113825"/>
            <a:ext cx="950443" cy="237008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44CFC35-0863-12E0-1E12-0D84A89245B2}"/>
              </a:ext>
            </a:extLst>
          </p:cNvPr>
          <p:cNvCxnSpPr>
            <a:cxnSpLocks/>
          </p:cNvCxnSpPr>
          <p:nvPr/>
        </p:nvCxnSpPr>
        <p:spPr>
          <a:xfrm flipV="1">
            <a:off x="6391409" y="6620139"/>
            <a:ext cx="2757993" cy="394949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8042186-D711-CAF1-C2B9-5168776D373B}"/>
              </a:ext>
            </a:extLst>
          </p:cNvPr>
          <p:cNvCxnSpPr>
            <a:cxnSpLocks/>
          </p:cNvCxnSpPr>
          <p:nvPr/>
        </p:nvCxnSpPr>
        <p:spPr>
          <a:xfrm flipV="1">
            <a:off x="9169142" y="5726062"/>
            <a:ext cx="2875484" cy="87070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4E6E873-42D7-6B7E-ABC8-1EF14B55B314}"/>
              </a:ext>
            </a:extLst>
          </p:cNvPr>
          <p:cNvCxnSpPr>
            <a:cxnSpLocks/>
          </p:cNvCxnSpPr>
          <p:nvPr/>
        </p:nvCxnSpPr>
        <p:spPr>
          <a:xfrm>
            <a:off x="12069639" y="5767361"/>
            <a:ext cx="3143538" cy="136439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6338954-95FC-8367-E755-96F744156A5F}"/>
              </a:ext>
            </a:extLst>
          </p:cNvPr>
          <p:cNvCxnSpPr>
            <a:cxnSpLocks/>
          </p:cNvCxnSpPr>
          <p:nvPr/>
        </p:nvCxnSpPr>
        <p:spPr>
          <a:xfrm flipH="1">
            <a:off x="14550750" y="7131755"/>
            <a:ext cx="662427" cy="225623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A861A4B-DC1B-B9C8-A571-9392D5FA094A}"/>
              </a:ext>
            </a:extLst>
          </p:cNvPr>
          <p:cNvCxnSpPr>
            <a:cxnSpLocks/>
          </p:cNvCxnSpPr>
          <p:nvPr/>
        </p:nvCxnSpPr>
        <p:spPr>
          <a:xfrm>
            <a:off x="12172447" y="5767361"/>
            <a:ext cx="2463702" cy="354737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E229383-A613-0221-DD98-2E39985BE8F8}"/>
              </a:ext>
            </a:extLst>
          </p:cNvPr>
          <p:cNvCxnSpPr>
            <a:cxnSpLocks/>
          </p:cNvCxnSpPr>
          <p:nvPr/>
        </p:nvCxnSpPr>
        <p:spPr>
          <a:xfrm flipH="1">
            <a:off x="7363165" y="6654876"/>
            <a:ext cx="1857597" cy="282903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471FF27-3064-4F3A-6BA5-9148BC42D4B1}"/>
              </a:ext>
            </a:extLst>
          </p:cNvPr>
          <p:cNvCxnSpPr>
            <a:cxnSpLocks/>
          </p:cNvCxnSpPr>
          <p:nvPr/>
        </p:nvCxnSpPr>
        <p:spPr>
          <a:xfrm flipH="1">
            <a:off x="7363165" y="6654876"/>
            <a:ext cx="1857597" cy="2829033"/>
          </a:xfrm>
          <a:prstGeom prst="line">
            <a:avLst/>
          </a:prstGeom>
          <a:ln w="38100">
            <a:solidFill>
              <a:srgbClr val="FBB0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7870436-130C-F26D-A0B1-45F9F164B0C9}"/>
              </a:ext>
            </a:extLst>
          </p:cNvPr>
          <p:cNvCxnSpPr>
            <a:cxnSpLocks/>
          </p:cNvCxnSpPr>
          <p:nvPr/>
        </p:nvCxnSpPr>
        <p:spPr>
          <a:xfrm flipV="1">
            <a:off x="9169142" y="5726062"/>
            <a:ext cx="2875484" cy="870707"/>
          </a:xfrm>
          <a:prstGeom prst="line">
            <a:avLst/>
          </a:prstGeom>
          <a:ln w="38100">
            <a:solidFill>
              <a:srgbClr val="FBB0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25FC4B1-32A2-7C2E-88AE-5FBA1FB48B17}"/>
              </a:ext>
            </a:extLst>
          </p:cNvPr>
          <p:cNvCxnSpPr>
            <a:cxnSpLocks/>
          </p:cNvCxnSpPr>
          <p:nvPr/>
        </p:nvCxnSpPr>
        <p:spPr>
          <a:xfrm>
            <a:off x="12172447" y="5767361"/>
            <a:ext cx="2463702" cy="3547377"/>
          </a:xfrm>
          <a:prstGeom prst="line">
            <a:avLst/>
          </a:prstGeom>
          <a:ln w="38100">
            <a:solidFill>
              <a:srgbClr val="FBB0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A22CEDC-D6D9-8AB1-BFDA-290462918233}"/>
              </a:ext>
            </a:extLst>
          </p:cNvPr>
          <p:cNvGrpSpPr/>
          <p:nvPr/>
        </p:nvGrpSpPr>
        <p:grpSpPr>
          <a:xfrm>
            <a:off x="14057064" y="8795565"/>
            <a:ext cx="987372" cy="987373"/>
            <a:chOff x="5656828" y="9533157"/>
            <a:chExt cx="900000" cy="90000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0630CEE-DB5B-2E08-12B6-65818D4F03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6828" y="9533157"/>
              <a:ext cx="900000" cy="900000"/>
            </a:xfrm>
            <a:prstGeom prst="ellipse">
              <a:avLst/>
            </a:prstGeom>
            <a:solidFill>
              <a:srgbClr val="E4E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pic>
          <p:nvPicPr>
            <p:cNvPr id="83" name="Graphic 82" descr="Store with solid fill">
              <a:extLst>
                <a:ext uri="{FF2B5EF4-FFF2-40B4-BE49-F238E27FC236}">
                  <a16:creationId xmlns:a16="http://schemas.microsoft.com/office/drawing/2014/main" id="{616B4A6F-63DD-310E-6E88-339E3C183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50230" y="9623157"/>
              <a:ext cx="720000" cy="72000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81253D1-6D79-4BD0-4A72-FE86A977D3CD}"/>
              </a:ext>
            </a:extLst>
          </p:cNvPr>
          <p:cNvGrpSpPr/>
          <p:nvPr/>
        </p:nvGrpSpPr>
        <p:grpSpPr>
          <a:xfrm>
            <a:off x="6848422" y="8894302"/>
            <a:ext cx="987372" cy="987373"/>
            <a:chOff x="8608077" y="9028357"/>
            <a:chExt cx="900000" cy="900000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4952832-917C-852A-FF05-2E7A379CDF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08077" y="9028357"/>
              <a:ext cx="900000" cy="900000"/>
            </a:xfrm>
            <a:prstGeom prst="ellipse">
              <a:avLst/>
            </a:prstGeom>
            <a:solidFill>
              <a:srgbClr val="E4E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pic>
          <p:nvPicPr>
            <p:cNvPr id="82" name="Graphic 81" descr="User with solid fill">
              <a:extLst>
                <a:ext uri="{FF2B5EF4-FFF2-40B4-BE49-F238E27FC236}">
                  <a16:creationId xmlns:a16="http://schemas.microsoft.com/office/drawing/2014/main" id="{3A88B416-73E4-CD41-531F-200AA63DB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97844" y="9118357"/>
              <a:ext cx="720000" cy="720000"/>
            </a:xfrm>
            <a:prstGeom prst="rect">
              <a:avLst/>
            </a:prstGeom>
          </p:spPr>
        </p:pic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121A3AB-B4A7-C00D-8390-D41FF139D664}"/>
              </a:ext>
            </a:extLst>
          </p:cNvPr>
          <p:cNvGrpSpPr/>
          <p:nvPr/>
        </p:nvGrpSpPr>
        <p:grpSpPr>
          <a:xfrm>
            <a:off x="5861050" y="6504594"/>
            <a:ext cx="987372" cy="987373"/>
            <a:chOff x="6106457" y="6919833"/>
            <a:chExt cx="900000" cy="900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120EF94-B644-5C6E-76DA-96C29944B0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06457" y="6919833"/>
              <a:ext cx="900000" cy="900000"/>
            </a:xfrm>
            <a:prstGeom prst="ellipse">
              <a:avLst/>
            </a:prstGeom>
            <a:solidFill>
              <a:srgbClr val="E4E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pic>
          <p:nvPicPr>
            <p:cNvPr id="112" name="Graphic 111" descr="User outline">
              <a:extLst>
                <a:ext uri="{FF2B5EF4-FFF2-40B4-BE49-F238E27FC236}">
                  <a16:creationId xmlns:a16="http://schemas.microsoft.com/office/drawing/2014/main" id="{FD0FC2E8-8877-D632-C77D-9A49C3FEB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96457" y="7003851"/>
              <a:ext cx="720000" cy="7200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D0AC178-A0A1-7436-A67A-BED5E59F8A6B}"/>
              </a:ext>
            </a:extLst>
          </p:cNvPr>
          <p:cNvGrpSpPr/>
          <p:nvPr/>
        </p:nvGrpSpPr>
        <p:grpSpPr>
          <a:xfrm>
            <a:off x="8700725" y="6126452"/>
            <a:ext cx="987372" cy="987373"/>
            <a:chOff x="8694850" y="6575153"/>
            <a:chExt cx="900000" cy="90000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3CDCEC1-EC0B-3650-8BF7-251CC0A2C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94850" y="6575153"/>
              <a:ext cx="900000" cy="900000"/>
            </a:xfrm>
            <a:prstGeom prst="ellipse">
              <a:avLst/>
            </a:prstGeom>
            <a:solidFill>
              <a:srgbClr val="E4E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pic>
          <p:nvPicPr>
            <p:cNvPr id="113" name="Graphic 112" descr="User outline">
              <a:extLst>
                <a:ext uri="{FF2B5EF4-FFF2-40B4-BE49-F238E27FC236}">
                  <a16:creationId xmlns:a16="http://schemas.microsoft.com/office/drawing/2014/main" id="{939E7791-4695-896D-065D-33A13D1EA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79252" y="6655717"/>
              <a:ext cx="720000" cy="720000"/>
            </a:xfrm>
            <a:prstGeom prst="rect">
              <a:avLst/>
            </a:prstGeom>
          </p:spPr>
        </p:pic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E57560A-333E-8483-0EA4-47B1E2B104FD}"/>
              </a:ext>
            </a:extLst>
          </p:cNvPr>
          <p:cNvGrpSpPr/>
          <p:nvPr/>
        </p:nvGrpSpPr>
        <p:grpSpPr>
          <a:xfrm>
            <a:off x="11576209" y="5273675"/>
            <a:ext cx="987372" cy="987373"/>
            <a:chOff x="11315883" y="5797838"/>
            <a:chExt cx="900000" cy="9000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7D4B69D-BAB3-0054-DD9F-B35E2AE15E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15883" y="5797838"/>
              <a:ext cx="900000" cy="900000"/>
            </a:xfrm>
            <a:prstGeom prst="ellipse">
              <a:avLst/>
            </a:prstGeom>
            <a:solidFill>
              <a:srgbClr val="E4E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pic>
          <p:nvPicPr>
            <p:cNvPr id="114" name="Graphic 113" descr="User outline">
              <a:extLst>
                <a:ext uri="{FF2B5EF4-FFF2-40B4-BE49-F238E27FC236}">
                  <a16:creationId xmlns:a16="http://schemas.microsoft.com/office/drawing/2014/main" id="{4894ECF9-83D0-9EE3-145C-EA9E72A32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06566" y="5866319"/>
              <a:ext cx="720000" cy="720000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D17CC48-1E64-C3A0-E193-0291B2484C7B}"/>
              </a:ext>
            </a:extLst>
          </p:cNvPr>
          <p:cNvGrpSpPr/>
          <p:nvPr/>
        </p:nvGrpSpPr>
        <p:grpSpPr>
          <a:xfrm>
            <a:off x="14719747" y="6620139"/>
            <a:ext cx="987372" cy="987373"/>
            <a:chOff x="14181250" y="7025153"/>
            <a:chExt cx="900000" cy="900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2ABBB26-9EAA-E5AC-1F22-F208BBE530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81250" y="7025153"/>
              <a:ext cx="900000" cy="900000"/>
            </a:xfrm>
            <a:prstGeom prst="ellipse">
              <a:avLst/>
            </a:prstGeom>
            <a:solidFill>
              <a:srgbClr val="E4E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pic>
          <p:nvPicPr>
            <p:cNvPr id="115" name="Graphic 114" descr="User outline">
              <a:extLst>
                <a:ext uri="{FF2B5EF4-FFF2-40B4-BE49-F238E27FC236}">
                  <a16:creationId xmlns:a16="http://schemas.microsoft.com/office/drawing/2014/main" id="{0B34EEAF-ED41-D1B9-F4DA-0E71E16CA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267615" y="7098455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869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7FE8-2FEC-2F3B-3845-2EDEB485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8.1 A rede </a:t>
            </a:r>
            <a:r>
              <a:rPr lang="pt-PT" dirty="0" err="1"/>
              <a:t>Lightning</a:t>
            </a:r>
            <a:endParaRPr lang="pt-PT" dirty="0"/>
          </a:p>
        </p:txBody>
      </p:sp>
      <p:pic>
        <p:nvPicPr>
          <p:cNvPr id="3076" name="Picture 4" descr="Bitcoin logo png, Bitcoin icon transparent png 19767927 PNG">
            <a:extLst>
              <a:ext uri="{FF2B5EF4-FFF2-40B4-BE49-F238E27FC236}">
                <a16:creationId xmlns:a16="http://schemas.microsoft.com/office/drawing/2014/main" id="{CAF4D53A-80E1-B845-A11A-CBD80FC5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351" y="2695355"/>
            <a:ext cx="1260000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Lightning Network | Bitcoin Layer 2">
            <a:extLst>
              <a:ext uri="{FF2B5EF4-FFF2-40B4-BE49-F238E27FC236}">
                <a16:creationId xmlns:a16="http://schemas.microsoft.com/office/drawing/2014/main" id="{9A125C0E-BFA9-975B-9367-871A4E7C9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8351" y="2923955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984435F-283F-CD43-D3E1-AC5536D2D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059639"/>
              </p:ext>
            </p:extLst>
          </p:nvPr>
        </p:nvGraphicFramePr>
        <p:xfrm>
          <a:off x="1281801" y="2530475"/>
          <a:ext cx="17457049" cy="7920000"/>
        </p:xfrm>
        <a:graphic>
          <a:graphicData uri="http://schemas.openxmlformats.org/drawingml/2006/table">
            <a:tbl>
              <a:tblPr/>
              <a:tblGrid>
                <a:gridCol w="3259139">
                  <a:extLst>
                    <a:ext uri="{9D8B030D-6E8A-4147-A177-3AD203B41FA5}">
                      <a16:colId xmlns:a16="http://schemas.microsoft.com/office/drawing/2014/main" val="1229555186"/>
                    </a:ext>
                  </a:extLst>
                </a:gridCol>
                <a:gridCol w="7098955">
                  <a:extLst>
                    <a:ext uri="{9D8B030D-6E8A-4147-A177-3AD203B41FA5}">
                      <a16:colId xmlns:a16="http://schemas.microsoft.com/office/drawing/2014/main" val="3399586214"/>
                    </a:ext>
                  </a:extLst>
                </a:gridCol>
                <a:gridCol w="7098955">
                  <a:extLst>
                    <a:ext uri="{9D8B030D-6E8A-4147-A177-3AD203B41FA5}">
                      <a16:colId xmlns:a16="http://schemas.microsoft.com/office/drawing/2014/main" val="1252346535"/>
                    </a:ext>
                  </a:extLst>
                </a:gridCol>
              </a:tblGrid>
              <a:tr h="1584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PT" sz="3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PT" sz="3000" b="1" dirty="0">
                          <a:solidFill>
                            <a:srgbClr val="392569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Rede Bitcoin (</a:t>
                      </a:r>
                      <a:r>
                        <a:rPr lang="pt-PT" sz="3000" b="1" i="1" dirty="0" err="1">
                          <a:solidFill>
                            <a:srgbClr val="392569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on-chain</a:t>
                      </a:r>
                      <a:r>
                        <a:rPr lang="pt-PT" sz="3000" b="1" dirty="0">
                          <a:solidFill>
                            <a:srgbClr val="392569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</a:t>
                      </a:r>
                      <a:endParaRPr lang="pt-PT" sz="3000" dirty="0">
                        <a:solidFill>
                          <a:srgbClr val="392569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08000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PT" sz="3000" b="1" dirty="0">
                          <a:solidFill>
                            <a:srgbClr val="392569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Rede </a:t>
                      </a:r>
                      <a:r>
                        <a:rPr lang="pt-PT" sz="3000" b="1" dirty="0" err="1">
                          <a:solidFill>
                            <a:srgbClr val="392569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Lightning</a:t>
                      </a:r>
                      <a:r>
                        <a:rPr lang="pt-PT" sz="3000" b="1" dirty="0">
                          <a:solidFill>
                            <a:srgbClr val="392569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</a:t>
                      </a:r>
                      <a:r>
                        <a:rPr lang="pt-PT" sz="3000" b="1" i="1" dirty="0" err="1">
                          <a:solidFill>
                            <a:srgbClr val="392569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off-chain</a:t>
                      </a:r>
                      <a:r>
                        <a:rPr lang="pt-PT" sz="3000" b="1" dirty="0">
                          <a:solidFill>
                            <a:srgbClr val="392569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</a:t>
                      </a:r>
                      <a:endParaRPr lang="pt-PT" sz="3000" dirty="0">
                        <a:solidFill>
                          <a:srgbClr val="392569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08000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263311"/>
                  </a:ext>
                </a:extLst>
              </a:tr>
              <a:tr h="158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3000" b="1" dirty="0">
                          <a:solidFill>
                            <a:srgbClr val="FBB04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Definição</a:t>
                      </a:r>
                      <a:endParaRPr lang="pt-PT" sz="3000" dirty="0">
                        <a:solidFill>
                          <a:srgbClr val="FBB040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569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pt-PT" sz="3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Rede descentralizada e segura.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pt-PT" sz="3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Protocolo de segunda camada sobre a blockchain do Bitcoin.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41307"/>
                  </a:ext>
                </a:extLst>
              </a:tr>
              <a:tr h="158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3000" b="1" dirty="0">
                          <a:solidFill>
                            <a:srgbClr val="FBB04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Transações</a:t>
                      </a:r>
                      <a:endParaRPr lang="pt-PT" sz="3000" dirty="0">
                        <a:solidFill>
                          <a:srgbClr val="FBB040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569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pt-PT" sz="3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Diretas na blockchain, seguras mas lentas (≈10 min).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pt-PT" sz="3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Fora da blockchain, quase instantâneas e baratas.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822150"/>
                  </a:ext>
                </a:extLst>
              </a:tr>
              <a:tr h="158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3000" b="1" dirty="0">
                          <a:solidFill>
                            <a:srgbClr val="FBB04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Vantagens</a:t>
                      </a:r>
                      <a:endParaRPr lang="pt-PT" sz="3000" dirty="0">
                        <a:solidFill>
                          <a:srgbClr val="FBB040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569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pt-PT" sz="3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Segurança elevada, descentralização, aceitação global.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pt-PT" sz="3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Velocidade, baixo custo e escalabilidade.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122789"/>
                  </a:ext>
                </a:extLst>
              </a:tr>
              <a:tr h="158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3000" b="1" dirty="0">
                          <a:solidFill>
                            <a:srgbClr val="FBB04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Desvantagens</a:t>
                      </a:r>
                      <a:endParaRPr lang="pt-PT" sz="3000" dirty="0">
                        <a:solidFill>
                          <a:srgbClr val="FBB040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569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pt-PT" sz="3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Transações lentas e taxas elevadas.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pt-PT" sz="3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Menos segurança, requer confiança nos canais e ainda é experimental.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548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35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7" y="0"/>
            <a:ext cx="20099074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4" name="Picture 2" descr="Best Bitcoin Lightning Wallets | Complete List 2025">
            <a:extLst>
              <a:ext uri="{FF2B5EF4-FFF2-40B4-BE49-F238E27FC236}">
                <a16:creationId xmlns:a16="http://schemas.microsoft.com/office/drawing/2014/main" id="{EE35A11A-3700-CD37-DA7C-84EACBFB3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0" r="9654"/>
          <a:stretch>
            <a:fillRect/>
          </a:stretch>
        </p:blipFill>
        <p:spPr bwMode="auto">
          <a:xfrm>
            <a:off x="6985013" y="10"/>
            <a:ext cx="15944837" cy="1130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F885CC6-8DAC-628F-D1E2-70F2CD887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958" y="15875"/>
            <a:ext cx="16277492" cy="1130935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43F505D-029C-1248-B80A-D8626ECE1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825875"/>
            <a:ext cx="8135937" cy="6019800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Uma carteira </a:t>
            </a:r>
            <a:r>
              <a:rPr lang="pt-PT" dirty="0" err="1"/>
              <a:t>Lightning</a:t>
            </a:r>
            <a:r>
              <a:rPr lang="pt-PT" dirty="0"/>
              <a:t> é um pouco diferente de uma carteira Bitcoin, embora desempenhe a mesma função: receber e enviar bitcoin.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Uma carteira </a:t>
            </a:r>
            <a:r>
              <a:rPr lang="pt-PT" dirty="0" err="1"/>
              <a:t>Lightning</a:t>
            </a:r>
            <a:r>
              <a:rPr lang="pt-PT" dirty="0"/>
              <a:t> permite enviar e receber bitcoin através da rede </a:t>
            </a:r>
            <a:r>
              <a:rPr lang="pt-PT" dirty="0" err="1"/>
              <a:t>Lightning</a:t>
            </a:r>
            <a:r>
              <a:rPr lang="pt-PT" dirty="0"/>
              <a:t>, uma camada secundária da rede Bitcoin.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718748D-A050-4F36-6B89-D94C8A8C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470875"/>
            <a:ext cx="9658350" cy="1364400"/>
          </a:xfrm>
        </p:spPr>
        <p:txBody>
          <a:bodyPr>
            <a:normAutofit fontScale="90000"/>
          </a:bodyPr>
          <a:lstStyle/>
          <a:p>
            <a:r>
              <a:rPr lang="pt-PT" dirty="0"/>
              <a:t>8.2 Diferentes tipos de carteiras </a:t>
            </a:r>
            <a:r>
              <a:rPr lang="pt-PT" dirty="0" err="1"/>
              <a:t>Lightning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987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72059-ACC2-2CF9-305F-CAC72520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6DA0-2BBE-39B1-49DD-5C452AB6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6400" dirty="0"/>
              <a:t>8.2 Diferentes tipos de carteiras </a:t>
            </a:r>
            <a:r>
              <a:rPr lang="pt-PT" sz="6400" dirty="0" err="1"/>
              <a:t>Lightning</a:t>
            </a:r>
            <a:endParaRPr lang="pt-PT" sz="640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19CF26C3-F02E-E79D-924A-1CC2446F532E}"/>
              </a:ext>
            </a:extLst>
          </p:cNvPr>
          <p:cNvSpPr txBox="1">
            <a:spLocks/>
          </p:cNvSpPr>
          <p:nvPr/>
        </p:nvSpPr>
        <p:spPr>
          <a:xfrm>
            <a:off x="1398394" y="2530475"/>
            <a:ext cx="8120256" cy="8177212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288000" tIns="251999" rIns="28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8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251B55"/>
                </a:solidFill>
              </a:rPr>
              <a:t>8.2.1 Carteiras custodiais e </a:t>
            </a:r>
            <a:br>
              <a:rPr lang="pt-PT" b="1" dirty="0">
                <a:solidFill>
                  <a:srgbClr val="251B55"/>
                </a:solidFill>
              </a:rPr>
            </a:br>
            <a:r>
              <a:rPr lang="pt-PT" b="1" dirty="0">
                <a:solidFill>
                  <a:srgbClr val="251B55"/>
                </a:solidFill>
              </a:rPr>
              <a:t>não-custodiais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2"/>
              </a:buBlip>
            </a:pPr>
            <a:r>
              <a:rPr lang="pt-PT" sz="3000" b="1" dirty="0"/>
              <a:t>Custodiais: </a:t>
            </a:r>
            <a:r>
              <a:rPr lang="pt-PT" sz="3000" dirty="0"/>
              <a:t>controladas por terceiros. São mais práticas, mas menos seguras.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2"/>
              </a:buBlip>
            </a:pPr>
            <a:r>
              <a:rPr lang="pt-PT" sz="3000" b="1" dirty="0"/>
              <a:t>Não-custodiais: </a:t>
            </a:r>
            <a:r>
              <a:rPr lang="pt-PT" sz="3000" dirty="0"/>
              <a:t>o utilizador controla as chaves. São mais seguras, exigem maior conhecimento.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EC9A7489-2A9D-A6AF-3C6A-2029B39CFA0C}"/>
              </a:ext>
            </a:extLst>
          </p:cNvPr>
          <p:cNvSpPr txBox="1">
            <a:spLocks/>
          </p:cNvSpPr>
          <p:nvPr/>
        </p:nvSpPr>
        <p:spPr>
          <a:xfrm>
            <a:off x="10585450" y="2530474"/>
            <a:ext cx="8120256" cy="8177212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288000" tIns="251999" rIns="28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251B55"/>
                </a:solidFill>
              </a:rPr>
              <a:t>8.2.2 Código aberto e código fechado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2"/>
              </a:buBlip>
            </a:pPr>
            <a:r>
              <a:rPr lang="pt-PT" sz="3000" b="1" dirty="0"/>
              <a:t>Código aberto: </a:t>
            </a:r>
            <a:r>
              <a:rPr lang="pt-PT" sz="3000" dirty="0"/>
              <a:t>transparentes, seguras e auditadas pela comunidade.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2"/>
              </a:buBlip>
            </a:pPr>
            <a:r>
              <a:rPr lang="pt-PT" sz="3000" b="1" dirty="0"/>
              <a:t>Código fechado: </a:t>
            </a:r>
            <a:r>
              <a:rPr lang="pt-PT" sz="3000" dirty="0"/>
              <a:t>menos transparentes e dependentes dos programadores.</a:t>
            </a:r>
          </a:p>
        </p:txBody>
      </p:sp>
    </p:spTree>
    <p:extLst>
      <p:ext uri="{BB962C8B-B14F-4D97-AF65-F5344CB8AC3E}">
        <p14:creationId xmlns:p14="http://schemas.microsoft.com/office/powerpoint/2010/main" val="383263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30B2-FB42-7EE6-C37F-A6AF82BF1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2" y="1006475"/>
            <a:ext cx="17338675" cy="1472400"/>
          </a:xfrm>
        </p:spPr>
        <p:txBody>
          <a:bodyPr>
            <a:noAutofit/>
          </a:bodyPr>
          <a:lstStyle/>
          <a:p>
            <a:r>
              <a:rPr lang="pt-PT" sz="6500" dirty="0"/>
              <a:t>8.3 Configurar uma carteira de Bitcoin </a:t>
            </a:r>
            <a:r>
              <a:rPr lang="pt-PT" sz="6500" dirty="0" err="1"/>
              <a:t>Lightning</a:t>
            </a:r>
            <a:endParaRPr lang="pt-PT" sz="6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91BC4-1BDD-9A8B-712B-13B8FDFA8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063875"/>
            <a:ext cx="8593137" cy="7643811"/>
          </a:xfrm>
        </p:spPr>
        <p:txBody>
          <a:bodyPr/>
          <a:lstStyle/>
          <a:p>
            <a:pPr marL="0" indent="0" algn="ctr" fontAlgn="base">
              <a:lnSpc>
                <a:spcPct val="18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FBB040"/>
                </a:solidFill>
              </a:rPr>
              <a:t>Carteira não-</a:t>
            </a:r>
            <a:r>
              <a:rPr lang="pt-PT" b="1" dirty="0" err="1">
                <a:solidFill>
                  <a:srgbClr val="FBB040"/>
                </a:solidFill>
              </a:rPr>
              <a:t>custodial</a:t>
            </a:r>
            <a:endParaRPr lang="pt-PT" b="1" dirty="0">
              <a:solidFill>
                <a:srgbClr val="FBB040"/>
              </a:solidFill>
            </a:endParaRP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És tu quem gera e guarda a frase de recuperação.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Deténs o controlo total sobre as tuas chaves privadas.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Pode ser necessário comprar bitcoin numa corretora e depois transferi-lo para a carteira.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87CF4-3428-1A59-763B-9D09BCA72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3063875"/>
            <a:ext cx="8593138" cy="7643811"/>
          </a:xfrm>
        </p:spPr>
        <p:txBody>
          <a:bodyPr/>
          <a:lstStyle/>
          <a:p>
            <a:pPr marL="0" indent="0" algn="ctr" fontAlgn="base">
              <a:lnSpc>
                <a:spcPct val="18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FBB040"/>
                </a:solidFill>
              </a:rPr>
              <a:t>Carteira </a:t>
            </a:r>
            <a:r>
              <a:rPr lang="pt-PT" b="1" dirty="0" err="1">
                <a:solidFill>
                  <a:srgbClr val="FBB040"/>
                </a:solidFill>
              </a:rPr>
              <a:t>custodial</a:t>
            </a:r>
            <a:endParaRPr lang="pt-PT" b="1" dirty="0">
              <a:solidFill>
                <a:srgbClr val="FBB040"/>
              </a:solidFill>
            </a:endParaRP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Crias uma conta com o fornecedor.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É o fornecedor quem guarda as chaves por ti.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7D44FD-97EC-D8AD-2B25-4FB5CC6341D4}"/>
              </a:ext>
            </a:extLst>
          </p:cNvPr>
          <p:cNvGrpSpPr>
            <a:grpSpLocks noChangeAspect="1"/>
          </p:cNvGrpSpPr>
          <p:nvPr/>
        </p:nvGrpSpPr>
        <p:grpSpPr>
          <a:xfrm>
            <a:off x="15294610" y="6885780"/>
            <a:ext cx="2834640" cy="4299492"/>
            <a:chOff x="14700250" y="3749907"/>
            <a:chExt cx="4587240" cy="6957780"/>
          </a:xfrm>
        </p:grpSpPr>
        <p:grpSp>
          <p:nvGrpSpPr>
            <p:cNvPr id="6" name="object 10">
              <a:extLst>
                <a:ext uri="{FF2B5EF4-FFF2-40B4-BE49-F238E27FC236}">
                  <a16:creationId xmlns:a16="http://schemas.microsoft.com/office/drawing/2014/main" id="{DFA003D3-E1AD-6E9F-7984-6CC33F16D14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700250" y="3749907"/>
              <a:ext cx="4587240" cy="6957780"/>
              <a:chOff x="6045045" y="2597330"/>
              <a:chExt cx="3749040" cy="5686425"/>
            </a:xfrm>
          </p:grpSpPr>
          <p:pic>
            <p:nvPicPr>
              <p:cNvPr id="8" name="object 11">
                <a:extLst>
                  <a:ext uri="{FF2B5EF4-FFF2-40B4-BE49-F238E27FC236}">
                    <a16:creationId xmlns:a16="http://schemas.microsoft.com/office/drawing/2014/main" id="{8AFFF2AD-70AF-5CE6-A49B-A5291EE1524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677304" y="4937943"/>
                <a:ext cx="2674065" cy="2674086"/>
              </a:xfrm>
              <a:prstGeom prst="rect">
                <a:avLst/>
              </a:prstGeom>
            </p:spPr>
          </p:pic>
          <p:pic>
            <p:nvPicPr>
              <p:cNvPr id="9" name="object 12">
                <a:extLst>
                  <a:ext uri="{FF2B5EF4-FFF2-40B4-BE49-F238E27FC236}">
                    <a16:creationId xmlns:a16="http://schemas.microsoft.com/office/drawing/2014/main" id="{724CE3A0-C064-3020-0000-B67EDEE68EA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748076" y="7829311"/>
                <a:ext cx="2567660" cy="454279"/>
              </a:xfrm>
              <a:prstGeom prst="rect">
                <a:avLst/>
              </a:prstGeom>
            </p:spPr>
          </p:pic>
          <p:pic>
            <p:nvPicPr>
              <p:cNvPr id="10" name="object 13">
                <a:extLst>
                  <a:ext uri="{FF2B5EF4-FFF2-40B4-BE49-F238E27FC236}">
                    <a16:creationId xmlns:a16="http://schemas.microsoft.com/office/drawing/2014/main" id="{0BB13ECA-CB15-5EEA-F36B-179115FC43C8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347486" y="5109971"/>
                <a:ext cx="2815287" cy="2872422"/>
              </a:xfrm>
              <a:prstGeom prst="rect">
                <a:avLst/>
              </a:prstGeom>
            </p:spPr>
          </p:pic>
          <p:pic>
            <p:nvPicPr>
              <p:cNvPr id="11" name="object 14">
                <a:extLst>
                  <a:ext uri="{FF2B5EF4-FFF2-40B4-BE49-F238E27FC236}">
                    <a16:creationId xmlns:a16="http://schemas.microsoft.com/office/drawing/2014/main" id="{261B0599-13DF-F00B-3122-E5FE7B0F75C2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051354" y="2693656"/>
                <a:ext cx="3735865" cy="2088742"/>
              </a:xfrm>
              <a:prstGeom prst="rect">
                <a:avLst/>
              </a:prstGeom>
            </p:spPr>
          </p:pic>
          <p:sp>
            <p:nvSpPr>
              <p:cNvPr id="12" name="object 15">
                <a:extLst>
                  <a:ext uri="{FF2B5EF4-FFF2-40B4-BE49-F238E27FC236}">
                    <a16:creationId xmlns:a16="http://schemas.microsoft.com/office/drawing/2014/main" id="{8C3564F1-57D4-34FC-8B26-00FEC99261DC}"/>
                  </a:ext>
                </a:extLst>
              </p:cNvPr>
              <p:cNvSpPr/>
              <p:nvPr/>
            </p:nvSpPr>
            <p:spPr>
              <a:xfrm>
                <a:off x="6051395" y="2693637"/>
                <a:ext cx="728345" cy="2089150"/>
              </a:xfrm>
              <a:custGeom>
                <a:avLst/>
                <a:gdLst/>
                <a:ahLst/>
                <a:cxnLst/>
                <a:rect l="l" t="t" r="r" b="b"/>
                <a:pathLst>
                  <a:path w="728345" h="2089150">
                    <a:moveTo>
                      <a:pt x="728271" y="2088721"/>
                    </a:moveTo>
                    <a:lnTo>
                      <a:pt x="183795" y="2088721"/>
                    </a:lnTo>
                    <a:lnTo>
                      <a:pt x="134936" y="2082156"/>
                    </a:lnTo>
                    <a:lnTo>
                      <a:pt x="91031" y="2063627"/>
                    </a:lnTo>
                    <a:lnTo>
                      <a:pt x="53833" y="2034888"/>
                    </a:lnTo>
                    <a:lnTo>
                      <a:pt x="25094" y="1997690"/>
                    </a:lnTo>
                    <a:lnTo>
                      <a:pt x="6565" y="1953785"/>
                    </a:lnTo>
                    <a:lnTo>
                      <a:pt x="0" y="1904926"/>
                    </a:lnTo>
                    <a:lnTo>
                      <a:pt x="0" y="183795"/>
                    </a:lnTo>
                    <a:lnTo>
                      <a:pt x="6565" y="134936"/>
                    </a:lnTo>
                    <a:lnTo>
                      <a:pt x="25094" y="91031"/>
                    </a:lnTo>
                    <a:lnTo>
                      <a:pt x="53833" y="53833"/>
                    </a:lnTo>
                    <a:lnTo>
                      <a:pt x="91031" y="25094"/>
                    </a:lnTo>
                    <a:lnTo>
                      <a:pt x="134936" y="6565"/>
                    </a:lnTo>
                    <a:lnTo>
                      <a:pt x="183795" y="0"/>
                    </a:lnTo>
                  </a:path>
                </a:pathLst>
              </a:custGeom>
              <a:ln w="120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3" name="object 16">
                <a:extLst>
                  <a:ext uri="{FF2B5EF4-FFF2-40B4-BE49-F238E27FC236}">
                    <a16:creationId xmlns:a16="http://schemas.microsoft.com/office/drawing/2014/main" id="{09C871F3-0204-BE19-339E-4E41CDA38C67}"/>
                  </a:ext>
                </a:extLst>
              </p:cNvPr>
              <p:cNvSpPr/>
              <p:nvPr/>
            </p:nvSpPr>
            <p:spPr>
              <a:xfrm>
                <a:off x="7092089" y="4782359"/>
                <a:ext cx="185038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50390">
                    <a:moveTo>
                      <a:pt x="1850090" y="0"/>
                    </a:moveTo>
                    <a:lnTo>
                      <a:pt x="0" y="0"/>
                    </a:lnTo>
                  </a:path>
                </a:pathLst>
              </a:custGeom>
              <a:ln w="120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4" name="object 17">
                <a:extLst>
                  <a:ext uri="{FF2B5EF4-FFF2-40B4-BE49-F238E27FC236}">
                    <a16:creationId xmlns:a16="http://schemas.microsoft.com/office/drawing/2014/main" id="{D3AD67A5-A2DF-A910-70D8-348B23CF12DA}"/>
                  </a:ext>
                </a:extLst>
              </p:cNvPr>
              <p:cNvSpPr/>
              <p:nvPr/>
            </p:nvSpPr>
            <p:spPr>
              <a:xfrm>
                <a:off x="6743899" y="2693639"/>
                <a:ext cx="3043555" cy="2089150"/>
              </a:xfrm>
              <a:custGeom>
                <a:avLst/>
                <a:gdLst/>
                <a:ahLst/>
                <a:cxnLst/>
                <a:rect l="l" t="t" r="r" b="b"/>
                <a:pathLst>
                  <a:path w="3043554" h="2089150">
                    <a:moveTo>
                      <a:pt x="0" y="0"/>
                    </a:moveTo>
                    <a:lnTo>
                      <a:pt x="2859546" y="0"/>
                    </a:lnTo>
                    <a:lnTo>
                      <a:pt x="2908405" y="6565"/>
                    </a:lnTo>
                    <a:lnTo>
                      <a:pt x="2952310" y="25094"/>
                    </a:lnTo>
                    <a:lnTo>
                      <a:pt x="2989508" y="53833"/>
                    </a:lnTo>
                    <a:lnTo>
                      <a:pt x="3018247" y="91031"/>
                    </a:lnTo>
                    <a:lnTo>
                      <a:pt x="3036776" y="134936"/>
                    </a:lnTo>
                    <a:lnTo>
                      <a:pt x="3043341" y="183795"/>
                    </a:lnTo>
                    <a:lnTo>
                      <a:pt x="3043341" y="1904926"/>
                    </a:lnTo>
                    <a:lnTo>
                      <a:pt x="3036776" y="1953785"/>
                    </a:lnTo>
                    <a:lnTo>
                      <a:pt x="3018247" y="1997690"/>
                    </a:lnTo>
                    <a:lnTo>
                      <a:pt x="2989508" y="2034888"/>
                    </a:lnTo>
                    <a:lnTo>
                      <a:pt x="2952310" y="2063627"/>
                    </a:lnTo>
                    <a:lnTo>
                      <a:pt x="2908405" y="2082156"/>
                    </a:lnTo>
                    <a:lnTo>
                      <a:pt x="2859546" y="2088721"/>
                    </a:lnTo>
                    <a:lnTo>
                      <a:pt x="2646202" y="2088721"/>
                    </a:lnTo>
                  </a:path>
                </a:pathLst>
              </a:custGeom>
              <a:ln w="120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pic>
            <p:nvPicPr>
              <p:cNvPr id="15" name="object 18">
                <a:extLst>
                  <a:ext uri="{FF2B5EF4-FFF2-40B4-BE49-F238E27FC236}">
                    <a16:creationId xmlns:a16="http://schemas.microsoft.com/office/drawing/2014/main" id="{3F7A1544-C2BE-A850-509D-FA4F46963C46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511892" y="2597332"/>
                <a:ext cx="141859" cy="193983"/>
              </a:xfrm>
              <a:prstGeom prst="rect">
                <a:avLst/>
              </a:prstGeom>
            </p:spPr>
          </p:pic>
          <p:pic>
            <p:nvPicPr>
              <p:cNvPr id="16" name="object 19">
                <a:extLst>
                  <a:ext uri="{FF2B5EF4-FFF2-40B4-BE49-F238E27FC236}">
                    <a16:creationId xmlns:a16="http://schemas.microsoft.com/office/drawing/2014/main" id="{4A26954F-C45A-2D43-5261-2D559E226D95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009796" y="4693303"/>
                <a:ext cx="141859" cy="193983"/>
              </a:xfrm>
              <a:prstGeom prst="rect">
                <a:avLst/>
              </a:prstGeom>
            </p:spPr>
          </p:pic>
          <p:pic>
            <p:nvPicPr>
              <p:cNvPr id="17" name="object 20">
                <a:extLst>
                  <a:ext uri="{FF2B5EF4-FFF2-40B4-BE49-F238E27FC236}">
                    <a16:creationId xmlns:a16="http://schemas.microsoft.com/office/drawing/2014/main" id="{33EDAAFB-CA9C-A3F5-FF8F-5C1775A15F59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340762" y="2597330"/>
                <a:ext cx="141859" cy="193889"/>
              </a:xfrm>
              <a:prstGeom prst="rect">
                <a:avLst/>
              </a:prstGeom>
            </p:spPr>
          </p:pic>
          <p:pic>
            <p:nvPicPr>
              <p:cNvPr id="18" name="object 21">
                <a:extLst>
                  <a:ext uri="{FF2B5EF4-FFF2-40B4-BE49-F238E27FC236}">
                    <a16:creationId xmlns:a16="http://schemas.microsoft.com/office/drawing/2014/main" id="{25197573-EE82-9864-63DC-85B8BB8700B4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9180924" y="4693300"/>
                <a:ext cx="141859" cy="193889"/>
              </a:xfrm>
              <a:prstGeom prst="rect">
                <a:avLst/>
              </a:prstGeom>
            </p:spPr>
          </p:pic>
        </p:grp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77BCCB18-3B0B-0EDD-6CFB-107A187DD74D}"/>
                </a:ext>
              </a:extLst>
            </p:cNvPr>
            <p:cNvSpPr txBox="1">
              <a:spLocks/>
            </p:cNvSpPr>
            <p:nvPr/>
          </p:nvSpPr>
          <p:spPr>
            <a:xfrm>
              <a:off x="14791064" y="4424861"/>
              <a:ext cx="4397544" cy="147161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GB" sz="3200" b="1" i="0" kern="1200" dirty="0" smtClean="0">
                  <a:solidFill>
                    <a:srgbClr val="251B5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en-PT" sz="2000" b="1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25000"/>
              </a:pPr>
              <a:r>
                <a:rPr lang="pt-PT" sz="1700" b="0" spc="10" dirty="0">
                  <a:solidFill>
                    <a:srgbClr val="241B54"/>
                  </a:solidFill>
                  <a:latin typeface="Open Sans"/>
                  <a:cs typeface="Open Sans"/>
                </a:rPr>
                <a:t>Lembra-te, se as chaves não são tuas,</a:t>
              </a:r>
              <a:br>
                <a:rPr lang="pt-PT" sz="1700" b="0" spc="10" dirty="0">
                  <a:solidFill>
                    <a:srgbClr val="241B54"/>
                  </a:solidFill>
                  <a:latin typeface="Open Sans"/>
                  <a:cs typeface="Open Sans"/>
                </a:rPr>
              </a:br>
              <a:r>
                <a:rPr lang="pt-PT" sz="1700" b="0" spc="10" dirty="0">
                  <a:solidFill>
                    <a:srgbClr val="241B54"/>
                  </a:solidFill>
                  <a:latin typeface="Open Sans"/>
                  <a:cs typeface="Open Sans"/>
                </a:rPr>
                <a:t>as moedas também não!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5980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D16BE-195F-E91B-A0AC-1AA30841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6500" dirty="0"/>
              <a:t>8.4 Receber e enviar transações </a:t>
            </a:r>
            <a:r>
              <a:rPr lang="pt-PT" sz="6500" dirty="0" err="1"/>
              <a:t>Lightning</a:t>
            </a:r>
            <a:endParaRPr lang="pt-PT" sz="6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B2902-6FC8-01E2-D128-52C58AB5B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9659937" cy="8405811"/>
          </a:xfrm>
        </p:spPr>
        <p:txBody>
          <a:bodyPr>
            <a:normAutofit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Um nó </a:t>
            </a:r>
            <a:r>
              <a:rPr lang="pt-PT" dirty="0" err="1"/>
              <a:t>Lightning</a:t>
            </a:r>
            <a:r>
              <a:rPr lang="pt-PT" dirty="0"/>
              <a:t> cria e mantém canais de pagamento entre utilizadores.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Os operadores de nós encaminham transações, mesmo sem ligação direta entre as partes, e recebem pequenas taxas por isso.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Ao fazê-lo, reforçam a descentralização, segurança e escalabilidade da rede, permitindo milhões de transações por segundo.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CFFFE21-45DE-C3B0-9E69-1EF2E633A970}"/>
              </a:ext>
            </a:extLst>
          </p:cNvPr>
          <p:cNvGrpSpPr/>
          <p:nvPr/>
        </p:nvGrpSpPr>
        <p:grpSpPr>
          <a:xfrm>
            <a:off x="11880850" y="2682875"/>
            <a:ext cx="5173767" cy="2123709"/>
            <a:chOff x="12221945" y="2642836"/>
            <a:chExt cx="5173767" cy="2123709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F5EB66D-E938-B937-A136-3203D6B4010B}"/>
                </a:ext>
              </a:extLst>
            </p:cNvPr>
            <p:cNvCxnSpPr>
              <a:cxnSpLocks/>
            </p:cNvCxnSpPr>
            <p:nvPr/>
          </p:nvCxnSpPr>
          <p:spPr>
            <a:xfrm>
              <a:off x="12740686" y="3136522"/>
              <a:ext cx="2071994" cy="1202759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B28099-08CB-513A-340B-D66157715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33993" y="3524908"/>
              <a:ext cx="2068289" cy="814374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465E8D9-0ADF-AFDE-767D-3B10206533AF}"/>
                </a:ext>
              </a:extLst>
            </p:cNvPr>
            <p:cNvGrpSpPr/>
            <p:nvPr/>
          </p:nvGrpSpPr>
          <p:grpSpPr>
            <a:xfrm>
              <a:off x="12221945" y="2642836"/>
              <a:ext cx="987372" cy="987373"/>
              <a:chOff x="6106457" y="6919833"/>
              <a:chExt cx="900000" cy="900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F5F2735-95EC-FFD7-9660-A143CDF434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06457" y="6919833"/>
                <a:ext cx="900000" cy="900000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31" name="Graphic 30" descr="User outline">
                <a:extLst>
                  <a:ext uri="{FF2B5EF4-FFF2-40B4-BE49-F238E27FC236}">
                    <a16:creationId xmlns:a16="http://schemas.microsoft.com/office/drawing/2014/main" id="{191E69CE-B489-0CC0-89BF-2E78E50E1D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196457" y="700385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9D706F-CD0E-8AB9-94A7-39ABB7A54194}"/>
                </a:ext>
              </a:extLst>
            </p:cNvPr>
            <p:cNvGrpSpPr/>
            <p:nvPr/>
          </p:nvGrpSpPr>
          <p:grpSpPr>
            <a:xfrm>
              <a:off x="16408340" y="3031222"/>
              <a:ext cx="987372" cy="987373"/>
              <a:chOff x="8694850" y="6575153"/>
              <a:chExt cx="900000" cy="900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87B6CB4-77DB-2432-3A47-31F3CD1A9E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94850" y="6575153"/>
                <a:ext cx="900000" cy="900000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34" name="Graphic 33" descr="User outline">
                <a:extLst>
                  <a:ext uri="{FF2B5EF4-FFF2-40B4-BE49-F238E27FC236}">
                    <a16:creationId xmlns:a16="http://schemas.microsoft.com/office/drawing/2014/main" id="{9A2BCB57-F3A0-FD12-E9A7-B07C12B5A4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779252" y="6655717"/>
                <a:ext cx="720000" cy="720000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1FAD5EC-0187-D5E8-37F3-6752D1C48A66}"/>
                </a:ext>
              </a:extLst>
            </p:cNvPr>
            <p:cNvSpPr txBox="1"/>
            <p:nvPr/>
          </p:nvSpPr>
          <p:spPr>
            <a:xfrm>
              <a:off x="16715387" y="3556930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225093A-40B4-7207-3B4E-41B0ADD2B6C9}"/>
                </a:ext>
              </a:extLst>
            </p:cNvPr>
            <p:cNvGrpSpPr/>
            <p:nvPr/>
          </p:nvGrpSpPr>
          <p:grpSpPr>
            <a:xfrm>
              <a:off x="14319250" y="3749675"/>
              <a:ext cx="987372" cy="987373"/>
              <a:chOff x="14319250" y="3749675"/>
              <a:chExt cx="987372" cy="987373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2241669-E4D3-6763-66A6-68B9021F7E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319250" y="3749675"/>
                <a:ext cx="987372" cy="987373"/>
              </a:xfrm>
              <a:prstGeom prst="ellipse">
                <a:avLst/>
              </a:prstGeom>
              <a:solidFill>
                <a:srgbClr val="3925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38" name="Graphic 37" descr="User outline">
                <a:extLst>
                  <a:ext uri="{FF2B5EF4-FFF2-40B4-BE49-F238E27FC236}">
                    <a16:creationId xmlns:a16="http://schemas.microsoft.com/office/drawing/2014/main" id="{D9B3B067-7F1E-B26C-14E6-2F464B2336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417731" y="3848412"/>
                <a:ext cx="789898" cy="789898"/>
              </a:xfrm>
              <a:prstGeom prst="rect">
                <a:avLst/>
              </a:prstGeom>
            </p:spPr>
          </p:pic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6769956-7D04-49EB-10CA-B291DE368CF8}"/>
                </a:ext>
              </a:extLst>
            </p:cNvPr>
            <p:cNvSpPr txBox="1"/>
            <p:nvPr/>
          </p:nvSpPr>
          <p:spPr>
            <a:xfrm>
              <a:off x="12535133" y="3211810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A838E67-0C65-BE35-2524-D158BC0DD26E}"/>
                </a:ext>
              </a:extLst>
            </p:cNvPr>
            <p:cNvSpPr txBox="1"/>
            <p:nvPr/>
          </p:nvSpPr>
          <p:spPr>
            <a:xfrm>
              <a:off x="14550128" y="4304880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chemeClr val="bg1">
                      <a:lumMod val="9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D48566B-C008-8515-1D62-550866C739BB}"/>
              </a:ext>
            </a:extLst>
          </p:cNvPr>
          <p:cNvGrpSpPr/>
          <p:nvPr/>
        </p:nvGrpSpPr>
        <p:grpSpPr>
          <a:xfrm>
            <a:off x="11880850" y="5486276"/>
            <a:ext cx="5173767" cy="2123709"/>
            <a:chOff x="12221945" y="6121766"/>
            <a:chExt cx="5173767" cy="212370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732B734-5742-0DBC-30A4-D75CB3AE60B0}"/>
                </a:ext>
              </a:extLst>
            </p:cNvPr>
            <p:cNvCxnSpPr>
              <a:cxnSpLocks/>
            </p:cNvCxnSpPr>
            <p:nvPr/>
          </p:nvCxnSpPr>
          <p:spPr>
            <a:xfrm>
              <a:off x="12740686" y="6615452"/>
              <a:ext cx="2071994" cy="1202759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8B608B-FF61-122A-4C01-32F4B3CA5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33993" y="7003838"/>
              <a:ext cx="2068289" cy="814374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927F3A-65D5-29EB-9B74-5568C092E238}"/>
                </a:ext>
              </a:extLst>
            </p:cNvPr>
            <p:cNvGrpSpPr/>
            <p:nvPr/>
          </p:nvGrpSpPr>
          <p:grpSpPr>
            <a:xfrm>
              <a:off x="12221945" y="6121766"/>
              <a:ext cx="987372" cy="987373"/>
              <a:chOff x="6106457" y="6919833"/>
              <a:chExt cx="900000" cy="90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4A5C54A-9CF3-A95F-1049-7E35938544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06457" y="6919833"/>
                <a:ext cx="900000" cy="900000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13" name="Graphic 12" descr="User outline">
                <a:extLst>
                  <a:ext uri="{FF2B5EF4-FFF2-40B4-BE49-F238E27FC236}">
                    <a16:creationId xmlns:a16="http://schemas.microsoft.com/office/drawing/2014/main" id="{F463E485-BDC9-F46E-A658-1D5631ED35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196457" y="700385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21A895F-86CC-8670-FB3F-DE06FC0751D4}"/>
                </a:ext>
              </a:extLst>
            </p:cNvPr>
            <p:cNvGrpSpPr/>
            <p:nvPr/>
          </p:nvGrpSpPr>
          <p:grpSpPr>
            <a:xfrm>
              <a:off x="16408340" y="6510152"/>
              <a:ext cx="987372" cy="987373"/>
              <a:chOff x="8694850" y="6575153"/>
              <a:chExt cx="900000" cy="90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AA34ADF-C405-998A-A23B-C856CCC6F5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94850" y="6575153"/>
                <a:ext cx="900000" cy="900000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16" name="Graphic 15" descr="User outline">
                <a:extLst>
                  <a:ext uri="{FF2B5EF4-FFF2-40B4-BE49-F238E27FC236}">
                    <a16:creationId xmlns:a16="http://schemas.microsoft.com/office/drawing/2014/main" id="{A377FE86-60E4-95A9-AC42-FE9339A815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779252" y="6655717"/>
                <a:ext cx="720000" cy="720000"/>
              </a:xfrm>
              <a:prstGeom prst="rect">
                <a:avLst/>
              </a:prstGeom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E2821F-8CD4-E67E-907A-D3E3BD132123}"/>
                </a:ext>
              </a:extLst>
            </p:cNvPr>
            <p:cNvSpPr txBox="1"/>
            <p:nvPr/>
          </p:nvSpPr>
          <p:spPr>
            <a:xfrm>
              <a:off x="16715387" y="7035860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E4EDC90-4C82-F1DD-CA41-BFEC50082FDA}"/>
                </a:ext>
              </a:extLst>
            </p:cNvPr>
            <p:cNvGrpSpPr/>
            <p:nvPr/>
          </p:nvGrpSpPr>
          <p:grpSpPr>
            <a:xfrm>
              <a:off x="14319250" y="7228605"/>
              <a:ext cx="987372" cy="987373"/>
              <a:chOff x="14319250" y="3749675"/>
              <a:chExt cx="987372" cy="987373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942A91A-48A5-F006-677E-613034D492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319250" y="3749675"/>
                <a:ext cx="987372" cy="987373"/>
              </a:xfrm>
              <a:prstGeom prst="ellipse">
                <a:avLst/>
              </a:prstGeom>
              <a:solidFill>
                <a:srgbClr val="3925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23" name="Graphic 22" descr="User outline">
                <a:extLst>
                  <a:ext uri="{FF2B5EF4-FFF2-40B4-BE49-F238E27FC236}">
                    <a16:creationId xmlns:a16="http://schemas.microsoft.com/office/drawing/2014/main" id="{10F75594-BC6B-D8B9-94F5-700B8C486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417731" y="3848412"/>
                <a:ext cx="789898" cy="789898"/>
              </a:xfrm>
              <a:prstGeom prst="rect">
                <a:avLst/>
              </a:prstGeom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4B9C5C-5277-0531-8A1A-D6580804CD17}"/>
                </a:ext>
              </a:extLst>
            </p:cNvPr>
            <p:cNvSpPr txBox="1"/>
            <p:nvPr/>
          </p:nvSpPr>
          <p:spPr>
            <a:xfrm>
              <a:off x="12535133" y="6690740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B8B3CF0-15DE-440E-79CE-86589FCAFA5A}"/>
                </a:ext>
              </a:extLst>
            </p:cNvPr>
            <p:cNvSpPr txBox="1"/>
            <p:nvPr/>
          </p:nvSpPr>
          <p:spPr>
            <a:xfrm>
              <a:off x="14550128" y="7783810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chemeClr val="bg1">
                      <a:lumMod val="9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12</a:t>
              </a:r>
            </a:p>
          </p:txBody>
        </p:sp>
        <p:sp>
          <p:nvSpPr>
            <p:cNvPr id="41" name="Triangle 40">
              <a:extLst>
                <a:ext uri="{FF2B5EF4-FFF2-40B4-BE49-F238E27FC236}">
                  <a16:creationId xmlns:a16="http://schemas.microsoft.com/office/drawing/2014/main" id="{125A9D8B-E277-0CE9-FDEA-2DCB9B4C1B5C}"/>
                </a:ext>
              </a:extLst>
            </p:cNvPr>
            <p:cNvSpPr>
              <a:spLocks/>
            </p:cNvSpPr>
            <p:nvPr/>
          </p:nvSpPr>
          <p:spPr>
            <a:xfrm rot="15173914">
              <a:off x="15757902" y="7356557"/>
              <a:ext cx="168279" cy="145068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FDD4452-2EA0-FA66-C604-FF7EAA768DD8}"/>
                </a:ext>
              </a:extLst>
            </p:cNvPr>
            <p:cNvSpPr txBox="1"/>
            <p:nvPr/>
          </p:nvSpPr>
          <p:spPr>
            <a:xfrm>
              <a:off x="15767050" y="7479010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35B5DC-869E-12F9-7A95-36AC7716B8D7}"/>
              </a:ext>
            </a:extLst>
          </p:cNvPr>
          <p:cNvGrpSpPr/>
          <p:nvPr/>
        </p:nvGrpSpPr>
        <p:grpSpPr>
          <a:xfrm>
            <a:off x="11885651" y="8311784"/>
            <a:ext cx="5173767" cy="2123709"/>
            <a:chOff x="12109450" y="8788766"/>
            <a:chExt cx="5173767" cy="2123709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8EA22BB-792A-FAF7-D3FD-FC430B3BCFB5}"/>
                </a:ext>
              </a:extLst>
            </p:cNvPr>
            <p:cNvCxnSpPr>
              <a:cxnSpLocks/>
            </p:cNvCxnSpPr>
            <p:nvPr/>
          </p:nvCxnSpPr>
          <p:spPr>
            <a:xfrm>
              <a:off x="12628191" y="9282452"/>
              <a:ext cx="2071994" cy="1202759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B98F9E9-054E-B519-F1A5-6C9218E0A5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1498" y="9670838"/>
              <a:ext cx="2068289" cy="814374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0E90433-7AAB-9147-C0C9-DEE596558604}"/>
                </a:ext>
              </a:extLst>
            </p:cNvPr>
            <p:cNvGrpSpPr/>
            <p:nvPr/>
          </p:nvGrpSpPr>
          <p:grpSpPr>
            <a:xfrm>
              <a:off x="12109450" y="8788766"/>
              <a:ext cx="987372" cy="987373"/>
              <a:chOff x="6106457" y="6919833"/>
              <a:chExt cx="900000" cy="90000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3AD3EB5-C6B2-DC5B-2482-15233D6A3A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06457" y="6919833"/>
                <a:ext cx="900000" cy="900000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47" name="Graphic 46" descr="User outline">
                <a:extLst>
                  <a:ext uri="{FF2B5EF4-FFF2-40B4-BE49-F238E27FC236}">
                    <a16:creationId xmlns:a16="http://schemas.microsoft.com/office/drawing/2014/main" id="{B59394F4-A2D3-337B-0CBB-DD4F3AA7F7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196457" y="700385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534A473-E271-C38B-C3A6-7E2A441F5CE8}"/>
                </a:ext>
              </a:extLst>
            </p:cNvPr>
            <p:cNvGrpSpPr/>
            <p:nvPr/>
          </p:nvGrpSpPr>
          <p:grpSpPr>
            <a:xfrm>
              <a:off x="16295845" y="9177152"/>
              <a:ext cx="987372" cy="987373"/>
              <a:chOff x="8694850" y="6575153"/>
              <a:chExt cx="900000" cy="900000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53FAD67-F90A-6418-111D-88D5394451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94850" y="6575153"/>
                <a:ext cx="900000" cy="900000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50" name="Graphic 49" descr="User outline">
                <a:extLst>
                  <a:ext uri="{FF2B5EF4-FFF2-40B4-BE49-F238E27FC236}">
                    <a16:creationId xmlns:a16="http://schemas.microsoft.com/office/drawing/2014/main" id="{A6CD293D-167A-C4C1-6D36-9418B75854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779252" y="6655717"/>
                <a:ext cx="720000" cy="720000"/>
              </a:xfrm>
              <a:prstGeom prst="rect">
                <a:avLst/>
              </a:prstGeom>
            </p:spPr>
          </p:pic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B9BA4C3-296F-7839-9CA0-4FB40E519B62}"/>
                </a:ext>
              </a:extLst>
            </p:cNvPr>
            <p:cNvSpPr txBox="1"/>
            <p:nvPr/>
          </p:nvSpPr>
          <p:spPr>
            <a:xfrm>
              <a:off x="16602892" y="9702860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B600B9A-C577-1A2E-AF6D-FDCBC7BB94F3}"/>
                </a:ext>
              </a:extLst>
            </p:cNvPr>
            <p:cNvGrpSpPr/>
            <p:nvPr/>
          </p:nvGrpSpPr>
          <p:grpSpPr>
            <a:xfrm>
              <a:off x="14206755" y="9895605"/>
              <a:ext cx="987372" cy="987373"/>
              <a:chOff x="14319250" y="3749675"/>
              <a:chExt cx="987372" cy="987373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87DE3B3-87A5-2938-50FF-0679C5E8AF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319250" y="3749675"/>
                <a:ext cx="987372" cy="987373"/>
              </a:xfrm>
              <a:prstGeom prst="ellipse">
                <a:avLst/>
              </a:prstGeom>
              <a:solidFill>
                <a:srgbClr val="3925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54" name="Graphic 53" descr="User outline">
                <a:extLst>
                  <a:ext uri="{FF2B5EF4-FFF2-40B4-BE49-F238E27FC236}">
                    <a16:creationId xmlns:a16="http://schemas.microsoft.com/office/drawing/2014/main" id="{D468D912-91F5-97E4-1AA9-713DC3B683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417731" y="3848412"/>
                <a:ext cx="789898" cy="789898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1B7D141-1561-7665-62D0-09C2EB22ABCD}"/>
                </a:ext>
              </a:extLst>
            </p:cNvPr>
            <p:cNvSpPr txBox="1"/>
            <p:nvPr/>
          </p:nvSpPr>
          <p:spPr>
            <a:xfrm>
              <a:off x="12422638" y="9357740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7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CDA4C12-DB18-967F-E37D-6F853F3110E5}"/>
                </a:ext>
              </a:extLst>
            </p:cNvPr>
            <p:cNvSpPr txBox="1"/>
            <p:nvPr/>
          </p:nvSpPr>
          <p:spPr>
            <a:xfrm>
              <a:off x="14437633" y="10450810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chemeClr val="bg1">
                      <a:lumMod val="9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</a:t>
              </a:r>
            </a:p>
          </p:txBody>
        </p:sp>
        <p:sp>
          <p:nvSpPr>
            <p:cNvPr id="57" name="Triangle 56">
              <a:extLst>
                <a:ext uri="{FF2B5EF4-FFF2-40B4-BE49-F238E27FC236}">
                  <a16:creationId xmlns:a16="http://schemas.microsoft.com/office/drawing/2014/main" id="{34DB87C3-3BCF-AC33-7993-1125ABFEB29C}"/>
                </a:ext>
              </a:extLst>
            </p:cNvPr>
            <p:cNvSpPr>
              <a:spLocks/>
            </p:cNvSpPr>
            <p:nvPr/>
          </p:nvSpPr>
          <p:spPr>
            <a:xfrm rot="18185702">
              <a:off x="13531960" y="9782386"/>
              <a:ext cx="168279" cy="145068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0C26C6F-66CA-E6D6-F384-8F153AC6F483}"/>
                </a:ext>
              </a:extLst>
            </p:cNvPr>
            <p:cNvSpPr txBox="1"/>
            <p:nvPr/>
          </p:nvSpPr>
          <p:spPr>
            <a:xfrm>
              <a:off x="13435601" y="9999180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b="1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408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8635-9B70-EBE4-EC0F-453F0040A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6500" dirty="0"/>
              <a:t>8.4 Receber e enviar transações </a:t>
            </a:r>
            <a:r>
              <a:rPr lang="pt-PT" sz="6500" dirty="0" err="1"/>
              <a:t>Lightning</a:t>
            </a:r>
            <a:endParaRPr lang="pt-PT" sz="65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17EA6B-3234-A5F5-4873-4A8A41B5FA83}"/>
              </a:ext>
            </a:extLst>
          </p:cNvPr>
          <p:cNvGrpSpPr/>
          <p:nvPr/>
        </p:nvGrpSpPr>
        <p:grpSpPr>
          <a:xfrm>
            <a:off x="801174" y="3169685"/>
            <a:ext cx="6136616" cy="6279076"/>
            <a:chOff x="899835" y="3339666"/>
            <a:chExt cx="6136616" cy="6279076"/>
          </a:xfrm>
        </p:grpSpPr>
        <p:pic>
          <p:nvPicPr>
            <p:cNvPr id="8196" name="Picture 4" descr="Visa logo and the history of the company | LogoMyWay">
              <a:extLst>
                <a:ext uri="{FF2B5EF4-FFF2-40B4-BE49-F238E27FC236}">
                  <a16:creationId xmlns:a16="http://schemas.microsoft.com/office/drawing/2014/main" id="{B467F8FF-EA12-486B-314F-CBA30FC102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508" y="4966295"/>
              <a:ext cx="4630738" cy="2854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8F49BA1-B58D-1071-B24F-4E7A86557451}"/>
                </a:ext>
              </a:extLst>
            </p:cNvPr>
            <p:cNvSpPr txBox="1"/>
            <p:nvPr/>
          </p:nvSpPr>
          <p:spPr>
            <a:xfrm>
              <a:off x="899835" y="8652324"/>
              <a:ext cx="6136616" cy="9664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PT" sz="20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Em média 1 700 transações por segundo. </a:t>
              </a:r>
              <a:endParaRPr lang="pt-PT" sz="2000" dirty="0">
                <a:solidFill>
                  <a:srgbClr val="58595B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pt-PT" sz="20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Capacidade para 65 000 transações por segundo. </a:t>
              </a:r>
              <a:endParaRPr lang="pt-PT" sz="2000" dirty="0">
                <a:solidFill>
                  <a:srgbClr val="58595B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40AF044-C4C0-F3BC-813F-F46AF502FD82}"/>
                </a:ext>
              </a:extLst>
            </p:cNvPr>
            <p:cNvSpPr txBox="1"/>
            <p:nvPr/>
          </p:nvSpPr>
          <p:spPr>
            <a:xfrm>
              <a:off x="3033430" y="3339666"/>
              <a:ext cx="1869423" cy="752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PT" sz="3200" b="1" kern="1200" dirty="0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Visa Inc.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9247D8-27A2-B9C6-40B9-74E246210ED7}"/>
              </a:ext>
            </a:extLst>
          </p:cNvPr>
          <p:cNvGrpSpPr/>
          <p:nvPr/>
        </p:nvGrpSpPr>
        <p:grpSpPr>
          <a:xfrm>
            <a:off x="7925739" y="3331476"/>
            <a:ext cx="5428089" cy="6055600"/>
            <a:chOff x="8223250" y="3331476"/>
            <a:chExt cx="5428089" cy="60556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8166FD-3F5E-10E6-FEE8-90F2C8D425CE}"/>
                </a:ext>
              </a:extLst>
            </p:cNvPr>
            <p:cNvSpPr txBox="1"/>
            <p:nvPr/>
          </p:nvSpPr>
          <p:spPr>
            <a:xfrm>
              <a:off x="8223250" y="8882322"/>
              <a:ext cx="5428089" cy="504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PT" sz="20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Capacidade para 7 transações por segundo.</a:t>
              </a:r>
              <a:endParaRPr lang="pt-PT" sz="2000" dirty="0">
                <a:solidFill>
                  <a:srgbClr val="58595B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7F0279-9930-EE31-9228-7CE12D26A0C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25759" y="4757490"/>
              <a:ext cx="4427249" cy="3196800"/>
              <a:chOff x="8195220" y="3881198"/>
              <a:chExt cx="5676401" cy="4098780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96F3956E-22A4-2477-B694-94E2A90E998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447295" y="7244683"/>
                <a:ext cx="5300171" cy="735295"/>
                <a:chOff x="7999400" y="3429000"/>
                <a:chExt cx="8766300" cy="1216152"/>
              </a:xfrm>
            </p:grpSpPr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C51867A4-D5EE-1FDC-BDE7-9E5CDEEFF91F}"/>
                    </a:ext>
                  </a:extLst>
                </p:cNvPr>
                <p:cNvCxnSpPr/>
                <p:nvPr/>
              </p:nvCxnSpPr>
              <p:spPr>
                <a:xfrm>
                  <a:off x="9215552" y="4037076"/>
                  <a:ext cx="6333996" cy="0"/>
                </a:xfrm>
                <a:prstGeom prst="line">
                  <a:avLst/>
                </a:prstGeom>
                <a:ln w="3810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Cube 11">
                  <a:extLst>
                    <a:ext uri="{FF2B5EF4-FFF2-40B4-BE49-F238E27FC236}">
                      <a16:creationId xmlns:a16="http://schemas.microsoft.com/office/drawing/2014/main" id="{241C535E-705C-262B-31F9-77A306A9776C}"/>
                    </a:ext>
                  </a:extLst>
                </p:cNvPr>
                <p:cNvSpPr/>
                <p:nvPr/>
              </p:nvSpPr>
              <p:spPr>
                <a:xfrm flipH="1">
                  <a:off x="7999400" y="3429000"/>
                  <a:ext cx="1216152" cy="1216152"/>
                </a:xfrm>
                <a:prstGeom prst="cube">
                  <a:avLst>
                    <a:gd name="adj" fmla="val 21241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3" name="Cube 12">
                  <a:extLst>
                    <a:ext uri="{FF2B5EF4-FFF2-40B4-BE49-F238E27FC236}">
                      <a16:creationId xmlns:a16="http://schemas.microsoft.com/office/drawing/2014/main" id="{4281A3A9-0F6B-810D-8FCC-DC6B074CE797}"/>
                    </a:ext>
                  </a:extLst>
                </p:cNvPr>
                <p:cNvSpPr/>
                <p:nvPr/>
              </p:nvSpPr>
              <p:spPr>
                <a:xfrm flipH="1">
                  <a:off x="9886937" y="3429000"/>
                  <a:ext cx="1216152" cy="1216152"/>
                </a:xfrm>
                <a:prstGeom prst="cube">
                  <a:avLst>
                    <a:gd name="adj" fmla="val 21241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4" name="Cube 13">
                  <a:extLst>
                    <a:ext uri="{FF2B5EF4-FFF2-40B4-BE49-F238E27FC236}">
                      <a16:creationId xmlns:a16="http://schemas.microsoft.com/office/drawing/2014/main" id="{5B4E0A32-4BA2-CF98-B004-ED2779F4AEA3}"/>
                    </a:ext>
                  </a:extLst>
                </p:cNvPr>
                <p:cNvSpPr/>
                <p:nvPr/>
              </p:nvSpPr>
              <p:spPr>
                <a:xfrm flipH="1">
                  <a:off x="11774474" y="3429000"/>
                  <a:ext cx="1216152" cy="1216152"/>
                </a:xfrm>
                <a:prstGeom prst="cube">
                  <a:avLst>
                    <a:gd name="adj" fmla="val 21241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16C1E5C3-D479-E1C3-03ED-67A87527ADB0}"/>
                    </a:ext>
                  </a:extLst>
                </p:cNvPr>
                <p:cNvSpPr/>
                <p:nvPr/>
              </p:nvSpPr>
              <p:spPr>
                <a:xfrm flipH="1">
                  <a:off x="13662011" y="3429000"/>
                  <a:ext cx="1216152" cy="1216152"/>
                </a:xfrm>
                <a:prstGeom prst="cube">
                  <a:avLst>
                    <a:gd name="adj" fmla="val 21241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8F6F0DCF-599C-4CBA-DE14-AE1B87339CCC}"/>
                    </a:ext>
                  </a:extLst>
                </p:cNvPr>
                <p:cNvSpPr/>
                <p:nvPr/>
              </p:nvSpPr>
              <p:spPr>
                <a:xfrm flipH="1">
                  <a:off x="15549548" y="3429000"/>
                  <a:ext cx="1216152" cy="1216152"/>
                </a:xfrm>
                <a:prstGeom prst="cube">
                  <a:avLst>
                    <a:gd name="adj" fmla="val 21241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pic>
            <p:nvPicPr>
              <p:cNvPr id="8198" name="Picture 6" descr="Bitcoin Logo, symbol, meaning, history, PNG, brand">
                <a:extLst>
                  <a:ext uri="{FF2B5EF4-FFF2-40B4-BE49-F238E27FC236}">
                    <a16:creationId xmlns:a16="http://schemas.microsoft.com/office/drawing/2014/main" id="{0C1D7BA4-48DB-5970-44D9-36E06FA515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95220" y="3881198"/>
                <a:ext cx="5676401" cy="3193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D476946-1B22-FABE-9AD7-D4D153875570}"/>
                </a:ext>
              </a:extLst>
            </p:cNvPr>
            <p:cNvSpPr txBox="1"/>
            <p:nvPr/>
          </p:nvSpPr>
          <p:spPr>
            <a:xfrm>
              <a:off x="9043987" y="3331476"/>
              <a:ext cx="3786614" cy="752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PT" sz="3200" b="1" kern="1200" dirty="0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Bitcoin (</a:t>
              </a:r>
              <a:r>
                <a:rPr lang="pt-PT" sz="3200" b="1" i="1" kern="1200" dirty="0" err="1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on-chain</a:t>
              </a:r>
              <a:r>
                <a:rPr lang="pt-PT" sz="3200" b="1" kern="1200" dirty="0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6C1C0CD-F4C6-056D-7F09-D49EDA5132AE}"/>
              </a:ext>
            </a:extLst>
          </p:cNvPr>
          <p:cNvGrpSpPr/>
          <p:nvPr/>
        </p:nvGrpSpPr>
        <p:grpSpPr>
          <a:xfrm>
            <a:off x="14337771" y="3369954"/>
            <a:ext cx="4782079" cy="6047410"/>
            <a:chOff x="14796405" y="3339666"/>
            <a:chExt cx="4782079" cy="60474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17F5A1-BB21-5898-8E32-EBF217064DF9}"/>
                </a:ext>
              </a:extLst>
            </p:cNvPr>
            <p:cNvSpPr txBox="1"/>
            <p:nvPr/>
          </p:nvSpPr>
          <p:spPr>
            <a:xfrm>
              <a:off x="14930258" y="8882322"/>
              <a:ext cx="4514376" cy="504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PT" sz="20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Milhões de transações por segundo.</a:t>
              </a:r>
              <a:endParaRPr lang="pt-PT" sz="2000" dirty="0">
                <a:solidFill>
                  <a:srgbClr val="58595B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9" name="Content Placeholder 10" descr="A yellow lightning bolt in a black background&#10;&#10;Description automatically generated">
              <a:extLst>
                <a:ext uri="{FF2B5EF4-FFF2-40B4-BE49-F238E27FC236}">
                  <a16:creationId xmlns:a16="http://schemas.microsoft.com/office/drawing/2014/main" id="{76B19173-D08B-0926-5AD0-36CDEBACF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409" t="47265" r="37946" b="36130"/>
            <a:stretch>
              <a:fillRect/>
            </a:stretch>
          </p:blipFill>
          <p:spPr>
            <a:xfrm>
              <a:off x="15221321" y="4795259"/>
              <a:ext cx="3932249" cy="31968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A389BDE-C045-2283-BCC6-00656C90CE66}"/>
                </a:ext>
              </a:extLst>
            </p:cNvPr>
            <p:cNvSpPr txBox="1"/>
            <p:nvPr/>
          </p:nvSpPr>
          <p:spPr>
            <a:xfrm>
              <a:off x="14796405" y="3339666"/>
              <a:ext cx="4782079" cy="752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PT" sz="3200" b="1" kern="1200" dirty="0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Rede Bitcoin </a:t>
              </a:r>
              <a:r>
                <a:rPr lang="pt-PT" sz="3200" b="1" kern="1200" dirty="0" err="1">
                  <a:solidFill>
                    <a:srgbClr val="39256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Lightning</a:t>
              </a:r>
              <a:endParaRPr lang="pt-PT" sz="3200" b="1" kern="1200" dirty="0">
                <a:solidFill>
                  <a:srgbClr val="392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2508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3D4D-85EA-9F7E-1DC2-FD03A6DFE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6C6C-8718-99A7-24F0-1BD499FED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6500" dirty="0"/>
              <a:t>8.4 Receber e enviar transações </a:t>
            </a:r>
            <a:r>
              <a:rPr lang="pt-PT" sz="6500" dirty="0" err="1"/>
              <a:t>Lightning</a:t>
            </a:r>
            <a:endParaRPr lang="pt-PT" sz="6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289E1-25F9-58E0-25BD-7C4C1B5BD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9739365" cy="8405811"/>
          </a:xfrm>
        </p:spPr>
        <p:txBody>
          <a:bodyPr>
            <a:normAutofit fontScale="92500"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O canal é fechado quando uma das partes decide.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É gerada uma transação de fecho, que reflete o saldo final do canal.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Essa transação é enviada para a blockchain do Bitcoin para confirmação.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Durante esse período, os fundos ficam temporariamente bloqueados.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Após a confirmação, o canal é encerrado e o bitcoin é devolvido a cada utilizador de acordo com o saldo final.</a:t>
            </a:r>
          </a:p>
        </p:txBody>
      </p:sp>
      <p:grpSp>
        <p:nvGrpSpPr>
          <p:cNvPr id="9288" name="Group 9287">
            <a:extLst>
              <a:ext uri="{FF2B5EF4-FFF2-40B4-BE49-F238E27FC236}">
                <a16:creationId xmlns:a16="http://schemas.microsoft.com/office/drawing/2014/main" id="{7168C619-3123-AEB7-81BB-2397EB6458DF}"/>
              </a:ext>
            </a:extLst>
          </p:cNvPr>
          <p:cNvGrpSpPr>
            <a:grpSpLocks noChangeAspect="1"/>
          </p:cNvGrpSpPr>
          <p:nvPr/>
        </p:nvGrpSpPr>
        <p:grpSpPr>
          <a:xfrm>
            <a:off x="11568183" y="3282780"/>
            <a:ext cx="7323067" cy="6444000"/>
            <a:chOff x="12485356" y="2617457"/>
            <a:chExt cx="7608101" cy="669481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B6D3AA5-E74F-89D1-160A-C052B045BF97}"/>
                </a:ext>
              </a:extLst>
            </p:cNvPr>
            <p:cNvGrpSpPr/>
            <p:nvPr/>
          </p:nvGrpSpPr>
          <p:grpSpPr>
            <a:xfrm>
              <a:off x="12485356" y="5429302"/>
              <a:ext cx="987372" cy="987373"/>
              <a:chOff x="6106457" y="6919833"/>
              <a:chExt cx="900000" cy="900000"/>
            </a:xfrm>
          </p:grpSpPr>
          <p:sp>
            <p:nvSpPr>
              <p:cNvPr id="9219" name="Oval 9218">
                <a:extLst>
                  <a:ext uri="{FF2B5EF4-FFF2-40B4-BE49-F238E27FC236}">
                    <a16:creationId xmlns:a16="http://schemas.microsoft.com/office/drawing/2014/main" id="{FB7D3E4D-2891-1EA6-A516-5BE88AA440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06457" y="6919833"/>
                <a:ext cx="900000" cy="900000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9220" name="Graphic 9219" descr="User outline">
                <a:extLst>
                  <a:ext uri="{FF2B5EF4-FFF2-40B4-BE49-F238E27FC236}">
                    <a16:creationId xmlns:a16="http://schemas.microsoft.com/office/drawing/2014/main" id="{F579C104-F94D-8D90-D92D-516B2C801A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196457" y="700385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991B576-F858-09DC-5E50-FA0EC53F8945}"/>
                </a:ext>
              </a:extLst>
            </p:cNvPr>
            <p:cNvGrpSpPr/>
            <p:nvPr/>
          </p:nvGrpSpPr>
          <p:grpSpPr>
            <a:xfrm>
              <a:off x="19106085" y="5429302"/>
              <a:ext cx="987372" cy="987373"/>
              <a:chOff x="14319250" y="3749675"/>
              <a:chExt cx="987372" cy="987373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486B36B-4C92-CB9B-4261-04E50E09EA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319250" y="3749675"/>
                <a:ext cx="987372" cy="987373"/>
              </a:xfrm>
              <a:prstGeom prst="ellipse">
                <a:avLst/>
              </a:prstGeom>
              <a:solidFill>
                <a:srgbClr val="3925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63" name="Graphic 62" descr="User outline">
                <a:extLst>
                  <a:ext uri="{FF2B5EF4-FFF2-40B4-BE49-F238E27FC236}">
                    <a16:creationId xmlns:a16="http://schemas.microsoft.com/office/drawing/2014/main" id="{07EA1F65-7CA8-9520-428A-F1025B77ED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417731" y="3848412"/>
                <a:ext cx="789898" cy="789898"/>
              </a:xfrm>
              <a:prstGeom prst="rect">
                <a:avLst/>
              </a:prstGeom>
            </p:spPr>
          </p:pic>
        </p:grpSp>
        <p:sp>
          <p:nvSpPr>
            <p:cNvPr id="9255" name="Rounded Rectangle 9254">
              <a:extLst>
                <a:ext uri="{FF2B5EF4-FFF2-40B4-BE49-F238E27FC236}">
                  <a16:creationId xmlns:a16="http://schemas.microsoft.com/office/drawing/2014/main" id="{9F72AC70-01AE-B3E0-2498-F8D33C577664}"/>
                </a:ext>
              </a:extLst>
            </p:cNvPr>
            <p:cNvSpPr/>
            <p:nvPr/>
          </p:nvSpPr>
          <p:spPr>
            <a:xfrm>
              <a:off x="14681038" y="4976241"/>
              <a:ext cx="3061769" cy="235115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</a:pPr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Trocas entre as partes:</a:t>
              </a:r>
              <a:b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0.1BTC ………. 0.4BTC</a:t>
              </a:r>
              <a:b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0.2BTC ………. 0.3BTC</a:t>
              </a:r>
              <a:b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0.35BTC ………. 0.15BTC</a:t>
              </a:r>
              <a:b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0.25BTC ………. 0.25BTC</a:t>
              </a:r>
            </a:p>
          </p:txBody>
        </p:sp>
        <p:grpSp>
          <p:nvGrpSpPr>
            <p:cNvPr id="9261" name="Group 9260">
              <a:extLst>
                <a:ext uri="{FF2B5EF4-FFF2-40B4-BE49-F238E27FC236}">
                  <a16:creationId xmlns:a16="http://schemas.microsoft.com/office/drawing/2014/main" id="{9762325A-94A7-4CF4-CDC9-8D04F008C90C}"/>
                </a:ext>
              </a:extLst>
            </p:cNvPr>
            <p:cNvGrpSpPr/>
            <p:nvPr/>
          </p:nvGrpSpPr>
          <p:grpSpPr>
            <a:xfrm>
              <a:off x="12485356" y="8324902"/>
              <a:ext cx="987372" cy="987373"/>
              <a:chOff x="6106457" y="6919833"/>
              <a:chExt cx="900000" cy="900000"/>
            </a:xfrm>
          </p:grpSpPr>
          <p:sp>
            <p:nvSpPr>
              <p:cNvPr id="9262" name="Oval 9261">
                <a:extLst>
                  <a:ext uri="{FF2B5EF4-FFF2-40B4-BE49-F238E27FC236}">
                    <a16:creationId xmlns:a16="http://schemas.microsoft.com/office/drawing/2014/main" id="{CD772E20-36CE-3B92-824F-6ECABB8AEF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06457" y="6919833"/>
                <a:ext cx="900000" cy="900000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9263" name="Graphic 9262" descr="User outline">
                <a:extLst>
                  <a:ext uri="{FF2B5EF4-FFF2-40B4-BE49-F238E27FC236}">
                    <a16:creationId xmlns:a16="http://schemas.microsoft.com/office/drawing/2014/main" id="{B262BD57-3632-AED7-B48B-A223B3710E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196457" y="700385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9264" name="Group 9263">
              <a:extLst>
                <a:ext uri="{FF2B5EF4-FFF2-40B4-BE49-F238E27FC236}">
                  <a16:creationId xmlns:a16="http://schemas.microsoft.com/office/drawing/2014/main" id="{2B2425EE-F80F-7141-1D08-D2023ADF0286}"/>
                </a:ext>
              </a:extLst>
            </p:cNvPr>
            <p:cNvGrpSpPr/>
            <p:nvPr/>
          </p:nvGrpSpPr>
          <p:grpSpPr>
            <a:xfrm>
              <a:off x="19106085" y="8324902"/>
              <a:ext cx="987372" cy="987373"/>
              <a:chOff x="14319250" y="3749675"/>
              <a:chExt cx="987372" cy="987373"/>
            </a:xfrm>
          </p:grpSpPr>
          <p:sp>
            <p:nvSpPr>
              <p:cNvPr id="9265" name="Oval 9264">
                <a:extLst>
                  <a:ext uri="{FF2B5EF4-FFF2-40B4-BE49-F238E27FC236}">
                    <a16:creationId xmlns:a16="http://schemas.microsoft.com/office/drawing/2014/main" id="{9F66AAFC-48D9-1E79-21DB-D3EBEFC731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319250" y="3749675"/>
                <a:ext cx="987372" cy="987373"/>
              </a:xfrm>
              <a:prstGeom prst="ellipse">
                <a:avLst/>
              </a:prstGeom>
              <a:solidFill>
                <a:srgbClr val="3925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9266" name="Graphic 9265" descr="User outline">
                <a:extLst>
                  <a:ext uri="{FF2B5EF4-FFF2-40B4-BE49-F238E27FC236}">
                    <a16:creationId xmlns:a16="http://schemas.microsoft.com/office/drawing/2014/main" id="{7882FDC0-80F4-E2ED-5961-990A734C0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417731" y="3848412"/>
                <a:ext cx="789898" cy="789898"/>
              </a:xfrm>
              <a:prstGeom prst="rect">
                <a:avLst/>
              </a:prstGeom>
            </p:spPr>
          </p:pic>
        </p:grpSp>
        <p:sp>
          <p:nvSpPr>
            <p:cNvPr id="9267" name="Rounded Rectangle 9266">
              <a:extLst>
                <a:ext uri="{FF2B5EF4-FFF2-40B4-BE49-F238E27FC236}">
                  <a16:creationId xmlns:a16="http://schemas.microsoft.com/office/drawing/2014/main" id="{C7E38DE3-4AE0-D3CA-2ED3-D5DFDF75CAFE}"/>
                </a:ext>
              </a:extLst>
            </p:cNvPr>
            <p:cNvSpPr/>
            <p:nvPr/>
          </p:nvSpPr>
          <p:spPr>
            <a:xfrm>
              <a:off x="15054546" y="8361388"/>
              <a:ext cx="2206031" cy="9144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Canal fechado</a:t>
              </a:r>
            </a:p>
          </p:txBody>
        </p:sp>
        <p:cxnSp>
          <p:nvCxnSpPr>
            <p:cNvPr id="9268" name="Straight Arrow Connector 9267">
              <a:extLst>
                <a:ext uri="{FF2B5EF4-FFF2-40B4-BE49-F238E27FC236}">
                  <a16:creationId xmlns:a16="http://schemas.microsoft.com/office/drawing/2014/main" id="{3D3711DE-9185-57A4-5A51-2CE348ECA432}"/>
                </a:ext>
              </a:extLst>
            </p:cNvPr>
            <p:cNvCxnSpPr>
              <a:cxnSpLocks/>
            </p:cNvCxnSpPr>
            <p:nvPr/>
          </p:nvCxnSpPr>
          <p:spPr>
            <a:xfrm>
              <a:off x="17519650" y="8812026"/>
              <a:ext cx="12954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9" name="Straight Arrow Connector 9268">
              <a:extLst>
                <a:ext uri="{FF2B5EF4-FFF2-40B4-BE49-F238E27FC236}">
                  <a16:creationId xmlns:a16="http://schemas.microsoft.com/office/drawing/2014/main" id="{FC3E4F9C-1AE7-77EA-B5CF-9A876D21B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3450" y="8812026"/>
              <a:ext cx="12954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270" name="Picture 6" descr="Bitcoin Logo, symbol, meaning, history, PNG, brand">
              <a:extLst>
                <a:ext uri="{FF2B5EF4-FFF2-40B4-BE49-F238E27FC236}">
                  <a16:creationId xmlns:a16="http://schemas.microsoft.com/office/drawing/2014/main" id="{C565F4D7-910D-C504-6DD6-AF7A2F334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48250" y="8240519"/>
              <a:ext cx="885602" cy="498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71" name="Picture 6" descr="Bitcoin Logo, symbol, meaning, history, PNG, brand">
              <a:extLst>
                <a:ext uri="{FF2B5EF4-FFF2-40B4-BE49-F238E27FC236}">
                  <a16:creationId xmlns:a16="http://schemas.microsoft.com/office/drawing/2014/main" id="{A1DB93ED-995B-D45F-2625-4B24157075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95436" y="8240519"/>
              <a:ext cx="885602" cy="498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272" name="Group 9271">
              <a:extLst>
                <a:ext uri="{FF2B5EF4-FFF2-40B4-BE49-F238E27FC236}">
                  <a16:creationId xmlns:a16="http://schemas.microsoft.com/office/drawing/2014/main" id="{5CA3A1FD-0B54-503D-9232-20099E267CFD}"/>
                </a:ext>
              </a:extLst>
            </p:cNvPr>
            <p:cNvGrpSpPr/>
            <p:nvPr/>
          </p:nvGrpSpPr>
          <p:grpSpPr>
            <a:xfrm>
              <a:off x="12485356" y="3031072"/>
              <a:ext cx="987372" cy="987373"/>
              <a:chOff x="6106457" y="6919833"/>
              <a:chExt cx="900000" cy="900000"/>
            </a:xfrm>
          </p:grpSpPr>
          <p:sp>
            <p:nvSpPr>
              <p:cNvPr id="9273" name="Oval 9272">
                <a:extLst>
                  <a:ext uri="{FF2B5EF4-FFF2-40B4-BE49-F238E27FC236}">
                    <a16:creationId xmlns:a16="http://schemas.microsoft.com/office/drawing/2014/main" id="{9F46A9C6-6591-B033-4305-39CE5E2FA3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06457" y="6919833"/>
                <a:ext cx="900000" cy="900000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9274" name="Graphic 9273" descr="User outline">
                <a:extLst>
                  <a:ext uri="{FF2B5EF4-FFF2-40B4-BE49-F238E27FC236}">
                    <a16:creationId xmlns:a16="http://schemas.microsoft.com/office/drawing/2014/main" id="{5DD65A7F-1958-AB53-173C-35074123E3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196457" y="700385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9275" name="Group 9274">
              <a:extLst>
                <a:ext uri="{FF2B5EF4-FFF2-40B4-BE49-F238E27FC236}">
                  <a16:creationId xmlns:a16="http://schemas.microsoft.com/office/drawing/2014/main" id="{81270C7F-FE94-440B-9F61-DA22027F7DCA}"/>
                </a:ext>
              </a:extLst>
            </p:cNvPr>
            <p:cNvGrpSpPr/>
            <p:nvPr/>
          </p:nvGrpSpPr>
          <p:grpSpPr>
            <a:xfrm>
              <a:off x="19106085" y="3031072"/>
              <a:ext cx="987372" cy="987373"/>
              <a:chOff x="14319250" y="3749675"/>
              <a:chExt cx="987372" cy="987373"/>
            </a:xfrm>
          </p:grpSpPr>
          <p:sp>
            <p:nvSpPr>
              <p:cNvPr id="9276" name="Oval 9275">
                <a:extLst>
                  <a:ext uri="{FF2B5EF4-FFF2-40B4-BE49-F238E27FC236}">
                    <a16:creationId xmlns:a16="http://schemas.microsoft.com/office/drawing/2014/main" id="{0864D6F5-166F-F133-C9F7-2C9F5AD795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319250" y="3749675"/>
                <a:ext cx="987372" cy="987373"/>
              </a:xfrm>
              <a:prstGeom prst="ellipse">
                <a:avLst/>
              </a:prstGeom>
              <a:solidFill>
                <a:srgbClr val="3925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9277" name="Graphic 9276" descr="User outline">
                <a:extLst>
                  <a:ext uri="{FF2B5EF4-FFF2-40B4-BE49-F238E27FC236}">
                    <a16:creationId xmlns:a16="http://schemas.microsoft.com/office/drawing/2014/main" id="{C35B61AB-147A-B559-A505-039309FB5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417731" y="3848412"/>
                <a:ext cx="789898" cy="789898"/>
              </a:xfrm>
              <a:prstGeom prst="rect">
                <a:avLst/>
              </a:prstGeom>
            </p:spPr>
          </p:pic>
        </p:grpSp>
        <p:sp>
          <p:nvSpPr>
            <p:cNvPr id="9278" name="Rounded Rectangle 9277">
              <a:extLst>
                <a:ext uri="{FF2B5EF4-FFF2-40B4-BE49-F238E27FC236}">
                  <a16:creationId xmlns:a16="http://schemas.microsoft.com/office/drawing/2014/main" id="{77A63D3B-0C6C-A6CF-D741-FAC4D797F060}"/>
                </a:ext>
              </a:extLst>
            </p:cNvPr>
            <p:cNvSpPr/>
            <p:nvPr/>
          </p:nvSpPr>
          <p:spPr>
            <a:xfrm>
              <a:off x="15054546" y="3067558"/>
              <a:ext cx="2206031" cy="9144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Canal </a:t>
              </a:r>
              <a:r>
                <a:rPr lang="pt-PT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lightning</a:t>
              </a:r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estabelecido</a:t>
              </a:r>
            </a:p>
          </p:txBody>
        </p:sp>
        <p:cxnSp>
          <p:nvCxnSpPr>
            <p:cNvPr id="9279" name="Straight Arrow Connector 9278">
              <a:extLst>
                <a:ext uri="{FF2B5EF4-FFF2-40B4-BE49-F238E27FC236}">
                  <a16:creationId xmlns:a16="http://schemas.microsoft.com/office/drawing/2014/main" id="{43519B87-BE39-B714-D65D-845D8379D9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19650" y="3518196"/>
              <a:ext cx="12954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0" name="Straight Arrow Connector 9279">
              <a:extLst>
                <a:ext uri="{FF2B5EF4-FFF2-40B4-BE49-F238E27FC236}">
                  <a16:creationId xmlns:a16="http://schemas.microsoft.com/office/drawing/2014/main" id="{A3B56E9B-EAA5-4571-C982-A283FF470C39}"/>
                </a:ext>
              </a:extLst>
            </p:cNvPr>
            <p:cNvCxnSpPr/>
            <p:nvPr/>
          </p:nvCxnSpPr>
          <p:spPr>
            <a:xfrm>
              <a:off x="13633450" y="3518196"/>
              <a:ext cx="12954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281" name="Picture 6" descr="Bitcoin Logo, symbol, meaning, history, PNG, brand">
              <a:extLst>
                <a:ext uri="{FF2B5EF4-FFF2-40B4-BE49-F238E27FC236}">
                  <a16:creationId xmlns:a16="http://schemas.microsoft.com/office/drawing/2014/main" id="{A88EEAB6-64BA-C748-D199-37C53611B4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48250" y="2946689"/>
              <a:ext cx="885602" cy="498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82" name="Picture 6" descr="Bitcoin Logo, symbol, meaning, history, PNG, brand">
              <a:extLst>
                <a:ext uri="{FF2B5EF4-FFF2-40B4-BE49-F238E27FC236}">
                  <a16:creationId xmlns:a16="http://schemas.microsoft.com/office/drawing/2014/main" id="{77DA3B99-E41B-892B-1A9C-006F644316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95436" y="2946689"/>
              <a:ext cx="885602" cy="498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283" name="TextBox 9282">
              <a:extLst>
                <a:ext uri="{FF2B5EF4-FFF2-40B4-BE49-F238E27FC236}">
                  <a16:creationId xmlns:a16="http://schemas.microsoft.com/office/drawing/2014/main" id="{6C6FED33-D476-0EE8-148A-C04361D4D2C8}"/>
                </a:ext>
              </a:extLst>
            </p:cNvPr>
            <p:cNvSpPr txBox="1"/>
            <p:nvPr/>
          </p:nvSpPr>
          <p:spPr>
            <a:xfrm>
              <a:off x="13754771" y="2618343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0.1BTC</a:t>
              </a:r>
            </a:p>
          </p:txBody>
        </p:sp>
        <p:sp>
          <p:nvSpPr>
            <p:cNvPr id="9284" name="TextBox 9283">
              <a:extLst>
                <a:ext uri="{FF2B5EF4-FFF2-40B4-BE49-F238E27FC236}">
                  <a16:creationId xmlns:a16="http://schemas.microsoft.com/office/drawing/2014/main" id="{B8B6D610-BCCC-3DC6-017A-8B858E60D57C}"/>
                </a:ext>
              </a:extLst>
            </p:cNvPr>
            <p:cNvSpPr txBox="1"/>
            <p:nvPr/>
          </p:nvSpPr>
          <p:spPr>
            <a:xfrm>
              <a:off x="17683884" y="2617457"/>
              <a:ext cx="931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0.4BTC</a:t>
              </a:r>
            </a:p>
          </p:txBody>
        </p:sp>
        <p:sp>
          <p:nvSpPr>
            <p:cNvPr id="9285" name="TextBox 9284">
              <a:extLst>
                <a:ext uri="{FF2B5EF4-FFF2-40B4-BE49-F238E27FC236}">
                  <a16:creationId xmlns:a16="http://schemas.microsoft.com/office/drawing/2014/main" id="{C4A70C92-9F5B-8B46-65E3-3C8965460ADD}"/>
                </a:ext>
              </a:extLst>
            </p:cNvPr>
            <p:cNvSpPr txBox="1"/>
            <p:nvPr/>
          </p:nvSpPr>
          <p:spPr>
            <a:xfrm>
              <a:off x="13706680" y="7911288"/>
              <a:ext cx="1063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0.25BTC</a:t>
              </a:r>
            </a:p>
          </p:txBody>
        </p:sp>
        <p:sp>
          <p:nvSpPr>
            <p:cNvPr id="9286" name="TextBox 9285">
              <a:extLst>
                <a:ext uri="{FF2B5EF4-FFF2-40B4-BE49-F238E27FC236}">
                  <a16:creationId xmlns:a16="http://schemas.microsoft.com/office/drawing/2014/main" id="{B28278E2-5671-18AE-9616-5D31A4903B36}"/>
                </a:ext>
              </a:extLst>
            </p:cNvPr>
            <p:cNvSpPr txBox="1"/>
            <p:nvPr/>
          </p:nvSpPr>
          <p:spPr>
            <a:xfrm>
              <a:off x="17658275" y="7911286"/>
              <a:ext cx="1063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0.25BTC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9618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7D4C-1BEB-5425-2C26-A59F0B9F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6300" dirty="0"/>
              <a:t>8.5 Comprar café e mercearias com bitcoin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49374-A9D7-2F3B-4E89-50DA5277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4" y="2301875"/>
            <a:ext cx="6840535" cy="8405811"/>
          </a:xfrm>
        </p:spPr>
        <p:txBody>
          <a:bodyPr>
            <a:normAutofit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/>
              <a:t>Os pagamentos com cartões ou apps parecem simples, mas envolvem muitos intermediários e taxas elevadas, que podem ultrapassar 3% do valor da venda, além das taxas de câmbio.</a:t>
            </a:r>
          </a:p>
        </p:txBody>
      </p:sp>
      <p:pic>
        <p:nvPicPr>
          <p:cNvPr id="37" name="Picture 36" descr="A diagram of a diagram of a bank&#10;&#10;AI-generated content may be incorrect.">
            <a:extLst>
              <a:ext uri="{FF2B5EF4-FFF2-40B4-BE49-F238E27FC236}">
                <a16:creationId xmlns:a16="http://schemas.microsoft.com/office/drawing/2014/main" id="{D1113697-F542-0F00-30E3-25AA752F2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986" y="3063875"/>
            <a:ext cx="9677400" cy="6156000"/>
          </a:xfrm>
          <a:prstGeom prst="rect">
            <a:avLst/>
          </a:prstGeom>
        </p:spPr>
      </p:pic>
      <p:pic>
        <p:nvPicPr>
          <p:cNvPr id="43" name="Picture 42" descr="A screenshot of a phone&#10;&#10;AI-generated content may be incorrect.">
            <a:extLst>
              <a:ext uri="{FF2B5EF4-FFF2-40B4-BE49-F238E27FC236}">
                <a16:creationId xmlns:a16="http://schemas.microsoft.com/office/drawing/2014/main" id="{C1065C65-84EE-2C22-51CA-ED7D0AFBC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931" y="8131175"/>
            <a:ext cx="63881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28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E733-5C3E-4A82-D99F-2BA9DE4A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1058075"/>
            <a:ext cx="17338675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8.5.1 Online: Plug-ins de pagamento – Comércio eletrónico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EC83-7079-F4B9-2917-519496F69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140075"/>
            <a:ext cx="9126537" cy="7567611"/>
          </a:xfrm>
        </p:spPr>
        <p:txBody>
          <a:bodyPr>
            <a:normAutofit fontScale="92500"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O </a:t>
            </a:r>
            <a:r>
              <a:rPr lang="pt-PT" dirty="0" err="1"/>
              <a:t>BTCPay</a:t>
            </a:r>
            <a:r>
              <a:rPr lang="pt-PT" dirty="0"/>
              <a:t> Server é um processador de pagamentos de código aberto que permite aceitar pagamentos em bitcoin de forma gratuita e sem comissões.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Fácil de integrar em sites através de um plug-in e não exige grandes conhecimentos técnicos.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É um projeto comunitário, qualquer pessoa pode contribuir para o seu desenvolvimento.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B9D0F0-AEC3-D5FE-24B4-30F33718B0C8}"/>
              </a:ext>
            </a:extLst>
          </p:cNvPr>
          <p:cNvGrpSpPr/>
          <p:nvPr/>
        </p:nvGrpSpPr>
        <p:grpSpPr>
          <a:xfrm>
            <a:off x="11728450" y="3509099"/>
            <a:ext cx="11923164" cy="6707251"/>
            <a:chOff x="11728450" y="3509099"/>
            <a:chExt cx="11923164" cy="6707251"/>
          </a:xfrm>
        </p:grpSpPr>
        <p:pic>
          <p:nvPicPr>
            <p:cNvPr id="10242" name="Picture 2" descr="BTCPay Server: Accept Bitcoin Payments without fees">
              <a:extLst>
                <a:ext uri="{FF2B5EF4-FFF2-40B4-BE49-F238E27FC236}">
                  <a16:creationId xmlns:a16="http://schemas.microsoft.com/office/drawing/2014/main" id="{0E302E70-8BC9-C31C-8671-75F10309F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28450" y="3509099"/>
              <a:ext cx="11923164" cy="6707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C649257-2777-701C-67FB-532F9FB56C99}"/>
                </a:ext>
              </a:extLst>
            </p:cNvPr>
            <p:cNvSpPr/>
            <p:nvPr/>
          </p:nvSpPr>
          <p:spPr>
            <a:xfrm>
              <a:off x="15919450" y="8321675"/>
              <a:ext cx="7391400" cy="1676400"/>
            </a:xfrm>
            <a:prstGeom prst="rect">
              <a:avLst/>
            </a:prstGeom>
            <a:solidFill>
              <a:srgbClr val="5AB6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350991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40E99-6A22-8113-C5F5-773A6B7B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11D29-B4EC-F305-0F65-C0C51736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1058075"/>
            <a:ext cx="17338675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8.5.2 Presencialmente: Encontra um comerciante na tua área de residência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C5A3-7A3C-12C1-7D1A-3B6CB2660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4283075"/>
            <a:ext cx="9126537" cy="6248400"/>
          </a:xfrm>
        </p:spPr>
        <p:txBody>
          <a:bodyPr>
            <a:normAutofit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Lojas físicas podem usar o </a:t>
            </a:r>
            <a:r>
              <a:rPr lang="pt-PT" dirty="0" err="1"/>
              <a:t>BTCPay</a:t>
            </a:r>
            <a:r>
              <a:rPr lang="pt-PT" dirty="0"/>
              <a:t> Server para aceitar pagamentos.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Também podem usar uma carteira Bitcoin no telemóvel para receber pagamentos diretamente.</a:t>
            </a:r>
          </a:p>
        </p:txBody>
      </p:sp>
      <p:pic>
        <p:nvPicPr>
          <p:cNvPr id="11266" name="Picture 2" descr="2 Adesivos Aceitamos Bitcoin Criptomoeda Cripto Vitrine Loja | MercadoLivre">
            <a:extLst>
              <a:ext uri="{FF2B5EF4-FFF2-40B4-BE49-F238E27FC236}">
                <a16:creationId xmlns:a16="http://schemas.microsoft.com/office/drawing/2014/main" id="{A3B23445-7E78-76A8-7B44-AF0C1E501E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5" b="6306"/>
          <a:stretch>
            <a:fillRect/>
          </a:stretch>
        </p:blipFill>
        <p:spPr bwMode="auto">
          <a:xfrm>
            <a:off x="10890250" y="4346169"/>
            <a:ext cx="7797800" cy="458510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94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899A-CFE9-3C7D-A398-7C234A35A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07682-6AFA-EF4C-5450-5B013204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1058075"/>
            <a:ext cx="17338675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8.5.2 Presencialmente: Encontra um comerciante na tua área de residência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B78F8-F6A9-B9FC-7929-B8886675E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292475"/>
            <a:ext cx="17338675" cy="6248400"/>
          </a:xfrm>
        </p:spPr>
        <p:txBody>
          <a:bodyPr>
            <a:normAutofit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dirty="0"/>
              <a:t>O </a:t>
            </a:r>
            <a:r>
              <a:rPr lang="pt-PT" dirty="0" err="1"/>
              <a:t>BTCMap.org</a:t>
            </a:r>
            <a:r>
              <a:rPr lang="pt-PT" dirty="0"/>
              <a:t> é um mapa de código aberto onde negócios podem registar-se e divulgar que aceitam pagamentos em bitcoin.</a:t>
            </a:r>
          </a:p>
        </p:txBody>
      </p:sp>
      <p:pic>
        <p:nvPicPr>
          <p:cNvPr id="7" name="Picture 6" descr="A map of a island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C4D9FA5A-9C2C-3FA7-8C73-21E13FBF90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" r="974" b="2701"/>
          <a:stretch>
            <a:fillRect/>
          </a:stretch>
        </p:blipFill>
        <p:spPr>
          <a:xfrm>
            <a:off x="5099050" y="5349876"/>
            <a:ext cx="9906000" cy="56388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663793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3F26-7895-8B8D-1401-6192829A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5FAD-7F96-A325-621E-2559E8C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1058075"/>
            <a:ext cx="17338675" cy="1472400"/>
          </a:xfrm>
        </p:spPr>
        <p:txBody>
          <a:bodyPr>
            <a:noAutofit/>
          </a:bodyPr>
          <a:lstStyle/>
          <a:p>
            <a:r>
              <a:rPr lang="pt-PT" sz="6400" dirty="0"/>
              <a:t>8.5.3 Ferramentas de transição: vales, cartões de oferta e cartões de pagamento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D30F7-C55F-4A5E-43E6-DFB0D3528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292475"/>
            <a:ext cx="9126537" cy="6958800"/>
          </a:xfrm>
        </p:spPr>
        <p:txBody>
          <a:bodyPr>
            <a:normAutofit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É possível usar cartões de oferta como ferramenta intermediária para gastar bitcoin em lojas que ainda não o aceitam.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Algumas empresas vendem vales e cartões de pagamento em troca de bitcoin.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Assim, podes comprar viagens, hotéis, jogos ou outros produtos usando bitcoin indiretamente.</a:t>
            </a:r>
          </a:p>
        </p:txBody>
      </p:sp>
      <p:pic>
        <p:nvPicPr>
          <p:cNvPr id="1026" name="Picture 2" descr="Who Accepts Bitcoin or Other Crypto as Payment? - Material Bitcoin">
            <a:extLst>
              <a:ext uri="{FF2B5EF4-FFF2-40B4-BE49-F238E27FC236}">
                <a16:creationId xmlns:a16="http://schemas.microsoft.com/office/drawing/2014/main" id="{6E92B445-026A-8C5F-84C8-75F98DB97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1850" y="3978275"/>
            <a:ext cx="5959475" cy="59594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022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786E2-DB5D-7023-4910-29EC222E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6585F-66AA-C2EF-1803-10B477EE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1058075"/>
            <a:ext cx="17338675" cy="1472400"/>
          </a:xfrm>
        </p:spPr>
        <p:txBody>
          <a:bodyPr>
            <a:noAutofit/>
          </a:bodyPr>
          <a:lstStyle/>
          <a:p>
            <a:r>
              <a:rPr lang="pt-PT" sz="6400" dirty="0"/>
              <a:t>8.5.4 Economias circulares e o bitcoin como meio de troca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1C960-C319-B4B0-CD4E-868F575CD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292475"/>
            <a:ext cx="9126537" cy="6958800"/>
          </a:xfrm>
        </p:spPr>
        <p:txBody>
          <a:bodyPr>
            <a:normAutofit fontScale="85000" lnSpcReduction="20000"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Uma economia circular Bitcoin promove o uso exclusivo de bitcoin como meio de troca, mantendo o valor dentro da comunidade.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A rede </a:t>
            </a:r>
            <a:r>
              <a:rPr lang="pt-PT" dirty="0" err="1"/>
              <a:t>Lightning</a:t>
            </a:r>
            <a:r>
              <a:rPr lang="pt-PT" dirty="0"/>
              <a:t> permite transações rápidas e baratas, facilitando o crescimento destas economias.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Exemplos pioneiros incluem Arnhem (Países Baixos) e Bitcoin </a:t>
            </a:r>
            <a:r>
              <a:rPr lang="pt-PT" dirty="0" err="1"/>
              <a:t>Beach</a:t>
            </a:r>
            <a:r>
              <a:rPr lang="pt-PT" dirty="0"/>
              <a:t> (El Zonte, El Salvador).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Estão a surgir centenas de economias circulares no mundo todo.</a:t>
            </a:r>
          </a:p>
        </p:txBody>
      </p:sp>
      <p:pic>
        <p:nvPicPr>
          <p:cNvPr id="2050" name="Picture 2" descr="r/Bitcoin - The Bitcoin Circular Economy Big Bang">
            <a:extLst>
              <a:ext uri="{FF2B5EF4-FFF2-40B4-BE49-F238E27FC236}">
                <a16:creationId xmlns:a16="http://schemas.microsoft.com/office/drawing/2014/main" id="{11F44490-B8B2-408F-BCCF-D938EB8D7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5050" y="4283075"/>
            <a:ext cx="8128000" cy="45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936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2335</TotalTime>
  <Words>1056</Words>
  <Application>Microsoft Macintosh PowerPoint</Application>
  <PresentationFormat>Custom</PresentationFormat>
  <Paragraphs>120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Open Sans</vt:lpstr>
      <vt:lpstr>Open Sans Light</vt:lpstr>
      <vt:lpstr>Ubuntu Light</vt:lpstr>
      <vt:lpstr>1_Custom Design</vt:lpstr>
      <vt:lpstr>Rede Lightning: Usar bitcoin no dia a dia</vt:lpstr>
      <vt:lpstr>8.0 Introdução</vt:lpstr>
      <vt:lpstr>8.1 A rede Lightning</vt:lpstr>
      <vt:lpstr>8.1 A rede Lightning</vt:lpstr>
      <vt:lpstr>8.1 A rede Lightning</vt:lpstr>
      <vt:lpstr>8.2 Diferentes tipos de carteiras Lightning</vt:lpstr>
      <vt:lpstr>8.2 Diferentes tipos de carteiras Lightning</vt:lpstr>
      <vt:lpstr>8.3 Configurar uma carteira de Bitcoin Lightning</vt:lpstr>
      <vt:lpstr>8.4 Receber e enviar transações Lightning</vt:lpstr>
      <vt:lpstr>8.4 Receber e enviar transações Lightning</vt:lpstr>
      <vt:lpstr>8.4 Receber e enviar transações Lightning</vt:lpstr>
      <vt:lpstr>8.5 Comprar café e mercearias com bitcoin</vt:lpstr>
      <vt:lpstr>8.5.1 Online: Plug-ins de pagamento – Comércio eletrónico</vt:lpstr>
      <vt:lpstr>8.5.2 Presencialmente: Encontra um comerciante na tua área de residência</vt:lpstr>
      <vt:lpstr>8.5.2 Presencialmente: Encontra um comerciante na tua área de residência</vt:lpstr>
      <vt:lpstr>8.5.3 Ferramentas de transição: vales, cartões de oferta e cartões de pagamento</vt:lpstr>
      <vt:lpstr>8.5.4 Economias circulares e o bitcoin como meio de troca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200</cp:revision>
  <dcterms:created xsi:type="dcterms:W3CDTF">2024-11-12T03:26:48Z</dcterms:created>
  <dcterms:modified xsi:type="dcterms:W3CDTF">2025-10-29T15:39:08Z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