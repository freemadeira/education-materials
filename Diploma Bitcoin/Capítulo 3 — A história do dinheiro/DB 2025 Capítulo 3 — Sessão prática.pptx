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8" r:id="rId1"/>
  </p:sldMasterIdLst>
  <p:notesMasterIdLst>
    <p:notesMasterId r:id="rId11"/>
  </p:notesMasterIdLst>
  <p:sldIdLst>
    <p:sldId id="260" r:id="rId2"/>
    <p:sldId id="278" r:id="rId3"/>
    <p:sldId id="273" r:id="rId4"/>
    <p:sldId id="274" r:id="rId5"/>
    <p:sldId id="281" r:id="rId6"/>
    <p:sldId id="282" r:id="rId7"/>
    <p:sldId id="275" r:id="rId8"/>
    <p:sldId id="269" r:id="rId9"/>
    <p:sldId id="268" r:id="rId10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BB040"/>
    <a:srgbClr val="58595B"/>
    <a:srgbClr val="E4E0FD"/>
    <a:srgbClr val="392569"/>
    <a:srgbClr val="161346"/>
    <a:srgbClr val="0C4C24"/>
    <a:srgbClr val="653B93"/>
    <a:srgbClr val="FEFEFF"/>
    <a:srgbClr val="F1E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14"/>
    <p:restoredTop sz="92259"/>
  </p:normalViewPr>
  <p:slideViewPr>
    <p:cSldViewPr>
      <p:cViewPr varScale="1">
        <p:scale>
          <a:sx n="61" d="100"/>
          <a:sy n="61" d="100"/>
        </p:scale>
        <p:origin x="1168" y="20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806190-753F-B441-B6BD-4CD1B6C676A4}" type="datetimeFigureOut">
              <a:rPr lang="en-PT" smtClean="0"/>
              <a:t>11/10/2025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2BDFA0-B2CB-F643-A7D4-44C1F02A8D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07679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3">
            <a:extLst>
              <a:ext uri="{FF2B5EF4-FFF2-40B4-BE49-F238E27FC236}">
                <a16:creationId xmlns:a16="http://schemas.microsoft.com/office/drawing/2014/main" id="{8989FBFA-0A59-F895-70E1-7D2A78E89463}"/>
              </a:ext>
            </a:extLst>
          </p:cNvPr>
          <p:cNvSpPr txBox="1"/>
          <p:nvPr userDrawn="1"/>
        </p:nvSpPr>
        <p:spPr>
          <a:xfrm>
            <a:off x="15919450" y="10284003"/>
            <a:ext cx="2790723" cy="414857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12700" algn="r">
              <a:spcBef>
                <a:spcPts val="595"/>
              </a:spcBef>
            </a:pPr>
            <a:r>
              <a:rPr lang="pt-PT" sz="2200" b="1" i="1" dirty="0">
                <a:solidFill>
                  <a:srgbClr val="FFFFFF"/>
                </a:solidFill>
                <a:latin typeface="Open Sans"/>
                <a:cs typeface="Open Sans"/>
              </a:rPr>
              <a:t>2025</a:t>
            </a:r>
            <a:endParaRPr sz="1650" dirty="0">
              <a:latin typeface="Open Sans Light"/>
              <a:cs typeface="Open Sans Light"/>
            </a:endParaRPr>
          </a:p>
        </p:txBody>
      </p:sp>
      <p:pic>
        <p:nvPicPr>
          <p:cNvPr id="11" name="object 4">
            <a:extLst>
              <a:ext uri="{FF2B5EF4-FFF2-40B4-BE49-F238E27FC236}">
                <a16:creationId xmlns:a16="http://schemas.microsoft.com/office/drawing/2014/main" id="{614F2C05-B827-E769-869E-A3BF56A914E1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7461636" y="9540875"/>
            <a:ext cx="1273721" cy="678795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B713F4C0-5C97-2B8D-A32C-F48226619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9548" y="1642219"/>
            <a:ext cx="17338675" cy="1463700"/>
          </a:xfrm>
        </p:spPr>
        <p:txBody>
          <a:bodyPr anchor="t">
            <a:normAutofit/>
          </a:bodyPr>
          <a:lstStyle>
            <a:lvl1pPr>
              <a:defRPr lang="en-PT" sz="7400" b="1" i="0" kern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2E312E16-9584-D7B3-7B88-21458C9FBADE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1383517" y="601663"/>
            <a:ext cx="17313491" cy="97622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lang="en-PT" sz="5800" b="0" i="0" dirty="0">
                <a:solidFill>
                  <a:schemeClr val="bg1"/>
                </a:solidFill>
                <a:latin typeface="Ubuntu Light"/>
                <a:ea typeface="+mj-ea"/>
                <a:cs typeface="Ubuntu Ligh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PT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5B12DCEC-016D-97EA-5E80-9A1084974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2" y="3368675"/>
            <a:ext cx="17338675" cy="73390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 sz="3200">
                <a:solidFill>
                  <a:schemeClr val="bg1"/>
                </a:solidFill>
              </a:defRPr>
            </a:lvl2pPr>
            <a:lvl3pPr marL="914400" indent="0">
              <a:buNone/>
              <a:defRPr sz="28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227383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1F7DA-DD75-4AF1-99D3-BACF7C5CA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3013" y="1851025"/>
            <a:ext cx="15078075" cy="3937000"/>
          </a:xfrm>
        </p:spPr>
        <p:txBody>
          <a:bodyPr anchor="b">
            <a:normAutofit/>
          </a:bodyPr>
          <a:lstStyle>
            <a:lvl1pPr algn="ctr">
              <a:defRPr lang="en-PT" sz="7400" b="1" i="0" kern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F8D16-9FCF-612A-CB90-38F6CEA14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3013" y="5940425"/>
            <a:ext cx="15078075" cy="27305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lang="en-PT" sz="5800" b="0" i="0" kern="1200" spc="-25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778572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4A01-9D54-73A9-7F54-31626191B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4"/>
            <a:ext cx="17338675" cy="14724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02D9D-896F-FB87-A8A7-DC5D858D4F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82713" y="2301875"/>
            <a:ext cx="8593137" cy="8405811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C2BF4-CC5D-4E9E-838E-93C00EABBF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28250" y="2301875"/>
            <a:ext cx="8593138" cy="8405811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6066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BF709-FAF1-2507-082C-24B92C7B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300" y="601663"/>
            <a:ext cx="17340263" cy="1472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PT"/>
            </a:lvl1pPr>
          </a:lstStyle>
          <a:p>
            <a:pPr lvl="0"/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E7870-07E7-9960-2FD7-CC65D9768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4300" y="2237964"/>
            <a:ext cx="8505825" cy="1080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lang="en-GB" sz="3200" b="1" i="0" kern="1200" dirty="0" smtClean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3CD55D-ADCF-8B08-2444-3E6F436EA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300" y="3481865"/>
            <a:ext cx="8505825" cy="7225822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B58E6B-9046-4406-1246-9D0D85EB35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177463" y="2237964"/>
            <a:ext cx="8547100" cy="1080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lang="en-GB" sz="3200" b="1" i="0" kern="1200" smtClean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4C1B51-CDD4-A4F7-DA9D-B40D1A3813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177463" y="3481865"/>
            <a:ext cx="8547100" cy="7225822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66560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CBE64-74E1-AAFB-2FEC-3C7C2808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246849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CBE64-74E1-AAFB-2FEC-3C7C2808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86287BF9-E319-1393-4A5E-804B9FC0B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3" y="2301875"/>
            <a:ext cx="17338675" cy="8405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799640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051E5-DEA9-6BF8-6F9B-EEE66AE7C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300" y="754063"/>
            <a:ext cx="8439150" cy="1364400"/>
          </a:xfrm>
        </p:spPr>
        <p:txBody>
          <a:bodyPr anchor="ctr">
            <a:noAutofit/>
          </a:bodyPr>
          <a:lstStyle>
            <a:lvl1pPr>
              <a:defRPr lang="en-PT" sz="7400" b="1" i="0" kern="1200" dirty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7653D5-7794-C41A-9DD6-3910C4EAAF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052050" y="1628775"/>
            <a:ext cx="8672513" cy="89265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T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1992960-9DC4-AC57-14E2-FE9C2142B8B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382713" y="2301875"/>
            <a:ext cx="8439151" cy="825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2410645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16938-309D-4211-98D7-1067DBDB07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 err="1"/>
              <a:t>Caixas</a:t>
            </a:r>
            <a:r>
              <a:rPr lang="en-GB" dirty="0"/>
              <a:t> de </a:t>
            </a:r>
            <a:r>
              <a:rPr lang="en-GB" dirty="0" err="1"/>
              <a:t>texto</a:t>
            </a:r>
            <a:endParaRPr lang="en-PT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3F8E8CE-5C66-BFF0-8EBA-AFCAC710C6D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441450" y="2225675"/>
            <a:ext cx="17230977" cy="4600756"/>
            <a:chOff x="2813050" y="4486266"/>
            <a:chExt cx="15308802" cy="408752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7D29E82-B7E4-1BE8-E299-86B33C4D5471}"/>
                </a:ext>
              </a:extLst>
            </p:cNvPr>
            <p:cNvSpPr/>
            <p:nvPr/>
          </p:nvSpPr>
          <p:spPr>
            <a:xfrm>
              <a:off x="2813050" y="4892675"/>
              <a:ext cx="15308802" cy="3339117"/>
            </a:xfrm>
            <a:prstGeom prst="roundRect">
              <a:avLst/>
            </a:prstGeom>
            <a:gradFill flip="none" rotWithShape="1">
              <a:gsLst>
                <a:gs pos="64000">
                  <a:srgbClr val="E4E0FD"/>
                </a:gs>
                <a:gs pos="22000">
                  <a:srgbClr val="F1EEFE"/>
                </a:gs>
                <a:gs pos="0">
                  <a:srgbClr val="FEFEFF"/>
                </a:gs>
              </a:gsLst>
              <a:lin ang="16200000" scaled="1"/>
              <a:tileRect/>
            </a:gradFill>
            <a:ln w="12700">
              <a:solidFill>
                <a:srgbClr val="6139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rIns="540000" rtlCol="0" anchor="ctr"/>
            <a:lstStyle/>
            <a:p>
              <a:pPr algn="ctr"/>
              <a:endParaRPr lang="en-GB" sz="3200" b="1" kern="1200" dirty="0">
                <a:solidFill>
                  <a:srgbClr val="FBB0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A58915-BF8B-865E-2A90-E53EDFD6E0C1}"/>
                </a:ext>
              </a:extLst>
            </p:cNvPr>
            <p:cNvGrpSpPr/>
            <p:nvPr/>
          </p:nvGrpSpPr>
          <p:grpSpPr>
            <a:xfrm>
              <a:off x="3339290" y="4486266"/>
              <a:ext cx="1113010" cy="684000"/>
              <a:chOff x="3117850" y="2659357"/>
              <a:chExt cx="1113010" cy="684000"/>
            </a:xfrm>
          </p:grpSpPr>
          <p:pic>
            <p:nvPicPr>
              <p:cNvPr id="9" name="object 10">
                <a:extLst>
                  <a:ext uri="{FF2B5EF4-FFF2-40B4-BE49-F238E27FC236}">
                    <a16:creationId xmlns:a16="http://schemas.microsoft.com/office/drawing/2014/main" id="{96F4CA46-016A-4A4A-D7A9-BB0AD2137AA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27450" y="2659357"/>
                <a:ext cx="503410" cy="684000"/>
              </a:xfrm>
              <a:prstGeom prst="rect">
                <a:avLst/>
              </a:prstGeom>
            </p:spPr>
          </p:pic>
          <p:pic>
            <p:nvPicPr>
              <p:cNvPr id="10" name="object 10">
                <a:extLst>
                  <a:ext uri="{FF2B5EF4-FFF2-40B4-BE49-F238E27FC236}">
                    <a16:creationId xmlns:a16="http://schemas.microsoft.com/office/drawing/2014/main" id="{73D0768D-76BA-0C17-37C3-4306316DE19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117850" y="2659357"/>
                <a:ext cx="503410" cy="684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8D3AAAC-924D-2E08-3F08-2FBEC9E4EDC1}"/>
                </a:ext>
              </a:extLst>
            </p:cNvPr>
            <p:cNvGrpSpPr/>
            <p:nvPr/>
          </p:nvGrpSpPr>
          <p:grpSpPr>
            <a:xfrm rot="10800000">
              <a:off x="16468044" y="7889792"/>
              <a:ext cx="1113010" cy="684000"/>
              <a:chOff x="3117850" y="2659357"/>
              <a:chExt cx="1113010" cy="684000"/>
            </a:xfrm>
          </p:grpSpPr>
          <p:pic>
            <p:nvPicPr>
              <p:cNvPr id="7" name="object 10">
                <a:extLst>
                  <a:ext uri="{FF2B5EF4-FFF2-40B4-BE49-F238E27FC236}">
                    <a16:creationId xmlns:a16="http://schemas.microsoft.com/office/drawing/2014/main" id="{49008B3A-3CD4-5144-57BC-BC850EC74CB5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27450" y="2659357"/>
                <a:ext cx="503410" cy="684000"/>
              </a:xfrm>
              <a:prstGeom prst="rect">
                <a:avLst/>
              </a:prstGeom>
            </p:spPr>
          </p:pic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AA2A24D8-7CD5-2334-B6D3-4C84B1D9CEE4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117850" y="2659357"/>
                <a:ext cx="503410" cy="684000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5623DCB-56B2-0700-16EE-D45981DA30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441450" y="6768919"/>
            <a:ext cx="17293152" cy="4448356"/>
            <a:chOff x="2432050" y="2478758"/>
            <a:chExt cx="15308802" cy="3937917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0CEF03E-A728-A527-B2E8-FAC006662993}"/>
                </a:ext>
              </a:extLst>
            </p:cNvPr>
            <p:cNvSpPr/>
            <p:nvPr/>
          </p:nvSpPr>
          <p:spPr>
            <a:xfrm>
              <a:off x="2432050" y="2811758"/>
              <a:ext cx="15308802" cy="3339117"/>
            </a:xfrm>
            <a:prstGeom prst="roundRect">
              <a:avLst/>
            </a:prstGeom>
            <a:gradFill flip="none" rotWithShape="1">
              <a:gsLst>
                <a:gs pos="7000">
                  <a:srgbClr val="161346"/>
                </a:gs>
                <a:gs pos="69000">
                  <a:srgbClr val="392569"/>
                </a:gs>
                <a:gs pos="99000">
                  <a:srgbClr val="653B93"/>
                </a:gs>
              </a:gsLst>
              <a:lin ang="10800000" scaled="1"/>
              <a:tileRect/>
            </a:gradFill>
            <a:ln w="12700">
              <a:solidFill>
                <a:srgbClr val="6139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rIns="540000" rtlCol="0" anchor="ctr"/>
            <a:lstStyle/>
            <a:p>
              <a:pPr algn="ctr"/>
              <a:endParaRPr lang="en-GB" sz="3200" b="1" kern="1200" dirty="0">
                <a:solidFill>
                  <a:srgbClr val="FBB0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3" name="object 16">
              <a:extLst>
                <a:ext uri="{FF2B5EF4-FFF2-40B4-BE49-F238E27FC236}">
                  <a16:creationId xmlns:a16="http://schemas.microsoft.com/office/drawing/2014/main" id="{B3CFF4FB-E36B-1EA1-B4E9-8FF0EC3C20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9250" y="2478758"/>
              <a:ext cx="1082250" cy="666000"/>
            </a:xfrm>
            <a:custGeom>
              <a:avLst/>
              <a:gdLst/>
              <a:ahLst/>
              <a:cxnLst/>
              <a:rect l="l" t="t" r="r" b="b"/>
              <a:pathLst>
                <a:path w="487044" h="299720">
                  <a:moveTo>
                    <a:pt x="220649" y="109423"/>
                  </a:moveTo>
                  <a:lnTo>
                    <a:pt x="211632" y="66548"/>
                  </a:lnTo>
                  <a:lnTo>
                    <a:pt x="187693" y="31673"/>
                  </a:lnTo>
                  <a:lnTo>
                    <a:pt x="152438" y="8318"/>
                  </a:lnTo>
                  <a:lnTo>
                    <a:pt x="109423" y="0"/>
                  </a:lnTo>
                  <a:lnTo>
                    <a:pt x="66548" y="9017"/>
                  </a:lnTo>
                  <a:lnTo>
                    <a:pt x="31673" y="32956"/>
                  </a:lnTo>
                  <a:lnTo>
                    <a:pt x="8318" y="68224"/>
                  </a:lnTo>
                  <a:lnTo>
                    <a:pt x="0" y="111239"/>
                  </a:lnTo>
                  <a:lnTo>
                    <a:pt x="368" y="119291"/>
                  </a:lnTo>
                  <a:lnTo>
                    <a:pt x="15646" y="178536"/>
                  </a:lnTo>
                  <a:lnTo>
                    <a:pt x="36449" y="220433"/>
                  </a:lnTo>
                  <a:lnTo>
                    <a:pt x="70332" y="261975"/>
                  </a:lnTo>
                  <a:lnTo>
                    <a:pt x="120472" y="297065"/>
                  </a:lnTo>
                  <a:lnTo>
                    <a:pt x="127469" y="299237"/>
                  </a:lnTo>
                  <a:lnTo>
                    <a:pt x="134632" y="299059"/>
                  </a:lnTo>
                  <a:lnTo>
                    <a:pt x="144462" y="255079"/>
                  </a:lnTo>
                  <a:lnTo>
                    <a:pt x="139217" y="243890"/>
                  </a:lnTo>
                  <a:lnTo>
                    <a:pt x="135013" y="231495"/>
                  </a:lnTo>
                  <a:lnTo>
                    <a:pt x="132664" y="218376"/>
                  </a:lnTo>
                  <a:lnTo>
                    <a:pt x="167817" y="204495"/>
                  </a:lnTo>
                  <a:lnTo>
                    <a:pt x="195783" y="180086"/>
                  </a:lnTo>
                  <a:lnTo>
                    <a:pt x="214198" y="147586"/>
                  </a:lnTo>
                  <a:lnTo>
                    <a:pt x="220649" y="109423"/>
                  </a:lnTo>
                  <a:close/>
                </a:path>
                <a:path w="487044" h="299720">
                  <a:moveTo>
                    <a:pt x="486829" y="110324"/>
                  </a:moveTo>
                  <a:lnTo>
                    <a:pt x="478167" y="67386"/>
                  </a:lnTo>
                  <a:lnTo>
                    <a:pt x="454520" y="32308"/>
                  </a:lnTo>
                  <a:lnTo>
                    <a:pt x="419455" y="8661"/>
                  </a:lnTo>
                  <a:lnTo>
                    <a:pt x="376516" y="0"/>
                  </a:lnTo>
                  <a:lnTo>
                    <a:pt x="333565" y="8661"/>
                  </a:lnTo>
                  <a:lnTo>
                    <a:pt x="298488" y="32308"/>
                  </a:lnTo>
                  <a:lnTo>
                    <a:pt x="274853" y="67386"/>
                  </a:lnTo>
                  <a:lnTo>
                    <a:pt x="266179" y="110324"/>
                  </a:lnTo>
                  <a:lnTo>
                    <a:pt x="266471" y="118376"/>
                  </a:lnTo>
                  <a:lnTo>
                    <a:pt x="281266" y="177749"/>
                  </a:lnTo>
                  <a:lnTo>
                    <a:pt x="301726" y="219811"/>
                  </a:lnTo>
                  <a:lnTo>
                    <a:pt x="335267" y="261632"/>
                  </a:lnTo>
                  <a:lnTo>
                    <a:pt x="385114" y="297141"/>
                  </a:lnTo>
                  <a:lnTo>
                    <a:pt x="392112" y="299364"/>
                  </a:lnTo>
                  <a:lnTo>
                    <a:pt x="399275" y="299250"/>
                  </a:lnTo>
                  <a:lnTo>
                    <a:pt x="409460" y="255346"/>
                  </a:lnTo>
                  <a:lnTo>
                    <a:pt x="404304" y="244119"/>
                  </a:lnTo>
                  <a:lnTo>
                    <a:pt x="400215" y="231698"/>
                  </a:lnTo>
                  <a:lnTo>
                    <a:pt x="397967" y="218567"/>
                  </a:lnTo>
                  <a:lnTo>
                    <a:pt x="433222" y="204965"/>
                  </a:lnTo>
                  <a:lnTo>
                    <a:pt x="461391" y="180797"/>
                  </a:lnTo>
                  <a:lnTo>
                    <a:pt x="480072" y="148437"/>
                  </a:lnTo>
                  <a:lnTo>
                    <a:pt x="486829" y="110324"/>
                  </a:lnTo>
                  <a:close/>
                </a:path>
              </a:pathLst>
            </a:custGeom>
            <a:solidFill>
              <a:srgbClr val="251B5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7">
              <a:extLst>
                <a:ext uri="{FF2B5EF4-FFF2-40B4-BE49-F238E27FC236}">
                  <a16:creationId xmlns:a16="http://schemas.microsoft.com/office/drawing/2014/main" id="{FD38801D-612D-53A9-E76A-87F1708446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148050" y="5751986"/>
              <a:ext cx="1080119" cy="664689"/>
            </a:xfrm>
            <a:custGeom>
              <a:avLst/>
              <a:gdLst/>
              <a:ahLst/>
              <a:cxnLst/>
              <a:rect l="l" t="t" r="r" b="b"/>
              <a:pathLst>
                <a:path w="487045" h="299720">
                  <a:moveTo>
                    <a:pt x="220649" y="110337"/>
                  </a:moveTo>
                  <a:lnTo>
                    <a:pt x="211988" y="67398"/>
                  </a:lnTo>
                  <a:lnTo>
                    <a:pt x="188341" y="32321"/>
                  </a:lnTo>
                  <a:lnTo>
                    <a:pt x="153263" y="8674"/>
                  </a:lnTo>
                  <a:lnTo>
                    <a:pt x="110324" y="0"/>
                  </a:lnTo>
                  <a:lnTo>
                    <a:pt x="67373" y="8674"/>
                  </a:lnTo>
                  <a:lnTo>
                    <a:pt x="32308" y="32321"/>
                  </a:lnTo>
                  <a:lnTo>
                    <a:pt x="8674" y="67398"/>
                  </a:lnTo>
                  <a:lnTo>
                    <a:pt x="0" y="110337"/>
                  </a:lnTo>
                  <a:lnTo>
                    <a:pt x="6769" y="148450"/>
                  </a:lnTo>
                  <a:lnTo>
                    <a:pt x="25438" y="180797"/>
                  </a:lnTo>
                  <a:lnTo>
                    <a:pt x="53619" y="204978"/>
                  </a:lnTo>
                  <a:lnTo>
                    <a:pt x="88861" y="218579"/>
                  </a:lnTo>
                  <a:lnTo>
                    <a:pt x="86626" y="231711"/>
                  </a:lnTo>
                  <a:lnTo>
                    <a:pt x="82524" y="244119"/>
                  </a:lnTo>
                  <a:lnTo>
                    <a:pt x="77368" y="255358"/>
                  </a:lnTo>
                  <a:lnTo>
                    <a:pt x="71970" y="264934"/>
                  </a:lnTo>
                  <a:lnTo>
                    <a:pt x="69164" y="271881"/>
                  </a:lnTo>
                  <a:lnTo>
                    <a:pt x="94729" y="299377"/>
                  </a:lnTo>
                  <a:lnTo>
                    <a:pt x="101714" y="297141"/>
                  </a:lnTo>
                  <a:lnTo>
                    <a:pt x="151561" y="261645"/>
                  </a:lnTo>
                  <a:lnTo>
                    <a:pt x="185102" y="219824"/>
                  </a:lnTo>
                  <a:lnTo>
                    <a:pt x="205562" y="177761"/>
                  </a:lnTo>
                  <a:lnTo>
                    <a:pt x="218084" y="133997"/>
                  </a:lnTo>
                  <a:lnTo>
                    <a:pt x="220357" y="118389"/>
                  </a:lnTo>
                  <a:lnTo>
                    <a:pt x="220649" y="110337"/>
                  </a:lnTo>
                  <a:close/>
                </a:path>
                <a:path w="487045" h="299720">
                  <a:moveTo>
                    <a:pt x="486829" y="111239"/>
                  </a:moveTo>
                  <a:lnTo>
                    <a:pt x="478510" y="68224"/>
                  </a:lnTo>
                  <a:lnTo>
                    <a:pt x="455155" y="32969"/>
                  </a:lnTo>
                  <a:lnTo>
                    <a:pt x="420281" y="9029"/>
                  </a:lnTo>
                  <a:lnTo>
                    <a:pt x="377418" y="12"/>
                  </a:lnTo>
                  <a:lnTo>
                    <a:pt x="334403" y="8331"/>
                  </a:lnTo>
                  <a:lnTo>
                    <a:pt x="299135" y="31686"/>
                  </a:lnTo>
                  <a:lnTo>
                    <a:pt x="275209" y="66560"/>
                  </a:lnTo>
                  <a:lnTo>
                    <a:pt x="266179" y="109435"/>
                  </a:lnTo>
                  <a:lnTo>
                    <a:pt x="272630" y="147599"/>
                  </a:lnTo>
                  <a:lnTo>
                    <a:pt x="291045" y="180098"/>
                  </a:lnTo>
                  <a:lnTo>
                    <a:pt x="319024" y="204508"/>
                  </a:lnTo>
                  <a:lnTo>
                    <a:pt x="354164" y="218376"/>
                  </a:lnTo>
                  <a:lnTo>
                    <a:pt x="351815" y="231508"/>
                  </a:lnTo>
                  <a:lnTo>
                    <a:pt x="347611" y="243890"/>
                  </a:lnTo>
                  <a:lnTo>
                    <a:pt x="342366" y="255092"/>
                  </a:lnTo>
                  <a:lnTo>
                    <a:pt x="336880" y="264617"/>
                  </a:lnTo>
                  <a:lnTo>
                    <a:pt x="334010" y="271538"/>
                  </a:lnTo>
                  <a:lnTo>
                    <a:pt x="359359" y="299237"/>
                  </a:lnTo>
                  <a:lnTo>
                    <a:pt x="366369" y="297065"/>
                  </a:lnTo>
                  <a:lnTo>
                    <a:pt x="416509" y="261975"/>
                  </a:lnTo>
                  <a:lnTo>
                    <a:pt x="450392" y="220446"/>
                  </a:lnTo>
                  <a:lnTo>
                    <a:pt x="471182" y="178549"/>
                  </a:lnTo>
                  <a:lnTo>
                    <a:pt x="484073" y="134886"/>
                  </a:lnTo>
                  <a:lnTo>
                    <a:pt x="486473" y="119291"/>
                  </a:lnTo>
                  <a:lnTo>
                    <a:pt x="486829" y="111239"/>
                  </a:lnTo>
                  <a:close/>
                </a:path>
              </a:pathLst>
            </a:custGeom>
            <a:solidFill>
              <a:srgbClr val="673C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42223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a yellow sun and black text&#10;&#10;AI-generated content may be incorrect.">
            <a:extLst>
              <a:ext uri="{FF2B5EF4-FFF2-40B4-BE49-F238E27FC236}">
                <a16:creationId xmlns:a16="http://schemas.microsoft.com/office/drawing/2014/main" id="{2C462808-59C4-0F22-BB9F-CCDF019BB6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850" y="3582035"/>
            <a:ext cx="7772400" cy="414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33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úvi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CE3253F-773F-42FB-EB13-8F960268D436}"/>
              </a:ext>
            </a:extLst>
          </p:cNvPr>
          <p:cNvSpPr txBox="1">
            <a:spLocks/>
          </p:cNvSpPr>
          <p:nvPr userDrawn="1"/>
        </p:nvSpPr>
        <p:spPr>
          <a:xfrm>
            <a:off x="1382713" y="4918870"/>
            <a:ext cx="17338675" cy="14716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PT" sz="7400" b="1" i="0" kern="1200" dirty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 err="1"/>
              <a:t>Esclarecimento</a:t>
            </a:r>
            <a:r>
              <a:rPr lang="en-GB" dirty="0"/>
              <a:t> de </a:t>
            </a:r>
            <a:r>
              <a:rPr lang="en-GB" dirty="0" err="1"/>
              <a:t>dúvidas</a:t>
            </a:r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D50785F-F9BE-8C2E-1CC4-AC143A747D6E}"/>
              </a:ext>
            </a:extLst>
          </p:cNvPr>
          <p:cNvGrpSpPr/>
          <p:nvPr userDrawn="1"/>
        </p:nvGrpSpPr>
        <p:grpSpPr>
          <a:xfrm>
            <a:off x="1382713" y="7788275"/>
            <a:ext cx="2819364" cy="3498604"/>
            <a:chOff x="10661650" y="7173860"/>
            <a:chExt cx="2819364" cy="3498604"/>
          </a:xfrm>
        </p:grpSpPr>
        <p:pic>
          <p:nvPicPr>
            <p:cNvPr id="2052" name="Picture 4" descr="Thinking Bubble, Thought, Creative Free PNG">
              <a:extLst>
                <a:ext uri="{FF2B5EF4-FFF2-40B4-BE49-F238E27FC236}">
                  <a16:creationId xmlns:a16="http://schemas.microsoft.com/office/drawing/2014/main" id="{6C240295-4B5D-5F2D-2499-C58A304CF1F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463873">
              <a:off x="12338014" y="7173860"/>
              <a:ext cx="1143000" cy="1209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object 49">
              <a:extLst>
                <a:ext uri="{FF2B5EF4-FFF2-40B4-BE49-F238E27FC236}">
                  <a16:creationId xmlns:a16="http://schemas.microsoft.com/office/drawing/2014/main" id="{3BF697C5-C66F-8CDC-DA2C-04341361A8CF}"/>
                </a:ext>
              </a:extLst>
            </p:cNvPr>
            <p:cNvPicPr/>
            <p:nvPr userDrawn="1"/>
          </p:nvPicPr>
          <p:blipFill>
            <a:blip r:embed="rId3" cstate="print"/>
            <a:stretch>
              <a:fillRect/>
            </a:stretch>
          </p:blipFill>
          <p:spPr>
            <a:xfrm>
              <a:off x="10661650" y="8093075"/>
              <a:ext cx="2134792" cy="257938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5D1189C-F066-647C-9B72-285F8BC82E36}"/>
                </a:ext>
              </a:extLst>
            </p:cNvPr>
            <p:cNvSpPr txBox="1"/>
            <p:nvPr userDrawn="1"/>
          </p:nvSpPr>
          <p:spPr>
            <a:xfrm>
              <a:off x="12719050" y="7323634"/>
              <a:ext cx="4572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T" sz="4000" b="1" i="0" kern="1200" dirty="0">
                  <a:solidFill>
                    <a:srgbClr val="58595B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9586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1F273-D823-AE26-1462-3E538D7D8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4"/>
            <a:ext cx="17338675" cy="14716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83DB76-D669-AFBE-4517-FAECCDB7E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2301875"/>
            <a:ext cx="17338675" cy="8405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108179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79" r:id="rId2"/>
    <p:sldLayoutId id="2147483682" r:id="rId3"/>
    <p:sldLayoutId id="2147483683" r:id="rId4"/>
    <p:sldLayoutId id="2147483684" r:id="rId5"/>
    <p:sldLayoutId id="2147483688" r:id="rId6"/>
    <p:sldLayoutId id="2147483687" r:id="rId7"/>
    <p:sldLayoutId id="2147483689" r:id="rId8"/>
    <p:sldLayoutId id="2147483690" r:id="rId9"/>
    <p:sldLayoutId id="214748369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PT" sz="7400" b="1" i="0" kern="1200" dirty="0">
          <a:solidFill>
            <a:srgbClr val="251B55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lang="en-PT" sz="2800" kern="1200" spc="-10" dirty="0" smtClean="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8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515B-A057-7374-4463-2EFD066FD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dirty="0"/>
              <a:t>A história do dinheiro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B419-C206-2CAA-7F36-14E774E4B75C}"/>
              </a:ext>
            </a:extLst>
          </p:cNvPr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 lang="pt-PT" dirty="0"/>
              <a:t>Capítulo #3 – Sessão prática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6E78AC-9731-A805-E836-E847F667B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Atividade: Jogo das trocas diretas</a:t>
            </a:r>
          </a:p>
          <a:p>
            <a:r>
              <a:rPr lang="pt-PT" dirty="0"/>
              <a:t>Esclarecimento de dúvidas</a:t>
            </a:r>
          </a:p>
        </p:txBody>
      </p:sp>
    </p:spTree>
    <p:extLst>
      <p:ext uri="{BB962C8B-B14F-4D97-AF65-F5344CB8AC3E}">
        <p14:creationId xmlns:p14="http://schemas.microsoft.com/office/powerpoint/2010/main" val="2252863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E9831-55F4-ED68-97ED-4A0CC022D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738C0-D46C-5A0A-F596-291722D6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dirty="0"/>
              <a:t>Atividade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26111-1E53-A1A7-43F0-2D47E0593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2" y="2301875"/>
            <a:ext cx="17352000" cy="8405811"/>
          </a:xfrm>
        </p:spPr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pt-PT" b="1" dirty="0"/>
              <a:t>Jogo das trocas diretas</a:t>
            </a:r>
          </a:p>
          <a:p>
            <a:pPr marL="0" indent="0">
              <a:buSzPct val="125000"/>
              <a:buNone/>
            </a:pPr>
            <a:r>
              <a:rPr lang="pt-PT" dirty="0"/>
              <a:t>Neste jogo estarão divididos em 4 equipas. Terão de negociar e trocar cartas com os outros grupos para conseguir atingir o objetivo do vosso grupo. Cada grupo vai fazer parte de um mercado:</a:t>
            </a:r>
          </a:p>
          <a:p>
            <a:pPr marL="0" indent="0">
              <a:buSzPct val="125000"/>
              <a:buNone/>
            </a:pPr>
            <a:r>
              <a:rPr lang="pt-PT" dirty="0"/>
              <a:t>♣️ Fabricantes de Paus</a:t>
            </a:r>
          </a:p>
          <a:p>
            <a:pPr marL="0" indent="0">
              <a:buSzPct val="125000"/>
              <a:buNone/>
            </a:pPr>
            <a:r>
              <a:rPr lang="pt-PT" dirty="0"/>
              <a:t>♠️ Fabricantes de Espadas</a:t>
            </a:r>
          </a:p>
          <a:p>
            <a:pPr marL="0" indent="0">
              <a:buSzPct val="125000"/>
              <a:buNone/>
            </a:pPr>
            <a:r>
              <a:rPr lang="pt-PT" dirty="0"/>
              <a:t>♥️ Fabricantes de Copas</a:t>
            </a:r>
          </a:p>
          <a:p>
            <a:pPr marL="0" indent="0">
              <a:buSzPct val="125000"/>
              <a:buNone/>
            </a:pPr>
            <a:r>
              <a:rPr lang="pt-PT" dirty="0"/>
              <a:t>♦️ Fabricantes de Ouros</a:t>
            </a:r>
          </a:p>
        </p:txBody>
      </p:sp>
    </p:spTree>
    <p:extLst>
      <p:ext uri="{BB962C8B-B14F-4D97-AF65-F5344CB8AC3E}">
        <p14:creationId xmlns:p14="http://schemas.microsoft.com/office/powerpoint/2010/main" val="663977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DE38B-0E25-CEBD-8927-1C9CA775C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CBCCF-EA96-EBF1-28E2-5E3BA85F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dirty="0"/>
              <a:t>Atividade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32839-FEE5-5205-8A38-3CED67AC3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2" y="2301875"/>
            <a:ext cx="17352000" cy="8405811"/>
          </a:xfrm>
        </p:spPr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pt-PT" b="1" dirty="0"/>
              <a:t>Jogo das trocas diretas</a:t>
            </a:r>
          </a:p>
          <a:p>
            <a:pPr marL="0" indent="0">
              <a:buSzPct val="125000"/>
              <a:buNone/>
            </a:pPr>
            <a:r>
              <a:rPr lang="pt-PT" dirty="0"/>
              <a:t>Os membros de cada grupo devem reunir-se na sua sala e visitar as salas dos outros grupos para negociar.</a:t>
            </a:r>
          </a:p>
          <a:p>
            <a:pPr marL="0" indent="0">
              <a:buSzPct val="125000"/>
              <a:buNone/>
            </a:pPr>
            <a:r>
              <a:rPr lang="pt-PT" dirty="0"/>
              <a:t>Cada grupo terá uma folha de Registo de Trocas que deve atualizar à medida que efetua transações.</a:t>
            </a:r>
          </a:p>
          <a:p>
            <a:pPr marL="0" indent="0">
              <a:buSzPct val="125000"/>
              <a:buNone/>
            </a:pPr>
            <a:endParaRPr lang="pt-PT" dirty="0"/>
          </a:p>
          <a:p>
            <a:pPr marL="0" indent="0">
              <a:buSzPct val="125000"/>
              <a:buNone/>
            </a:pPr>
            <a:endParaRPr lang="pt-PT" dirty="0"/>
          </a:p>
          <a:p>
            <a:pPr marL="0" indent="0">
              <a:buSzPct val="125000"/>
              <a:buNone/>
            </a:pPr>
            <a:endParaRPr lang="pt-PT" dirty="0"/>
          </a:p>
          <a:p>
            <a:pPr marL="0" indent="0">
              <a:buSzPct val="125000"/>
              <a:buNone/>
            </a:pPr>
            <a:endParaRPr lang="pt-PT" dirty="0"/>
          </a:p>
          <a:p>
            <a:pPr marL="0" indent="0">
              <a:buSzPct val="125000"/>
              <a:buNone/>
            </a:pPr>
            <a:r>
              <a:rPr lang="pt-PT" dirty="0"/>
              <a:t>Quando atingirem o objetivo, ou quando o tempo terminar, devem voltar à sala principal.</a:t>
            </a:r>
          </a:p>
        </p:txBody>
      </p:sp>
      <p:pic>
        <p:nvPicPr>
          <p:cNvPr id="13" name="Picture 12" descr="A screenshot of a table&#10;&#10;AI-generated content may be incorrect.">
            <a:extLst>
              <a:ext uri="{FF2B5EF4-FFF2-40B4-BE49-F238E27FC236}">
                <a16:creationId xmlns:a16="http://schemas.microsoft.com/office/drawing/2014/main" id="{94ADC982-87D1-D217-DA67-279377CD3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9850" y="5883275"/>
            <a:ext cx="8153142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051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F6C9C-182D-0CCB-E8D5-200C4DB0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Atividade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7600C-0F95-15DB-1C7B-6A99F02CB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3" y="2301875"/>
            <a:ext cx="12491975" cy="8405811"/>
          </a:xfrm>
        </p:spPr>
        <p:txBody>
          <a:bodyPr/>
          <a:lstStyle/>
          <a:p>
            <a:pPr marL="0" indent="0">
              <a:spcAft>
                <a:spcPts val="1000"/>
              </a:spcAft>
              <a:buSzPct val="125000"/>
              <a:buNone/>
            </a:pPr>
            <a:r>
              <a:rPr lang="pt-PT" b="1" dirty="0"/>
              <a:t>Ronda #1</a:t>
            </a:r>
            <a:r>
              <a:rPr lang="pt-PT" dirty="0"/>
              <a:t> (5 minutos)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F1AC2E-7B48-E0A0-858A-DE8F616720DD}"/>
              </a:ext>
            </a:extLst>
          </p:cNvPr>
          <p:cNvSpPr txBox="1"/>
          <p:nvPr/>
        </p:nvSpPr>
        <p:spPr>
          <a:xfrm>
            <a:off x="1382425" y="3292475"/>
            <a:ext cx="5582106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Foi fácil chegar a acordo?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6635BD-A4A5-1AE4-FEA6-95F89193BF81}"/>
              </a:ext>
            </a:extLst>
          </p:cNvPr>
          <p:cNvSpPr txBox="1"/>
          <p:nvPr/>
        </p:nvSpPr>
        <p:spPr>
          <a:xfrm>
            <a:off x="1382425" y="4301309"/>
            <a:ext cx="11686341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Todos os grupos conseguiram atingir o objetivo? Porquê?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983A02-7C91-5062-9259-ED0FE25F6125}"/>
              </a:ext>
            </a:extLst>
          </p:cNvPr>
          <p:cNvSpPr txBox="1"/>
          <p:nvPr/>
        </p:nvSpPr>
        <p:spPr>
          <a:xfrm>
            <a:off x="4446146" y="6116190"/>
            <a:ext cx="6463629" cy="33589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♣️ Fabricantes de Paus         → ♠️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♠️ Fabricantes de Espadas   → ♣️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♥️ Fabricantes de Copas       → ♦️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♦️ Fabricantes de Ouros       → ♥️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C9A73F0-8A32-6869-C9EA-5DBD33FEF4C2}"/>
              </a:ext>
            </a:extLst>
          </p:cNvPr>
          <p:cNvGrpSpPr/>
          <p:nvPr/>
        </p:nvGrpSpPr>
        <p:grpSpPr>
          <a:xfrm>
            <a:off x="14435530" y="3978275"/>
            <a:ext cx="4587240" cy="6957780"/>
            <a:chOff x="14435530" y="3978275"/>
            <a:chExt cx="4587240" cy="695778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B5E7055-B597-0F06-9CA3-601FCBC8714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4435530" y="3978275"/>
              <a:ext cx="4587240" cy="6957780"/>
              <a:chOff x="14435530" y="3978275"/>
              <a:chExt cx="4587240" cy="6957780"/>
            </a:xfrm>
          </p:grpSpPr>
          <p:grpSp>
            <p:nvGrpSpPr>
              <p:cNvPr id="6" name="object 10">
                <a:extLst>
                  <a:ext uri="{FF2B5EF4-FFF2-40B4-BE49-F238E27FC236}">
                    <a16:creationId xmlns:a16="http://schemas.microsoft.com/office/drawing/2014/main" id="{68796091-5486-A8D9-C144-E21BB3FEEC2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4435530" y="3978275"/>
                <a:ext cx="4587240" cy="6957780"/>
                <a:chOff x="6045045" y="2597330"/>
                <a:chExt cx="3749040" cy="5686425"/>
              </a:xfrm>
            </p:grpSpPr>
            <p:pic>
              <p:nvPicPr>
                <p:cNvPr id="7" name="object 11">
                  <a:extLst>
                    <a:ext uri="{FF2B5EF4-FFF2-40B4-BE49-F238E27FC236}">
                      <a16:creationId xmlns:a16="http://schemas.microsoft.com/office/drawing/2014/main" id="{CB2BC736-A941-043E-8E06-0B1F6E839859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6677304" y="4937943"/>
                  <a:ext cx="2674065" cy="2674086"/>
                </a:xfrm>
                <a:prstGeom prst="rect">
                  <a:avLst/>
                </a:prstGeom>
              </p:spPr>
            </p:pic>
            <p:pic>
              <p:nvPicPr>
                <p:cNvPr id="8" name="object 12">
                  <a:extLst>
                    <a:ext uri="{FF2B5EF4-FFF2-40B4-BE49-F238E27FC236}">
                      <a16:creationId xmlns:a16="http://schemas.microsoft.com/office/drawing/2014/main" id="{44A65CBE-6EDA-10F2-BFF2-86D09D195112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6748076" y="7829311"/>
                  <a:ext cx="2567660" cy="454279"/>
                </a:xfrm>
                <a:prstGeom prst="rect">
                  <a:avLst/>
                </a:prstGeom>
              </p:spPr>
            </p:pic>
            <p:pic>
              <p:nvPicPr>
                <p:cNvPr id="9" name="object 13">
                  <a:extLst>
                    <a:ext uri="{FF2B5EF4-FFF2-40B4-BE49-F238E27FC236}">
                      <a16:creationId xmlns:a16="http://schemas.microsoft.com/office/drawing/2014/main" id="{55DFA648-8195-8017-7BFD-CCA44B502980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6347486" y="5109971"/>
                  <a:ext cx="2815287" cy="2872422"/>
                </a:xfrm>
                <a:prstGeom prst="rect">
                  <a:avLst/>
                </a:prstGeom>
              </p:spPr>
            </p:pic>
            <p:pic>
              <p:nvPicPr>
                <p:cNvPr id="10" name="object 14">
                  <a:extLst>
                    <a:ext uri="{FF2B5EF4-FFF2-40B4-BE49-F238E27FC236}">
                      <a16:creationId xmlns:a16="http://schemas.microsoft.com/office/drawing/2014/main" id="{DC74F718-D3FB-E526-22AC-FAC307A02970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6051354" y="2693656"/>
                  <a:ext cx="3735865" cy="2088742"/>
                </a:xfrm>
                <a:prstGeom prst="rect">
                  <a:avLst/>
                </a:prstGeom>
              </p:spPr>
            </p:pic>
            <p:sp>
              <p:nvSpPr>
                <p:cNvPr id="11" name="object 15">
                  <a:extLst>
                    <a:ext uri="{FF2B5EF4-FFF2-40B4-BE49-F238E27FC236}">
                      <a16:creationId xmlns:a16="http://schemas.microsoft.com/office/drawing/2014/main" id="{7EC1844A-619E-6D2B-AE98-B4430331D439}"/>
                    </a:ext>
                  </a:extLst>
                </p:cNvPr>
                <p:cNvSpPr/>
                <p:nvPr/>
              </p:nvSpPr>
              <p:spPr>
                <a:xfrm>
                  <a:off x="6051395" y="2693637"/>
                  <a:ext cx="728345" cy="208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8345" h="2089150">
                      <a:moveTo>
                        <a:pt x="728271" y="2088721"/>
                      </a:moveTo>
                      <a:lnTo>
                        <a:pt x="183795" y="2088721"/>
                      </a:lnTo>
                      <a:lnTo>
                        <a:pt x="134936" y="2082156"/>
                      </a:lnTo>
                      <a:lnTo>
                        <a:pt x="91031" y="2063627"/>
                      </a:lnTo>
                      <a:lnTo>
                        <a:pt x="53833" y="2034888"/>
                      </a:lnTo>
                      <a:lnTo>
                        <a:pt x="25094" y="1997690"/>
                      </a:lnTo>
                      <a:lnTo>
                        <a:pt x="6565" y="1953785"/>
                      </a:lnTo>
                      <a:lnTo>
                        <a:pt x="0" y="1904926"/>
                      </a:lnTo>
                      <a:lnTo>
                        <a:pt x="0" y="183795"/>
                      </a:lnTo>
                      <a:lnTo>
                        <a:pt x="6565" y="134936"/>
                      </a:lnTo>
                      <a:lnTo>
                        <a:pt x="25094" y="91031"/>
                      </a:lnTo>
                      <a:lnTo>
                        <a:pt x="53833" y="53833"/>
                      </a:lnTo>
                      <a:lnTo>
                        <a:pt x="91031" y="25094"/>
                      </a:lnTo>
                      <a:lnTo>
                        <a:pt x="134936" y="6565"/>
                      </a:lnTo>
                      <a:lnTo>
                        <a:pt x="183795" y="0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sp>
              <p:nvSpPr>
                <p:cNvPr id="12" name="object 16">
                  <a:extLst>
                    <a:ext uri="{FF2B5EF4-FFF2-40B4-BE49-F238E27FC236}">
                      <a16:creationId xmlns:a16="http://schemas.microsoft.com/office/drawing/2014/main" id="{4F23D560-30D0-6043-CDA8-CD542A22EC04}"/>
                    </a:ext>
                  </a:extLst>
                </p:cNvPr>
                <p:cNvSpPr/>
                <p:nvPr/>
              </p:nvSpPr>
              <p:spPr>
                <a:xfrm>
                  <a:off x="7092089" y="4782359"/>
                  <a:ext cx="1850389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390">
                      <a:moveTo>
                        <a:pt x="1850090" y="0"/>
                      </a:moveTo>
                      <a:lnTo>
                        <a:pt x="0" y="0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sp>
              <p:nvSpPr>
                <p:cNvPr id="13" name="object 17">
                  <a:extLst>
                    <a:ext uri="{FF2B5EF4-FFF2-40B4-BE49-F238E27FC236}">
                      <a16:creationId xmlns:a16="http://schemas.microsoft.com/office/drawing/2014/main" id="{9744CB5D-FB95-E080-BB3D-6459C0C639ED}"/>
                    </a:ext>
                  </a:extLst>
                </p:cNvPr>
                <p:cNvSpPr/>
                <p:nvPr/>
              </p:nvSpPr>
              <p:spPr>
                <a:xfrm>
                  <a:off x="6743899" y="2693639"/>
                  <a:ext cx="3043555" cy="208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3554" h="2089150">
                      <a:moveTo>
                        <a:pt x="0" y="0"/>
                      </a:moveTo>
                      <a:lnTo>
                        <a:pt x="2859546" y="0"/>
                      </a:lnTo>
                      <a:lnTo>
                        <a:pt x="2908405" y="6565"/>
                      </a:lnTo>
                      <a:lnTo>
                        <a:pt x="2952310" y="25094"/>
                      </a:lnTo>
                      <a:lnTo>
                        <a:pt x="2989508" y="53833"/>
                      </a:lnTo>
                      <a:lnTo>
                        <a:pt x="3018247" y="91031"/>
                      </a:lnTo>
                      <a:lnTo>
                        <a:pt x="3036776" y="134936"/>
                      </a:lnTo>
                      <a:lnTo>
                        <a:pt x="3043341" y="183795"/>
                      </a:lnTo>
                      <a:lnTo>
                        <a:pt x="3043341" y="1904926"/>
                      </a:lnTo>
                      <a:lnTo>
                        <a:pt x="3036776" y="1953785"/>
                      </a:lnTo>
                      <a:lnTo>
                        <a:pt x="3018247" y="1997690"/>
                      </a:lnTo>
                      <a:lnTo>
                        <a:pt x="2989508" y="2034888"/>
                      </a:lnTo>
                      <a:lnTo>
                        <a:pt x="2952310" y="2063627"/>
                      </a:lnTo>
                      <a:lnTo>
                        <a:pt x="2908405" y="2082156"/>
                      </a:lnTo>
                      <a:lnTo>
                        <a:pt x="2859546" y="2088721"/>
                      </a:lnTo>
                      <a:lnTo>
                        <a:pt x="2646202" y="2088721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pic>
              <p:nvPicPr>
                <p:cNvPr id="14" name="object 18">
                  <a:extLst>
                    <a:ext uri="{FF2B5EF4-FFF2-40B4-BE49-F238E27FC236}">
                      <a16:creationId xmlns:a16="http://schemas.microsoft.com/office/drawing/2014/main" id="{A84B4159-1962-985E-1142-0A01EC218451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6511892" y="2597332"/>
                  <a:ext cx="141859" cy="193983"/>
                </a:xfrm>
                <a:prstGeom prst="rect">
                  <a:avLst/>
                </a:prstGeom>
              </p:spPr>
            </p:pic>
            <p:pic>
              <p:nvPicPr>
                <p:cNvPr id="15" name="object 19">
                  <a:extLst>
                    <a:ext uri="{FF2B5EF4-FFF2-40B4-BE49-F238E27FC236}">
                      <a16:creationId xmlns:a16="http://schemas.microsoft.com/office/drawing/2014/main" id="{CC3919DE-5E74-5E04-8A00-F856BE92C0AC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9009796" y="4693303"/>
                  <a:ext cx="141859" cy="193983"/>
                </a:xfrm>
                <a:prstGeom prst="rect">
                  <a:avLst/>
                </a:prstGeom>
              </p:spPr>
            </p:pic>
            <p:pic>
              <p:nvPicPr>
                <p:cNvPr id="16" name="object 20">
                  <a:extLst>
                    <a:ext uri="{FF2B5EF4-FFF2-40B4-BE49-F238E27FC236}">
                      <a16:creationId xmlns:a16="http://schemas.microsoft.com/office/drawing/2014/main" id="{135AC5BC-FED7-954B-CE3D-DC5A442F58AF}"/>
                    </a:ext>
                  </a:extLst>
                </p:cNvPr>
                <p:cNvPicPr/>
                <p:nvPr/>
              </p:nvPicPr>
              <p:blipFill>
                <a:blip r:embed="rId9" cstate="print"/>
                <a:stretch>
                  <a:fillRect/>
                </a:stretch>
              </p:blipFill>
              <p:spPr>
                <a:xfrm>
                  <a:off x="6340762" y="2597330"/>
                  <a:ext cx="141859" cy="193889"/>
                </a:xfrm>
                <a:prstGeom prst="rect">
                  <a:avLst/>
                </a:prstGeom>
              </p:spPr>
            </p:pic>
            <p:pic>
              <p:nvPicPr>
                <p:cNvPr id="17" name="object 21">
                  <a:extLst>
                    <a:ext uri="{FF2B5EF4-FFF2-40B4-BE49-F238E27FC236}">
                      <a16:creationId xmlns:a16="http://schemas.microsoft.com/office/drawing/2014/main" id="{C0C826CC-BD1B-D5DE-36E8-1CC757132271}"/>
                    </a:ext>
                  </a:extLst>
                </p:cNvPr>
                <p:cNvPicPr/>
                <p:nvPr/>
              </p:nvPicPr>
              <p:blipFill>
                <a:blip r:embed="rId10" cstate="print"/>
                <a:stretch>
                  <a:fillRect/>
                </a:stretch>
              </p:blipFill>
              <p:spPr>
                <a:xfrm>
                  <a:off x="9180924" y="4693300"/>
                  <a:ext cx="141859" cy="193889"/>
                </a:xfrm>
                <a:prstGeom prst="rect">
                  <a:avLst/>
                </a:prstGeom>
              </p:spPr>
            </p:pic>
          </p:grpSp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7BEAF5D5-B2E1-A572-565C-3DB0ADCAD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00037" y="4644578"/>
                <a:ext cx="4397544" cy="1471612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GB" sz="3200" b="1" i="0" kern="1200" dirty="0" smtClean="0">
                    <a:solidFill>
                      <a:srgbClr val="251B55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  <a:lvl2pPr marL="4572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lang="en-PT" sz="2000" b="1" kern="1200" spc="-1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2pPr>
                <a:lvl3pPr marL="9144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3pPr>
                <a:lvl4pPr marL="13716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4pPr>
                <a:lvl5pPr marL="18288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buSzPct val="125000"/>
                </a:pPr>
                <a:r>
                  <a:rPr lang="pt-PT" sz="2400" b="0" spc="10" dirty="0">
                    <a:solidFill>
                      <a:srgbClr val="241B54"/>
                    </a:solidFill>
                    <a:latin typeface="Open Sans"/>
                    <a:cs typeface="Open Sans"/>
                  </a:rPr>
                  <a:t>A coincidência de vontades facilitou que cada grupo atingisse o seu objetivo.</a:t>
                </a:r>
              </a:p>
            </p:txBody>
          </p:sp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6BCB2A5-317C-E8C1-DF17-D7D55242CDC7}"/>
                </a:ext>
              </a:extLst>
            </p:cNvPr>
            <p:cNvCxnSpPr/>
            <p:nvPr/>
          </p:nvCxnSpPr>
          <p:spPr>
            <a:xfrm>
              <a:off x="15290632" y="6651827"/>
              <a:ext cx="476418" cy="0"/>
            </a:xfrm>
            <a:prstGeom prst="line">
              <a:avLst/>
            </a:prstGeom>
            <a:ln w="1270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1512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DEFE4-B92A-A1DE-CB1E-0AD065A81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02A46-AA8B-14A3-2C24-071BD2513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Atividade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2D0CA-2340-C231-643A-5925EB56B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3" y="2301875"/>
            <a:ext cx="12491975" cy="8405811"/>
          </a:xfrm>
        </p:spPr>
        <p:txBody>
          <a:bodyPr/>
          <a:lstStyle/>
          <a:p>
            <a:pPr marL="0" indent="0">
              <a:spcAft>
                <a:spcPts val="1000"/>
              </a:spcAft>
              <a:buSzPct val="125000"/>
              <a:buNone/>
            </a:pPr>
            <a:r>
              <a:rPr lang="pt-PT" b="1" dirty="0"/>
              <a:t>Ronda #2</a:t>
            </a:r>
            <a:r>
              <a:rPr lang="pt-PT" dirty="0"/>
              <a:t> (5 minutos)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34EFC2-934D-4CE5-3B8D-BD3ED700F2ED}"/>
              </a:ext>
            </a:extLst>
          </p:cNvPr>
          <p:cNvSpPr txBox="1"/>
          <p:nvPr/>
        </p:nvSpPr>
        <p:spPr>
          <a:xfrm>
            <a:off x="1382426" y="3418150"/>
            <a:ext cx="12491976" cy="6193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2138" indent="-592138" algn="l" rtl="0">
              <a:lnSpc>
                <a:spcPct val="114000"/>
              </a:lnSpc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 que mudou nesta ronda em relação à anterior?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E8B499-7EF0-169B-EB6F-3601DCD34BAA}"/>
              </a:ext>
            </a:extLst>
          </p:cNvPr>
          <p:cNvSpPr txBox="1"/>
          <p:nvPr/>
        </p:nvSpPr>
        <p:spPr>
          <a:xfrm>
            <a:off x="1382425" y="5349875"/>
            <a:ext cx="11726608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Houve alguma situação de impasse? Como a resolveram?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F9C385-0C89-9844-C33A-D4D1D7F2A7F7}"/>
              </a:ext>
            </a:extLst>
          </p:cNvPr>
          <p:cNvSpPr txBox="1"/>
          <p:nvPr/>
        </p:nvSpPr>
        <p:spPr>
          <a:xfrm>
            <a:off x="4442917" y="7211013"/>
            <a:ext cx="6463629" cy="33589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♣️ Fabricantes de Paus         → ♠️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♠️ Fabricantes de Espadas   → ♥️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♥️ Fabricantes de Copas       → ♦️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♦️ Fabricantes de Ouros       → ♣️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0136BDC-9ECF-B3EA-C7C1-FCC2BC322EFD}"/>
              </a:ext>
            </a:extLst>
          </p:cNvPr>
          <p:cNvGrpSpPr/>
          <p:nvPr/>
        </p:nvGrpSpPr>
        <p:grpSpPr>
          <a:xfrm>
            <a:off x="14435530" y="3978275"/>
            <a:ext cx="4587240" cy="6957780"/>
            <a:chOff x="14435530" y="3978275"/>
            <a:chExt cx="4587240" cy="695778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0540AE2-CA85-89F3-2729-82D29CA658D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4435530" y="3978275"/>
              <a:ext cx="4587240" cy="6957780"/>
              <a:chOff x="14435530" y="3978275"/>
              <a:chExt cx="4587240" cy="6957780"/>
            </a:xfrm>
          </p:grpSpPr>
          <p:grpSp>
            <p:nvGrpSpPr>
              <p:cNvPr id="6" name="object 10">
                <a:extLst>
                  <a:ext uri="{FF2B5EF4-FFF2-40B4-BE49-F238E27FC236}">
                    <a16:creationId xmlns:a16="http://schemas.microsoft.com/office/drawing/2014/main" id="{0B063F94-A478-5464-34F8-2072216119D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4435530" y="3978275"/>
                <a:ext cx="4587240" cy="6957780"/>
                <a:chOff x="6045045" y="2597330"/>
                <a:chExt cx="3749040" cy="5686425"/>
              </a:xfrm>
            </p:grpSpPr>
            <p:pic>
              <p:nvPicPr>
                <p:cNvPr id="7" name="object 11">
                  <a:extLst>
                    <a:ext uri="{FF2B5EF4-FFF2-40B4-BE49-F238E27FC236}">
                      <a16:creationId xmlns:a16="http://schemas.microsoft.com/office/drawing/2014/main" id="{286560C1-9710-3D1D-6E20-32B39902F26E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6677304" y="4937943"/>
                  <a:ext cx="2674065" cy="2674086"/>
                </a:xfrm>
                <a:prstGeom prst="rect">
                  <a:avLst/>
                </a:prstGeom>
              </p:spPr>
            </p:pic>
            <p:pic>
              <p:nvPicPr>
                <p:cNvPr id="8" name="object 12">
                  <a:extLst>
                    <a:ext uri="{FF2B5EF4-FFF2-40B4-BE49-F238E27FC236}">
                      <a16:creationId xmlns:a16="http://schemas.microsoft.com/office/drawing/2014/main" id="{4EE9F1E9-3811-1F54-069E-E79BA7347354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6748076" y="7829311"/>
                  <a:ext cx="2567660" cy="454279"/>
                </a:xfrm>
                <a:prstGeom prst="rect">
                  <a:avLst/>
                </a:prstGeom>
              </p:spPr>
            </p:pic>
            <p:pic>
              <p:nvPicPr>
                <p:cNvPr id="9" name="object 13">
                  <a:extLst>
                    <a:ext uri="{FF2B5EF4-FFF2-40B4-BE49-F238E27FC236}">
                      <a16:creationId xmlns:a16="http://schemas.microsoft.com/office/drawing/2014/main" id="{21C71B82-15A3-7832-CAFF-A9341FE4DEE1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6347486" y="5109971"/>
                  <a:ext cx="2815287" cy="2872422"/>
                </a:xfrm>
                <a:prstGeom prst="rect">
                  <a:avLst/>
                </a:prstGeom>
              </p:spPr>
            </p:pic>
            <p:pic>
              <p:nvPicPr>
                <p:cNvPr id="10" name="object 14">
                  <a:extLst>
                    <a:ext uri="{FF2B5EF4-FFF2-40B4-BE49-F238E27FC236}">
                      <a16:creationId xmlns:a16="http://schemas.microsoft.com/office/drawing/2014/main" id="{E6829DA7-203C-BD04-EEE3-C068C97BBD26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6051354" y="2693656"/>
                  <a:ext cx="3735865" cy="2088742"/>
                </a:xfrm>
                <a:prstGeom prst="rect">
                  <a:avLst/>
                </a:prstGeom>
              </p:spPr>
            </p:pic>
            <p:sp>
              <p:nvSpPr>
                <p:cNvPr id="11" name="object 15">
                  <a:extLst>
                    <a:ext uri="{FF2B5EF4-FFF2-40B4-BE49-F238E27FC236}">
                      <a16:creationId xmlns:a16="http://schemas.microsoft.com/office/drawing/2014/main" id="{1C6AD45A-1E02-9E6D-8E0E-7A3D99E6CCFE}"/>
                    </a:ext>
                  </a:extLst>
                </p:cNvPr>
                <p:cNvSpPr/>
                <p:nvPr/>
              </p:nvSpPr>
              <p:spPr>
                <a:xfrm>
                  <a:off x="6051395" y="2693637"/>
                  <a:ext cx="728345" cy="208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8345" h="2089150">
                      <a:moveTo>
                        <a:pt x="728271" y="2088721"/>
                      </a:moveTo>
                      <a:lnTo>
                        <a:pt x="183795" y="2088721"/>
                      </a:lnTo>
                      <a:lnTo>
                        <a:pt x="134936" y="2082156"/>
                      </a:lnTo>
                      <a:lnTo>
                        <a:pt x="91031" y="2063627"/>
                      </a:lnTo>
                      <a:lnTo>
                        <a:pt x="53833" y="2034888"/>
                      </a:lnTo>
                      <a:lnTo>
                        <a:pt x="25094" y="1997690"/>
                      </a:lnTo>
                      <a:lnTo>
                        <a:pt x="6565" y="1953785"/>
                      </a:lnTo>
                      <a:lnTo>
                        <a:pt x="0" y="1904926"/>
                      </a:lnTo>
                      <a:lnTo>
                        <a:pt x="0" y="183795"/>
                      </a:lnTo>
                      <a:lnTo>
                        <a:pt x="6565" y="134936"/>
                      </a:lnTo>
                      <a:lnTo>
                        <a:pt x="25094" y="91031"/>
                      </a:lnTo>
                      <a:lnTo>
                        <a:pt x="53833" y="53833"/>
                      </a:lnTo>
                      <a:lnTo>
                        <a:pt x="91031" y="25094"/>
                      </a:lnTo>
                      <a:lnTo>
                        <a:pt x="134936" y="6565"/>
                      </a:lnTo>
                      <a:lnTo>
                        <a:pt x="183795" y="0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sp>
              <p:nvSpPr>
                <p:cNvPr id="12" name="object 16">
                  <a:extLst>
                    <a:ext uri="{FF2B5EF4-FFF2-40B4-BE49-F238E27FC236}">
                      <a16:creationId xmlns:a16="http://schemas.microsoft.com/office/drawing/2014/main" id="{E4FADFE1-A3F4-7B44-5552-D832C7ACEBC5}"/>
                    </a:ext>
                  </a:extLst>
                </p:cNvPr>
                <p:cNvSpPr/>
                <p:nvPr/>
              </p:nvSpPr>
              <p:spPr>
                <a:xfrm>
                  <a:off x="7092089" y="4782359"/>
                  <a:ext cx="1850389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390">
                      <a:moveTo>
                        <a:pt x="1850090" y="0"/>
                      </a:moveTo>
                      <a:lnTo>
                        <a:pt x="0" y="0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sp>
              <p:nvSpPr>
                <p:cNvPr id="13" name="object 17">
                  <a:extLst>
                    <a:ext uri="{FF2B5EF4-FFF2-40B4-BE49-F238E27FC236}">
                      <a16:creationId xmlns:a16="http://schemas.microsoft.com/office/drawing/2014/main" id="{7E56F88C-D00A-2489-028F-5182F2C075CA}"/>
                    </a:ext>
                  </a:extLst>
                </p:cNvPr>
                <p:cNvSpPr/>
                <p:nvPr/>
              </p:nvSpPr>
              <p:spPr>
                <a:xfrm>
                  <a:off x="6743899" y="2693639"/>
                  <a:ext cx="3043555" cy="208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3554" h="2089150">
                      <a:moveTo>
                        <a:pt x="0" y="0"/>
                      </a:moveTo>
                      <a:lnTo>
                        <a:pt x="2859546" y="0"/>
                      </a:lnTo>
                      <a:lnTo>
                        <a:pt x="2908405" y="6565"/>
                      </a:lnTo>
                      <a:lnTo>
                        <a:pt x="2952310" y="25094"/>
                      </a:lnTo>
                      <a:lnTo>
                        <a:pt x="2989508" y="53833"/>
                      </a:lnTo>
                      <a:lnTo>
                        <a:pt x="3018247" y="91031"/>
                      </a:lnTo>
                      <a:lnTo>
                        <a:pt x="3036776" y="134936"/>
                      </a:lnTo>
                      <a:lnTo>
                        <a:pt x="3043341" y="183795"/>
                      </a:lnTo>
                      <a:lnTo>
                        <a:pt x="3043341" y="1904926"/>
                      </a:lnTo>
                      <a:lnTo>
                        <a:pt x="3036776" y="1953785"/>
                      </a:lnTo>
                      <a:lnTo>
                        <a:pt x="3018247" y="1997690"/>
                      </a:lnTo>
                      <a:lnTo>
                        <a:pt x="2989508" y="2034888"/>
                      </a:lnTo>
                      <a:lnTo>
                        <a:pt x="2952310" y="2063627"/>
                      </a:lnTo>
                      <a:lnTo>
                        <a:pt x="2908405" y="2082156"/>
                      </a:lnTo>
                      <a:lnTo>
                        <a:pt x="2859546" y="2088721"/>
                      </a:lnTo>
                      <a:lnTo>
                        <a:pt x="2646202" y="2088721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pic>
              <p:nvPicPr>
                <p:cNvPr id="14" name="object 18">
                  <a:extLst>
                    <a:ext uri="{FF2B5EF4-FFF2-40B4-BE49-F238E27FC236}">
                      <a16:creationId xmlns:a16="http://schemas.microsoft.com/office/drawing/2014/main" id="{EAF2EF88-75C4-112B-8853-97AFBC39435F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6511892" y="2597332"/>
                  <a:ext cx="141859" cy="193983"/>
                </a:xfrm>
                <a:prstGeom prst="rect">
                  <a:avLst/>
                </a:prstGeom>
              </p:spPr>
            </p:pic>
            <p:pic>
              <p:nvPicPr>
                <p:cNvPr id="15" name="object 19">
                  <a:extLst>
                    <a:ext uri="{FF2B5EF4-FFF2-40B4-BE49-F238E27FC236}">
                      <a16:creationId xmlns:a16="http://schemas.microsoft.com/office/drawing/2014/main" id="{28EA6B97-B6F0-DBC8-8B6F-A199D4AB47B6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9009796" y="4693303"/>
                  <a:ext cx="141859" cy="193983"/>
                </a:xfrm>
                <a:prstGeom prst="rect">
                  <a:avLst/>
                </a:prstGeom>
              </p:spPr>
            </p:pic>
            <p:pic>
              <p:nvPicPr>
                <p:cNvPr id="16" name="object 20">
                  <a:extLst>
                    <a:ext uri="{FF2B5EF4-FFF2-40B4-BE49-F238E27FC236}">
                      <a16:creationId xmlns:a16="http://schemas.microsoft.com/office/drawing/2014/main" id="{1D610604-21EC-9757-1FB3-59CFDC84F6B0}"/>
                    </a:ext>
                  </a:extLst>
                </p:cNvPr>
                <p:cNvPicPr/>
                <p:nvPr/>
              </p:nvPicPr>
              <p:blipFill>
                <a:blip r:embed="rId9" cstate="print"/>
                <a:stretch>
                  <a:fillRect/>
                </a:stretch>
              </p:blipFill>
              <p:spPr>
                <a:xfrm>
                  <a:off x="6340762" y="2597330"/>
                  <a:ext cx="141859" cy="193889"/>
                </a:xfrm>
                <a:prstGeom prst="rect">
                  <a:avLst/>
                </a:prstGeom>
              </p:spPr>
            </p:pic>
            <p:pic>
              <p:nvPicPr>
                <p:cNvPr id="17" name="object 21">
                  <a:extLst>
                    <a:ext uri="{FF2B5EF4-FFF2-40B4-BE49-F238E27FC236}">
                      <a16:creationId xmlns:a16="http://schemas.microsoft.com/office/drawing/2014/main" id="{4AD6362E-3149-59F4-FD79-391D4755A740}"/>
                    </a:ext>
                  </a:extLst>
                </p:cNvPr>
                <p:cNvPicPr/>
                <p:nvPr/>
              </p:nvPicPr>
              <p:blipFill>
                <a:blip r:embed="rId10" cstate="print"/>
                <a:stretch>
                  <a:fillRect/>
                </a:stretch>
              </p:blipFill>
              <p:spPr>
                <a:xfrm>
                  <a:off x="9180924" y="4693300"/>
                  <a:ext cx="141859" cy="193889"/>
                </a:xfrm>
                <a:prstGeom prst="rect">
                  <a:avLst/>
                </a:prstGeom>
              </p:spPr>
            </p:pic>
          </p:grpSp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081E0C2-6D86-4631-3662-5DDD365186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00037" y="4481373"/>
                <a:ext cx="4397544" cy="179562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lnSpcReduction="10000"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GB" sz="3200" b="1" i="0" kern="1200" dirty="0" smtClean="0">
                    <a:solidFill>
                      <a:srgbClr val="251B55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  <a:lvl2pPr marL="4572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lang="en-PT" sz="2000" b="1" kern="1200" spc="-1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2pPr>
                <a:lvl3pPr marL="9144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3pPr>
                <a:lvl4pPr marL="13716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4pPr>
                <a:lvl5pPr marL="18288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buSzPct val="125000"/>
                </a:pPr>
                <a:r>
                  <a:rPr lang="pt-PT" sz="2400" b="0" spc="10" dirty="0">
                    <a:solidFill>
                      <a:srgbClr val="241B54"/>
                    </a:solidFill>
                    <a:latin typeface="Open Sans"/>
                    <a:cs typeface="Open Sans"/>
                  </a:rPr>
                  <a:t>Não há correspondências diretas entre os grupos, para obterem o que desejam precisam necessariamente de realizar várias trocas.</a:t>
                </a:r>
              </a:p>
            </p:txBody>
          </p:sp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16461F6-4184-F403-4A05-7386A4E15CBC}"/>
                </a:ext>
              </a:extLst>
            </p:cNvPr>
            <p:cNvCxnSpPr/>
            <p:nvPr/>
          </p:nvCxnSpPr>
          <p:spPr>
            <a:xfrm>
              <a:off x="15290632" y="6651827"/>
              <a:ext cx="476418" cy="0"/>
            </a:xfrm>
            <a:prstGeom prst="line">
              <a:avLst/>
            </a:prstGeom>
            <a:ln w="1270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AE68C03-2195-17AC-8113-495238C09857}"/>
              </a:ext>
            </a:extLst>
          </p:cNvPr>
          <p:cNvSpPr txBox="1"/>
          <p:nvPr/>
        </p:nvSpPr>
        <p:spPr>
          <a:xfrm>
            <a:off x="1382425" y="4426984"/>
            <a:ext cx="12491975" cy="6193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2138" indent="-592138" algn="l" rtl="0">
              <a:lnSpc>
                <a:spcPct val="114000"/>
              </a:lnSpc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Foi fácil encontrar quem quisesse trocar convosco?</a:t>
            </a:r>
          </a:p>
        </p:txBody>
      </p:sp>
    </p:spTree>
    <p:extLst>
      <p:ext uri="{BB962C8B-B14F-4D97-AF65-F5344CB8AC3E}">
        <p14:creationId xmlns:p14="http://schemas.microsoft.com/office/powerpoint/2010/main" val="37347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70492-6E89-8622-7527-E5423B340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04BBB-193A-EC0A-30F4-D0E39E0E1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Atividade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AB62A-2078-9A01-18DB-451431142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3" y="2301875"/>
            <a:ext cx="12491975" cy="8405811"/>
          </a:xfrm>
        </p:spPr>
        <p:txBody>
          <a:bodyPr/>
          <a:lstStyle/>
          <a:p>
            <a:pPr marL="0" indent="0">
              <a:spcAft>
                <a:spcPts val="1000"/>
              </a:spcAft>
              <a:buSzPct val="125000"/>
              <a:buNone/>
            </a:pPr>
            <a:r>
              <a:rPr lang="pt-PT" b="1" dirty="0"/>
              <a:t>Ronda #3</a:t>
            </a:r>
            <a:r>
              <a:rPr lang="pt-PT" dirty="0"/>
              <a:t> (5 minutos)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1769D5-EA43-1211-1E9C-A8A35C5B5168}"/>
              </a:ext>
            </a:extLst>
          </p:cNvPr>
          <p:cNvSpPr txBox="1"/>
          <p:nvPr/>
        </p:nvSpPr>
        <p:spPr>
          <a:xfrm>
            <a:off x="3271289" y="6504780"/>
            <a:ext cx="8714245" cy="33589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♣️ Fabricantes de Paus         → ♠️ ou ♦️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♠️ Fabricantes de Espadas   → ♥️ ou ♦️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♥️ Fabricantes de Copas       → ♦️</a:t>
            </a:r>
          </a:p>
          <a:p>
            <a:pPr algn="l" rtl="0">
              <a:lnSpc>
                <a:spcPct val="150000"/>
              </a:lnSpc>
              <a:spcBef>
                <a:spcPts val="1000"/>
              </a:spcBef>
              <a:buSzPct val="125000"/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♦️ Fabricantes de Ouros       → ♣️ ou ♥️ ou ♠️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7A7B5FF-3BFF-A08D-067E-5BDBCE19284C}"/>
              </a:ext>
            </a:extLst>
          </p:cNvPr>
          <p:cNvGrpSpPr/>
          <p:nvPr/>
        </p:nvGrpSpPr>
        <p:grpSpPr>
          <a:xfrm>
            <a:off x="14435530" y="3978275"/>
            <a:ext cx="4587240" cy="6957780"/>
            <a:chOff x="14435530" y="3978275"/>
            <a:chExt cx="4587240" cy="695778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4EE6233-C952-DFF9-9401-5526B101BF1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4435530" y="3978275"/>
              <a:ext cx="4587240" cy="6957780"/>
              <a:chOff x="14435530" y="3978275"/>
              <a:chExt cx="4587240" cy="6957780"/>
            </a:xfrm>
          </p:grpSpPr>
          <p:grpSp>
            <p:nvGrpSpPr>
              <p:cNvPr id="6" name="object 10">
                <a:extLst>
                  <a:ext uri="{FF2B5EF4-FFF2-40B4-BE49-F238E27FC236}">
                    <a16:creationId xmlns:a16="http://schemas.microsoft.com/office/drawing/2014/main" id="{F3ABDB50-74D2-5227-0C33-94FC6E58C6E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4435530" y="3978275"/>
                <a:ext cx="4587240" cy="6957780"/>
                <a:chOff x="6045045" y="2597330"/>
                <a:chExt cx="3749040" cy="5686425"/>
              </a:xfrm>
            </p:grpSpPr>
            <p:pic>
              <p:nvPicPr>
                <p:cNvPr id="7" name="object 11">
                  <a:extLst>
                    <a:ext uri="{FF2B5EF4-FFF2-40B4-BE49-F238E27FC236}">
                      <a16:creationId xmlns:a16="http://schemas.microsoft.com/office/drawing/2014/main" id="{AD2A6957-A808-5F0A-1BB7-7AD4A71D9DC3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6677304" y="4937943"/>
                  <a:ext cx="2674065" cy="2674086"/>
                </a:xfrm>
                <a:prstGeom prst="rect">
                  <a:avLst/>
                </a:prstGeom>
              </p:spPr>
            </p:pic>
            <p:pic>
              <p:nvPicPr>
                <p:cNvPr id="8" name="object 12">
                  <a:extLst>
                    <a:ext uri="{FF2B5EF4-FFF2-40B4-BE49-F238E27FC236}">
                      <a16:creationId xmlns:a16="http://schemas.microsoft.com/office/drawing/2014/main" id="{3C8F6CB9-1C8F-7C8D-B790-27D5F75FD603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6748076" y="7829311"/>
                  <a:ext cx="2567660" cy="454279"/>
                </a:xfrm>
                <a:prstGeom prst="rect">
                  <a:avLst/>
                </a:prstGeom>
              </p:spPr>
            </p:pic>
            <p:pic>
              <p:nvPicPr>
                <p:cNvPr id="9" name="object 13">
                  <a:extLst>
                    <a:ext uri="{FF2B5EF4-FFF2-40B4-BE49-F238E27FC236}">
                      <a16:creationId xmlns:a16="http://schemas.microsoft.com/office/drawing/2014/main" id="{232F9643-329E-3A35-E6BF-4C66814D5E1C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6347486" y="5109971"/>
                  <a:ext cx="2815287" cy="2872422"/>
                </a:xfrm>
                <a:prstGeom prst="rect">
                  <a:avLst/>
                </a:prstGeom>
              </p:spPr>
            </p:pic>
            <p:pic>
              <p:nvPicPr>
                <p:cNvPr id="10" name="object 14">
                  <a:extLst>
                    <a:ext uri="{FF2B5EF4-FFF2-40B4-BE49-F238E27FC236}">
                      <a16:creationId xmlns:a16="http://schemas.microsoft.com/office/drawing/2014/main" id="{1255F8FE-E054-51E1-C5C8-D0A622FE0B79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6051354" y="2693656"/>
                  <a:ext cx="3735865" cy="2088742"/>
                </a:xfrm>
                <a:prstGeom prst="rect">
                  <a:avLst/>
                </a:prstGeom>
              </p:spPr>
            </p:pic>
            <p:sp>
              <p:nvSpPr>
                <p:cNvPr id="11" name="object 15">
                  <a:extLst>
                    <a:ext uri="{FF2B5EF4-FFF2-40B4-BE49-F238E27FC236}">
                      <a16:creationId xmlns:a16="http://schemas.microsoft.com/office/drawing/2014/main" id="{1625DB51-D5B1-1450-FD1D-7D17ED457D99}"/>
                    </a:ext>
                  </a:extLst>
                </p:cNvPr>
                <p:cNvSpPr/>
                <p:nvPr/>
              </p:nvSpPr>
              <p:spPr>
                <a:xfrm>
                  <a:off x="6051395" y="2693637"/>
                  <a:ext cx="728345" cy="208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8345" h="2089150">
                      <a:moveTo>
                        <a:pt x="728271" y="2088721"/>
                      </a:moveTo>
                      <a:lnTo>
                        <a:pt x="183795" y="2088721"/>
                      </a:lnTo>
                      <a:lnTo>
                        <a:pt x="134936" y="2082156"/>
                      </a:lnTo>
                      <a:lnTo>
                        <a:pt x="91031" y="2063627"/>
                      </a:lnTo>
                      <a:lnTo>
                        <a:pt x="53833" y="2034888"/>
                      </a:lnTo>
                      <a:lnTo>
                        <a:pt x="25094" y="1997690"/>
                      </a:lnTo>
                      <a:lnTo>
                        <a:pt x="6565" y="1953785"/>
                      </a:lnTo>
                      <a:lnTo>
                        <a:pt x="0" y="1904926"/>
                      </a:lnTo>
                      <a:lnTo>
                        <a:pt x="0" y="183795"/>
                      </a:lnTo>
                      <a:lnTo>
                        <a:pt x="6565" y="134936"/>
                      </a:lnTo>
                      <a:lnTo>
                        <a:pt x="25094" y="91031"/>
                      </a:lnTo>
                      <a:lnTo>
                        <a:pt x="53833" y="53833"/>
                      </a:lnTo>
                      <a:lnTo>
                        <a:pt x="91031" y="25094"/>
                      </a:lnTo>
                      <a:lnTo>
                        <a:pt x="134936" y="6565"/>
                      </a:lnTo>
                      <a:lnTo>
                        <a:pt x="183795" y="0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sp>
              <p:nvSpPr>
                <p:cNvPr id="12" name="object 16">
                  <a:extLst>
                    <a:ext uri="{FF2B5EF4-FFF2-40B4-BE49-F238E27FC236}">
                      <a16:creationId xmlns:a16="http://schemas.microsoft.com/office/drawing/2014/main" id="{64B01183-7350-5093-8FE4-4738800E278C}"/>
                    </a:ext>
                  </a:extLst>
                </p:cNvPr>
                <p:cNvSpPr/>
                <p:nvPr/>
              </p:nvSpPr>
              <p:spPr>
                <a:xfrm>
                  <a:off x="7092089" y="4782359"/>
                  <a:ext cx="1850389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390">
                      <a:moveTo>
                        <a:pt x="1850090" y="0"/>
                      </a:moveTo>
                      <a:lnTo>
                        <a:pt x="0" y="0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sp>
              <p:nvSpPr>
                <p:cNvPr id="13" name="object 17">
                  <a:extLst>
                    <a:ext uri="{FF2B5EF4-FFF2-40B4-BE49-F238E27FC236}">
                      <a16:creationId xmlns:a16="http://schemas.microsoft.com/office/drawing/2014/main" id="{DBC2D5A1-7410-06F1-5ECC-D62A16F8E23D}"/>
                    </a:ext>
                  </a:extLst>
                </p:cNvPr>
                <p:cNvSpPr/>
                <p:nvPr/>
              </p:nvSpPr>
              <p:spPr>
                <a:xfrm>
                  <a:off x="6743899" y="2693639"/>
                  <a:ext cx="3043555" cy="208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3554" h="2089150">
                      <a:moveTo>
                        <a:pt x="0" y="0"/>
                      </a:moveTo>
                      <a:lnTo>
                        <a:pt x="2859546" y="0"/>
                      </a:lnTo>
                      <a:lnTo>
                        <a:pt x="2908405" y="6565"/>
                      </a:lnTo>
                      <a:lnTo>
                        <a:pt x="2952310" y="25094"/>
                      </a:lnTo>
                      <a:lnTo>
                        <a:pt x="2989508" y="53833"/>
                      </a:lnTo>
                      <a:lnTo>
                        <a:pt x="3018247" y="91031"/>
                      </a:lnTo>
                      <a:lnTo>
                        <a:pt x="3036776" y="134936"/>
                      </a:lnTo>
                      <a:lnTo>
                        <a:pt x="3043341" y="183795"/>
                      </a:lnTo>
                      <a:lnTo>
                        <a:pt x="3043341" y="1904926"/>
                      </a:lnTo>
                      <a:lnTo>
                        <a:pt x="3036776" y="1953785"/>
                      </a:lnTo>
                      <a:lnTo>
                        <a:pt x="3018247" y="1997690"/>
                      </a:lnTo>
                      <a:lnTo>
                        <a:pt x="2989508" y="2034888"/>
                      </a:lnTo>
                      <a:lnTo>
                        <a:pt x="2952310" y="2063627"/>
                      </a:lnTo>
                      <a:lnTo>
                        <a:pt x="2908405" y="2082156"/>
                      </a:lnTo>
                      <a:lnTo>
                        <a:pt x="2859546" y="2088721"/>
                      </a:lnTo>
                      <a:lnTo>
                        <a:pt x="2646202" y="2088721"/>
                      </a:lnTo>
                    </a:path>
                  </a:pathLst>
                </a:custGeom>
                <a:ln w="12072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lang="pt-PT" dirty="0"/>
                </a:p>
              </p:txBody>
            </p:sp>
            <p:pic>
              <p:nvPicPr>
                <p:cNvPr id="14" name="object 18">
                  <a:extLst>
                    <a:ext uri="{FF2B5EF4-FFF2-40B4-BE49-F238E27FC236}">
                      <a16:creationId xmlns:a16="http://schemas.microsoft.com/office/drawing/2014/main" id="{DA999239-6AAB-3C3E-0CDF-A4AF077D0A76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6511892" y="2597332"/>
                  <a:ext cx="141859" cy="193983"/>
                </a:xfrm>
                <a:prstGeom prst="rect">
                  <a:avLst/>
                </a:prstGeom>
              </p:spPr>
            </p:pic>
            <p:pic>
              <p:nvPicPr>
                <p:cNvPr id="15" name="object 19">
                  <a:extLst>
                    <a:ext uri="{FF2B5EF4-FFF2-40B4-BE49-F238E27FC236}">
                      <a16:creationId xmlns:a16="http://schemas.microsoft.com/office/drawing/2014/main" id="{82BDC8FA-F6D0-F2AA-A84E-3B3BB469C54E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9009796" y="4693303"/>
                  <a:ext cx="141859" cy="193983"/>
                </a:xfrm>
                <a:prstGeom prst="rect">
                  <a:avLst/>
                </a:prstGeom>
              </p:spPr>
            </p:pic>
            <p:pic>
              <p:nvPicPr>
                <p:cNvPr id="16" name="object 20">
                  <a:extLst>
                    <a:ext uri="{FF2B5EF4-FFF2-40B4-BE49-F238E27FC236}">
                      <a16:creationId xmlns:a16="http://schemas.microsoft.com/office/drawing/2014/main" id="{D735FF73-6D47-E8C5-1CC1-188C4F863D7E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6340762" y="2597330"/>
                  <a:ext cx="141859" cy="193889"/>
                </a:xfrm>
                <a:prstGeom prst="rect">
                  <a:avLst/>
                </a:prstGeom>
              </p:spPr>
            </p:pic>
            <p:pic>
              <p:nvPicPr>
                <p:cNvPr id="17" name="object 21">
                  <a:extLst>
                    <a:ext uri="{FF2B5EF4-FFF2-40B4-BE49-F238E27FC236}">
                      <a16:creationId xmlns:a16="http://schemas.microsoft.com/office/drawing/2014/main" id="{85B48ACD-6499-A923-3CE2-9BE38F0D588E}"/>
                    </a:ext>
                  </a:extLst>
                </p:cNvPr>
                <p:cNvPicPr/>
                <p:nvPr/>
              </p:nvPicPr>
              <p:blipFill>
                <a:blip r:embed="rId9" cstate="print"/>
                <a:stretch>
                  <a:fillRect/>
                </a:stretch>
              </p:blipFill>
              <p:spPr>
                <a:xfrm>
                  <a:off x="9180924" y="4693300"/>
                  <a:ext cx="141859" cy="193889"/>
                </a:xfrm>
                <a:prstGeom prst="rect">
                  <a:avLst/>
                </a:prstGeom>
              </p:spPr>
            </p:pic>
          </p:grpSp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554B202E-BFA4-CB0C-1C18-1107DFC166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00037" y="4644578"/>
                <a:ext cx="4397544" cy="1471612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GB" sz="3200" b="1" i="0" kern="1200" dirty="0" smtClean="0">
                    <a:solidFill>
                      <a:srgbClr val="251B55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  <a:lvl2pPr marL="4572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lang="en-PT" sz="2000" b="1" kern="1200" spc="-1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2pPr>
                <a:lvl3pPr marL="9144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3pPr>
                <a:lvl4pPr marL="13716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4pPr>
                <a:lvl5pPr marL="1828800" indent="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rgbClr val="58595B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buSzPct val="125000"/>
                </a:pPr>
                <a:r>
                  <a:rPr lang="pt-PT" sz="2400" b="0" spc="10" dirty="0">
                    <a:solidFill>
                      <a:srgbClr val="241B54"/>
                    </a:solidFill>
                    <a:latin typeface="Open Sans"/>
                    <a:cs typeface="Open Sans"/>
                  </a:rPr>
                  <a:t>Os Ouros são o bem mais transacionável.</a:t>
                </a:r>
              </a:p>
            </p:txBody>
          </p:sp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6A1251-19B3-43A9-5041-D130C82D8978}"/>
                </a:ext>
              </a:extLst>
            </p:cNvPr>
            <p:cNvCxnSpPr/>
            <p:nvPr/>
          </p:nvCxnSpPr>
          <p:spPr>
            <a:xfrm>
              <a:off x="15290632" y="6651827"/>
              <a:ext cx="476418" cy="0"/>
            </a:xfrm>
            <a:prstGeom prst="line">
              <a:avLst/>
            </a:prstGeom>
            <a:ln w="1270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D861276-FEFD-8067-F770-F94FC54FDB7D}"/>
              </a:ext>
            </a:extLst>
          </p:cNvPr>
          <p:cNvSpPr txBox="1"/>
          <p:nvPr/>
        </p:nvSpPr>
        <p:spPr>
          <a:xfrm>
            <a:off x="1382425" y="3292475"/>
            <a:ext cx="10719922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10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Notaram que certo naipe era mais procurado? Qual?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9F5D4F-9DF3-2780-D7C4-4C4F9EA41CCE}"/>
              </a:ext>
            </a:extLst>
          </p:cNvPr>
          <p:cNvSpPr txBox="1"/>
          <p:nvPr/>
        </p:nvSpPr>
        <p:spPr>
          <a:xfrm>
            <a:off x="1382425" y="4425738"/>
            <a:ext cx="12491975" cy="6193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2138" indent="-592138" algn="l" rtl="0">
              <a:lnSpc>
                <a:spcPct val="114000"/>
              </a:lnSpc>
              <a:buSzPct val="125000"/>
              <a:buBlip>
                <a:blip r:embed="rId10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 vantagens trouxe ter um bem comum aceite por todos?</a:t>
            </a:r>
          </a:p>
        </p:txBody>
      </p:sp>
    </p:spTree>
    <p:extLst>
      <p:ext uri="{BB962C8B-B14F-4D97-AF65-F5344CB8AC3E}">
        <p14:creationId xmlns:p14="http://schemas.microsoft.com/office/powerpoint/2010/main" val="236502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5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142CF-8F8A-3854-DEB9-10F23FAD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E5EE-7C85-7459-B756-8F85501A9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dirty="0"/>
              <a:t>Atividade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350F2-7EA1-DADB-7508-882E328F0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2" y="2301875"/>
            <a:ext cx="17352000" cy="8405811"/>
          </a:xfrm>
        </p:spPr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pt-PT" b="1" dirty="0"/>
              <a:t>Após a realização da atividade, responde às seguintes questões: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3872A-E55F-C05A-49DF-277F70FD3DA0}"/>
              </a:ext>
            </a:extLst>
          </p:cNvPr>
          <p:cNvSpPr txBox="1"/>
          <p:nvPr/>
        </p:nvSpPr>
        <p:spPr>
          <a:xfrm>
            <a:off x="1382425" y="3292475"/>
            <a:ext cx="11426461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Quais são os benefícios e desvantagens da troca direta?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8FCA27-8A13-1481-8032-C76D0CD2D0BB}"/>
              </a:ext>
            </a:extLst>
          </p:cNvPr>
          <p:cNvSpPr txBox="1"/>
          <p:nvPr/>
        </p:nvSpPr>
        <p:spPr>
          <a:xfrm>
            <a:off x="1365250" y="4283075"/>
            <a:ext cx="14185230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É possível ter uma economia desenvolvida apenas com trocas diretas?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35740-6066-5298-44FE-13BB4A6ADF57}"/>
              </a:ext>
            </a:extLst>
          </p:cNvPr>
          <p:cNvSpPr txBox="1"/>
          <p:nvPr/>
        </p:nvSpPr>
        <p:spPr>
          <a:xfrm>
            <a:off x="1388480" y="5303727"/>
            <a:ext cx="12685204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Porque é que o dinheiro surgiu? Que problemas veio resolver?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49FCD7-1248-F74D-DEB3-CF7B7C02DF71}"/>
              </a:ext>
            </a:extLst>
          </p:cNvPr>
          <p:cNvSpPr txBox="1"/>
          <p:nvPr/>
        </p:nvSpPr>
        <p:spPr>
          <a:xfrm>
            <a:off x="1382425" y="6264275"/>
            <a:ext cx="16540425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Como é que o dinheiro facilita a especialização e o comércio entre desconhecidos?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73C637-BAC6-8643-9951-88A8330D4EDF}"/>
              </a:ext>
            </a:extLst>
          </p:cNvPr>
          <p:cNvSpPr txBox="1"/>
          <p:nvPr/>
        </p:nvSpPr>
        <p:spPr>
          <a:xfrm>
            <a:off x="1384935" y="7284927"/>
            <a:ext cx="9711633" cy="7522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 características deve ter um bom dinheiro?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04CB75-147F-045A-71D3-70CAAF69A8FC}"/>
              </a:ext>
            </a:extLst>
          </p:cNvPr>
          <p:cNvSpPr txBox="1"/>
          <p:nvPr/>
        </p:nvSpPr>
        <p:spPr>
          <a:xfrm>
            <a:off x="1382425" y="8244049"/>
            <a:ext cx="17338963" cy="1490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2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Será que o dinheiro de hoje cumpre as mesmas funções que o ouro cumpria no passado?</a:t>
            </a:r>
          </a:p>
        </p:txBody>
      </p:sp>
    </p:spTree>
    <p:extLst>
      <p:ext uri="{BB962C8B-B14F-4D97-AF65-F5344CB8AC3E}">
        <p14:creationId xmlns:p14="http://schemas.microsoft.com/office/powerpoint/2010/main" val="30092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6" grpId="0"/>
      <p:bldP spid="7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218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a yellow sun and black text&#10;&#10;AI-generated content may be incorrect.">
            <a:extLst>
              <a:ext uri="{FF2B5EF4-FFF2-40B4-BE49-F238E27FC236}">
                <a16:creationId xmlns:a16="http://schemas.microsoft.com/office/drawing/2014/main" id="{5C804049-FBAA-4F11-AD08-1A3A749D7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850" y="3582035"/>
            <a:ext cx="7772400" cy="414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178460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Custom 1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6755</TotalTime>
  <Words>430</Words>
  <Application>Microsoft Macintosh PowerPoint</Application>
  <PresentationFormat>Custom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Open Sans</vt:lpstr>
      <vt:lpstr>Open Sans Light</vt:lpstr>
      <vt:lpstr>Ubuntu Light</vt:lpstr>
      <vt:lpstr>1_Custom Design</vt:lpstr>
      <vt:lpstr>A história do dinheiro</vt:lpstr>
      <vt:lpstr>Atividade</vt:lpstr>
      <vt:lpstr>Atividade</vt:lpstr>
      <vt:lpstr>Atividade</vt:lpstr>
      <vt:lpstr>Atividade</vt:lpstr>
      <vt:lpstr>Atividade</vt:lpstr>
      <vt:lpstr>Atividade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Source</dc:title>
  <dc:creator>z2020</dc:creator>
  <cp:lastModifiedBy>INES RAMALHETE SALVADO PAZ LOURO</cp:lastModifiedBy>
  <cp:revision>153</cp:revision>
  <dcterms:created xsi:type="dcterms:W3CDTF">2024-11-12T03:26:48Z</dcterms:created>
  <dcterms:modified xsi:type="dcterms:W3CDTF">2025-10-11T12:21:06Z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2024-11-12T00:00:00Z</vt:filetime>
  </property>
  <property fmtid="{D5CDD505-2E9C-101B-9397-08002B2CF9AE}" pid="3" name="Creator">
    <vt:lpwstr>Adobe Illustrator 29.0 (Windows)</vt:lpwstr>
  </property>
  <property fmtid="{D5CDD505-2E9C-101B-9397-08002B2CF9AE}" pid="4" name="LastSaved">
    <vt:filetime>2024-11-12T00:00:00Z</vt:filetime>
  </property>
  <property fmtid="{D5CDD505-2E9C-101B-9397-08002B2CF9AE}" pid="5" name="Producer">
    <vt:lpwstr>Adobe PDF library 17.00</vt:lpwstr>
  </property>
</Properties>
</file>