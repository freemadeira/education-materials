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1"/>
  </p:notesMasterIdLst>
  <p:sldIdLst>
    <p:sldId id="260" r:id="rId2"/>
    <p:sldId id="278" r:id="rId3"/>
    <p:sldId id="273" r:id="rId4"/>
    <p:sldId id="274" r:id="rId5"/>
    <p:sldId id="281" r:id="rId6"/>
    <p:sldId id="282" r:id="rId7"/>
    <p:sldId id="275" r:id="rId8"/>
    <p:sldId id="269" r:id="rId9"/>
    <p:sldId id="268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BB040"/>
    <a:srgbClr val="58595B"/>
    <a:srgbClr val="E4E0FD"/>
    <a:srgbClr val="392569"/>
    <a:srgbClr val="161346"/>
    <a:srgbClr val="0C4C24"/>
    <a:srgbClr val="653B93"/>
    <a:srgbClr val="FEFEFF"/>
    <a:srgbClr val="F1E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2259"/>
  </p:normalViewPr>
  <p:slideViewPr>
    <p:cSldViewPr>
      <p:cViewPr varScale="1">
        <p:scale>
          <a:sx n="49" d="100"/>
          <a:sy n="49" d="100"/>
        </p:scale>
        <p:origin x="1768" y="5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17/04/2026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58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 história do dinheiro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#3 – Sessão prática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Atividade: Jogo das trocas diretas</a:t>
            </a:r>
          </a:p>
          <a:p>
            <a:r>
              <a:rPr lang="pt-PT" dirty="0"/>
              <a:t>Esclarecimento de dúvidas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E9831-55F4-ED68-97ED-4A0CC022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38C0-D46C-5A0A-F596-291722D6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26111-1E53-A1A7-43F0-2D47E059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Jogo das trocas diretas</a:t>
            </a:r>
          </a:p>
          <a:p>
            <a:pPr marL="0" indent="0">
              <a:buSzPct val="125000"/>
              <a:buNone/>
            </a:pPr>
            <a:r>
              <a:rPr lang="pt-PT" dirty="0"/>
              <a:t>Neste jogo estarão divididos em 4 equipas. Terão de negociar e trocar cartas com os outros grupos para conseguir atingir o objetivo do vosso grupo. Cada grupo vai fazer parte de um mercado:</a:t>
            </a:r>
          </a:p>
          <a:p>
            <a:pPr marL="0" indent="0">
              <a:buSzPct val="125000"/>
              <a:buNone/>
            </a:pPr>
            <a:r>
              <a:rPr lang="pt-PT" dirty="0"/>
              <a:t>♣️ Fabricantes de Paus</a:t>
            </a:r>
          </a:p>
          <a:p>
            <a:pPr marL="0" indent="0">
              <a:buSzPct val="125000"/>
              <a:buNone/>
            </a:pPr>
            <a:r>
              <a:rPr lang="pt-PT" dirty="0"/>
              <a:t>♠️ Fabricantes de Espadas</a:t>
            </a:r>
          </a:p>
          <a:p>
            <a:pPr marL="0" indent="0">
              <a:buSzPct val="125000"/>
              <a:buNone/>
            </a:pPr>
            <a:r>
              <a:rPr lang="pt-PT" dirty="0"/>
              <a:t>♥️ Fabricantes de Copas</a:t>
            </a:r>
          </a:p>
          <a:p>
            <a:pPr marL="0" indent="0">
              <a:buSzPct val="125000"/>
              <a:buNone/>
            </a:pPr>
            <a:r>
              <a:rPr lang="pt-PT" dirty="0"/>
              <a:t>♦️ Fabricantes de Ouros</a:t>
            </a:r>
          </a:p>
        </p:txBody>
      </p:sp>
    </p:spTree>
    <p:extLst>
      <p:ext uri="{BB962C8B-B14F-4D97-AF65-F5344CB8AC3E}">
        <p14:creationId xmlns:p14="http://schemas.microsoft.com/office/powerpoint/2010/main" val="66397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E38B-0E25-CEBD-8927-1C9CA775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BCCF-EA96-EBF1-28E2-5E3BA85F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2839-FEE5-5205-8A38-3CED67AC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Jogo das trocas diretas</a:t>
            </a:r>
          </a:p>
          <a:p>
            <a:pPr marL="0" indent="0">
              <a:buSzPct val="125000"/>
              <a:buNone/>
            </a:pPr>
            <a:r>
              <a:rPr lang="pt-PT" dirty="0"/>
              <a:t>Os representantes de cada grupo devem, à vez, negociar com os restantes grupos. </a:t>
            </a:r>
          </a:p>
          <a:p>
            <a:pPr marL="0" indent="0">
              <a:buSzPct val="125000"/>
              <a:buNone/>
            </a:pPr>
            <a:r>
              <a:rPr lang="pt-PT" dirty="0"/>
              <a:t>Cada grupo terá uma folha de Registo de Trocas que deve atualizar à medida que efetua transações.</a:t>
            </a:r>
          </a:p>
          <a:p>
            <a:pPr marL="0" indent="0">
              <a:buSzPct val="125000"/>
              <a:buNone/>
            </a:pPr>
            <a:endParaRPr lang="pt-PT" dirty="0"/>
          </a:p>
          <a:p>
            <a:pPr marL="0" indent="0">
              <a:buSzPct val="125000"/>
              <a:buNone/>
            </a:pPr>
            <a:endParaRPr lang="pt-PT" dirty="0"/>
          </a:p>
          <a:p>
            <a:pPr marL="0" indent="0">
              <a:buSzPct val="125000"/>
              <a:buNone/>
            </a:pPr>
            <a:endParaRPr lang="pt-PT" dirty="0"/>
          </a:p>
          <a:p>
            <a:pPr marL="0" indent="0">
              <a:buSzPct val="125000"/>
              <a:buNone/>
            </a:pPr>
            <a:endParaRPr lang="pt-PT" dirty="0"/>
          </a:p>
          <a:p>
            <a:pPr marL="0" indent="0">
              <a:buSzPct val="125000"/>
              <a:buNone/>
            </a:pPr>
            <a:r>
              <a:rPr lang="pt-PT" dirty="0"/>
              <a:t>Quando atingirem o objetivo, ou quando o tempo terminar, devem voltar à sala principal.</a:t>
            </a:r>
          </a:p>
        </p:txBody>
      </p:sp>
      <p:pic>
        <p:nvPicPr>
          <p:cNvPr id="13" name="Picture 12" descr="A screenshot of a table&#10;&#10;AI-generated content may be incorrect.">
            <a:extLst>
              <a:ext uri="{FF2B5EF4-FFF2-40B4-BE49-F238E27FC236}">
                <a16:creationId xmlns:a16="http://schemas.microsoft.com/office/drawing/2014/main" id="{94ADC982-87D1-D217-DA67-279377CD3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850" y="5197475"/>
            <a:ext cx="815314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5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6C9C-182D-0CCB-E8D5-200C4DB0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7600C-0F95-15DB-1C7B-6A99F02CB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2491975" cy="8405811"/>
          </a:xfrm>
        </p:spPr>
        <p:txBody>
          <a:bodyPr/>
          <a:lstStyle/>
          <a:p>
            <a:pPr marL="0" indent="0">
              <a:spcAft>
                <a:spcPts val="1000"/>
              </a:spcAft>
              <a:buSzPct val="125000"/>
              <a:buNone/>
            </a:pPr>
            <a:r>
              <a:rPr lang="pt-PT" b="1" dirty="0"/>
              <a:t>Ronda #1</a:t>
            </a:r>
            <a:r>
              <a:rPr lang="pt-PT" dirty="0"/>
              <a:t> (5 minutos)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1AC2E-7B48-E0A0-858A-DE8F616720DD}"/>
              </a:ext>
            </a:extLst>
          </p:cNvPr>
          <p:cNvSpPr txBox="1"/>
          <p:nvPr/>
        </p:nvSpPr>
        <p:spPr>
          <a:xfrm>
            <a:off x="1382425" y="3292475"/>
            <a:ext cx="5582106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Foi fácil chegar a acordo?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6635BD-A4A5-1AE4-FEA6-95F89193BF81}"/>
              </a:ext>
            </a:extLst>
          </p:cNvPr>
          <p:cNvSpPr txBox="1"/>
          <p:nvPr/>
        </p:nvSpPr>
        <p:spPr>
          <a:xfrm>
            <a:off x="1382425" y="4301309"/>
            <a:ext cx="11686341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Todos os grupos conseguiram atingir o objetivo? Porquê?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983A02-7C91-5062-9259-ED0FE25F6125}"/>
              </a:ext>
            </a:extLst>
          </p:cNvPr>
          <p:cNvSpPr txBox="1"/>
          <p:nvPr/>
        </p:nvSpPr>
        <p:spPr>
          <a:xfrm>
            <a:off x="4446146" y="6116190"/>
            <a:ext cx="6463629" cy="335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♣️ Fabricantes de Paus         → ♠️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♠️ Fabricantes de Espadas   → ♣️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♥️ Fabricantes de Copas       → ♦️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♦️ Fabricantes de Ouros       → ♥️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9A73F0-8A32-6869-C9EA-5DBD33FEF4C2}"/>
              </a:ext>
            </a:extLst>
          </p:cNvPr>
          <p:cNvGrpSpPr/>
          <p:nvPr/>
        </p:nvGrpSpPr>
        <p:grpSpPr>
          <a:xfrm>
            <a:off x="14435530" y="3978275"/>
            <a:ext cx="4587240" cy="6957780"/>
            <a:chOff x="14435530" y="3978275"/>
            <a:chExt cx="4587240" cy="69577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B5E7055-B597-0F06-9CA3-601FCBC8714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435530" y="3978275"/>
              <a:ext cx="4587240" cy="6957780"/>
              <a:chOff x="14435530" y="3978275"/>
              <a:chExt cx="4587240" cy="6957780"/>
            </a:xfrm>
          </p:grpSpPr>
          <p:grpSp>
            <p:nvGrpSpPr>
              <p:cNvPr id="6" name="object 10">
                <a:extLst>
                  <a:ext uri="{FF2B5EF4-FFF2-40B4-BE49-F238E27FC236}">
                    <a16:creationId xmlns:a16="http://schemas.microsoft.com/office/drawing/2014/main" id="{68796091-5486-A8D9-C144-E21BB3FEEC2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530" y="3978275"/>
                <a:ext cx="4587240" cy="6957780"/>
                <a:chOff x="6045045" y="2597330"/>
                <a:chExt cx="3749040" cy="5686425"/>
              </a:xfrm>
            </p:grpSpPr>
            <p:pic>
              <p:nvPicPr>
                <p:cNvPr id="7" name="object 11">
                  <a:extLst>
                    <a:ext uri="{FF2B5EF4-FFF2-40B4-BE49-F238E27FC236}">
                      <a16:creationId xmlns:a16="http://schemas.microsoft.com/office/drawing/2014/main" id="{CB2BC736-A941-043E-8E06-0B1F6E839859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677304" y="4937943"/>
                  <a:ext cx="2674065" cy="2674086"/>
                </a:xfrm>
                <a:prstGeom prst="rect">
                  <a:avLst/>
                </a:prstGeom>
              </p:spPr>
            </p:pic>
            <p:pic>
              <p:nvPicPr>
                <p:cNvPr id="8" name="object 12">
                  <a:extLst>
                    <a:ext uri="{FF2B5EF4-FFF2-40B4-BE49-F238E27FC236}">
                      <a16:creationId xmlns:a16="http://schemas.microsoft.com/office/drawing/2014/main" id="{44A65CBE-6EDA-10F2-BFF2-86D09D195112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748076" y="7829311"/>
                  <a:ext cx="2567660" cy="454279"/>
                </a:xfrm>
                <a:prstGeom prst="rect">
                  <a:avLst/>
                </a:prstGeom>
              </p:spPr>
            </p:pic>
            <p:pic>
              <p:nvPicPr>
                <p:cNvPr id="9" name="object 13">
                  <a:extLst>
                    <a:ext uri="{FF2B5EF4-FFF2-40B4-BE49-F238E27FC236}">
                      <a16:creationId xmlns:a16="http://schemas.microsoft.com/office/drawing/2014/main" id="{55DFA648-8195-8017-7BFD-CCA44B502980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347486" y="5109971"/>
                  <a:ext cx="2815287" cy="2872422"/>
                </a:xfrm>
                <a:prstGeom prst="rect">
                  <a:avLst/>
                </a:prstGeom>
              </p:spPr>
            </p:pic>
            <p:pic>
              <p:nvPicPr>
                <p:cNvPr id="10" name="object 14">
                  <a:extLst>
                    <a:ext uri="{FF2B5EF4-FFF2-40B4-BE49-F238E27FC236}">
                      <a16:creationId xmlns:a16="http://schemas.microsoft.com/office/drawing/2014/main" id="{DC74F718-D3FB-E526-22AC-FAC307A02970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6051354" y="2693656"/>
                  <a:ext cx="3735865" cy="2088742"/>
                </a:xfrm>
                <a:prstGeom prst="rect">
                  <a:avLst/>
                </a:prstGeom>
              </p:spPr>
            </p:pic>
            <p:sp>
              <p:nvSpPr>
                <p:cNvPr id="11" name="object 15">
                  <a:extLst>
                    <a:ext uri="{FF2B5EF4-FFF2-40B4-BE49-F238E27FC236}">
                      <a16:creationId xmlns:a16="http://schemas.microsoft.com/office/drawing/2014/main" id="{7EC1844A-619E-6D2B-AE98-B4430331D439}"/>
                    </a:ext>
                  </a:extLst>
                </p:cNvPr>
                <p:cNvSpPr/>
                <p:nvPr/>
              </p:nvSpPr>
              <p:spPr>
                <a:xfrm>
                  <a:off x="6051395" y="2693637"/>
                  <a:ext cx="728345" cy="208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345" h="2089150">
                      <a:moveTo>
                        <a:pt x="728271" y="2088721"/>
                      </a:moveTo>
                      <a:lnTo>
                        <a:pt x="183795" y="2088721"/>
                      </a:lnTo>
                      <a:lnTo>
                        <a:pt x="134936" y="2082156"/>
                      </a:lnTo>
                      <a:lnTo>
                        <a:pt x="91031" y="2063627"/>
                      </a:lnTo>
                      <a:lnTo>
                        <a:pt x="53833" y="2034888"/>
                      </a:lnTo>
                      <a:lnTo>
                        <a:pt x="25094" y="1997690"/>
                      </a:lnTo>
                      <a:lnTo>
                        <a:pt x="6565" y="1953785"/>
                      </a:lnTo>
                      <a:lnTo>
                        <a:pt x="0" y="1904926"/>
                      </a:lnTo>
                      <a:lnTo>
                        <a:pt x="0" y="183795"/>
                      </a:lnTo>
                      <a:lnTo>
                        <a:pt x="6565" y="134936"/>
                      </a:lnTo>
                      <a:lnTo>
                        <a:pt x="25094" y="91031"/>
                      </a:lnTo>
                      <a:lnTo>
                        <a:pt x="53833" y="53833"/>
                      </a:lnTo>
                      <a:lnTo>
                        <a:pt x="91031" y="25094"/>
                      </a:lnTo>
                      <a:lnTo>
                        <a:pt x="134936" y="6565"/>
                      </a:lnTo>
                      <a:lnTo>
                        <a:pt x="183795" y="0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4F23D560-30D0-6043-CDA8-CD542A22EC04}"/>
                    </a:ext>
                  </a:extLst>
                </p:cNvPr>
                <p:cNvSpPr/>
                <p:nvPr/>
              </p:nvSpPr>
              <p:spPr>
                <a:xfrm>
                  <a:off x="7092089" y="4782359"/>
                  <a:ext cx="18503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390">
                      <a:moveTo>
                        <a:pt x="1850090" y="0"/>
                      </a:moveTo>
                      <a:lnTo>
                        <a:pt x="0" y="0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13" name="object 17">
                  <a:extLst>
                    <a:ext uri="{FF2B5EF4-FFF2-40B4-BE49-F238E27FC236}">
                      <a16:creationId xmlns:a16="http://schemas.microsoft.com/office/drawing/2014/main" id="{9744CB5D-FB95-E080-BB3D-6459C0C639ED}"/>
                    </a:ext>
                  </a:extLst>
                </p:cNvPr>
                <p:cNvSpPr/>
                <p:nvPr/>
              </p:nvSpPr>
              <p:spPr>
                <a:xfrm>
                  <a:off x="6743899" y="2693639"/>
                  <a:ext cx="3043555" cy="208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3554" h="2089150">
                      <a:moveTo>
                        <a:pt x="0" y="0"/>
                      </a:moveTo>
                      <a:lnTo>
                        <a:pt x="2859546" y="0"/>
                      </a:lnTo>
                      <a:lnTo>
                        <a:pt x="2908405" y="6565"/>
                      </a:lnTo>
                      <a:lnTo>
                        <a:pt x="2952310" y="25094"/>
                      </a:lnTo>
                      <a:lnTo>
                        <a:pt x="2989508" y="53833"/>
                      </a:lnTo>
                      <a:lnTo>
                        <a:pt x="3018247" y="91031"/>
                      </a:lnTo>
                      <a:lnTo>
                        <a:pt x="3036776" y="134936"/>
                      </a:lnTo>
                      <a:lnTo>
                        <a:pt x="3043341" y="183795"/>
                      </a:lnTo>
                      <a:lnTo>
                        <a:pt x="3043341" y="1904926"/>
                      </a:lnTo>
                      <a:lnTo>
                        <a:pt x="3036776" y="1953785"/>
                      </a:lnTo>
                      <a:lnTo>
                        <a:pt x="3018247" y="1997690"/>
                      </a:lnTo>
                      <a:lnTo>
                        <a:pt x="2989508" y="2034888"/>
                      </a:lnTo>
                      <a:lnTo>
                        <a:pt x="2952310" y="2063627"/>
                      </a:lnTo>
                      <a:lnTo>
                        <a:pt x="2908405" y="2082156"/>
                      </a:lnTo>
                      <a:lnTo>
                        <a:pt x="2859546" y="2088721"/>
                      </a:lnTo>
                      <a:lnTo>
                        <a:pt x="2646202" y="2088721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pic>
              <p:nvPicPr>
                <p:cNvPr id="14" name="object 18">
                  <a:extLst>
                    <a:ext uri="{FF2B5EF4-FFF2-40B4-BE49-F238E27FC236}">
                      <a16:creationId xmlns:a16="http://schemas.microsoft.com/office/drawing/2014/main" id="{A84B4159-1962-985E-1142-0A01EC218451}"/>
                    </a:ext>
                  </a:extLst>
                </p:cNvPr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6511892" y="2597332"/>
                  <a:ext cx="141859" cy="193983"/>
                </a:xfrm>
                <a:prstGeom prst="rect">
                  <a:avLst/>
                </a:prstGeom>
              </p:spPr>
            </p:pic>
            <p:pic>
              <p:nvPicPr>
                <p:cNvPr id="15" name="object 19">
                  <a:extLst>
                    <a:ext uri="{FF2B5EF4-FFF2-40B4-BE49-F238E27FC236}">
                      <a16:creationId xmlns:a16="http://schemas.microsoft.com/office/drawing/2014/main" id="{CC3919DE-5E74-5E04-8A00-F856BE92C0AC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9009796" y="4693303"/>
                  <a:ext cx="141859" cy="193983"/>
                </a:xfrm>
                <a:prstGeom prst="rect">
                  <a:avLst/>
                </a:prstGeom>
              </p:spPr>
            </p:pic>
            <p:pic>
              <p:nvPicPr>
                <p:cNvPr id="16" name="object 20">
                  <a:extLst>
                    <a:ext uri="{FF2B5EF4-FFF2-40B4-BE49-F238E27FC236}">
                      <a16:creationId xmlns:a16="http://schemas.microsoft.com/office/drawing/2014/main" id="{135AC5BC-FED7-954B-CE3D-DC5A442F58AF}"/>
                    </a:ext>
                  </a:extLst>
                </p:cNvPr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6340762" y="2597330"/>
                  <a:ext cx="141859" cy="193889"/>
                </a:xfrm>
                <a:prstGeom prst="rect">
                  <a:avLst/>
                </a:prstGeom>
              </p:spPr>
            </p:pic>
            <p:pic>
              <p:nvPicPr>
                <p:cNvPr id="17" name="object 21">
                  <a:extLst>
                    <a:ext uri="{FF2B5EF4-FFF2-40B4-BE49-F238E27FC236}">
                      <a16:creationId xmlns:a16="http://schemas.microsoft.com/office/drawing/2014/main" id="{C0C826CC-BD1B-D5DE-36E8-1CC757132271}"/>
                    </a:ext>
                  </a:extLst>
                </p:cNvPr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9180924" y="4693300"/>
                  <a:ext cx="141859" cy="193889"/>
                </a:xfrm>
                <a:prstGeom prst="rect">
                  <a:avLst/>
                </a:prstGeom>
              </p:spPr>
            </p:pic>
          </p:grpSp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BEAF5D5-B2E1-A572-565C-3DB0ADCAD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00037" y="4644578"/>
                <a:ext cx="4397544" cy="147161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GB" sz="3200" b="1" i="0" kern="1200" dirty="0" smtClean="0">
                    <a:solidFill>
                      <a:srgbClr val="251B55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PT" sz="2000" b="1" kern="1200" spc="-1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3716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18288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buSzPct val="125000"/>
                </a:pPr>
                <a:r>
                  <a:rPr lang="pt-PT" sz="2400" b="0" spc="10" dirty="0">
                    <a:solidFill>
                      <a:srgbClr val="241B54"/>
                    </a:solidFill>
                    <a:latin typeface="Open Sans"/>
                    <a:cs typeface="Open Sans"/>
                  </a:rPr>
                  <a:t>A coincidência de vontades facilitou que cada grupo atingisse o seu objetivo.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BCB2A5-317C-E8C1-DF17-D7D55242CDC7}"/>
                </a:ext>
              </a:extLst>
            </p:cNvPr>
            <p:cNvCxnSpPr/>
            <p:nvPr/>
          </p:nvCxnSpPr>
          <p:spPr>
            <a:xfrm>
              <a:off x="15290632" y="6651827"/>
              <a:ext cx="476418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151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EFE4-B92A-A1DE-CB1E-0AD065A8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2A46-AA8B-14A3-2C24-071BD251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D0CA-2340-C231-643A-5925EB56B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2491975" cy="8405811"/>
          </a:xfrm>
        </p:spPr>
        <p:txBody>
          <a:bodyPr/>
          <a:lstStyle/>
          <a:p>
            <a:pPr marL="0" indent="0">
              <a:spcAft>
                <a:spcPts val="1000"/>
              </a:spcAft>
              <a:buSzPct val="125000"/>
              <a:buNone/>
            </a:pPr>
            <a:r>
              <a:rPr lang="pt-PT" b="1" dirty="0"/>
              <a:t>Ronda #2</a:t>
            </a:r>
            <a:r>
              <a:rPr lang="pt-PT" dirty="0"/>
              <a:t> (5 minutos)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4EFC2-934D-4CE5-3B8D-BD3ED700F2ED}"/>
              </a:ext>
            </a:extLst>
          </p:cNvPr>
          <p:cNvSpPr txBox="1"/>
          <p:nvPr/>
        </p:nvSpPr>
        <p:spPr>
          <a:xfrm>
            <a:off x="1382426" y="3418150"/>
            <a:ext cx="12491976" cy="61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14000"/>
              </a:lnSpc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que mudou nesta ronda em relação à anterior?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E8B499-7EF0-169B-EB6F-3601DCD34BAA}"/>
              </a:ext>
            </a:extLst>
          </p:cNvPr>
          <p:cNvSpPr txBox="1"/>
          <p:nvPr/>
        </p:nvSpPr>
        <p:spPr>
          <a:xfrm>
            <a:off x="1382425" y="5349875"/>
            <a:ext cx="11726608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Houve alguma situação de impasse? Como a resolveram?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F9C385-0C89-9844-C33A-D4D1D7F2A7F7}"/>
              </a:ext>
            </a:extLst>
          </p:cNvPr>
          <p:cNvSpPr txBox="1"/>
          <p:nvPr/>
        </p:nvSpPr>
        <p:spPr>
          <a:xfrm>
            <a:off x="4442917" y="7211013"/>
            <a:ext cx="6463629" cy="335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♣️ Fabricantes de Paus         → ♠️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♠️ Fabricantes de Espadas   → ♥️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♥️ Fabricantes de Copas       → ♦️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♦️ Fabricantes de Ouros       → ♣️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0136BDC-9ECF-B3EA-C7C1-FCC2BC322EFD}"/>
              </a:ext>
            </a:extLst>
          </p:cNvPr>
          <p:cNvGrpSpPr/>
          <p:nvPr/>
        </p:nvGrpSpPr>
        <p:grpSpPr>
          <a:xfrm>
            <a:off x="14435530" y="3978275"/>
            <a:ext cx="4587240" cy="6957780"/>
            <a:chOff x="14435530" y="3978275"/>
            <a:chExt cx="4587240" cy="69577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0540AE2-CA85-89F3-2729-82D29CA658D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435530" y="3978275"/>
              <a:ext cx="4587240" cy="6957780"/>
              <a:chOff x="14435530" y="3978275"/>
              <a:chExt cx="4587240" cy="6957780"/>
            </a:xfrm>
          </p:grpSpPr>
          <p:grpSp>
            <p:nvGrpSpPr>
              <p:cNvPr id="6" name="object 10">
                <a:extLst>
                  <a:ext uri="{FF2B5EF4-FFF2-40B4-BE49-F238E27FC236}">
                    <a16:creationId xmlns:a16="http://schemas.microsoft.com/office/drawing/2014/main" id="{0B063F94-A478-5464-34F8-2072216119D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530" y="3978275"/>
                <a:ext cx="4587240" cy="6957780"/>
                <a:chOff x="6045045" y="2597330"/>
                <a:chExt cx="3749040" cy="5686425"/>
              </a:xfrm>
            </p:grpSpPr>
            <p:pic>
              <p:nvPicPr>
                <p:cNvPr id="7" name="object 11">
                  <a:extLst>
                    <a:ext uri="{FF2B5EF4-FFF2-40B4-BE49-F238E27FC236}">
                      <a16:creationId xmlns:a16="http://schemas.microsoft.com/office/drawing/2014/main" id="{286560C1-9710-3D1D-6E20-32B39902F26E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677304" y="4937943"/>
                  <a:ext cx="2674065" cy="2674086"/>
                </a:xfrm>
                <a:prstGeom prst="rect">
                  <a:avLst/>
                </a:prstGeom>
              </p:spPr>
            </p:pic>
            <p:pic>
              <p:nvPicPr>
                <p:cNvPr id="8" name="object 12">
                  <a:extLst>
                    <a:ext uri="{FF2B5EF4-FFF2-40B4-BE49-F238E27FC236}">
                      <a16:creationId xmlns:a16="http://schemas.microsoft.com/office/drawing/2014/main" id="{4EE9F1E9-3811-1F54-069E-E79BA7347354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748076" y="7829311"/>
                  <a:ext cx="2567660" cy="454279"/>
                </a:xfrm>
                <a:prstGeom prst="rect">
                  <a:avLst/>
                </a:prstGeom>
              </p:spPr>
            </p:pic>
            <p:pic>
              <p:nvPicPr>
                <p:cNvPr id="9" name="object 13">
                  <a:extLst>
                    <a:ext uri="{FF2B5EF4-FFF2-40B4-BE49-F238E27FC236}">
                      <a16:creationId xmlns:a16="http://schemas.microsoft.com/office/drawing/2014/main" id="{21C71B82-15A3-7832-CAFF-A9341FE4DEE1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347486" y="5109971"/>
                  <a:ext cx="2815287" cy="2872422"/>
                </a:xfrm>
                <a:prstGeom prst="rect">
                  <a:avLst/>
                </a:prstGeom>
              </p:spPr>
            </p:pic>
            <p:pic>
              <p:nvPicPr>
                <p:cNvPr id="10" name="object 14">
                  <a:extLst>
                    <a:ext uri="{FF2B5EF4-FFF2-40B4-BE49-F238E27FC236}">
                      <a16:creationId xmlns:a16="http://schemas.microsoft.com/office/drawing/2014/main" id="{E6829DA7-203C-BD04-EEE3-C068C97BBD26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6051354" y="2693656"/>
                  <a:ext cx="3735865" cy="2088742"/>
                </a:xfrm>
                <a:prstGeom prst="rect">
                  <a:avLst/>
                </a:prstGeom>
              </p:spPr>
            </p:pic>
            <p:sp>
              <p:nvSpPr>
                <p:cNvPr id="11" name="object 15">
                  <a:extLst>
                    <a:ext uri="{FF2B5EF4-FFF2-40B4-BE49-F238E27FC236}">
                      <a16:creationId xmlns:a16="http://schemas.microsoft.com/office/drawing/2014/main" id="{1C6AD45A-1E02-9E6D-8E0E-7A3D99E6CCFE}"/>
                    </a:ext>
                  </a:extLst>
                </p:cNvPr>
                <p:cNvSpPr/>
                <p:nvPr/>
              </p:nvSpPr>
              <p:spPr>
                <a:xfrm>
                  <a:off x="6051395" y="2693637"/>
                  <a:ext cx="728345" cy="208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345" h="2089150">
                      <a:moveTo>
                        <a:pt x="728271" y="2088721"/>
                      </a:moveTo>
                      <a:lnTo>
                        <a:pt x="183795" y="2088721"/>
                      </a:lnTo>
                      <a:lnTo>
                        <a:pt x="134936" y="2082156"/>
                      </a:lnTo>
                      <a:lnTo>
                        <a:pt x="91031" y="2063627"/>
                      </a:lnTo>
                      <a:lnTo>
                        <a:pt x="53833" y="2034888"/>
                      </a:lnTo>
                      <a:lnTo>
                        <a:pt x="25094" y="1997690"/>
                      </a:lnTo>
                      <a:lnTo>
                        <a:pt x="6565" y="1953785"/>
                      </a:lnTo>
                      <a:lnTo>
                        <a:pt x="0" y="1904926"/>
                      </a:lnTo>
                      <a:lnTo>
                        <a:pt x="0" y="183795"/>
                      </a:lnTo>
                      <a:lnTo>
                        <a:pt x="6565" y="134936"/>
                      </a:lnTo>
                      <a:lnTo>
                        <a:pt x="25094" y="91031"/>
                      </a:lnTo>
                      <a:lnTo>
                        <a:pt x="53833" y="53833"/>
                      </a:lnTo>
                      <a:lnTo>
                        <a:pt x="91031" y="25094"/>
                      </a:lnTo>
                      <a:lnTo>
                        <a:pt x="134936" y="6565"/>
                      </a:lnTo>
                      <a:lnTo>
                        <a:pt x="183795" y="0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E4FADFE1-A3F4-7B44-5552-D832C7ACEBC5}"/>
                    </a:ext>
                  </a:extLst>
                </p:cNvPr>
                <p:cNvSpPr/>
                <p:nvPr/>
              </p:nvSpPr>
              <p:spPr>
                <a:xfrm>
                  <a:off x="7092089" y="4782359"/>
                  <a:ext cx="18503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390">
                      <a:moveTo>
                        <a:pt x="1850090" y="0"/>
                      </a:moveTo>
                      <a:lnTo>
                        <a:pt x="0" y="0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13" name="object 17">
                  <a:extLst>
                    <a:ext uri="{FF2B5EF4-FFF2-40B4-BE49-F238E27FC236}">
                      <a16:creationId xmlns:a16="http://schemas.microsoft.com/office/drawing/2014/main" id="{7E56F88C-D00A-2489-028F-5182F2C075CA}"/>
                    </a:ext>
                  </a:extLst>
                </p:cNvPr>
                <p:cNvSpPr/>
                <p:nvPr/>
              </p:nvSpPr>
              <p:spPr>
                <a:xfrm>
                  <a:off x="6743899" y="2693639"/>
                  <a:ext cx="3043555" cy="208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3554" h="2089150">
                      <a:moveTo>
                        <a:pt x="0" y="0"/>
                      </a:moveTo>
                      <a:lnTo>
                        <a:pt x="2859546" y="0"/>
                      </a:lnTo>
                      <a:lnTo>
                        <a:pt x="2908405" y="6565"/>
                      </a:lnTo>
                      <a:lnTo>
                        <a:pt x="2952310" y="25094"/>
                      </a:lnTo>
                      <a:lnTo>
                        <a:pt x="2989508" y="53833"/>
                      </a:lnTo>
                      <a:lnTo>
                        <a:pt x="3018247" y="91031"/>
                      </a:lnTo>
                      <a:lnTo>
                        <a:pt x="3036776" y="134936"/>
                      </a:lnTo>
                      <a:lnTo>
                        <a:pt x="3043341" y="183795"/>
                      </a:lnTo>
                      <a:lnTo>
                        <a:pt x="3043341" y="1904926"/>
                      </a:lnTo>
                      <a:lnTo>
                        <a:pt x="3036776" y="1953785"/>
                      </a:lnTo>
                      <a:lnTo>
                        <a:pt x="3018247" y="1997690"/>
                      </a:lnTo>
                      <a:lnTo>
                        <a:pt x="2989508" y="2034888"/>
                      </a:lnTo>
                      <a:lnTo>
                        <a:pt x="2952310" y="2063627"/>
                      </a:lnTo>
                      <a:lnTo>
                        <a:pt x="2908405" y="2082156"/>
                      </a:lnTo>
                      <a:lnTo>
                        <a:pt x="2859546" y="2088721"/>
                      </a:lnTo>
                      <a:lnTo>
                        <a:pt x="2646202" y="2088721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pic>
              <p:nvPicPr>
                <p:cNvPr id="14" name="object 18">
                  <a:extLst>
                    <a:ext uri="{FF2B5EF4-FFF2-40B4-BE49-F238E27FC236}">
                      <a16:creationId xmlns:a16="http://schemas.microsoft.com/office/drawing/2014/main" id="{EAF2EF88-75C4-112B-8853-97AFBC39435F}"/>
                    </a:ext>
                  </a:extLst>
                </p:cNvPr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6511892" y="2597332"/>
                  <a:ext cx="141859" cy="193983"/>
                </a:xfrm>
                <a:prstGeom prst="rect">
                  <a:avLst/>
                </a:prstGeom>
              </p:spPr>
            </p:pic>
            <p:pic>
              <p:nvPicPr>
                <p:cNvPr id="15" name="object 19">
                  <a:extLst>
                    <a:ext uri="{FF2B5EF4-FFF2-40B4-BE49-F238E27FC236}">
                      <a16:creationId xmlns:a16="http://schemas.microsoft.com/office/drawing/2014/main" id="{28EA6B97-B6F0-DBC8-8B6F-A199D4AB47B6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9009796" y="4693303"/>
                  <a:ext cx="141859" cy="193983"/>
                </a:xfrm>
                <a:prstGeom prst="rect">
                  <a:avLst/>
                </a:prstGeom>
              </p:spPr>
            </p:pic>
            <p:pic>
              <p:nvPicPr>
                <p:cNvPr id="16" name="object 20">
                  <a:extLst>
                    <a:ext uri="{FF2B5EF4-FFF2-40B4-BE49-F238E27FC236}">
                      <a16:creationId xmlns:a16="http://schemas.microsoft.com/office/drawing/2014/main" id="{1D610604-21EC-9757-1FB3-59CFDC84F6B0}"/>
                    </a:ext>
                  </a:extLst>
                </p:cNvPr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6340762" y="2597330"/>
                  <a:ext cx="141859" cy="193889"/>
                </a:xfrm>
                <a:prstGeom prst="rect">
                  <a:avLst/>
                </a:prstGeom>
              </p:spPr>
            </p:pic>
            <p:pic>
              <p:nvPicPr>
                <p:cNvPr id="17" name="object 21">
                  <a:extLst>
                    <a:ext uri="{FF2B5EF4-FFF2-40B4-BE49-F238E27FC236}">
                      <a16:creationId xmlns:a16="http://schemas.microsoft.com/office/drawing/2014/main" id="{4AD6362E-3149-59F4-FD79-391D4755A740}"/>
                    </a:ext>
                  </a:extLst>
                </p:cNvPr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9180924" y="4693300"/>
                  <a:ext cx="141859" cy="193889"/>
                </a:xfrm>
                <a:prstGeom prst="rect">
                  <a:avLst/>
                </a:prstGeom>
              </p:spPr>
            </p:pic>
          </p:grpSp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081E0C2-6D86-4631-3662-5DDD365186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00037" y="4481373"/>
                <a:ext cx="4397544" cy="179562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GB" sz="3200" b="1" i="0" kern="1200" dirty="0" smtClean="0">
                    <a:solidFill>
                      <a:srgbClr val="251B55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PT" sz="2000" b="1" kern="1200" spc="-1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3716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18288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buSzPct val="125000"/>
                </a:pPr>
                <a:r>
                  <a:rPr lang="pt-PT" sz="2400" b="0" spc="10" dirty="0">
                    <a:solidFill>
                      <a:srgbClr val="241B54"/>
                    </a:solidFill>
                    <a:latin typeface="Open Sans"/>
                    <a:cs typeface="Open Sans"/>
                  </a:rPr>
                  <a:t>Não há correspondências diretas entre os grupos, para obterem o que desejam precisam necessariamente de realizar várias trocas.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6461F6-4184-F403-4A05-7386A4E15CBC}"/>
                </a:ext>
              </a:extLst>
            </p:cNvPr>
            <p:cNvCxnSpPr/>
            <p:nvPr/>
          </p:nvCxnSpPr>
          <p:spPr>
            <a:xfrm>
              <a:off x="15290632" y="6651827"/>
              <a:ext cx="476418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AE68C03-2195-17AC-8113-495238C09857}"/>
              </a:ext>
            </a:extLst>
          </p:cNvPr>
          <p:cNvSpPr txBox="1"/>
          <p:nvPr/>
        </p:nvSpPr>
        <p:spPr>
          <a:xfrm>
            <a:off x="1382425" y="4426984"/>
            <a:ext cx="12491975" cy="61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14000"/>
              </a:lnSpc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Foi fácil encontrar quem quisesse trocar convosco?</a:t>
            </a:r>
          </a:p>
        </p:txBody>
      </p:sp>
    </p:spTree>
    <p:extLst>
      <p:ext uri="{BB962C8B-B14F-4D97-AF65-F5344CB8AC3E}">
        <p14:creationId xmlns:p14="http://schemas.microsoft.com/office/powerpoint/2010/main" val="37347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0492-6E89-8622-7527-E5423B34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4BBB-193A-EC0A-30F4-D0E39E0E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AB62A-2078-9A01-18DB-451431142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2491975" cy="8405811"/>
          </a:xfrm>
        </p:spPr>
        <p:txBody>
          <a:bodyPr/>
          <a:lstStyle/>
          <a:p>
            <a:pPr marL="0" indent="0">
              <a:spcAft>
                <a:spcPts val="1000"/>
              </a:spcAft>
              <a:buSzPct val="125000"/>
              <a:buNone/>
            </a:pPr>
            <a:r>
              <a:rPr lang="pt-PT" b="1" dirty="0"/>
              <a:t>Ronda #3</a:t>
            </a:r>
            <a:r>
              <a:rPr lang="pt-PT" dirty="0"/>
              <a:t> (5 minutos)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1769D5-EA43-1211-1E9C-A8A35C5B5168}"/>
              </a:ext>
            </a:extLst>
          </p:cNvPr>
          <p:cNvSpPr txBox="1"/>
          <p:nvPr/>
        </p:nvSpPr>
        <p:spPr>
          <a:xfrm>
            <a:off x="3271289" y="6504780"/>
            <a:ext cx="8714245" cy="335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♣️ Fabricantes de Paus         → ♠️ ou ♦️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♠️ Fabricantes de Espadas   → ♥️ ou ♦️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♥️ Fabricantes de Copas       → ♦️</a:t>
            </a:r>
          </a:p>
          <a:p>
            <a:pPr algn="l" rtl="0">
              <a:lnSpc>
                <a:spcPct val="150000"/>
              </a:lnSpc>
              <a:spcBef>
                <a:spcPts val="1000"/>
              </a:spcBef>
              <a:buSzPct val="125000"/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♦️ Fabricantes de Ouros       → ♣️ ou ♥️ ou ♠️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A7B5FF-3BFF-A08D-067E-5BDBCE19284C}"/>
              </a:ext>
            </a:extLst>
          </p:cNvPr>
          <p:cNvGrpSpPr/>
          <p:nvPr/>
        </p:nvGrpSpPr>
        <p:grpSpPr>
          <a:xfrm>
            <a:off x="14435530" y="3978275"/>
            <a:ext cx="4587240" cy="6957780"/>
            <a:chOff x="14435530" y="3978275"/>
            <a:chExt cx="4587240" cy="69577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4EE6233-C952-DFF9-9401-5526B101BF1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435530" y="3978275"/>
              <a:ext cx="4587240" cy="6957780"/>
              <a:chOff x="14435530" y="3978275"/>
              <a:chExt cx="4587240" cy="6957780"/>
            </a:xfrm>
          </p:grpSpPr>
          <p:grpSp>
            <p:nvGrpSpPr>
              <p:cNvPr id="6" name="object 10">
                <a:extLst>
                  <a:ext uri="{FF2B5EF4-FFF2-40B4-BE49-F238E27FC236}">
                    <a16:creationId xmlns:a16="http://schemas.microsoft.com/office/drawing/2014/main" id="{F3ABDB50-74D2-5227-0C33-94FC6E58C6E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530" y="3978275"/>
                <a:ext cx="4587240" cy="6957780"/>
                <a:chOff x="6045045" y="2597330"/>
                <a:chExt cx="3749040" cy="5686425"/>
              </a:xfrm>
            </p:grpSpPr>
            <p:pic>
              <p:nvPicPr>
                <p:cNvPr id="7" name="object 11">
                  <a:extLst>
                    <a:ext uri="{FF2B5EF4-FFF2-40B4-BE49-F238E27FC236}">
                      <a16:creationId xmlns:a16="http://schemas.microsoft.com/office/drawing/2014/main" id="{AD2A6957-A808-5F0A-1BB7-7AD4A71D9DC3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6677304" y="4937943"/>
                  <a:ext cx="2674065" cy="2674086"/>
                </a:xfrm>
                <a:prstGeom prst="rect">
                  <a:avLst/>
                </a:prstGeom>
              </p:spPr>
            </p:pic>
            <p:pic>
              <p:nvPicPr>
                <p:cNvPr id="8" name="object 12">
                  <a:extLst>
                    <a:ext uri="{FF2B5EF4-FFF2-40B4-BE49-F238E27FC236}">
                      <a16:creationId xmlns:a16="http://schemas.microsoft.com/office/drawing/2014/main" id="{3C8F6CB9-1C8F-7C8D-B790-27D5F75FD603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748076" y="7829311"/>
                  <a:ext cx="2567660" cy="454279"/>
                </a:xfrm>
                <a:prstGeom prst="rect">
                  <a:avLst/>
                </a:prstGeom>
              </p:spPr>
            </p:pic>
            <p:pic>
              <p:nvPicPr>
                <p:cNvPr id="9" name="object 13">
                  <a:extLst>
                    <a:ext uri="{FF2B5EF4-FFF2-40B4-BE49-F238E27FC236}">
                      <a16:creationId xmlns:a16="http://schemas.microsoft.com/office/drawing/2014/main" id="{232F9643-329E-3A35-E6BF-4C66814D5E1C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347486" y="5109971"/>
                  <a:ext cx="2815287" cy="2872422"/>
                </a:xfrm>
                <a:prstGeom prst="rect">
                  <a:avLst/>
                </a:prstGeom>
              </p:spPr>
            </p:pic>
            <p:pic>
              <p:nvPicPr>
                <p:cNvPr id="10" name="object 14">
                  <a:extLst>
                    <a:ext uri="{FF2B5EF4-FFF2-40B4-BE49-F238E27FC236}">
                      <a16:creationId xmlns:a16="http://schemas.microsoft.com/office/drawing/2014/main" id="{1255F8FE-E054-51E1-C5C8-D0A622FE0B79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051354" y="2693656"/>
                  <a:ext cx="3735865" cy="2088742"/>
                </a:xfrm>
                <a:prstGeom prst="rect">
                  <a:avLst/>
                </a:prstGeom>
              </p:spPr>
            </p:pic>
            <p:sp>
              <p:nvSpPr>
                <p:cNvPr id="11" name="object 15">
                  <a:extLst>
                    <a:ext uri="{FF2B5EF4-FFF2-40B4-BE49-F238E27FC236}">
                      <a16:creationId xmlns:a16="http://schemas.microsoft.com/office/drawing/2014/main" id="{1625DB51-D5B1-1450-FD1D-7D17ED457D99}"/>
                    </a:ext>
                  </a:extLst>
                </p:cNvPr>
                <p:cNvSpPr/>
                <p:nvPr/>
              </p:nvSpPr>
              <p:spPr>
                <a:xfrm>
                  <a:off x="6051395" y="2693637"/>
                  <a:ext cx="728345" cy="208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8345" h="2089150">
                      <a:moveTo>
                        <a:pt x="728271" y="2088721"/>
                      </a:moveTo>
                      <a:lnTo>
                        <a:pt x="183795" y="2088721"/>
                      </a:lnTo>
                      <a:lnTo>
                        <a:pt x="134936" y="2082156"/>
                      </a:lnTo>
                      <a:lnTo>
                        <a:pt x="91031" y="2063627"/>
                      </a:lnTo>
                      <a:lnTo>
                        <a:pt x="53833" y="2034888"/>
                      </a:lnTo>
                      <a:lnTo>
                        <a:pt x="25094" y="1997690"/>
                      </a:lnTo>
                      <a:lnTo>
                        <a:pt x="6565" y="1953785"/>
                      </a:lnTo>
                      <a:lnTo>
                        <a:pt x="0" y="1904926"/>
                      </a:lnTo>
                      <a:lnTo>
                        <a:pt x="0" y="183795"/>
                      </a:lnTo>
                      <a:lnTo>
                        <a:pt x="6565" y="134936"/>
                      </a:lnTo>
                      <a:lnTo>
                        <a:pt x="25094" y="91031"/>
                      </a:lnTo>
                      <a:lnTo>
                        <a:pt x="53833" y="53833"/>
                      </a:lnTo>
                      <a:lnTo>
                        <a:pt x="91031" y="25094"/>
                      </a:lnTo>
                      <a:lnTo>
                        <a:pt x="134936" y="6565"/>
                      </a:lnTo>
                      <a:lnTo>
                        <a:pt x="183795" y="0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64B01183-7350-5093-8FE4-4738800E278C}"/>
                    </a:ext>
                  </a:extLst>
                </p:cNvPr>
                <p:cNvSpPr/>
                <p:nvPr/>
              </p:nvSpPr>
              <p:spPr>
                <a:xfrm>
                  <a:off x="7092089" y="4782359"/>
                  <a:ext cx="18503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390">
                      <a:moveTo>
                        <a:pt x="1850090" y="0"/>
                      </a:moveTo>
                      <a:lnTo>
                        <a:pt x="0" y="0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sp>
              <p:nvSpPr>
                <p:cNvPr id="13" name="object 17">
                  <a:extLst>
                    <a:ext uri="{FF2B5EF4-FFF2-40B4-BE49-F238E27FC236}">
                      <a16:creationId xmlns:a16="http://schemas.microsoft.com/office/drawing/2014/main" id="{DBC2D5A1-7410-06F1-5ECC-D62A16F8E23D}"/>
                    </a:ext>
                  </a:extLst>
                </p:cNvPr>
                <p:cNvSpPr/>
                <p:nvPr/>
              </p:nvSpPr>
              <p:spPr>
                <a:xfrm>
                  <a:off x="6743899" y="2693639"/>
                  <a:ext cx="3043555" cy="208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3554" h="2089150">
                      <a:moveTo>
                        <a:pt x="0" y="0"/>
                      </a:moveTo>
                      <a:lnTo>
                        <a:pt x="2859546" y="0"/>
                      </a:lnTo>
                      <a:lnTo>
                        <a:pt x="2908405" y="6565"/>
                      </a:lnTo>
                      <a:lnTo>
                        <a:pt x="2952310" y="25094"/>
                      </a:lnTo>
                      <a:lnTo>
                        <a:pt x="2989508" y="53833"/>
                      </a:lnTo>
                      <a:lnTo>
                        <a:pt x="3018247" y="91031"/>
                      </a:lnTo>
                      <a:lnTo>
                        <a:pt x="3036776" y="134936"/>
                      </a:lnTo>
                      <a:lnTo>
                        <a:pt x="3043341" y="183795"/>
                      </a:lnTo>
                      <a:lnTo>
                        <a:pt x="3043341" y="1904926"/>
                      </a:lnTo>
                      <a:lnTo>
                        <a:pt x="3036776" y="1953785"/>
                      </a:lnTo>
                      <a:lnTo>
                        <a:pt x="3018247" y="1997690"/>
                      </a:lnTo>
                      <a:lnTo>
                        <a:pt x="2989508" y="2034888"/>
                      </a:lnTo>
                      <a:lnTo>
                        <a:pt x="2952310" y="2063627"/>
                      </a:lnTo>
                      <a:lnTo>
                        <a:pt x="2908405" y="2082156"/>
                      </a:lnTo>
                      <a:lnTo>
                        <a:pt x="2859546" y="2088721"/>
                      </a:lnTo>
                      <a:lnTo>
                        <a:pt x="2646202" y="2088721"/>
                      </a:lnTo>
                    </a:path>
                  </a:pathLst>
                </a:custGeom>
                <a:ln w="1207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pic>
              <p:nvPicPr>
                <p:cNvPr id="14" name="object 18">
                  <a:extLst>
                    <a:ext uri="{FF2B5EF4-FFF2-40B4-BE49-F238E27FC236}">
                      <a16:creationId xmlns:a16="http://schemas.microsoft.com/office/drawing/2014/main" id="{DA999239-6AAB-3C3E-0CDF-A4AF077D0A76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6511892" y="2597332"/>
                  <a:ext cx="141859" cy="193983"/>
                </a:xfrm>
                <a:prstGeom prst="rect">
                  <a:avLst/>
                </a:prstGeom>
              </p:spPr>
            </p:pic>
            <p:pic>
              <p:nvPicPr>
                <p:cNvPr id="15" name="object 19">
                  <a:extLst>
                    <a:ext uri="{FF2B5EF4-FFF2-40B4-BE49-F238E27FC236}">
                      <a16:creationId xmlns:a16="http://schemas.microsoft.com/office/drawing/2014/main" id="{82BDC8FA-F6D0-F2AA-A84E-3B3BB469C54E}"/>
                    </a:ext>
                  </a:extLst>
                </p:cNvPr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9009796" y="4693303"/>
                  <a:ext cx="141859" cy="193983"/>
                </a:xfrm>
                <a:prstGeom prst="rect">
                  <a:avLst/>
                </a:prstGeom>
              </p:spPr>
            </p:pic>
            <p:pic>
              <p:nvPicPr>
                <p:cNvPr id="16" name="object 20">
                  <a:extLst>
                    <a:ext uri="{FF2B5EF4-FFF2-40B4-BE49-F238E27FC236}">
                      <a16:creationId xmlns:a16="http://schemas.microsoft.com/office/drawing/2014/main" id="{D735FF73-6D47-E8C5-1CC1-188C4F863D7E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6340762" y="2597330"/>
                  <a:ext cx="141859" cy="193889"/>
                </a:xfrm>
                <a:prstGeom prst="rect">
                  <a:avLst/>
                </a:prstGeom>
              </p:spPr>
            </p:pic>
            <p:pic>
              <p:nvPicPr>
                <p:cNvPr id="17" name="object 21">
                  <a:extLst>
                    <a:ext uri="{FF2B5EF4-FFF2-40B4-BE49-F238E27FC236}">
                      <a16:creationId xmlns:a16="http://schemas.microsoft.com/office/drawing/2014/main" id="{85B48ACD-6499-A923-3CE2-9BE38F0D588E}"/>
                    </a:ext>
                  </a:extLst>
                </p:cNvPr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9180924" y="4693300"/>
                  <a:ext cx="141859" cy="193889"/>
                </a:xfrm>
                <a:prstGeom prst="rect">
                  <a:avLst/>
                </a:prstGeom>
              </p:spPr>
            </p:pic>
          </p:grpSp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554B202E-BFA4-CB0C-1C18-1107DFC166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00037" y="4644578"/>
                <a:ext cx="4397544" cy="147161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GB" sz="3200" b="1" i="0" kern="1200" dirty="0" smtClean="0">
                    <a:solidFill>
                      <a:srgbClr val="251B55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en-PT" sz="2000" b="1" kern="1200" spc="-1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3716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1828800" indent="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rgbClr val="58595B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buSzPct val="125000"/>
                </a:pPr>
                <a:r>
                  <a:rPr lang="pt-PT" sz="2400" b="0" spc="10" dirty="0">
                    <a:solidFill>
                      <a:srgbClr val="241B54"/>
                    </a:solidFill>
                    <a:latin typeface="Open Sans"/>
                    <a:cs typeface="Open Sans"/>
                  </a:rPr>
                  <a:t>Os Ouros são o bem mais transacionável.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6A1251-19B3-43A9-5041-D130C82D8978}"/>
                </a:ext>
              </a:extLst>
            </p:cNvPr>
            <p:cNvCxnSpPr/>
            <p:nvPr/>
          </p:nvCxnSpPr>
          <p:spPr>
            <a:xfrm>
              <a:off x="15290632" y="6651827"/>
              <a:ext cx="476418" cy="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861276-FEFD-8067-F770-F94FC54FDB7D}"/>
              </a:ext>
            </a:extLst>
          </p:cNvPr>
          <p:cNvSpPr txBox="1"/>
          <p:nvPr/>
        </p:nvSpPr>
        <p:spPr>
          <a:xfrm>
            <a:off x="1382425" y="3292475"/>
            <a:ext cx="10719922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10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Notaram que certo naipe era mais procurado? Qual?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F5D4F-9DF3-2780-D7C4-4C4F9EA41CCE}"/>
              </a:ext>
            </a:extLst>
          </p:cNvPr>
          <p:cNvSpPr txBox="1"/>
          <p:nvPr/>
        </p:nvSpPr>
        <p:spPr>
          <a:xfrm>
            <a:off x="1382425" y="4425738"/>
            <a:ext cx="12491975" cy="61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14000"/>
              </a:lnSpc>
              <a:buSzPct val="125000"/>
              <a:buBlip>
                <a:blip r:embed="rId10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vantagens trouxe ter um bem comum aceite por todos?</a:t>
            </a:r>
          </a:p>
        </p:txBody>
      </p:sp>
    </p:spTree>
    <p:extLst>
      <p:ext uri="{BB962C8B-B14F-4D97-AF65-F5344CB8AC3E}">
        <p14:creationId xmlns:p14="http://schemas.microsoft.com/office/powerpoint/2010/main" val="236502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42CF-8F8A-3854-DEB9-10F23FAD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E5EE-7C85-7459-B756-8F85501A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50F2-7EA1-DADB-7508-882E328F0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Após a realização da atividade, responde às seguintes questões: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3872A-E55F-C05A-49DF-277F70FD3DA0}"/>
              </a:ext>
            </a:extLst>
          </p:cNvPr>
          <p:cNvSpPr txBox="1"/>
          <p:nvPr/>
        </p:nvSpPr>
        <p:spPr>
          <a:xfrm>
            <a:off x="1382425" y="3292475"/>
            <a:ext cx="11426461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Quais são os benefícios e desvantagens da troca direta?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FCA27-8A13-1481-8032-C76D0CD2D0BB}"/>
              </a:ext>
            </a:extLst>
          </p:cNvPr>
          <p:cNvSpPr txBox="1"/>
          <p:nvPr/>
        </p:nvSpPr>
        <p:spPr>
          <a:xfrm>
            <a:off x="1365250" y="4283075"/>
            <a:ext cx="14185230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 possível ter uma economia desenvolvida apenas com trocas diretas?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35740-6066-5298-44FE-13BB4A6ADF57}"/>
              </a:ext>
            </a:extLst>
          </p:cNvPr>
          <p:cNvSpPr txBox="1"/>
          <p:nvPr/>
        </p:nvSpPr>
        <p:spPr>
          <a:xfrm>
            <a:off x="1388480" y="5303727"/>
            <a:ext cx="12685204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Porque é que o dinheiro surgiu? Que problemas veio resolver?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9FCD7-1248-F74D-DEB3-CF7B7C02DF71}"/>
              </a:ext>
            </a:extLst>
          </p:cNvPr>
          <p:cNvSpPr txBox="1"/>
          <p:nvPr/>
        </p:nvSpPr>
        <p:spPr>
          <a:xfrm>
            <a:off x="1382425" y="6264275"/>
            <a:ext cx="16540425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Como é que o dinheiro facilita a especialização e o comércio entre desconhecidos?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3C637-BAC6-8643-9951-88A8330D4EDF}"/>
              </a:ext>
            </a:extLst>
          </p:cNvPr>
          <p:cNvSpPr txBox="1"/>
          <p:nvPr/>
        </p:nvSpPr>
        <p:spPr>
          <a:xfrm>
            <a:off x="1384935" y="7284927"/>
            <a:ext cx="9711633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características deve ter um bom dinheiro?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4CB75-147F-045A-71D3-70CAAF69A8FC}"/>
              </a:ext>
            </a:extLst>
          </p:cNvPr>
          <p:cNvSpPr txBox="1"/>
          <p:nvPr/>
        </p:nvSpPr>
        <p:spPr>
          <a:xfrm>
            <a:off x="1382425" y="8244049"/>
            <a:ext cx="17338963" cy="149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Será que o dinheiro de hoje cumpre as mesmas funções que o ouro cumpria no passado?</a:t>
            </a:r>
          </a:p>
        </p:txBody>
      </p:sp>
    </p:spTree>
    <p:extLst>
      <p:ext uri="{BB962C8B-B14F-4D97-AF65-F5344CB8AC3E}">
        <p14:creationId xmlns:p14="http://schemas.microsoft.com/office/powerpoint/2010/main" val="30092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6815</TotalTime>
  <Words>426</Words>
  <Application>Microsoft Macintosh PowerPoint</Application>
  <PresentationFormat>Custom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Open Sans</vt:lpstr>
      <vt:lpstr>Open Sans Light</vt:lpstr>
      <vt:lpstr>Ubuntu Light</vt:lpstr>
      <vt:lpstr>1_Custom Design</vt:lpstr>
      <vt:lpstr>A história do dinheiro</vt:lpstr>
      <vt:lpstr>Atividade</vt:lpstr>
      <vt:lpstr>Atividade</vt:lpstr>
      <vt:lpstr>Atividade</vt:lpstr>
      <vt:lpstr>Atividade</vt:lpstr>
      <vt:lpstr>Atividade</vt:lpstr>
      <vt:lpstr>Atividade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154</cp:revision>
  <dcterms:created xsi:type="dcterms:W3CDTF">2024-11-12T03:26:48Z</dcterms:created>
  <dcterms:modified xsi:type="dcterms:W3CDTF">2026-04-17T10:54:13Z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