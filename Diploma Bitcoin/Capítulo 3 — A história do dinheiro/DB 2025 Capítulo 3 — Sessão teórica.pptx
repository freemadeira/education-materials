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3"/>
  </p:notesMasterIdLst>
  <p:sldIdLst>
    <p:sldId id="260" r:id="rId2"/>
    <p:sldId id="265" r:id="rId3"/>
    <p:sldId id="278" r:id="rId4"/>
    <p:sldId id="280" r:id="rId5"/>
    <p:sldId id="282" r:id="rId6"/>
    <p:sldId id="284" r:id="rId7"/>
    <p:sldId id="286" r:id="rId8"/>
    <p:sldId id="287" r:id="rId9"/>
    <p:sldId id="289" r:id="rId10"/>
    <p:sldId id="288" r:id="rId11"/>
    <p:sldId id="268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  <a:srgbClr val="474747"/>
    <a:srgbClr val="9F9F9F"/>
    <a:srgbClr val="BFBFBF"/>
    <a:srgbClr val="DFDFDF"/>
    <a:srgbClr val="FBB040"/>
    <a:srgbClr val="58595B"/>
    <a:srgbClr val="E4E0FD"/>
    <a:srgbClr val="392569"/>
    <a:srgbClr val="161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/>
    <p:restoredTop sz="85071"/>
  </p:normalViewPr>
  <p:slideViewPr>
    <p:cSldViewPr>
      <p:cViewPr varScale="1">
        <p:scale>
          <a:sx n="55" d="100"/>
          <a:sy n="55" d="100"/>
        </p:scale>
        <p:origin x="1656" y="22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86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04/10/2025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36336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2072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51872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4198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19450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05820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23F6-5602-ED20-338C-67BE8589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14A26-C5B4-EC9B-DA52-A6BACBCA4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67252-12E2-0967-2AAC-A22752AF7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853BF-028F-4E01-6CBC-863173CC1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78689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42420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4226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 história do dinheiro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3.0 Introdução</a:t>
            </a:r>
          </a:p>
          <a:p>
            <a:r>
              <a:rPr lang="pt-PT" dirty="0"/>
              <a:t>3.1 Evolução desde a troca direta até às moedas modernas</a:t>
            </a:r>
          </a:p>
          <a:p>
            <a:r>
              <a:rPr lang="pt-PT" dirty="0"/>
              <a:t>	3.1.1 Inconvenientes das primeiras formas de dinheiro</a:t>
            </a:r>
          </a:p>
          <a:p>
            <a:r>
              <a:rPr lang="pt-PT" dirty="0"/>
              <a:t>	3.1.2 Desenvolvimento da cunhagem de moedas e do papel-moeda</a:t>
            </a:r>
          </a:p>
          <a:p>
            <a:r>
              <a:rPr lang="pt-PT" dirty="0"/>
              <a:t>	3.1.3 Transição de dinheiro forte para dinheiro frágil</a:t>
            </a:r>
          </a:p>
          <a:p>
            <a:r>
              <a:rPr lang="pt-PT" dirty="0"/>
              <a:t>	3.1.4 Do papel para o plástico</a:t>
            </a:r>
          </a:p>
          <a:p>
            <a:r>
              <a:rPr lang="pt-PT" dirty="0"/>
              <a:t>3.2 Moedas digitais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3.0 Introdução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20175-B2A3-3536-67F3-D18470555F83}"/>
              </a:ext>
            </a:extLst>
          </p:cNvPr>
          <p:cNvGrpSpPr>
            <a:grpSpLocks noChangeAspect="1"/>
          </p:cNvGrpSpPr>
          <p:nvPr/>
        </p:nvGrpSpPr>
        <p:grpSpPr>
          <a:xfrm>
            <a:off x="1405474" y="3825876"/>
            <a:ext cx="17293152" cy="4724399"/>
            <a:chOff x="2432050" y="1838216"/>
            <a:chExt cx="15308802" cy="418228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5526D77-5CF8-3113-5CD0-1C8AF5816254}"/>
                </a:ext>
              </a:extLst>
            </p:cNvPr>
            <p:cNvSpPr/>
            <p:nvPr/>
          </p:nvSpPr>
          <p:spPr>
            <a:xfrm>
              <a:off x="2432050" y="2242953"/>
              <a:ext cx="15308802" cy="3436652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evolução do dinheiro não foi um processo intencional. Foi o próprio mercado que deu origem ao dinheiro. Não foi criado por governos. Surgiu ao longo do tempo, de forma espontânea.</a:t>
              </a:r>
            </a:p>
            <a:p>
              <a:pPr algn="ctr"/>
              <a:b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Murray</a:t>
              </a:r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Rothbard</a:t>
              </a:r>
              <a:endParaRPr lang="pt-PT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3D35A605-9D18-B0A9-4919-54D4E8073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1838216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33DDD715-BE25-D819-9204-6031D1B73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355812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2D3E-2416-1D6B-F944-C3F01848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9187-59F3-2663-AD09-5C9B5559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06475"/>
            <a:ext cx="17338675" cy="1471611"/>
          </a:xfrm>
        </p:spPr>
        <p:txBody>
          <a:bodyPr>
            <a:normAutofit fontScale="90000"/>
          </a:bodyPr>
          <a:lstStyle/>
          <a:p>
            <a:r>
              <a:rPr lang="pt-PT" dirty="0"/>
              <a:t>3.1 Evolução desde a troca direta até às moedas modernas </a:t>
            </a: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897E986F-E5E0-9251-A45B-BD9F4D05C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98" y="4664075"/>
            <a:ext cx="17293152" cy="329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9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EBD3-A551-3E62-38E2-C35F4F16B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987675"/>
            <a:ext cx="11336337" cy="7467600"/>
          </a:xfrm>
        </p:spPr>
        <p:txBody>
          <a:bodyPr/>
          <a:lstStyle/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Nas economias de troca direta, as pessoas fazem transações entre si, com base no valor relativo dos bens e serviços que têm para oferecer.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É necessária uma situação de dupla coincidência de vontades.</a:t>
            </a:r>
          </a:p>
        </p:txBody>
      </p:sp>
      <p:pic>
        <p:nvPicPr>
          <p:cNvPr id="6" name="Content Placeholder 5" descr="A cartoon of a person and person holding brooms&#10;&#10;AI-generated content may be incorrect.">
            <a:extLst>
              <a:ext uri="{FF2B5EF4-FFF2-40B4-BE49-F238E27FC236}">
                <a16:creationId xmlns:a16="http://schemas.microsoft.com/office/drawing/2014/main" id="{94CA73AE-6380-C3F8-1642-98FF9536BC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8388" y="3063875"/>
            <a:ext cx="5545137" cy="7566802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2FAA64-496C-2894-C647-3FC16672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06475"/>
            <a:ext cx="17338675" cy="1471611"/>
          </a:xfrm>
        </p:spPr>
        <p:txBody>
          <a:bodyPr>
            <a:normAutofit fontScale="90000"/>
          </a:bodyPr>
          <a:lstStyle/>
          <a:p>
            <a:r>
              <a:rPr lang="pt-PT" dirty="0"/>
              <a:t>3.1.1 Inconvenientes das primeiras formas de dinheiro </a:t>
            </a:r>
          </a:p>
        </p:txBody>
      </p:sp>
      <p:pic>
        <p:nvPicPr>
          <p:cNvPr id="8" name="Picture 7" descr="Cartoon of a group of people with a cow and a cat&#10;&#10;AI-generated content may be incorrect.">
            <a:extLst>
              <a:ext uri="{FF2B5EF4-FFF2-40B4-BE49-F238E27FC236}">
                <a16:creationId xmlns:a16="http://schemas.microsoft.com/office/drawing/2014/main" id="{9B816B07-CD84-3D2A-03EF-D95667148B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6802932"/>
            <a:ext cx="4803445" cy="382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5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0056-CD5A-2942-3D7A-9B74B2A12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3216275"/>
            <a:ext cx="17338675" cy="2971800"/>
          </a:xfrm>
        </p:spPr>
        <p:txBody>
          <a:bodyPr/>
          <a:lstStyle/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Uma moeda-mercadoria é dinheiro feito de metais valiosos, como o ouro e a prata.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Ao longo da História, estes metais sempre foram usados como reserva de valor, meio de troca e, num passado distante, também como unidade de conta.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EC3E6-8203-12F5-D91C-A0A320E17F2D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3.1.2 Desenvolvimento da cunhagem de moedas e do papel-moeda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48AD5-586D-0232-2816-F6BD01E72040}"/>
              </a:ext>
            </a:extLst>
          </p:cNvPr>
          <p:cNvSpPr txBox="1"/>
          <p:nvPr/>
        </p:nvSpPr>
        <p:spPr>
          <a:xfrm>
            <a:off x="1387249" y="7026275"/>
            <a:ext cx="7067324" cy="2495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1300" indent="-222250" algn="ctr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Desvantagens</a:t>
            </a:r>
          </a:p>
          <a:p>
            <a:pPr marL="241300" indent="-222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São pesadas e inconvenientes de transportar</a:t>
            </a:r>
          </a:p>
          <a:p>
            <a:pPr marL="241300" indent="-222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 possível derreter moedas e criar novas com uma mistura de metais mais baratos</a:t>
            </a: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6BC0362A-65D7-1A8E-55D6-8E894D629FD2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9278757" y="7653119"/>
            <a:ext cx="1241787" cy="1241787"/>
            <a:chOff x="2696629" y="8551697"/>
            <a:chExt cx="524717" cy="524717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47CE605F-1498-42AB-A55E-7BDAD4CE2AC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6629" y="8551697"/>
              <a:ext cx="524717" cy="524717"/>
            </a:xfrm>
            <a:prstGeom prst="rect">
              <a:avLst/>
            </a:prstGeom>
          </p:spPr>
        </p:pic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BD4CD2D9-74ED-CFC1-B377-6695AFC069B5}"/>
                </a:ext>
              </a:extLst>
            </p:cNvPr>
            <p:cNvSpPr/>
            <p:nvPr/>
          </p:nvSpPr>
          <p:spPr>
            <a:xfrm>
              <a:off x="2857707" y="8763256"/>
              <a:ext cx="202565" cy="101600"/>
            </a:xfrm>
            <a:custGeom>
              <a:avLst/>
              <a:gdLst/>
              <a:ahLst/>
              <a:cxnLst/>
              <a:rect l="l" t="t" r="r" b="b"/>
              <a:pathLst>
                <a:path w="202564" h="101600">
                  <a:moveTo>
                    <a:pt x="202475" y="0"/>
                  </a:moveTo>
                  <a:lnTo>
                    <a:pt x="101232" y="101242"/>
                  </a:lnTo>
                  <a:lnTo>
                    <a:pt x="0" y="0"/>
                  </a:lnTo>
                </a:path>
              </a:pathLst>
            </a:custGeom>
            <a:ln w="681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554B830-DD66-53AE-F7A3-213F53DED697}"/>
              </a:ext>
            </a:extLst>
          </p:cNvPr>
          <p:cNvSpPr txBox="1"/>
          <p:nvPr/>
        </p:nvSpPr>
        <p:spPr>
          <a:xfrm>
            <a:off x="11344728" y="6472270"/>
            <a:ext cx="7372124" cy="360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Tentativa de resolução</a:t>
            </a:r>
          </a:p>
          <a:p>
            <a:pPr marL="241300" indent="-222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Utilização de recibos de papel como forma de dinheiro</a:t>
            </a:r>
          </a:p>
          <a:p>
            <a:pPr marL="241300" indent="-222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Convenientes e fáceis de trocar</a:t>
            </a:r>
          </a:p>
          <a:p>
            <a:pPr marL="241300" indent="-222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Representativos do ouro e outros metais valiosos, e podem ser convertidos nesses metais</a:t>
            </a:r>
          </a:p>
        </p:txBody>
      </p:sp>
    </p:spTree>
    <p:extLst>
      <p:ext uri="{BB962C8B-B14F-4D97-AF65-F5344CB8AC3E}">
        <p14:creationId xmlns:p14="http://schemas.microsoft.com/office/powerpoint/2010/main" val="1985199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2278EEB-DFC1-7E01-EA1E-C0A03848F127}"/>
              </a:ext>
            </a:extLst>
          </p:cNvPr>
          <p:cNvGrpSpPr>
            <a:grpSpLocks/>
          </p:cNvGrpSpPr>
          <p:nvPr/>
        </p:nvGrpSpPr>
        <p:grpSpPr>
          <a:xfrm>
            <a:off x="7056095" y="3642713"/>
            <a:ext cx="5126798" cy="5562600"/>
            <a:chOff x="3906545" y="1010015"/>
            <a:chExt cx="4378910" cy="4837969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7D6FD2F-38B0-8C3F-FE6E-CF4B33A761B1}"/>
                </a:ext>
              </a:extLst>
            </p:cNvPr>
            <p:cNvSpPr/>
            <p:nvPr/>
          </p:nvSpPr>
          <p:spPr>
            <a:xfrm>
              <a:off x="5630486" y="4263367"/>
              <a:ext cx="2423837" cy="1584617"/>
            </a:xfrm>
            <a:custGeom>
              <a:avLst/>
              <a:gdLst>
                <a:gd name="connsiteX0" fmla="*/ 180926 w 303215"/>
                <a:gd name="connsiteY0" fmla="*/ 43223 h 198231"/>
                <a:gd name="connsiteX1" fmla="*/ 176777 w 303215"/>
                <a:gd name="connsiteY1" fmla="*/ 47372 h 198231"/>
                <a:gd name="connsiteX2" fmla="*/ 61173 w 303215"/>
                <a:gd name="connsiteY2" fmla="*/ 47372 h 198231"/>
                <a:gd name="connsiteX3" fmla="*/ 57024 w 303215"/>
                <a:gd name="connsiteY3" fmla="*/ 43223 h 198231"/>
                <a:gd name="connsiteX4" fmla="*/ 57024 w 303215"/>
                <a:gd name="connsiteY4" fmla="*/ 20862 h 198231"/>
                <a:gd name="connsiteX5" fmla="*/ 54719 w 303215"/>
                <a:gd name="connsiteY5" fmla="*/ 17750 h 198231"/>
                <a:gd name="connsiteX6" fmla="*/ 54604 w 303215"/>
                <a:gd name="connsiteY6" fmla="*/ 17750 h 198231"/>
                <a:gd name="connsiteX7" fmla="*/ 54604 w 303215"/>
                <a:gd name="connsiteY7" fmla="*/ 17750 h 198231"/>
                <a:gd name="connsiteX8" fmla="*/ 54488 w 303215"/>
                <a:gd name="connsiteY8" fmla="*/ 17750 h 198231"/>
                <a:gd name="connsiteX9" fmla="*/ 54488 w 303215"/>
                <a:gd name="connsiteY9" fmla="*/ 17750 h 198231"/>
                <a:gd name="connsiteX10" fmla="*/ 54027 w 303215"/>
                <a:gd name="connsiteY10" fmla="*/ 17750 h 198231"/>
                <a:gd name="connsiteX11" fmla="*/ 54027 w 303215"/>
                <a:gd name="connsiteY11" fmla="*/ 17750 h 198231"/>
                <a:gd name="connsiteX12" fmla="*/ 53797 w 303215"/>
                <a:gd name="connsiteY12" fmla="*/ 17750 h 198231"/>
                <a:gd name="connsiteX13" fmla="*/ 53797 w 303215"/>
                <a:gd name="connsiteY13" fmla="*/ 17750 h 198231"/>
                <a:gd name="connsiteX14" fmla="*/ 53220 w 303215"/>
                <a:gd name="connsiteY14" fmla="*/ 17865 h 198231"/>
                <a:gd name="connsiteX15" fmla="*/ 53220 w 303215"/>
                <a:gd name="connsiteY15" fmla="*/ 17865 h 198231"/>
                <a:gd name="connsiteX16" fmla="*/ 52990 w 303215"/>
                <a:gd name="connsiteY16" fmla="*/ 17865 h 198231"/>
                <a:gd name="connsiteX17" fmla="*/ 52990 w 303215"/>
                <a:gd name="connsiteY17" fmla="*/ 17865 h 198231"/>
                <a:gd name="connsiteX18" fmla="*/ 52414 w 303215"/>
                <a:gd name="connsiteY18" fmla="*/ 18326 h 198231"/>
                <a:gd name="connsiteX19" fmla="*/ 52414 w 303215"/>
                <a:gd name="connsiteY19" fmla="*/ 18326 h 198231"/>
                <a:gd name="connsiteX20" fmla="*/ 52183 w 303215"/>
                <a:gd name="connsiteY20" fmla="*/ 18557 h 198231"/>
                <a:gd name="connsiteX21" fmla="*/ 52183 w 303215"/>
                <a:gd name="connsiteY21" fmla="*/ 18557 h 198231"/>
                <a:gd name="connsiteX22" fmla="*/ 51953 w 303215"/>
                <a:gd name="connsiteY22" fmla="*/ 18903 h 198231"/>
                <a:gd name="connsiteX23" fmla="*/ 432 w 303215"/>
                <a:gd name="connsiteY23" fmla="*/ 106155 h 198231"/>
                <a:gd name="connsiteX24" fmla="*/ 432 w 303215"/>
                <a:gd name="connsiteY24" fmla="*/ 109382 h 198231"/>
                <a:gd name="connsiteX25" fmla="*/ 36508 w 303215"/>
                <a:gd name="connsiteY25" fmla="*/ 170586 h 198231"/>
                <a:gd name="connsiteX26" fmla="*/ 36508 w 303215"/>
                <a:gd name="connsiteY26" fmla="*/ 170586 h 198231"/>
                <a:gd name="connsiteX27" fmla="*/ 51837 w 303215"/>
                <a:gd name="connsiteY27" fmla="*/ 196635 h 198231"/>
                <a:gd name="connsiteX28" fmla="*/ 55410 w 303215"/>
                <a:gd name="connsiteY28" fmla="*/ 198133 h 198231"/>
                <a:gd name="connsiteX29" fmla="*/ 57716 w 303215"/>
                <a:gd name="connsiteY29" fmla="*/ 195021 h 198231"/>
                <a:gd name="connsiteX30" fmla="*/ 57716 w 303215"/>
                <a:gd name="connsiteY30" fmla="*/ 172660 h 198231"/>
                <a:gd name="connsiteX31" fmla="*/ 61865 w 303215"/>
                <a:gd name="connsiteY31" fmla="*/ 168511 h 198231"/>
                <a:gd name="connsiteX32" fmla="*/ 242359 w 303215"/>
                <a:gd name="connsiteY32" fmla="*/ 168511 h 198231"/>
                <a:gd name="connsiteX33" fmla="*/ 303216 w 303215"/>
                <a:gd name="connsiteY33" fmla="*/ 107653 h 198231"/>
                <a:gd name="connsiteX34" fmla="*/ 303216 w 303215"/>
                <a:gd name="connsiteY34" fmla="*/ 115 h 198231"/>
                <a:gd name="connsiteX35" fmla="*/ 248237 w 303215"/>
                <a:gd name="connsiteY35" fmla="*/ 32504 h 198231"/>
                <a:gd name="connsiteX36" fmla="*/ 246163 w 303215"/>
                <a:gd name="connsiteY36" fmla="*/ 33426 h 198231"/>
                <a:gd name="connsiteX37" fmla="*/ 242474 w 303215"/>
                <a:gd name="connsiteY37" fmla="*/ 34002 h 198231"/>
                <a:gd name="connsiteX38" fmla="*/ 237633 w 303215"/>
                <a:gd name="connsiteY38" fmla="*/ 32965 h 198231"/>
                <a:gd name="connsiteX39" fmla="*/ 236712 w 303215"/>
                <a:gd name="connsiteY39" fmla="*/ 32504 h 198231"/>
                <a:gd name="connsiteX40" fmla="*/ 208588 w 303215"/>
                <a:gd name="connsiteY40" fmla="*/ 15906 h 198231"/>
                <a:gd name="connsiteX41" fmla="*/ 181618 w 303215"/>
                <a:gd name="connsiteY41" fmla="*/ 0 h 198231"/>
                <a:gd name="connsiteX42" fmla="*/ 181618 w 303215"/>
                <a:gd name="connsiteY42" fmla="*/ 42646 h 19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3215" h="198231">
                  <a:moveTo>
                    <a:pt x="180926" y="43223"/>
                  </a:moveTo>
                  <a:cubicBezTo>
                    <a:pt x="180926" y="45528"/>
                    <a:pt x="179082" y="47372"/>
                    <a:pt x="176777" y="47372"/>
                  </a:cubicBezTo>
                  <a:lnTo>
                    <a:pt x="61173" y="47372"/>
                  </a:lnTo>
                  <a:cubicBezTo>
                    <a:pt x="58868" y="47372"/>
                    <a:pt x="57024" y="45528"/>
                    <a:pt x="57024" y="43223"/>
                  </a:cubicBezTo>
                  <a:lnTo>
                    <a:pt x="57024" y="20862"/>
                  </a:lnTo>
                  <a:cubicBezTo>
                    <a:pt x="57024" y="18557"/>
                    <a:pt x="55180" y="17981"/>
                    <a:pt x="54719" y="17750"/>
                  </a:cubicBezTo>
                  <a:cubicBezTo>
                    <a:pt x="54719" y="17750"/>
                    <a:pt x="54719" y="17750"/>
                    <a:pt x="54604" y="17750"/>
                  </a:cubicBezTo>
                  <a:cubicBezTo>
                    <a:pt x="54604" y="17750"/>
                    <a:pt x="54604" y="17750"/>
                    <a:pt x="54604" y="17750"/>
                  </a:cubicBezTo>
                  <a:cubicBezTo>
                    <a:pt x="54604" y="17750"/>
                    <a:pt x="54604" y="17750"/>
                    <a:pt x="54488" y="17750"/>
                  </a:cubicBezTo>
                  <a:cubicBezTo>
                    <a:pt x="54488" y="17750"/>
                    <a:pt x="54488" y="17750"/>
                    <a:pt x="54488" y="17750"/>
                  </a:cubicBezTo>
                  <a:cubicBezTo>
                    <a:pt x="54373" y="17750"/>
                    <a:pt x="54142" y="17750"/>
                    <a:pt x="54027" y="17750"/>
                  </a:cubicBezTo>
                  <a:cubicBezTo>
                    <a:pt x="54027" y="17750"/>
                    <a:pt x="54027" y="17750"/>
                    <a:pt x="54027" y="17750"/>
                  </a:cubicBezTo>
                  <a:cubicBezTo>
                    <a:pt x="54027" y="17750"/>
                    <a:pt x="53912" y="17750"/>
                    <a:pt x="53797" y="17750"/>
                  </a:cubicBezTo>
                  <a:cubicBezTo>
                    <a:pt x="53797" y="17750"/>
                    <a:pt x="53797" y="17750"/>
                    <a:pt x="53797" y="17750"/>
                  </a:cubicBezTo>
                  <a:cubicBezTo>
                    <a:pt x="53566" y="17750"/>
                    <a:pt x="53336" y="17750"/>
                    <a:pt x="53220" y="17865"/>
                  </a:cubicBezTo>
                  <a:cubicBezTo>
                    <a:pt x="53220" y="17865"/>
                    <a:pt x="53220" y="17865"/>
                    <a:pt x="53220" y="17865"/>
                  </a:cubicBezTo>
                  <a:cubicBezTo>
                    <a:pt x="53220" y="17865"/>
                    <a:pt x="53105" y="17865"/>
                    <a:pt x="52990" y="17865"/>
                  </a:cubicBezTo>
                  <a:cubicBezTo>
                    <a:pt x="52990" y="17865"/>
                    <a:pt x="52990" y="17865"/>
                    <a:pt x="52990" y="17865"/>
                  </a:cubicBezTo>
                  <a:cubicBezTo>
                    <a:pt x="52759" y="17865"/>
                    <a:pt x="52529" y="18096"/>
                    <a:pt x="52414" y="18326"/>
                  </a:cubicBezTo>
                  <a:cubicBezTo>
                    <a:pt x="52414" y="18326"/>
                    <a:pt x="52414" y="18326"/>
                    <a:pt x="52414" y="18326"/>
                  </a:cubicBezTo>
                  <a:cubicBezTo>
                    <a:pt x="52414" y="18326"/>
                    <a:pt x="52298" y="18442"/>
                    <a:pt x="52183" y="18557"/>
                  </a:cubicBezTo>
                  <a:cubicBezTo>
                    <a:pt x="52183" y="18557"/>
                    <a:pt x="52183" y="18557"/>
                    <a:pt x="52183" y="18557"/>
                  </a:cubicBezTo>
                  <a:cubicBezTo>
                    <a:pt x="52183" y="18672"/>
                    <a:pt x="51953" y="18788"/>
                    <a:pt x="51953" y="18903"/>
                  </a:cubicBezTo>
                  <a:lnTo>
                    <a:pt x="432" y="106155"/>
                  </a:lnTo>
                  <a:cubicBezTo>
                    <a:pt x="-144" y="107192"/>
                    <a:pt x="-144" y="108345"/>
                    <a:pt x="432" y="109382"/>
                  </a:cubicBezTo>
                  <a:lnTo>
                    <a:pt x="36508" y="170586"/>
                  </a:lnTo>
                  <a:lnTo>
                    <a:pt x="36508" y="170586"/>
                  </a:lnTo>
                  <a:lnTo>
                    <a:pt x="51837" y="196635"/>
                  </a:lnTo>
                  <a:cubicBezTo>
                    <a:pt x="52990" y="198594"/>
                    <a:pt x="54834" y="198248"/>
                    <a:pt x="55410" y="198133"/>
                  </a:cubicBezTo>
                  <a:cubicBezTo>
                    <a:pt x="55987" y="198018"/>
                    <a:pt x="57716" y="197326"/>
                    <a:pt x="57716" y="195021"/>
                  </a:cubicBezTo>
                  <a:lnTo>
                    <a:pt x="57716" y="172660"/>
                  </a:lnTo>
                  <a:cubicBezTo>
                    <a:pt x="57716" y="170355"/>
                    <a:pt x="59559" y="168511"/>
                    <a:pt x="61865" y="168511"/>
                  </a:cubicBezTo>
                  <a:lnTo>
                    <a:pt x="242359" y="168511"/>
                  </a:lnTo>
                  <a:cubicBezTo>
                    <a:pt x="275899" y="168511"/>
                    <a:pt x="303216" y="141194"/>
                    <a:pt x="303216" y="107653"/>
                  </a:cubicBezTo>
                  <a:lnTo>
                    <a:pt x="303216" y="115"/>
                  </a:lnTo>
                  <a:lnTo>
                    <a:pt x="248237" y="32504"/>
                  </a:lnTo>
                  <a:cubicBezTo>
                    <a:pt x="247546" y="32849"/>
                    <a:pt x="246854" y="33195"/>
                    <a:pt x="246163" y="33426"/>
                  </a:cubicBezTo>
                  <a:cubicBezTo>
                    <a:pt x="245010" y="33887"/>
                    <a:pt x="243742" y="34002"/>
                    <a:pt x="242474" y="34002"/>
                  </a:cubicBezTo>
                  <a:cubicBezTo>
                    <a:pt x="241207" y="34002"/>
                    <a:pt x="239247" y="33656"/>
                    <a:pt x="237633" y="32965"/>
                  </a:cubicBezTo>
                  <a:cubicBezTo>
                    <a:pt x="237288" y="32849"/>
                    <a:pt x="236942" y="32619"/>
                    <a:pt x="236712" y="32504"/>
                  </a:cubicBezTo>
                  <a:lnTo>
                    <a:pt x="208588" y="15906"/>
                  </a:lnTo>
                  <a:lnTo>
                    <a:pt x="181618" y="0"/>
                  </a:lnTo>
                  <a:lnTo>
                    <a:pt x="181618" y="42646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EEC3C59-751C-0ADC-7FE2-493EC1377D8E}"/>
                </a:ext>
              </a:extLst>
            </p:cNvPr>
            <p:cNvSpPr/>
            <p:nvPr/>
          </p:nvSpPr>
          <p:spPr>
            <a:xfrm>
              <a:off x="3906545" y="3622097"/>
              <a:ext cx="1923642" cy="1991996"/>
            </a:xfrm>
            <a:custGeom>
              <a:avLst/>
              <a:gdLst>
                <a:gd name="connsiteX0" fmla="*/ 155582 w 240642"/>
                <a:gd name="connsiteY0" fmla="*/ 127593 h 249193"/>
                <a:gd name="connsiteX1" fmla="*/ 151432 w 240642"/>
                <a:gd name="connsiteY1" fmla="*/ 123444 h 249193"/>
                <a:gd name="connsiteX2" fmla="*/ 151432 w 240642"/>
                <a:gd name="connsiteY2" fmla="*/ 62010 h 249193"/>
                <a:gd name="connsiteX3" fmla="*/ 155582 w 240642"/>
                <a:gd name="connsiteY3" fmla="*/ 57861 h 249193"/>
                <a:gd name="connsiteX4" fmla="*/ 177942 w 240642"/>
                <a:gd name="connsiteY4" fmla="*/ 57861 h 249193"/>
                <a:gd name="connsiteX5" fmla="*/ 181054 w 240642"/>
                <a:gd name="connsiteY5" fmla="*/ 55556 h 249193"/>
                <a:gd name="connsiteX6" fmla="*/ 179555 w 240642"/>
                <a:gd name="connsiteY6" fmla="*/ 51982 h 249193"/>
                <a:gd name="connsiteX7" fmla="*/ 153507 w 240642"/>
                <a:gd name="connsiteY7" fmla="*/ 36653 h 249193"/>
                <a:gd name="connsiteX8" fmla="*/ 92190 w 240642"/>
                <a:gd name="connsiteY8" fmla="*/ 461 h 249193"/>
                <a:gd name="connsiteX9" fmla="*/ 90576 w 240642"/>
                <a:gd name="connsiteY9" fmla="*/ 0 h 249193"/>
                <a:gd name="connsiteX10" fmla="*/ 88963 w 240642"/>
                <a:gd name="connsiteY10" fmla="*/ 461 h 249193"/>
                <a:gd name="connsiteX11" fmla="*/ 27760 w 240642"/>
                <a:gd name="connsiteY11" fmla="*/ 36538 h 249193"/>
                <a:gd name="connsiteX12" fmla="*/ 27760 w 240642"/>
                <a:gd name="connsiteY12" fmla="*/ 36538 h 249193"/>
                <a:gd name="connsiteX13" fmla="*/ 1597 w 240642"/>
                <a:gd name="connsiteY13" fmla="*/ 51982 h 249193"/>
                <a:gd name="connsiteX14" fmla="*/ 98 w 240642"/>
                <a:gd name="connsiteY14" fmla="*/ 55556 h 249193"/>
                <a:gd name="connsiteX15" fmla="*/ 3210 w 240642"/>
                <a:gd name="connsiteY15" fmla="*/ 57861 h 249193"/>
                <a:gd name="connsiteX16" fmla="*/ 25571 w 240642"/>
                <a:gd name="connsiteY16" fmla="*/ 57861 h 249193"/>
                <a:gd name="connsiteX17" fmla="*/ 29720 w 240642"/>
                <a:gd name="connsiteY17" fmla="*/ 62010 h 249193"/>
                <a:gd name="connsiteX18" fmla="*/ 29720 w 240642"/>
                <a:gd name="connsiteY18" fmla="*/ 188336 h 249193"/>
                <a:gd name="connsiteX19" fmla="*/ 90576 w 240642"/>
                <a:gd name="connsiteY19" fmla="*/ 249193 h 249193"/>
                <a:gd name="connsiteX20" fmla="*/ 240642 w 240642"/>
                <a:gd name="connsiteY20" fmla="*/ 249193 h 249193"/>
                <a:gd name="connsiteX21" fmla="*/ 208139 w 240642"/>
                <a:gd name="connsiteY21" fmla="*/ 194099 h 249193"/>
                <a:gd name="connsiteX22" fmla="*/ 208139 w 240642"/>
                <a:gd name="connsiteY22" fmla="*/ 182573 h 249193"/>
                <a:gd name="connsiteX23" fmla="*/ 240642 w 240642"/>
                <a:gd name="connsiteY23" fmla="*/ 127478 h 249193"/>
                <a:gd name="connsiteX24" fmla="*/ 155466 w 240642"/>
                <a:gd name="connsiteY24" fmla="*/ 127478 h 24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642" h="249193">
                  <a:moveTo>
                    <a:pt x="155582" y="127593"/>
                  </a:moveTo>
                  <a:cubicBezTo>
                    <a:pt x="153277" y="127593"/>
                    <a:pt x="151432" y="125749"/>
                    <a:pt x="151432" y="123444"/>
                  </a:cubicBezTo>
                  <a:lnTo>
                    <a:pt x="151432" y="62010"/>
                  </a:lnTo>
                  <a:cubicBezTo>
                    <a:pt x="151432" y="59705"/>
                    <a:pt x="153277" y="57861"/>
                    <a:pt x="155582" y="57861"/>
                  </a:cubicBezTo>
                  <a:lnTo>
                    <a:pt x="177942" y="57861"/>
                  </a:lnTo>
                  <a:cubicBezTo>
                    <a:pt x="180247" y="57861"/>
                    <a:pt x="180823" y="56017"/>
                    <a:pt x="181054" y="55556"/>
                  </a:cubicBezTo>
                  <a:cubicBezTo>
                    <a:pt x="181169" y="54979"/>
                    <a:pt x="181515" y="53135"/>
                    <a:pt x="179555" y="51982"/>
                  </a:cubicBezTo>
                  <a:lnTo>
                    <a:pt x="153507" y="36653"/>
                  </a:lnTo>
                  <a:lnTo>
                    <a:pt x="92190" y="461"/>
                  </a:lnTo>
                  <a:cubicBezTo>
                    <a:pt x="91729" y="115"/>
                    <a:pt x="91152" y="0"/>
                    <a:pt x="90576" y="0"/>
                  </a:cubicBezTo>
                  <a:cubicBezTo>
                    <a:pt x="90000" y="0"/>
                    <a:pt x="89423" y="115"/>
                    <a:pt x="88963" y="461"/>
                  </a:cubicBezTo>
                  <a:lnTo>
                    <a:pt x="27760" y="36538"/>
                  </a:lnTo>
                  <a:cubicBezTo>
                    <a:pt x="27760" y="36538"/>
                    <a:pt x="27760" y="36538"/>
                    <a:pt x="27760" y="36538"/>
                  </a:cubicBezTo>
                  <a:lnTo>
                    <a:pt x="1597" y="51982"/>
                  </a:lnTo>
                  <a:cubicBezTo>
                    <a:pt x="-363" y="53135"/>
                    <a:pt x="-17" y="54979"/>
                    <a:pt x="98" y="55556"/>
                  </a:cubicBezTo>
                  <a:cubicBezTo>
                    <a:pt x="214" y="56132"/>
                    <a:pt x="905" y="57861"/>
                    <a:pt x="3210" y="57861"/>
                  </a:cubicBezTo>
                  <a:lnTo>
                    <a:pt x="25571" y="57861"/>
                  </a:lnTo>
                  <a:cubicBezTo>
                    <a:pt x="27876" y="57861"/>
                    <a:pt x="29720" y="59705"/>
                    <a:pt x="29720" y="62010"/>
                  </a:cubicBezTo>
                  <a:lnTo>
                    <a:pt x="29720" y="188336"/>
                  </a:lnTo>
                  <a:cubicBezTo>
                    <a:pt x="29720" y="221876"/>
                    <a:pt x="57036" y="249193"/>
                    <a:pt x="90576" y="249193"/>
                  </a:cubicBezTo>
                  <a:lnTo>
                    <a:pt x="240642" y="249193"/>
                  </a:lnTo>
                  <a:lnTo>
                    <a:pt x="208139" y="194099"/>
                  </a:lnTo>
                  <a:cubicBezTo>
                    <a:pt x="206065" y="190526"/>
                    <a:pt x="206065" y="186146"/>
                    <a:pt x="208139" y="182573"/>
                  </a:cubicBezTo>
                  <a:lnTo>
                    <a:pt x="240642" y="127478"/>
                  </a:lnTo>
                  <a:lnTo>
                    <a:pt x="155466" y="127478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B4135D-BECC-92FF-B3EB-4E9368932098}"/>
                </a:ext>
              </a:extLst>
            </p:cNvPr>
            <p:cNvSpPr/>
            <p:nvPr/>
          </p:nvSpPr>
          <p:spPr>
            <a:xfrm>
              <a:off x="4143201" y="1891706"/>
              <a:ext cx="1562666" cy="1935848"/>
            </a:xfrm>
            <a:custGeom>
              <a:avLst/>
              <a:gdLst>
                <a:gd name="connsiteX0" fmla="*/ 121943 w 195485"/>
                <a:gd name="connsiteY0" fmla="*/ 160911 h 242169"/>
                <a:gd name="connsiteX1" fmla="*/ 123096 w 195485"/>
                <a:gd name="connsiteY1" fmla="*/ 158030 h 242169"/>
                <a:gd name="connsiteX2" fmla="*/ 168162 w 195485"/>
                <a:gd name="connsiteY2" fmla="*/ 112963 h 242169"/>
                <a:gd name="connsiteX3" fmla="*/ 170236 w 195485"/>
                <a:gd name="connsiteY3" fmla="*/ 111810 h 242169"/>
                <a:gd name="connsiteX4" fmla="*/ 171043 w 195485"/>
                <a:gd name="connsiteY4" fmla="*/ 111810 h 242169"/>
                <a:gd name="connsiteX5" fmla="*/ 171043 w 195485"/>
                <a:gd name="connsiteY5" fmla="*/ 111810 h 242169"/>
                <a:gd name="connsiteX6" fmla="*/ 173925 w 195485"/>
                <a:gd name="connsiteY6" fmla="*/ 112963 h 242169"/>
                <a:gd name="connsiteX7" fmla="*/ 190061 w 195485"/>
                <a:gd name="connsiteY7" fmla="*/ 129099 h 242169"/>
                <a:gd name="connsiteX8" fmla="*/ 193864 w 195485"/>
                <a:gd name="connsiteY8" fmla="*/ 129560 h 242169"/>
                <a:gd name="connsiteX9" fmla="*/ 195363 w 195485"/>
                <a:gd name="connsiteY9" fmla="*/ 125987 h 242169"/>
                <a:gd name="connsiteX10" fmla="*/ 187640 w 195485"/>
                <a:gd name="connsiteY10" fmla="*/ 96250 h 242169"/>
                <a:gd name="connsiteX11" fmla="*/ 170006 w 195485"/>
                <a:gd name="connsiteY11" fmla="*/ 27785 h 242169"/>
                <a:gd name="connsiteX12" fmla="*/ 167701 w 195485"/>
                <a:gd name="connsiteY12" fmla="*/ 25480 h 242169"/>
                <a:gd name="connsiteX13" fmla="*/ 69501 w 195485"/>
                <a:gd name="connsiteY13" fmla="*/ 123 h 242169"/>
                <a:gd name="connsiteX14" fmla="*/ 65928 w 195485"/>
                <a:gd name="connsiteY14" fmla="*/ 1621 h 242169"/>
                <a:gd name="connsiteX15" fmla="*/ 66389 w 195485"/>
                <a:gd name="connsiteY15" fmla="*/ 5425 h 242169"/>
                <a:gd name="connsiteX16" fmla="*/ 81949 w 195485"/>
                <a:gd name="connsiteY16" fmla="*/ 20985 h 242169"/>
                <a:gd name="connsiteX17" fmla="*/ 83101 w 195485"/>
                <a:gd name="connsiteY17" fmla="*/ 23866 h 242169"/>
                <a:gd name="connsiteX18" fmla="*/ 81949 w 195485"/>
                <a:gd name="connsiteY18" fmla="*/ 26748 h 242169"/>
                <a:gd name="connsiteX19" fmla="*/ 17865 w 195485"/>
                <a:gd name="connsiteY19" fmla="*/ 90833 h 242169"/>
                <a:gd name="connsiteX20" fmla="*/ 0 w 195485"/>
                <a:gd name="connsiteY20" fmla="*/ 133825 h 242169"/>
                <a:gd name="connsiteX21" fmla="*/ 0 w 195485"/>
                <a:gd name="connsiteY21" fmla="*/ 242170 h 242169"/>
                <a:gd name="connsiteX22" fmla="*/ 54978 w 195485"/>
                <a:gd name="connsiteY22" fmla="*/ 209666 h 242169"/>
                <a:gd name="connsiteX23" fmla="*/ 60741 w 195485"/>
                <a:gd name="connsiteY23" fmla="*/ 208053 h 242169"/>
                <a:gd name="connsiteX24" fmla="*/ 66504 w 195485"/>
                <a:gd name="connsiteY24" fmla="*/ 209666 h 242169"/>
                <a:gd name="connsiteX25" fmla="*/ 121597 w 195485"/>
                <a:gd name="connsiteY25" fmla="*/ 242170 h 242169"/>
                <a:gd name="connsiteX26" fmla="*/ 121597 w 195485"/>
                <a:gd name="connsiteY26" fmla="*/ 160681 h 242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5485" h="242169">
                  <a:moveTo>
                    <a:pt x="121943" y="160911"/>
                  </a:moveTo>
                  <a:cubicBezTo>
                    <a:pt x="121943" y="159874"/>
                    <a:pt x="122404" y="158836"/>
                    <a:pt x="123096" y="158030"/>
                  </a:cubicBezTo>
                  <a:lnTo>
                    <a:pt x="168162" y="112963"/>
                  </a:lnTo>
                  <a:cubicBezTo>
                    <a:pt x="168738" y="112387"/>
                    <a:pt x="169430" y="112041"/>
                    <a:pt x="170236" y="111810"/>
                  </a:cubicBezTo>
                  <a:cubicBezTo>
                    <a:pt x="170467" y="111810"/>
                    <a:pt x="170813" y="111810"/>
                    <a:pt x="171043" y="111810"/>
                  </a:cubicBezTo>
                  <a:lnTo>
                    <a:pt x="171043" y="111810"/>
                  </a:lnTo>
                  <a:cubicBezTo>
                    <a:pt x="172081" y="111810"/>
                    <a:pt x="173118" y="112271"/>
                    <a:pt x="173925" y="112963"/>
                  </a:cubicBezTo>
                  <a:lnTo>
                    <a:pt x="190061" y="129099"/>
                  </a:lnTo>
                  <a:cubicBezTo>
                    <a:pt x="191674" y="130713"/>
                    <a:pt x="193403" y="129906"/>
                    <a:pt x="193864" y="129560"/>
                  </a:cubicBezTo>
                  <a:cubicBezTo>
                    <a:pt x="194325" y="129330"/>
                    <a:pt x="195939" y="128177"/>
                    <a:pt x="195363" y="125987"/>
                  </a:cubicBezTo>
                  <a:lnTo>
                    <a:pt x="187640" y="96250"/>
                  </a:lnTo>
                  <a:lnTo>
                    <a:pt x="170006" y="27785"/>
                  </a:lnTo>
                  <a:cubicBezTo>
                    <a:pt x="169660" y="26633"/>
                    <a:pt x="168853" y="25826"/>
                    <a:pt x="167701" y="25480"/>
                  </a:cubicBezTo>
                  <a:lnTo>
                    <a:pt x="69501" y="123"/>
                  </a:lnTo>
                  <a:cubicBezTo>
                    <a:pt x="67311" y="-453"/>
                    <a:pt x="66273" y="1160"/>
                    <a:pt x="65928" y="1621"/>
                  </a:cubicBezTo>
                  <a:cubicBezTo>
                    <a:pt x="65697" y="2082"/>
                    <a:pt x="64890" y="3811"/>
                    <a:pt x="66389" y="5425"/>
                  </a:cubicBezTo>
                  <a:lnTo>
                    <a:pt x="81949" y="20985"/>
                  </a:lnTo>
                  <a:cubicBezTo>
                    <a:pt x="82755" y="21792"/>
                    <a:pt x="83101" y="22829"/>
                    <a:pt x="83101" y="23866"/>
                  </a:cubicBezTo>
                  <a:cubicBezTo>
                    <a:pt x="83101" y="24904"/>
                    <a:pt x="82640" y="25941"/>
                    <a:pt x="81949" y="26748"/>
                  </a:cubicBezTo>
                  <a:lnTo>
                    <a:pt x="17865" y="90833"/>
                  </a:lnTo>
                  <a:cubicBezTo>
                    <a:pt x="6339" y="102359"/>
                    <a:pt x="0" y="117573"/>
                    <a:pt x="0" y="133825"/>
                  </a:cubicBezTo>
                  <a:lnTo>
                    <a:pt x="0" y="242170"/>
                  </a:lnTo>
                  <a:lnTo>
                    <a:pt x="54978" y="209666"/>
                  </a:lnTo>
                  <a:cubicBezTo>
                    <a:pt x="56707" y="208629"/>
                    <a:pt x="58782" y="208053"/>
                    <a:pt x="60741" y="208053"/>
                  </a:cubicBezTo>
                  <a:cubicBezTo>
                    <a:pt x="62700" y="208053"/>
                    <a:pt x="64775" y="208629"/>
                    <a:pt x="66504" y="209666"/>
                  </a:cubicBezTo>
                  <a:lnTo>
                    <a:pt x="121597" y="242170"/>
                  </a:lnTo>
                  <a:lnTo>
                    <a:pt x="121597" y="160681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31FBA3E-D9DF-A3AB-D7F0-CD7890614DF7}"/>
                </a:ext>
              </a:extLst>
            </p:cNvPr>
            <p:cNvSpPr/>
            <p:nvPr/>
          </p:nvSpPr>
          <p:spPr>
            <a:xfrm>
              <a:off x="5005579" y="1010015"/>
              <a:ext cx="2491384" cy="1885175"/>
            </a:xfrm>
            <a:custGeom>
              <a:avLst/>
              <a:gdLst>
                <a:gd name="connsiteX0" fmla="*/ 133700 w 311665"/>
                <a:gd name="connsiteY0" fmla="*/ 149839 h 235830"/>
                <a:gd name="connsiteX1" fmla="*/ 135890 w 311665"/>
                <a:gd name="connsiteY1" fmla="*/ 148686 h 235830"/>
                <a:gd name="connsiteX2" fmla="*/ 136581 w 311665"/>
                <a:gd name="connsiteY2" fmla="*/ 148686 h 235830"/>
                <a:gd name="connsiteX3" fmla="*/ 139462 w 311665"/>
                <a:gd name="connsiteY3" fmla="*/ 149839 h 235830"/>
                <a:gd name="connsiteX4" fmla="*/ 198360 w 311665"/>
                <a:gd name="connsiteY4" fmla="*/ 208737 h 235830"/>
                <a:gd name="connsiteX5" fmla="*/ 199282 w 311665"/>
                <a:gd name="connsiteY5" fmla="*/ 213232 h 235830"/>
                <a:gd name="connsiteX6" fmla="*/ 198360 w 311665"/>
                <a:gd name="connsiteY6" fmla="*/ 214615 h 235830"/>
                <a:gd name="connsiteX7" fmla="*/ 182569 w 311665"/>
                <a:gd name="connsiteY7" fmla="*/ 230406 h 235830"/>
                <a:gd name="connsiteX8" fmla="*/ 182108 w 311665"/>
                <a:gd name="connsiteY8" fmla="*/ 234209 h 235830"/>
                <a:gd name="connsiteX9" fmla="*/ 184874 w 311665"/>
                <a:gd name="connsiteY9" fmla="*/ 235823 h 235830"/>
                <a:gd name="connsiteX10" fmla="*/ 185335 w 311665"/>
                <a:gd name="connsiteY10" fmla="*/ 235823 h 235830"/>
                <a:gd name="connsiteX11" fmla="*/ 185681 w 311665"/>
                <a:gd name="connsiteY11" fmla="*/ 235823 h 235830"/>
                <a:gd name="connsiteX12" fmla="*/ 200895 w 311665"/>
                <a:gd name="connsiteY12" fmla="*/ 231904 h 235830"/>
                <a:gd name="connsiteX13" fmla="*/ 283881 w 311665"/>
                <a:gd name="connsiteY13" fmla="*/ 210466 h 235830"/>
                <a:gd name="connsiteX14" fmla="*/ 286186 w 311665"/>
                <a:gd name="connsiteY14" fmla="*/ 208160 h 235830"/>
                <a:gd name="connsiteX15" fmla="*/ 303936 w 311665"/>
                <a:gd name="connsiteY15" fmla="*/ 139350 h 235830"/>
                <a:gd name="connsiteX16" fmla="*/ 303936 w 311665"/>
                <a:gd name="connsiteY16" fmla="*/ 139350 h 235830"/>
                <a:gd name="connsiteX17" fmla="*/ 311543 w 311665"/>
                <a:gd name="connsiteY17" fmla="*/ 110074 h 235830"/>
                <a:gd name="connsiteX18" fmla="*/ 310045 w 311665"/>
                <a:gd name="connsiteY18" fmla="*/ 106501 h 235830"/>
                <a:gd name="connsiteX19" fmla="*/ 306241 w 311665"/>
                <a:gd name="connsiteY19" fmla="*/ 106962 h 235830"/>
                <a:gd name="connsiteX20" fmla="*/ 290451 w 311665"/>
                <a:gd name="connsiteY20" fmla="*/ 122752 h 235830"/>
                <a:gd name="connsiteX21" fmla="*/ 287569 w 311665"/>
                <a:gd name="connsiteY21" fmla="*/ 123905 h 235830"/>
                <a:gd name="connsiteX22" fmla="*/ 284688 w 311665"/>
                <a:gd name="connsiteY22" fmla="*/ 122752 h 235830"/>
                <a:gd name="connsiteX23" fmla="*/ 179803 w 311665"/>
                <a:gd name="connsiteY23" fmla="*/ 17865 h 235830"/>
                <a:gd name="connsiteX24" fmla="*/ 136812 w 311665"/>
                <a:gd name="connsiteY24" fmla="*/ 0 h 235830"/>
                <a:gd name="connsiteX25" fmla="*/ 93820 w 311665"/>
                <a:gd name="connsiteY25" fmla="*/ 17865 h 235830"/>
                <a:gd name="connsiteX26" fmla="*/ 0 w 311665"/>
                <a:gd name="connsiteY26" fmla="*/ 111687 h 235830"/>
                <a:gd name="connsiteX27" fmla="*/ 62355 w 311665"/>
                <a:gd name="connsiteY27" fmla="*/ 127709 h 235830"/>
                <a:gd name="connsiteX28" fmla="*/ 70538 w 311665"/>
                <a:gd name="connsiteY28" fmla="*/ 135892 h 235830"/>
                <a:gd name="connsiteX29" fmla="*/ 86444 w 311665"/>
                <a:gd name="connsiteY29" fmla="*/ 197326 h 235830"/>
                <a:gd name="connsiteX30" fmla="*/ 134045 w 311665"/>
                <a:gd name="connsiteY30" fmla="*/ 149723 h 23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11665" h="235830">
                  <a:moveTo>
                    <a:pt x="133700" y="149839"/>
                  </a:moveTo>
                  <a:cubicBezTo>
                    <a:pt x="134276" y="149262"/>
                    <a:pt x="135083" y="148801"/>
                    <a:pt x="135890" y="148686"/>
                  </a:cubicBezTo>
                  <a:cubicBezTo>
                    <a:pt x="136120" y="148686"/>
                    <a:pt x="136351" y="148686"/>
                    <a:pt x="136581" y="148686"/>
                  </a:cubicBezTo>
                  <a:cubicBezTo>
                    <a:pt x="137618" y="148686"/>
                    <a:pt x="138656" y="149032"/>
                    <a:pt x="139462" y="149839"/>
                  </a:cubicBezTo>
                  <a:lnTo>
                    <a:pt x="198360" y="208737"/>
                  </a:lnTo>
                  <a:cubicBezTo>
                    <a:pt x="199512" y="209889"/>
                    <a:pt x="199858" y="211734"/>
                    <a:pt x="199282" y="213232"/>
                  </a:cubicBezTo>
                  <a:cubicBezTo>
                    <a:pt x="199051" y="213693"/>
                    <a:pt x="198820" y="214154"/>
                    <a:pt x="198360" y="214615"/>
                  </a:cubicBezTo>
                  <a:lnTo>
                    <a:pt x="182569" y="230406"/>
                  </a:lnTo>
                  <a:cubicBezTo>
                    <a:pt x="180955" y="232019"/>
                    <a:pt x="181762" y="233748"/>
                    <a:pt x="182108" y="234209"/>
                  </a:cubicBezTo>
                  <a:cubicBezTo>
                    <a:pt x="182339" y="234670"/>
                    <a:pt x="183261" y="235938"/>
                    <a:pt x="184874" y="235823"/>
                  </a:cubicBezTo>
                  <a:cubicBezTo>
                    <a:pt x="184989" y="235823"/>
                    <a:pt x="185220" y="235823"/>
                    <a:pt x="185335" y="235823"/>
                  </a:cubicBezTo>
                  <a:cubicBezTo>
                    <a:pt x="185335" y="235823"/>
                    <a:pt x="185566" y="235823"/>
                    <a:pt x="185681" y="235823"/>
                  </a:cubicBezTo>
                  <a:lnTo>
                    <a:pt x="200895" y="231904"/>
                  </a:lnTo>
                  <a:lnTo>
                    <a:pt x="283881" y="210466"/>
                  </a:lnTo>
                  <a:cubicBezTo>
                    <a:pt x="285034" y="210120"/>
                    <a:pt x="285840" y="209313"/>
                    <a:pt x="286186" y="208160"/>
                  </a:cubicBezTo>
                  <a:lnTo>
                    <a:pt x="303936" y="139350"/>
                  </a:lnTo>
                  <a:cubicBezTo>
                    <a:pt x="303936" y="139350"/>
                    <a:pt x="303936" y="139350"/>
                    <a:pt x="303936" y="139350"/>
                  </a:cubicBezTo>
                  <a:lnTo>
                    <a:pt x="311543" y="110074"/>
                  </a:lnTo>
                  <a:cubicBezTo>
                    <a:pt x="312119" y="107884"/>
                    <a:pt x="310506" y="106847"/>
                    <a:pt x="310045" y="106501"/>
                  </a:cubicBezTo>
                  <a:cubicBezTo>
                    <a:pt x="309584" y="106270"/>
                    <a:pt x="307855" y="105463"/>
                    <a:pt x="306241" y="106962"/>
                  </a:cubicBezTo>
                  <a:lnTo>
                    <a:pt x="290451" y="122752"/>
                  </a:lnTo>
                  <a:cubicBezTo>
                    <a:pt x="289644" y="123559"/>
                    <a:pt x="288607" y="123905"/>
                    <a:pt x="287569" y="123905"/>
                  </a:cubicBezTo>
                  <a:cubicBezTo>
                    <a:pt x="286532" y="123905"/>
                    <a:pt x="285495" y="123444"/>
                    <a:pt x="284688" y="122752"/>
                  </a:cubicBezTo>
                  <a:lnTo>
                    <a:pt x="179803" y="17865"/>
                  </a:lnTo>
                  <a:cubicBezTo>
                    <a:pt x="168277" y="6339"/>
                    <a:pt x="153063" y="0"/>
                    <a:pt x="136812" y="0"/>
                  </a:cubicBezTo>
                  <a:cubicBezTo>
                    <a:pt x="120560" y="0"/>
                    <a:pt x="105346" y="6339"/>
                    <a:pt x="93820" y="17865"/>
                  </a:cubicBezTo>
                  <a:lnTo>
                    <a:pt x="0" y="111687"/>
                  </a:lnTo>
                  <a:lnTo>
                    <a:pt x="62355" y="127709"/>
                  </a:lnTo>
                  <a:cubicBezTo>
                    <a:pt x="66389" y="128746"/>
                    <a:pt x="69501" y="131858"/>
                    <a:pt x="70538" y="135892"/>
                  </a:cubicBezTo>
                  <a:lnTo>
                    <a:pt x="86444" y="197326"/>
                  </a:lnTo>
                  <a:lnTo>
                    <a:pt x="134045" y="149723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96044-87ED-94F5-7F5F-3A84417862E1}"/>
                </a:ext>
              </a:extLst>
            </p:cNvPr>
            <p:cNvSpPr/>
            <p:nvPr/>
          </p:nvSpPr>
          <p:spPr>
            <a:xfrm>
              <a:off x="6793926" y="2196741"/>
              <a:ext cx="1491529" cy="2279461"/>
            </a:xfrm>
            <a:custGeom>
              <a:avLst/>
              <a:gdLst>
                <a:gd name="connsiteX0" fmla="*/ 34117 w 186586"/>
                <a:gd name="connsiteY0" fmla="*/ 119871 h 285154"/>
                <a:gd name="connsiteX1" fmla="*/ 34347 w 186586"/>
                <a:gd name="connsiteY1" fmla="*/ 120217 h 285154"/>
                <a:gd name="connsiteX2" fmla="*/ 35269 w 186586"/>
                <a:gd name="connsiteY2" fmla="*/ 122868 h 285154"/>
                <a:gd name="connsiteX3" fmla="*/ 35269 w 186586"/>
                <a:gd name="connsiteY3" fmla="*/ 223144 h 285154"/>
                <a:gd name="connsiteX4" fmla="*/ 31120 w 186586"/>
                <a:gd name="connsiteY4" fmla="*/ 227294 h 285154"/>
                <a:gd name="connsiteX5" fmla="*/ 8760 w 186586"/>
                <a:gd name="connsiteY5" fmla="*/ 227294 h 285154"/>
                <a:gd name="connsiteX6" fmla="*/ 5648 w 186586"/>
                <a:gd name="connsiteY6" fmla="*/ 229599 h 285154"/>
                <a:gd name="connsiteX7" fmla="*/ 7146 w 186586"/>
                <a:gd name="connsiteY7" fmla="*/ 233172 h 285154"/>
                <a:gd name="connsiteX8" fmla="*/ 33194 w 186586"/>
                <a:gd name="connsiteY8" fmla="*/ 248502 h 285154"/>
                <a:gd name="connsiteX9" fmla="*/ 94512 w 186586"/>
                <a:gd name="connsiteY9" fmla="*/ 284693 h 285154"/>
                <a:gd name="connsiteX10" fmla="*/ 96932 w 186586"/>
                <a:gd name="connsiteY10" fmla="*/ 285039 h 285154"/>
                <a:gd name="connsiteX11" fmla="*/ 97739 w 186586"/>
                <a:gd name="connsiteY11" fmla="*/ 284693 h 285154"/>
                <a:gd name="connsiteX12" fmla="*/ 184989 w 186586"/>
                <a:gd name="connsiteY12" fmla="*/ 233172 h 285154"/>
                <a:gd name="connsiteX13" fmla="*/ 186488 w 186586"/>
                <a:gd name="connsiteY13" fmla="*/ 229599 h 285154"/>
                <a:gd name="connsiteX14" fmla="*/ 183376 w 186586"/>
                <a:gd name="connsiteY14" fmla="*/ 227294 h 285154"/>
                <a:gd name="connsiteX15" fmla="*/ 161016 w 186586"/>
                <a:gd name="connsiteY15" fmla="*/ 227294 h 285154"/>
                <a:gd name="connsiteX16" fmla="*/ 158134 w 186586"/>
                <a:gd name="connsiteY16" fmla="*/ 226141 h 285154"/>
                <a:gd name="connsiteX17" fmla="*/ 156867 w 186586"/>
                <a:gd name="connsiteY17" fmla="*/ 223260 h 285154"/>
                <a:gd name="connsiteX18" fmla="*/ 156867 w 186586"/>
                <a:gd name="connsiteY18" fmla="*/ 96012 h 285154"/>
                <a:gd name="connsiteX19" fmla="*/ 139002 w 186586"/>
                <a:gd name="connsiteY19" fmla="*/ 53020 h 285154"/>
                <a:gd name="connsiteX20" fmla="*/ 85983 w 186586"/>
                <a:gd name="connsiteY20" fmla="*/ 0 h 285154"/>
                <a:gd name="connsiteX21" fmla="*/ 70077 w 186586"/>
                <a:gd name="connsiteY21" fmla="*/ 61895 h 285154"/>
                <a:gd name="connsiteX22" fmla="*/ 61894 w 186586"/>
                <a:gd name="connsiteY22" fmla="*/ 70078 h 285154"/>
                <a:gd name="connsiteX23" fmla="*/ 0 w 186586"/>
                <a:gd name="connsiteY23" fmla="*/ 85984 h 285154"/>
                <a:gd name="connsiteX24" fmla="*/ 34001 w 186586"/>
                <a:gd name="connsiteY24" fmla="*/ 119986 h 2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6586" h="285154">
                  <a:moveTo>
                    <a:pt x="34117" y="119871"/>
                  </a:moveTo>
                  <a:cubicBezTo>
                    <a:pt x="34117" y="119871"/>
                    <a:pt x="34347" y="120101"/>
                    <a:pt x="34347" y="120217"/>
                  </a:cubicBezTo>
                  <a:cubicBezTo>
                    <a:pt x="34923" y="120908"/>
                    <a:pt x="35269" y="121830"/>
                    <a:pt x="35269" y="122868"/>
                  </a:cubicBezTo>
                  <a:lnTo>
                    <a:pt x="35269" y="223144"/>
                  </a:lnTo>
                  <a:cubicBezTo>
                    <a:pt x="35269" y="225450"/>
                    <a:pt x="33425" y="227294"/>
                    <a:pt x="31120" y="227294"/>
                  </a:cubicBezTo>
                  <a:lnTo>
                    <a:pt x="8760" y="227294"/>
                  </a:lnTo>
                  <a:cubicBezTo>
                    <a:pt x="6455" y="227294"/>
                    <a:pt x="5878" y="229138"/>
                    <a:pt x="5648" y="229599"/>
                  </a:cubicBezTo>
                  <a:cubicBezTo>
                    <a:pt x="5532" y="230175"/>
                    <a:pt x="5187" y="232019"/>
                    <a:pt x="7146" y="233172"/>
                  </a:cubicBezTo>
                  <a:lnTo>
                    <a:pt x="33194" y="248502"/>
                  </a:lnTo>
                  <a:lnTo>
                    <a:pt x="94512" y="284693"/>
                  </a:lnTo>
                  <a:cubicBezTo>
                    <a:pt x="95203" y="285155"/>
                    <a:pt x="96125" y="285270"/>
                    <a:pt x="96932" y="285039"/>
                  </a:cubicBezTo>
                  <a:cubicBezTo>
                    <a:pt x="97163" y="285039"/>
                    <a:pt x="97509" y="284809"/>
                    <a:pt x="97739" y="284693"/>
                  </a:cubicBezTo>
                  <a:lnTo>
                    <a:pt x="184989" y="233172"/>
                  </a:lnTo>
                  <a:cubicBezTo>
                    <a:pt x="186949" y="232019"/>
                    <a:pt x="186603" y="230175"/>
                    <a:pt x="186488" y="229599"/>
                  </a:cubicBezTo>
                  <a:cubicBezTo>
                    <a:pt x="186373" y="229023"/>
                    <a:pt x="185681" y="227294"/>
                    <a:pt x="183376" y="227294"/>
                  </a:cubicBezTo>
                  <a:lnTo>
                    <a:pt x="161016" y="227294"/>
                  </a:lnTo>
                  <a:cubicBezTo>
                    <a:pt x="159978" y="227294"/>
                    <a:pt x="158826" y="226833"/>
                    <a:pt x="158134" y="226141"/>
                  </a:cubicBezTo>
                  <a:cubicBezTo>
                    <a:pt x="157327" y="225334"/>
                    <a:pt x="156867" y="224297"/>
                    <a:pt x="156867" y="223260"/>
                  </a:cubicBezTo>
                  <a:lnTo>
                    <a:pt x="156867" y="96012"/>
                  </a:lnTo>
                  <a:cubicBezTo>
                    <a:pt x="156867" y="79760"/>
                    <a:pt x="150527" y="64546"/>
                    <a:pt x="139002" y="53020"/>
                  </a:cubicBezTo>
                  <a:lnTo>
                    <a:pt x="85983" y="0"/>
                  </a:lnTo>
                  <a:lnTo>
                    <a:pt x="70077" y="61895"/>
                  </a:lnTo>
                  <a:cubicBezTo>
                    <a:pt x="69040" y="65929"/>
                    <a:pt x="65928" y="69041"/>
                    <a:pt x="61894" y="70078"/>
                  </a:cubicBezTo>
                  <a:lnTo>
                    <a:pt x="0" y="85984"/>
                  </a:lnTo>
                  <a:lnTo>
                    <a:pt x="34001" y="11998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1F740D-5343-0BAC-B62C-74BCE3233049}"/>
                </a:ext>
              </a:extLst>
            </p:cNvPr>
            <p:cNvSpPr txBox="1"/>
            <p:nvPr/>
          </p:nvSpPr>
          <p:spPr>
            <a:xfrm>
              <a:off x="6611729" y="2243746"/>
              <a:ext cx="687796" cy="321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01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45F3A3-C30B-B52A-E8E6-3B52F14EFDA1}"/>
                </a:ext>
              </a:extLst>
            </p:cNvPr>
            <p:cNvSpPr txBox="1"/>
            <p:nvPr/>
          </p:nvSpPr>
          <p:spPr>
            <a:xfrm>
              <a:off x="7198182" y="3901399"/>
              <a:ext cx="687796" cy="321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75000"/>
                    </a:schemeClr>
                  </a:solidFill>
                </a:rPr>
                <a:t>02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AF57C9-D1EE-F2F7-E2D7-8CB5F23548A5}"/>
                </a:ext>
              </a:extLst>
            </p:cNvPr>
            <p:cNvSpPr txBox="1"/>
            <p:nvPr/>
          </p:nvSpPr>
          <p:spPr>
            <a:xfrm>
              <a:off x="5705867" y="4953551"/>
              <a:ext cx="687796" cy="321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50000"/>
                    </a:schemeClr>
                  </a:solidFill>
                </a:rPr>
                <a:t>03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BE7CC24-BD8D-F3FC-DF24-96E17786CBDD}"/>
                </a:ext>
              </a:extLst>
            </p:cNvPr>
            <p:cNvSpPr txBox="1"/>
            <p:nvPr/>
          </p:nvSpPr>
          <p:spPr>
            <a:xfrm>
              <a:off x="4297512" y="3833210"/>
              <a:ext cx="687796" cy="321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04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1C77FF-F7C4-4824-8014-AAB1F6A7137F}"/>
                </a:ext>
              </a:extLst>
            </p:cNvPr>
            <p:cNvSpPr txBox="1"/>
            <p:nvPr/>
          </p:nvSpPr>
          <p:spPr>
            <a:xfrm>
              <a:off x="4868366" y="2266963"/>
              <a:ext cx="687796" cy="321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05</a:t>
              </a:r>
            </a:p>
          </p:txBody>
        </p:sp>
      </p:grpSp>
      <p:pic>
        <p:nvPicPr>
          <p:cNvPr id="36" name="Graphic 35" descr="Bank outline">
            <a:extLst>
              <a:ext uri="{FF2B5EF4-FFF2-40B4-BE49-F238E27FC236}">
                <a16:creationId xmlns:a16="http://schemas.microsoft.com/office/drawing/2014/main" id="{0E08D0C7-534F-9487-20B3-6712F369D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6650" y="5701551"/>
            <a:ext cx="1695256" cy="169525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70CBDDD-22E3-F4D5-C810-1D5FB09E477F}"/>
              </a:ext>
            </a:extLst>
          </p:cNvPr>
          <p:cNvSpPr txBox="1"/>
          <p:nvPr/>
        </p:nvSpPr>
        <p:spPr>
          <a:xfrm>
            <a:off x="12715848" y="2672478"/>
            <a:ext cx="6062539" cy="114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População dependente dos bancos para armazenamento dos bens valiosos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96E3D6-9F57-5C47-49D3-C6ECA1D2EFB1}"/>
              </a:ext>
            </a:extLst>
          </p:cNvPr>
          <p:cNvSpPr txBox="1"/>
          <p:nvPr/>
        </p:nvSpPr>
        <p:spPr>
          <a:xfrm>
            <a:off x="12715848" y="4407081"/>
            <a:ext cx="6062539" cy="280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bancos começam a emitir mais recibos de papel do que o ouro que têm armazenado, permitindo-lhes criar mais dinheiro do que aquele que conseguem converter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CDC65-819F-37EF-65EB-1D6A7114CD0D}"/>
              </a:ext>
            </a:extLst>
          </p:cNvPr>
          <p:cNvSpPr txBox="1"/>
          <p:nvPr/>
        </p:nvSpPr>
        <p:spPr>
          <a:xfrm>
            <a:off x="12658987" y="7803679"/>
            <a:ext cx="6062400" cy="280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 marL="19050" algn="l">
              <a:lnSpc>
                <a:spcPct val="150000"/>
              </a:lnSpc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b="1" dirty="0"/>
              <a:t> 03. </a:t>
            </a:r>
            <a:r>
              <a:rPr lang="pt-PT" dirty="0"/>
              <a:t>Transição de um sistema de dinheiro forte (conversível em metais preciosos) para um sistema de dinheiro frágil (moedas fiduciárias que não representam bens físicos)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B28B95-4B06-733A-A7D5-6B54F18F62E9}"/>
              </a:ext>
            </a:extLst>
          </p:cNvPr>
          <p:cNvSpPr txBox="1"/>
          <p:nvPr/>
        </p:nvSpPr>
        <p:spPr>
          <a:xfrm>
            <a:off x="1094050" y="6740887"/>
            <a:ext cx="6062400" cy="3357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Surgimento de bancos centrais e outras autoridades monetárias contribuiu para a centralização (ou controlo) do dinheiro, o que levou à emissão de moedas fiduciárias para apoiar o crescimento económico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28AD9F-8CA4-C423-8A48-6F62828653E4}"/>
              </a:ext>
            </a:extLst>
          </p:cNvPr>
          <p:cNvSpPr txBox="1"/>
          <p:nvPr/>
        </p:nvSpPr>
        <p:spPr>
          <a:xfrm>
            <a:off x="1094050" y="3005447"/>
            <a:ext cx="6062400" cy="280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Desvantagens desta centralização são o consumo irresponsável, o aumento das dívidas e a manipulação dos cidadãos por meio de incentivos económicos.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F555523-6BAD-4B07-F27B-D056D086C6E9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3.1.3 Transição de dinheiro forte para dinheiro frágil</a:t>
            </a:r>
          </a:p>
        </p:txBody>
      </p:sp>
    </p:spTree>
    <p:extLst>
      <p:ext uri="{BB962C8B-B14F-4D97-AF65-F5344CB8AC3E}">
        <p14:creationId xmlns:p14="http://schemas.microsoft.com/office/powerpoint/2010/main" val="103385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CA3E2-52E0-2D85-3297-CA8DA9856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650" y="3231044"/>
            <a:ext cx="9586249" cy="7071831"/>
          </a:xfrm>
        </p:spPr>
        <p:txBody>
          <a:bodyPr anchor="t"/>
          <a:lstStyle/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Infelizmente, este sistema começou a desmoronar, o que resultou no Choque Nixon de 1971, no qual o governo dos Estados Unidos suspendeu a conversibilidade do dólar em ouro.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Este acontecimento marcou o fim do padrão ouro e deu início a um mundo movido pela criação e acumulação de dívida.</a:t>
            </a:r>
          </a:p>
        </p:txBody>
      </p:sp>
      <p:pic>
        <p:nvPicPr>
          <p:cNvPr id="7" name="Content Placeholder 6" descr="A diagram of a company&#10;&#10;AI-generated content may be incorrect.">
            <a:extLst>
              <a:ext uri="{FF2B5EF4-FFF2-40B4-BE49-F238E27FC236}">
                <a16:creationId xmlns:a16="http://schemas.microsoft.com/office/drawing/2014/main" id="{7D255C5B-D810-6089-1D7E-7DEA814047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01" y="3307245"/>
            <a:ext cx="6614448" cy="7071830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9C6B2BA-B678-0B96-7B72-9DB40CEED68B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3.1.3 Transição de dinheiro forte para dinheiro frágil</a:t>
            </a:r>
          </a:p>
        </p:txBody>
      </p:sp>
    </p:spTree>
    <p:extLst>
      <p:ext uri="{BB962C8B-B14F-4D97-AF65-F5344CB8AC3E}">
        <p14:creationId xmlns:p14="http://schemas.microsoft.com/office/powerpoint/2010/main" val="167825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BBD5-29ED-0563-1F5B-653FC311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2A809-EE09-061B-DA83-9C7595CC3EBE}"/>
              </a:ext>
            </a:extLst>
          </p:cNvPr>
          <p:cNvSpPr/>
          <p:nvPr/>
        </p:nvSpPr>
        <p:spPr>
          <a:xfrm>
            <a:off x="8909049" y="3291221"/>
            <a:ext cx="9812337" cy="28194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É visível o impacto desta mudança na economia global, levando ao questionamento da estabilidade e fiabilidade das moedas fiduciárias.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095F-9746-D159-9629-8FD834659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4" y="3291221"/>
            <a:ext cx="6540944" cy="7071831"/>
          </a:xfrm>
        </p:spPr>
        <p:txBody>
          <a:bodyPr anchor="t"/>
          <a:lstStyle/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Abuso da centralização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Aumento dos preços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Salários reais estagnados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Moedas enfraquecidas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Necessidade de gastar mais dinheiro para obter menos bens e serviços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B484754-0773-1974-1408-55D0059DAB9C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3.1.3 Transição de dinheiro forte para dinheiro frágil</a:t>
            </a:r>
          </a:p>
        </p:txBody>
      </p:sp>
      <p:pic>
        <p:nvPicPr>
          <p:cNvPr id="21" name="Picture 20" descr="Cartoon a cartoon of a person holding a bag with a hook&#10;&#10;AI-generated content may be incorrect.">
            <a:extLst>
              <a:ext uri="{FF2B5EF4-FFF2-40B4-BE49-F238E27FC236}">
                <a16:creationId xmlns:a16="http://schemas.microsoft.com/office/drawing/2014/main" id="{C78BAA2A-C9BC-1DAE-0988-76DA447C1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450" y="6264275"/>
            <a:ext cx="4918661" cy="502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39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36F2-FDB0-0266-DA4D-1F59E5DF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CE5A7B-9642-8754-619F-48BCAC7E3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455" y="2956689"/>
            <a:ext cx="15000790" cy="709618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182D3E-7D44-D5A3-4E73-E29C11E67C74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dirty="0"/>
              <a:t>3.1.4 Do papel para o plástico</a:t>
            </a:r>
          </a:p>
        </p:txBody>
      </p:sp>
    </p:spTree>
    <p:extLst>
      <p:ext uri="{BB962C8B-B14F-4D97-AF65-F5344CB8AC3E}">
        <p14:creationId xmlns:p14="http://schemas.microsoft.com/office/powerpoint/2010/main" val="1483262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AF61-A8A2-0686-7AB8-4083686E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E139-1A66-95D5-DED6-874AE738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1006475"/>
            <a:ext cx="17338675" cy="1471611"/>
          </a:xfrm>
        </p:spPr>
        <p:txBody>
          <a:bodyPr>
            <a:normAutofit/>
          </a:bodyPr>
          <a:lstStyle/>
          <a:p>
            <a:r>
              <a:rPr lang="pt-PT" dirty="0"/>
              <a:t>3.2 Moedas digitais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0B8C-7EFA-1570-85DB-02AAFAD00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682875"/>
            <a:ext cx="17338675" cy="7680178"/>
          </a:xfrm>
        </p:spPr>
        <p:txBody>
          <a:bodyPr anchor="t"/>
          <a:lstStyle/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As moedas digitais, ao contrário das tradicionais, existem apenas em formato eletrónico.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São armazenadas e transferidas por meio de computadores e de softwares especiais.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As moedas que utilizamos atualmente estão a tornar-se cada vez mais digitais.</a:t>
            </a:r>
          </a:p>
          <a:p>
            <a:pPr marL="592138" indent="-592138">
              <a:spcAft>
                <a:spcPts val="1000"/>
              </a:spcAft>
              <a:buSzPct val="125000"/>
              <a:buBlip>
                <a:blip r:embed="rId3"/>
              </a:buBlip>
            </a:pPr>
            <a:r>
              <a:rPr lang="pt-PT" dirty="0"/>
              <a:t>Apenas uma pequena percentagem da massa monetária atual existe na forma de moedas metálicas e notas de papel.</a:t>
            </a:r>
          </a:p>
        </p:txBody>
      </p:sp>
      <p:pic>
        <p:nvPicPr>
          <p:cNvPr id="4" name="object 44">
            <a:extLst>
              <a:ext uri="{FF2B5EF4-FFF2-40B4-BE49-F238E27FC236}">
                <a16:creationId xmlns:a16="http://schemas.microsoft.com/office/drawing/2014/main" id="{7F08DAE0-756E-2FF2-29A1-2D00913A908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481050" y="8020872"/>
            <a:ext cx="2971800" cy="334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4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2291</TotalTime>
  <Words>593</Words>
  <Application>Microsoft Macintosh PowerPoint</Application>
  <PresentationFormat>Custom</PresentationFormat>
  <Paragraphs>63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Open Sans</vt:lpstr>
      <vt:lpstr>Open Sans Light</vt:lpstr>
      <vt:lpstr>Ubuntu Light</vt:lpstr>
      <vt:lpstr>1_Custom Design</vt:lpstr>
      <vt:lpstr>A história do dinheiro</vt:lpstr>
      <vt:lpstr>3.0 Introdução</vt:lpstr>
      <vt:lpstr>3.1 Evolução desde a troca direta até às moedas modernas </vt:lpstr>
      <vt:lpstr>3.1.1 Inconvenientes das primeiras formas de dinheiro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3.2 Moedas digitais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144</cp:revision>
  <dcterms:created xsi:type="dcterms:W3CDTF">2024-11-12T03:26:48Z</dcterms:created>
  <dcterms:modified xsi:type="dcterms:W3CDTF">2025-10-04T04:29:39Z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