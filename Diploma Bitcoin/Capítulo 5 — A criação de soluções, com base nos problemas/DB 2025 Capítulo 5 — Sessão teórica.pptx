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8"/>
  </p:notesMasterIdLst>
  <p:sldIdLst>
    <p:sldId id="260" r:id="rId2"/>
    <p:sldId id="265" r:id="rId3"/>
    <p:sldId id="308" r:id="rId4"/>
    <p:sldId id="309" r:id="rId5"/>
    <p:sldId id="310" r:id="rId6"/>
    <p:sldId id="312" r:id="rId7"/>
    <p:sldId id="316" r:id="rId8"/>
    <p:sldId id="314" r:id="rId9"/>
    <p:sldId id="315" r:id="rId10"/>
    <p:sldId id="317" r:id="rId11"/>
    <p:sldId id="318" r:id="rId12"/>
    <p:sldId id="320" r:id="rId13"/>
    <p:sldId id="319" r:id="rId14"/>
    <p:sldId id="321" r:id="rId15"/>
    <p:sldId id="322" r:id="rId16"/>
    <p:sldId id="268" r:id="rId1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6AAB"/>
    <a:srgbClr val="D8CDE3"/>
    <a:srgbClr val="241A55"/>
    <a:srgbClr val="302F31"/>
    <a:srgbClr val="FCFAFA"/>
    <a:srgbClr val="FBB040"/>
    <a:srgbClr val="58595B"/>
    <a:srgbClr val="FFFFFF"/>
    <a:srgbClr val="EB8B29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6"/>
    <p:restoredTop sz="87283"/>
  </p:normalViewPr>
  <p:slideViewPr>
    <p:cSldViewPr>
      <p:cViewPr varScale="1">
        <p:scale>
          <a:sx n="54" d="100"/>
          <a:sy n="54" d="100"/>
        </p:scale>
        <p:origin x="1736" y="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22/10/2025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17968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0EA7-420F-5F78-CD9E-446F9FE0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1986-C451-67B5-D4BE-4FE866893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3760-BFD9-5EB4-E463-3717A177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4256-1EFC-BC17-DE54-D31B95DE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6947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07646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9001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32559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13127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88202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45235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521349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33530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19591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13662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9310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9B90-9D22-3FF2-F7EC-AC140A9A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45D11-3D12-0BEF-4DFC-8B9ED674F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CF61F-5E84-C5F7-EB2A-EAACAE08B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281E7-5278-D64D-8A16-BD4B2D1D1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829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A criação de soluções, com base nos problemas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673475"/>
            <a:ext cx="17338675" cy="7034212"/>
          </a:xfrm>
        </p:spPr>
        <p:txBody>
          <a:bodyPr>
            <a:normAutofit fontScale="77500" lnSpcReduction="20000"/>
          </a:bodyPr>
          <a:lstStyle/>
          <a:p>
            <a:r>
              <a:rPr lang="pt-PT" dirty="0"/>
              <a:t>5.0 Introdução ao problema</a:t>
            </a:r>
          </a:p>
          <a:p>
            <a:r>
              <a:rPr lang="pt-PT" dirty="0"/>
              <a:t>5.1 Redução do poder de compra</a:t>
            </a:r>
          </a:p>
          <a:p>
            <a:r>
              <a:rPr lang="pt-PT" dirty="0"/>
              <a:t>	5.1.1 A inflação monetária e o seu efeito no poder de compra</a:t>
            </a:r>
          </a:p>
          <a:p>
            <a:r>
              <a:rPr lang="pt-PT" dirty="0"/>
              <a:t>5.2 O peso da dívida global e a desigualdade social</a:t>
            </a:r>
          </a:p>
          <a:p>
            <a:r>
              <a:rPr lang="pt-PT" dirty="0"/>
              <a:t>	5.2.1 Impacto nos cidadãos - Perda de poder de compra</a:t>
            </a:r>
          </a:p>
          <a:p>
            <a:r>
              <a:rPr lang="pt-PT" dirty="0"/>
              <a:t>	5.2.2 Impacto na sociedade - Aumento da desigualdade na distribuição da riqueza</a:t>
            </a:r>
          </a:p>
          <a:p>
            <a:r>
              <a:rPr lang="pt-PT" dirty="0"/>
              <a:t>	5.2.3 O peso da dívida global</a:t>
            </a:r>
          </a:p>
          <a:p>
            <a:r>
              <a:rPr lang="pt-PT" dirty="0"/>
              <a:t>5.3 Os </a:t>
            </a:r>
            <a:r>
              <a:rPr lang="pt-PT" dirty="0" err="1"/>
              <a:t>Cypherpunks</a:t>
            </a:r>
            <a:r>
              <a:rPr lang="pt-PT" dirty="0"/>
              <a:t> e a procura de uma moeda descentralizada</a:t>
            </a:r>
          </a:p>
          <a:p>
            <a:r>
              <a:rPr lang="pt-PT" dirty="0"/>
              <a:t>	5.3.1 Os </a:t>
            </a:r>
            <a:r>
              <a:rPr lang="pt-PT" dirty="0" err="1"/>
              <a:t>Cypherpunks</a:t>
            </a:r>
            <a:endParaRPr lang="pt-PT" dirty="0"/>
          </a:p>
          <a:p>
            <a:r>
              <a:rPr lang="pt-PT" dirty="0"/>
              <a:t>	5.3.2 Sistemas centralizados e descentralizados</a:t>
            </a:r>
          </a:p>
          <a:p>
            <a:r>
              <a:rPr lang="pt-PT" dirty="0"/>
              <a:t>	5.3.3 História resumida das moedas digitais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ABA8-AE8B-6BEE-D822-7F7D9737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73A7-D073-8764-6DA7-76BD2F11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5.0 Introdução ao problema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7DA14C0-334F-40D5-BAC9-792044CDF97B}"/>
              </a:ext>
            </a:extLst>
          </p:cNvPr>
          <p:cNvGrpSpPr>
            <a:grpSpLocks noChangeAspect="1"/>
          </p:cNvGrpSpPr>
          <p:nvPr/>
        </p:nvGrpSpPr>
        <p:grpSpPr>
          <a:xfrm>
            <a:off x="1382713" y="3292475"/>
            <a:ext cx="17293152" cy="6008646"/>
            <a:chOff x="2432050" y="84356"/>
            <a:chExt cx="15308802" cy="5319167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1697139B-5F2B-2288-E8D9-3EDF30DEE878}"/>
                </a:ext>
              </a:extLst>
            </p:cNvPr>
            <p:cNvSpPr/>
            <p:nvPr/>
          </p:nvSpPr>
          <p:spPr>
            <a:xfrm>
              <a:off x="2432050" y="421636"/>
              <a:ext cx="15308802" cy="4587021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Quem controlar o volume de dinheiro no nosso país tem o controlo absoluto de toda a indústria e comércio... Quando percebemos que todo o sistema é fácil de manipular, de uma forma ou de outra, por alguns homens poderosos que estão no topo, não precisamos que nos digam como surgem os períodos de inflação e de crise.</a:t>
              </a:r>
            </a:p>
            <a:p>
              <a:pPr algn="ctr"/>
              <a:endParaRPr lang="pt-PT" sz="3200" b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James A. Garfield, Presidente dos Estados Unidos</a:t>
              </a:r>
            </a:p>
          </p:txBody>
        </p:sp>
        <p:sp>
          <p:nvSpPr>
            <p:cNvPr id="84" name="object 16">
              <a:extLst>
                <a:ext uri="{FF2B5EF4-FFF2-40B4-BE49-F238E27FC236}">
                  <a16:creationId xmlns:a16="http://schemas.microsoft.com/office/drawing/2014/main" id="{BAABFBD3-C50F-0D2E-4FE3-E31B923ED5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84356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85" name="object 17">
              <a:extLst>
                <a:ext uri="{FF2B5EF4-FFF2-40B4-BE49-F238E27FC236}">
                  <a16:creationId xmlns:a16="http://schemas.microsoft.com/office/drawing/2014/main" id="{5D8384A9-7ABD-543A-4E54-45444558C9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4738834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A47CC2-3731-E5DB-5A48-6E9BF3B81A11}"/>
              </a:ext>
            </a:extLst>
          </p:cNvPr>
          <p:cNvSpPr/>
          <p:nvPr/>
        </p:nvSpPr>
        <p:spPr>
          <a:xfrm>
            <a:off x="1382713" y="3287127"/>
            <a:ext cx="12257088" cy="3207601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A </a:t>
            </a:r>
            <a:r>
              <a:rPr lang="pt-PT" sz="3200" b="1" dirty="0">
                <a:solidFill>
                  <a:srgbClr val="FBB040"/>
                </a:solidFill>
              </a:rPr>
              <a:t>inflação monetária </a:t>
            </a:r>
            <a:r>
              <a:rPr lang="pt-PT" sz="3200" dirty="0">
                <a:solidFill>
                  <a:srgbClr val="58595B"/>
                </a:solidFill>
              </a:rPr>
              <a:t>é o aumento da massa monetária dentro de uma economia, o que afeta diretamente o cidadão comum, pois reduz o seu poder de compra.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3AFB1E-768F-4B1F-CC46-179E0A512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7080669"/>
            <a:ext cx="9989101" cy="3207601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O ciclo da inflação de preços começa em alturas em que existe mais dinheiro em circulação. Isto aumenta a procura de bens e serviços, o que faz com que os preços aumentem.</a:t>
            </a:r>
          </a:p>
        </p:txBody>
      </p:sp>
      <p:pic>
        <p:nvPicPr>
          <p:cNvPr id="20" name="Picture 19" descr="A person pushing a shopping cart up to a graph&#10;&#10;AI-generated content may be incorrect.">
            <a:extLst>
              <a:ext uri="{FF2B5EF4-FFF2-40B4-BE49-F238E27FC236}">
                <a16:creationId xmlns:a16="http://schemas.microsoft.com/office/drawing/2014/main" id="{3670072C-D49B-D78A-DEDE-2F46862A3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250" y="7254875"/>
            <a:ext cx="7772400" cy="437197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171A7508-4E81-97BD-B78D-373F8129C9DB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7200" dirty="0"/>
              <a:t>5.1.1 A </a:t>
            </a:r>
            <a:r>
              <a:rPr lang="en-GB" sz="7200" dirty="0" err="1"/>
              <a:t>inflação</a:t>
            </a:r>
            <a:r>
              <a:rPr lang="en-GB" sz="7200" dirty="0"/>
              <a:t> </a:t>
            </a:r>
            <a:r>
              <a:rPr lang="en-GB" sz="7200" dirty="0" err="1"/>
              <a:t>monetária</a:t>
            </a:r>
            <a:r>
              <a:rPr lang="en-GB" sz="7200" dirty="0"/>
              <a:t> e o </a:t>
            </a:r>
            <a:r>
              <a:rPr lang="en-GB" sz="7200" dirty="0" err="1"/>
              <a:t>seu</a:t>
            </a:r>
            <a:r>
              <a:rPr lang="en-GB" sz="7200" dirty="0"/>
              <a:t> </a:t>
            </a:r>
            <a:r>
              <a:rPr lang="en-GB" sz="7200" dirty="0" err="1"/>
              <a:t>efeito</a:t>
            </a:r>
            <a:r>
              <a:rPr lang="en-GB" sz="7200" dirty="0"/>
              <a:t> no </a:t>
            </a:r>
            <a:r>
              <a:rPr lang="en-GB" sz="7200" dirty="0" err="1"/>
              <a:t>poder</a:t>
            </a:r>
            <a:r>
              <a:rPr lang="en-GB" sz="7200" dirty="0"/>
              <a:t> de </a:t>
            </a:r>
            <a:r>
              <a:rPr lang="en-GB" sz="7200" dirty="0" err="1"/>
              <a:t>compra</a:t>
            </a:r>
            <a:endParaRPr lang="pt-PT" sz="6700" dirty="0"/>
          </a:p>
        </p:txBody>
      </p:sp>
    </p:spTree>
    <p:extLst>
      <p:ext uri="{BB962C8B-B14F-4D97-AF65-F5344CB8AC3E}">
        <p14:creationId xmlns:p14="http://schemas.microsoft.com/office/powerpoint/2010/main" val="265653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914E-70B3-EC49-B5CD-40CD544D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60522D-5FC3-1DA1-A700-983FB9733AAD}"/>
              </a:ext>
            </a:extLst>
          </p:cNvPr>
          <p:cNvSpPr/>
          <p:nvPr/>
        </p:nvSpPr>
        <p:spPr>
          <a:xfrm>
            <a:off x="9518650" y="0"/>
            <a:ext cx="10585450" cy="11309350"/>
          </a:xfrm>
          <a:prstGeom prst="rect">
            <a:avLst/>
          </a:prstGeom>
          <a:solidFill>
            <a:srgbClr val="FC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1FEF27E-A4A7-2BFD-E28C-5AD2B5B5973E}"/>
              </a:ext>
            </a:extLst>
          </p:cNvPr>
          <p:cNvSpPr txBox="1">
            <a:spLocks/>
          </p:cNvSpPr>
          <p:nvPr/>
        </p:nvSpPr>
        <p:spPr>
          <a:xfrm>
            <a:off x="1060450" y="1380496"/>
            <a:ext cx="7239000" cy="381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700" dirty="0"/>
              <a:t>5.2.1 Impacto </a:t>
            </a:r>
            <a:r>
              <a:rPr lang="en-GB" sz="6700" dirty="0" err="1"/>
              <a:t>nos</a:t>
            </a:r>
            <a:r>
              <a:rPr lang="en-GB" sz="6700" dirty="0"/>
              <a:t> </a:t>
            </a:r>
            <a:r>
              <a:rPr lang="en-GB" sz="6700" dirty="0" err="1"/>
              <a:t>cidadãos</a:t>
            </a:r>
            <a:br>
              <a:rPr lang="en-GB" sz="6700" dirty="0"/>
            </a:br>
            <a:r>
              <a:rPr lang="en-GB" sz="6700" dirty="0" err="1"/>
              <a:t>Perda</a:t>
            </a:r>
            <a:r>
              <a:rPr lang="en-GB" sz="6700" dirty="0"/>
              <a:t> de </a:t>
            </a:r>
            <a:r>
              <a:rPr lang="en-GB" sz="6700" dirty="0" err="1"/>
              <a:t>poder</a:t>
            </a:r>
            <a:r>
              <a:rPr lang="en-GB" sz="6700" dirty="0"/>
              <a:t> de </a:t>
            </a:r>
            <a:r>
              <a:rPr lang="en-GB" sz="6700" dirty="0" err="1"/>
              <a:t>compra</a:t>
            </a:r>
            <a:endParaRPr lang="en-GB" sz="6700" dirty="0"/>
          </a:p>
        </p:txBody>
      </p:sp>
      <p:pic>
        <p:nvPicPr>
          <p:cNvPr id="5" name="Picture 4" descr="A green and white graph&#10;&#10;AI-generated content may be incorrect.">
            <a:extLst>
              <a:ext uri="{FF2B5EF4-FFF2-40B4-BE49-F238E27FC236}">
                <a16:creationId xmlns:a16="http://schemas.microsoft.com/office/drawing/2014/main" id="{5AAADEAC-2C7A-2846-91A4-96F4FB024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250" y="369398"/>
            <a:ext cx="10034814" cy="10570553"/>
          </a:xfrm>
          <a:prstGeom prst="rect">
            <a:avLst/>
          </a:prstGeom>
        </p:spPr>
      </p:pic>
      <p:pic>
        <p:nvPicPr>
          <p:cNvPr id="12" name="Picture 11" descr="A different types of shopping carts&#10;&#10;AI-generated content may be incorrect.">
            <a:extLst>
              <a:ext uri="{FF2B5EF4-FFF2-40B4-BE49-F238E27FC236}">
                <a16:creationId xmlns:a16="http://schemas.microsoft.com/office/drawing/2014/main" id="{B66D15F7-273A-4185-19A2-108A77A93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203" y="6492875"/>
            <a:ext cx="5299493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2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A020-FD73-78BF-A45C-0B5CA4FA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B7638EA-98F4-F2F6-6D74-F029EB578F74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7200" dirty="0"/>
              <a:t>5.2.1 Impacto </a:t>
            </a:r>
            <a:r>
              <a:rPr lang="en-GB" sz="7200" dirty="0" err="1"/>
              <a:t>nos</a:t>
            </a:r>
            <a:r>
              <a:rPr lang="en-GB" sz="7200" dirty="0"/>
              <a:t> </a:t>
            </a:r>
            <a:r>
              <a:rPr lang="en-GB" sz="7200" dirty="0" err="1"/>
              <a:t>cidadãos</a:t>
            </a:r>
            <a:br>
              <a:rPr lang="en-GB" sz="7200" dirty="0"/>
            </a:br>
            <a:r>
              <a:rPr lang="en-GB" sz="7200" dirty="0" err="1"/>
              <a:t>Perda</a:t>
            </a:r>
            <a:r>
              <a:rPr lang="en-GB" sz="7200" dirty="0"/>
              <a:t> de </a:t>
            </a:r>
            <a:r>
              <a:rPr lang="en-GB" sz="7200" dirty="0" err="1"/>
              <a:t>poder</a:t>
            </a:r>
            <a:r>
              <a:rPr lang="en-GB" sz="7200" dirty="0"/>
              <a:t> de </a:t>
            </a:r>
            <a:r>
              <a:rPr lang="en-GB" sz="7200" dirty="0" err="1"/>
              <a:t>compra</a:t>
            </a:r>
            <a:endParaRPr lang="en-GB" sz="72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4F9A0E0-C458-E376-E684-3E2B680F4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191238"/>
            <a:ext cx="9067800" cy="7187837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O enorme impacto da inflação afeta a motivação das pessoas para poupar.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A maioria opta por gastar o dinheiro imediatamente, considerando que o valor do mesmo diminui rapidamente.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Essa perspetiva pessimista impacta negativamente a capacidade de planear o futuro.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Os aumentos salariais não acompanham a produtividade, quando se tem em conta a desvalorização do dinheiro.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5A7830-0B38-0F4C-153F-F0474B737A51}"/>
              </a:ext>
            </a:extLst>
          </p:cNvPr>
          <p:cNvGrpSpPr/>
          <p:nvPr/>
        </p:nvGrpSpPr>
        <p:grpSpPr>
          <a:xfrm>
            <a:off x="11819745" y="3773514"/>
            <a:ext cx="6901642" cy="5870883"/>
            <a:chOff x="11825561" y="3485066"/>
            <a:chExt cx="6901642" cy="5870883"/>
          </a:xfrm>
        </p:grpSpPr>
        <p:pic>
          <p:nvPicPr>
            <p:cNvPr id="13" name="Picture 12" descr="A graph with a line and arrow pointing to the top&#10;&#10;AI-generated content may be incorrect.">
              <a:extLst>
                <a:ext uri="{FF2B5EF4-FFF2-40B4-BE49-F238E27FC236}">
                  <a16:creationId xmlns:a16="http://schemas.microsoft.com/office/drawing/2014/main" id="{9192AFBB-DD98-788A-57F6-3FFE8BF7B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25562" y="4861378"/>
              <a:ext cx="6895825" cy="369515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961947C-79A3-1112-B472-F68652D5615A}"/>
                </a:ext>
              </a:extLst>
            </p:cNvPr>
            <p:cNvSpPr txBox="1"/>
            <p:nvPr/>
          </p:nvSpPr>
          <p:spPr>
            <a:xfrm>
              <a:off x="17121187" y="4782721"/>
              <a:ext cx="160020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Produtividade</a:t>
              </a:r>
              <a:endParaRPr lang="en-PT" sz="1600" dirty="0">
                <a:solidFill>
                  <a:srgbClr val="302F3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189252-1B6D-D3FE-FFB6-5FF8AFC3318B}"/>
                </a:ext>
              </a:extLst>
            </p:cNvPr>
            <p:cNvSpPr txBox="1"/>
            <p:nvPr/>
          </p:nvSpPr>
          <p:spPr>
            <a:xfrm>
              <a:off x="11825562" y="3485066"/>
              <a:ext cx="68958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Crescimento</a:t>
              </a:r>
              <a:r>
                <a:rPr lang="en-GB" sz="2800" b="1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2800" b="1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</a:t>
              </a:r>
              <a:r>
                <a:rPr lang="en-GB" sz="2800" b="1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2800" b="1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Produtividade</a:t>
              </a:r>
              <a:r>
                <a:rPr lang="en-GB" sz="2800" b="1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 </a:t>
              </a:r>
              <a:r>
                <a:rPr lang="en-GB" sz="2800" b="1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</a:t>
              </a:r>
              <a:r>
                <a:rPr lang="en-GB" sz="2800" b="1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2800" b="1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Remuneração</a:t>
              </a:r>
              <a:r>
                <a:rPr lang="en-GB" sz="2800" b="1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2800" b="1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Horária</a:t>
              </a:r>
              <a:r>
                <a:rPr lang="en-GB" sz="2800" b="1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28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(1948-2017)</a:t>
              </a:r>
              <a:endParaRPr lang="en-PT" sz="2800" dirty="0">
                <a:solidFill>
                  <a:srgbClr val="302F3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6BB9CD-1A29-180E-AD7A-0FE5E5DF01DD}"/>
                </a:ext>
              </a:extLst>
            </p:cNvPr>
            <p:cNvSpPr txBox="1"/>
            <p:nvPr/>
          </p:nvSpPr>
          <p:spPr>
            <a:xfrm>
              <a:off x="17127003" y="7102475"/>
              <a:ext cx="160020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Compensação</a:t>
              </a:r>
              <a:endParaRPr lang="en-PT" sz="1600" dirty="0">
                <a:solidFill>
                  <a:srgbClr val="302F3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A3A1AB-B5B4-DEE9-374B-AD3076AF5FC2}"/>
                </a:ext>
              </a:extLst>
            </p:cNvPr>
            <p:cNvSpPr txBox="1"/>
            <p:nvPr/>
          </p:nvSpPr>
          <p:spPr>
            <a:xfrm>
              <a:off x="11825561" y="8771174"/>
              <a:ext cx="6895825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NOTA: A </a:t>
              </a:r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remuneração</a:t>
              </a:r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inclui</a:t>
              </a:r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salários</a:t>
              </a:r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 </a:t>
              </a:r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benefícios</a:t>
              </a:r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para </a:t>
              </a:r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trabalhadores</a:t>
              </a:r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 </a:t>
              </a:r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produção</a:t>
              </a:r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 </a:t>
              </a:r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não</a:t>
              </a:r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600" dirty="0" err="1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supervisores</a:t>
              </a:r>
              <a:r>
                <a:rPr lang="en-GB" sz="1600" dirty="0">
                  <a:solidFill>
                    <a:srgbClr val="302F3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PT" sz="1600" dirty="0">
                <a:solidFill>
                  <a:srgbClr val="302F3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493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85B2-F3B8-4199-E911-C6744B08D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22EB274-D3DE-2C0A-5DF3-9511615569F1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7200" dirty="0"/>
              <a:t>5.2.1 Impacto </a:t>
            </a:r>
            <a:r>
              <a:rPr lang="en-GB" sz="7200" dirty="0" err="1"/>
              <a:t>nos</a:t>
            </a:r>
            <a:r>
              <a:rPr lang="en-GB" sz="7200" dirty="0"/>
              <a:t> </a:t>
            </a:r>
            <a:r>
              <a:rPr lang="en-GB" sz="7200" dirty="0" err="1"/>
              <a:t>cidadãos</a:t>
            </a:r>
            <a:br>
              <a:rPr lang="en-GB" sz="7200" dirty="0"/>
            </a:br>
            <a:r>
              <a:rPr lang="en-GB" sz="7200" dirty="0" err="1"/>
              <a:t>Perda</a:t>
            </a:r>
            <a:r>
              <a:rPr lang="en-GB" sz="7200" dirty="0"/>
              <a:t> de </a:t>
            </a:r>
            <a:r>
              <a:rPr lang="en-GB" sz="7200" dirty="0" err="1"/>
              <a:t>poder</a:t>
            </a:r>
            <a:r>
              <a:rPr lang="en-GB" sz="7200" dirty="0"/>
              <a:t> de </a:t>
            </a:r>
            <a:r>
              <a:rPr lang="en-GB" sz="7200" dirty="0" err="1"/>
              <a:t>compra</a:t>
            </a:r>
            <a:endParaRPr lang="en-GB" sz="72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E4C7AD-DBE1-32D8-63E4-DC8D9EBD3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2" y="3191238"/>
            <a:ext cx="12098337" cy="7187837"/>
          </a:xfrm>
        </p:spPr>
        <p:txBody>
          <a:bodyPr>
            <a:no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No mundo fiduciário, os governos criam dinheiro do nada para promover os seus próprios interesses e os cidadãos enfrentam as consequências dessa prática.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Os preços das compras do dia a dia aumentam anualmente.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Os ricos lucram com a inflação por possuírem ativos, enquanto o cidadão comum vê o seu dinheiro perder valor.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As pessoas acabam por ter mais empregos e trabalhar mais horas para manter o seu nível de vida.</a:t>
            </a:r>
          </a:p>
        </p:txBody>
      </p:sp>
      <p:pic>
        <p:nvPicPr>
          <p:cNvPr id="9" name="Picture 8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E9D91E29-3BC7-0AD9-A7CD-55B66BBC3A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0274" y="2835275"/>
            <a:ext cx="4374776" cy="3657600"/>
          </a:xfrm>
          <a:prstGeom prst="rect">
            <a:avLst/>
          </a:prstGeom>
        </p:spPr>
      </p:pic>
      <p:pic>
        <p:nvPicPr>
          <p:cNvPr id="10" name="Picture 9" descr="A graph with a red line&#10;&#10;AI-generated content may be incorrect.">
            <a:extLst>
              <a:ext uri="{FF2B5EF4-FFF2-40B4-BE49-F238E27FC236}">
                <a16:creationId xmlns:a16="http://schemas.microsoft.com/office/drawing/2014/main" id="{11A97381-296A-9A39-6EB1-BE42C620F0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0274" y="6850064"/>
            <a:ext cx="4374776" cy="42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98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4C07-E2C3-9C0A-0FDA-BED9B1A9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400AE62-83BB-BA37-3AF6-7312FE373EFF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5.2.2 Impacto </a:t>
            </a:r>
            <a:r>
              <a:rPr lang="en-GB" sz="6350" dirty="0" err="1"/>
              <a:t>na</a:t>
            </a:r>
            <a:r>
              <a:rPr lang="en-GB" sz="6350" dirty="0"/>
              <a:t> </a:t>
            </a:r>
            <a:r>
              <a:rPr lang="en-GB" sz="6350" dirty="0" err="1"/>
              <a:t>sociedade</a:t>
            </a:r>
            <a:r>
              <a:rPr lang="en-GB" sz="6350" dirty="0"/>
              <a:t> — </a:t>
            </a:r>
            <a:r>
              <a:rPr lang="en-GB" sz="6350" dirty="0" err="1"/>
              <a:t>Aumento</a:t>
            </a:r>
            <a:r>
              <a:rPr lang="en-GB" sz="6350" dirty="0"/>
              <a:t> da </a:t>
            </a:r>
            <a:r>
              <a:rPr lang="en-GB" sz="6350" dirty="0" err="1"/>
              <a:t>desigualdade</a:t>
            </a:r>
            <a:r>
              <a:rPr lang="en-GB" sz="6350" dirty="0"/>
              <a:t> </a:t>
            </a:r>
            <a:r>
              <a:rPr lang="en-GB" sz="6350" dirty="0" err="1"/>
              <a:t>na</a:t>
            </a:r>
            <a:r>
              <a:rPr lang="en-GB" sz="6350" dirty="0"/>
              <a:t> </a:t>
            </a:r>
            <a:r>
              <a:rPr lang="en-GB" sz="6350" dirty="0" err="1"/>
              <a:t>distribuição</a:t>
            </a:r>
            <a:r>
              <a:rPr lang="en-GB" sz="6350" dirty="0"/>
              <a:t> da </a:t>
            </a:r>
            <a:r>
              <a:rPr lang="en-GB" sz="6350" dirty="0" err="1"/>
              <a:t>riqueza</a:t>
            </a:r>
            <a:endParaRPr lang="en-GB" sz="635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100E8D-898C-C5B8-5B36-5DE5181DB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191238"/>
            <a:ext cx="10650538" cy="7187837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en-GB" dirty="0"/>
              <a:t>No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fiduciário</a:t>
            </a:r>
            <a:r>
              <a:rPr lang="en-GB" dirty="0"/>
              <a:t>,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governos</a:t>
            </a:r>
            <a:r>
              <a:rPr lang="en-GB" dirty="0"/>
              <a:t> </a:t>
            </a:r>
            <a:r>
              <a:rPr lang="en-GB" dirty="0" err="1"/>
              <a:t>endividam</a:t>
            </a:r>
            <a:r>
              <a:rPr lang="en-GB" dirty="0"/>
              <a:t>-se </a:t>
            </a:r>
            <a:r>
              <a:rPr lang="en-GB" dirty="0" err="1"/>
              <a:t>sem</a:t>
            </a:r>
            <a:r>
              <a:rPr lang="en-GB" dirty="0"/>
              <a:t> </a:t>
            </a:r>
            <a:r>
              <a:rPr lang="en-GB" dirty="0" err="1"/>
              <a:t>limites</a:t>
            </a:r>
            <a:r>
              <a:rPr lang="en-GB" dirty="0"/>
              <a:t>, </a:t>
            </a:r>
            <a:r>
              <a:rPr lang="en-GB" dirty="0" err="1"/>
              <a:t>imprimindo</a:t>
            </a:r>
            <a:r>
              <a:rPr lang="en-GB" dirty="0"/>
              <a:t> </a:t>
            </a:r>
            <a:r>
              <a:rPr lang="en-GB" dirty="0" err="1"/>
              <a:t>dinheiro</a:t>
            </a:r>
            <a:r>
              <a:rPr lang="en-GB" dirty="0"/>
              <a:t> </a:t>
            </a:r>
            <a:r>
              <a:rPr lang="en-GB" dirty="0" err="1"/>
              <a:t>conforme</a:t>
            </a:r>
            <a:r>
              <a:rPr lang="en-GB" dirty="0"/>
              <a:t> </a:t>
            </a:r>
            <a:r>
              <a:rPr lang="en-GB" dirty="0" err="1"/>
              <a:t>lhes</a:t>
            </a:r>
            <a:r>
              <a:rPr lang="en-GB" dirty="0"/>
              <a:t> </a:t>
            </a:r>
            <a:r>
              <a:rPr lang="en-GB" dirty="0" err="1"/>
              <a:t>convém</a:t>
            </a:r>
            <a:r>
              <a:rPr lang="en-GB" dirty="0"/>
              <a:t>, o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reduz</a:t>
            </a:r>
            <a:r>
              <a:rPr lang="en-GB" dirty="0"/>
              <a:t> a </a:t>
            </a:r>
            <a:r>
              <a:rPr lang="en-GB" dirty="0" err="1"/>
              <a:t>influência</a:t>
            </a:r>
            <a:r>
              <a:rPr lang="en-GB" dirty="0"/>
              <a:t> dos </a:t>
            </a:r>
            <a:r>
              <a:rPr lang="en-GB" dirty="0" err="1"/>
              <a:t>cidadãos</a:t>
            </a:r>
            <a:r>
              <a:rPr lang="en-GB" dirty="0"/>
              <a:t> </a:t>
            </a:r>
            <a:r>
              <a:rPr lang="en-GB" dirty="0" err="1"/>
              <a:t>nas</a:t>
            </a:r>
            <a:r>
              <a:rPr lang="en-GB" dirty="0"/>
              <a:t> </a:t>
            </a:r>
            <a:r>
              <a:rPr lang="en-GB" dirty="0" err="1"/>
              <a:t>decisões</a:t>
            </a:r>
            <a:r>
              <a:rPr lang="en-GB" dirty="0"/>
              <a:t> </a:t>
            </a:r>
            <a:r>
              <a:rPr lang="en-GB" dirty="0" err="1"/>
              <a:t>financeiras</a:t>
            </a:r>
            <a:r>
              <a:rPr lang="en-GB" dirty="0"/>
              <a:t>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en-GB" dirty="0" err="1"/>
              <a:t>Superpotências</a:t>
            </a:r>
            <a:r>
              <a:rPr lang="en-GB" dirty="0"/>
              <a:t> </a:t>
            </a:r>
            <a:r>
              <a:rPr lang="en-GB" dirty="0" err="1"/>
              <a:t>utilizam</a:t>
            </a:r>
            <a:r>
              <a:rPr lang="en-GB" dirty="0"/>
              <a:t> a </a:t>
            </a:r>
            <a:r>
              <a:rPr lang="en-GB" dirty="0" err="1"/>
              <a:t>capacidade</a:t>
            </a:r>
            <a:r>
              <a:rPr lang="en-GB" dirty="0"/>
              <a:t> de </a:t>
            </a:r>
            <a:r>
              <a:rPr lang="en-GB" dirty="0" err="1"/>
              <a:t>criar</a:t>
            </a:r>
            <a:r>
              <a:rPr lang="en-GB" dirty="0"/>
              <a:t> </a:t>
            </a:r>
            <a:r>
              <a:rPr lang="en-GB" dirty="0" err="1"/>
              <a:t>moeda</a:t>
            </a:r>
            <a:r>
              <a:rPr lang="en-GB" dirty="0"/>
              <a:t> para </a:t>
            </a:r>
            <a:r>
              <a:rPr lang="en-GB" dirty="0" err="1"/>
              <a:t>financiar</a:t>
            </a:r>
            <a:r>
              <a:rPr lang="en-GB" dirty="0"/>
              <a:t> </a:t>
            </a:r>
            <a:r>
              <a:rPr lang="en-GB" dirty="0" err="1"/>
              <a:t>guerras</a:t>
            </a:r>
            <a:r>
              <a:rPr lang="en-GB" dirty="0"/>
              <a:t> e </a:t>
            </a:r>
            <a:r>
              <a:rPr lang="en-GB" dirty="0" err="1"/>
              <a:t>estratégias</a:t>
            </a:r>
            <a:r>
              <a:rPr lang="en-GB" dirty="0"/>
              <a:t> de </a:t>
            </a:r>
            <a:r>
              <a:rPr lang="en-GB" dirty="0" err="1"/>
              <a:t>dominação</a:t>
            </a:r>
            <a:r>
              <a:rPr lang="en-GB" dirty="0"/>
              <a:t>, </a:t>
            </a:r>
            <a:r>
              <a:rPr lang="en-GB" dirty="0" err="1"/>
              <a:t>criando</a:t>
            </a:r>
            <a:r>
              <a:rPr lang="en-GB" dirty="0"/>
              <a:t> </a:t>
            </a:r>
            <a:r>
              <a:rPr lang="en-GB" dirty="0" err="1"/>
              <a:t>desequilíbrios</a:t>
            </a:r>
            <a:r>
              <a:rPr lang="en-GB" dirty="0"/>
              <a:t> de </a:t>
            </a:r>
            <a:r>
              <a:rPr lang="en-GB" dirty="0" err="1"/>
              <a:t>poder</a:t>
            </a:r>
            <a:r>
              <a:rPr lang="en-GB" dirty="0"/>
              <a:t> no </a:t>
            </a:r>
            <a:r>
              <a:rPr lang="en-GB" dirty="0" err="1"/>
              <a:t>cenário</a:t>
            </a:r>
            <a:r>
              <a:rPr lang="en-GB" dirty="0"/>
              <a:t> </a:t>
            </a:r>
            <a:r>
              <a:rPr lang="en-GB" dirty="0" err="1"/>
              <a:t>internacional</a:t>
            </a:r>
            <a:r>
              <a:rPr lang="en-GB" dirty="0"/>
              <a:t>.</a:t>
            </a:r>
          </a:p>
        </p:txBody>
      </p:sp>
      <p:pic>
        <p:nvPicPr>
          <p:cNvPr id="4098" name="Picture 2" descr="Money Printer Go Brrr Gif , Nkjv Impressive Bible Large Print">
            <a:extLst>
              <a:ext uri="{FF2B5EF4-FFF2-40B4-BE49-F238E27FC236}">
                <a16:creationId xmlns:a16="http://schemas.microsoft.com/office/drawing/2014/main" id="{6556DDDE-C1AA-7A11-068F-F57C1C656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7789" y="7026275"/>
            <a:ext cx="7346311" cy="430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69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5454-F4F9-86E2-9E48-5578F9CE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4219CDE-4293-2516-57B0-FA3A68937FD8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5.2.2 Impacto </a:t>
            </a:r>
            <a:r>
              <a:rPr lang="en-GB" sz="6350" dirty="0" err="1"/>
              <a:t>na</a:t>
            </a:r>
            <a:r>
              <a:rPr lang="en-GB" sz="6350" dirty="0"/>
              <a:t> </a:t>
            </a:r>
            <a:r>
              <a:rPr lang="en-GB" sz="6350" dirty="0" err="1"/>
              <a:t>sociedade</a:t>
            </a:r>
            <a:r>
              <a:rPr lang="en-GB" sz="6350" dirty="0"/>
              <a:t> — </a:t>
            </a:r>
            <a:r>
              <a:rPr lang="en-GB" sz="6350" dirty="0" err="1"/>
              <a:t>Aumento</a:t>
            </a:r>
            <a:r>
              <a:rPr lang="en-GB" sz="6350" dirty="0"/>
              <a:t> da </a:t>
            </a:r>
            <a:r>
              <a:rPr lang="en-GB" sz="6350" dirty="0" err="1"/>
              <a:t>desigualdade</a:t>
            </a:r>
            <a:r>
              <a:rPr lang="en-GB" sz="6350" dirty="0"/>
              <a:t> </a:t>
            </a:r>
            <a:r>
              <a:rPr lang="en-GB" sz="6350" dirty="0" err="1"/>
              <a:t>na</a:t>
            </a:r>
            <a:r>
              <a:rPr lang="en-GB" sz="6350" dirty="0"/>
              <a:t> </a:t>
            </a:r>
            <a:r>
              <a:rPr lang="en-GB" sz="6350" dirty="0" err="1"/>
              <a:t>distribuição</a:t>
            </a:r>
            <a:r>
              <a:rPr lang="en-GB" sz="6350" dirty="0"/>
              <a:t> da </a:t>
            </a:r>
            <a:r>
              <a:rPr lang="en-GB" sz="6350" dirty="0" err="1"/>
              <a:t>riqueza</a:t>
            </a:r>
            <a:endParaRPr lang="en-GB" sz="635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A4DC0FC-49D1-3B86-69DC-0FCBA7C5D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191238"/>
            <a:ext cx="10421937" cy="7187837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en-GB" dirty="0"/>
              <a:t>A </a:t>
            </a:r>
            <a:r>
              <a:rPr lang="en-GB" dirty="0" err="1"/>
              <a:t>impressão</a:t>
            </a:r>
            <a:r>
              <a:rPr lang="en-GB" dirty="0"/>
              <a:t> de </a:t>
            </a:r>
            <a:r>
              <a:rPr lang="en-GB" dirty="0" err="1"/>
              <a:t>dinheiro</a:t>
            </a:r>
            <a:r>
              <a:rPr lang="en-GB" dirty="0"/>
              <a:t> beneficia elites, </a:t>
            </a:r>
            <a:r>
              <a:rPr lang="en-GB" dirty="0" err="1"/>
              <a:t>enquanto</a:t>
            </a:r>
            <a:r>
              <a:rPr lang="en-GB" dirty="0"/>
              <a:t> a </a:t>
            </a:r>
            <a:r>
              <a:rPr lang="en-GB" dirty="0" err="1"/>
              <a:t>maioria</a:t>
            </a:r>
            <a:r>
              <a:rPr lang="en-GB" dirty="0"/>
              <a:t> </a:t>
            </a:r>
            <a:r>
              <a:rPr lang="en-GB" dirty="0" err="1"/>
              <a:t>perde</a:t>
            </a:r>
            <a:r>
              <a:rPr lang="en-GB" dirty="0"/>
              <a:t> </a:t>
            </a:r>
            <a:r>
              <a:rPr lang="en-GB" dirty="0" err="1"/>
              <a:t>poder</a:t>
            </a:r>
            <a:r>
              <a:rPr lang="en-GB" dirty="0"/>
              <a:t> de </a:t>
            </a:r>
            <a:r>
              <a:rPr lang="en-GB" dirty="0" err="1"/>
              <a:t>compra</a:t>
            </a:r>
            <a:r>
              <a:rPr lang="en-GB" dirty="0"/>
              <a:t>, </a:t>
            </a:r>
            <a:r>
              <a:rPr lang="en-GB" dirty="0" err="1"/>
              <a:t>mobilidade</a:t>
            </a:r>
            <a:r>
              <a:rPr lang="en-GB" dirty="0"/>
              <a:t> social e </a:t>
            </a:r>
            <a:r>
              <a:rPr lang="en-GB" dirty="0" err="1"/>
              <a:t>confiança</a:t>
            </a:r>
            <a:r>
              <a:rPr lang="en-GB" dirty="0"/>
              <a:t> </a:t>
            </a:r>
            <a:r>
              <a:rPr lang="en-GB" dirty="0" err="1"/>
              <a:t>nas</a:t>
            </a:r>
            <a:r>
              <a:rPr lang="en-GB" dirty="0"/>
              <a:t> </a:t>
            </a:r>
            <a:r>
              <a:rPr lang="en-GB" dirty="0" err="1"/>
              <a:t>instituições</a:t>
            </a:r>
            <a:r>
              <a:rPr lang="en-GB" dirty="0"/>
              <a:t>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en-GB" dirty="0"/>
              <a:t>A </a:t>
            </a:r>
            <a:r>
              <a:rPr lang="en-GB" dirty="0" err="1"/>
              <a:t>dívida</a:t>
            </a:r>
            <a:r>
              <a:rPr lang="en-GB" dirty="0"/>
              <a:t> </a:t>
            </a:r>
            <a:r>
              <a:rPr lang="en-GB" dirty="0" err="1"/>
              <a:t>tornou</a:t>
            </a:r>
            <a:r>
              <a:rPr lang="en-GB" dirty="0"/>
              <a:t>-se </a:t>
            </a:r>
            <a:r>
              <a:rPr lang="en-GB" dirty="0" err="1"/>
              <a:t>regra</a:t>
            </a:r>
            <a:r>
              <a:rPr lang="en-GB" dirty="0"/>
              <a:t> para </a:t>
            </a:r>
            <a:r>
              <a:rPr lang="en-GB" dirty="0" err="1"/>
              <a:t>governos</a:t>
            </a:r>
            <a:r>
              <a:rPr lang="en-GB" dirty="0"/>
              <a:t>, </a:t>
            </a:r>
            <a:r>
              <a:rPr lang="en-GB" dirty="0" err="1"/>
              <a:t>empresas</a:t>
            </a:r>
            <a:r>
              <a:rPr lang="en-GB" dirty="0"/>
              <a:t> e </a:t>
            </a:r>
            <a:r>
              <a:rPr lang="en-GB" dirty="0" err="1"/>
              <a:t>cidadãos</a:t>
            </a:r>
            <a:r>
              <a:rPr lang="en-GB" dirty="0"/>
              <a:t>, </a:t>
            </a:r>
            <a:r>
              <a:rPr lang="en-GB" dirty="0" err="1"/>
              <a:t>agravada</a:t>
            </a:r>
            <a:r>
              <a:rPr lang="en-GB" dirty="0"/>
              <a:t> </a:t>
            </a:r>
            <a:r>
              <a:rPr lang="en-GB" dirty="0" err="1"/>
              <a:t>pelo</a:t>
            </a:r>
            <a:r>
              <a:rPr lang="en-GB" dirty="0"/>
              <a:t> </a:t>
            </a:r>
            <a:r>
              <a:rPr lang="en-GB" dirty="0" err="1"/>
              <a:t>custo</a:t>
            </a:r>
            <a:r>
              <a:rPr lang="en-GB" dirty="0"/>
              <a:t> de </a:t>
            </a:r>
            <a:r>
              <a:rPr lang="en-GB" dirty="0" err="1"/>
              <a:t>vida</a:t>
            </a:r>
            <a:r>
              <a:rPr lang="en-GB" dirty="0"/>
              <a:t> e </a:t>
            </a:r>
            <a:r>
              <a:rPr lang="en-GB" dirty="0" err="1"/>
              <a:t>facilidade</a:t>
            </a:r>
            <a:r>
              <a:rPr lang="en-GB" dirty="0"/>
              <a:t> de </a:t>
            </a:r>
            <a:r>
              <a:rPr lang="en-GB" dirty="0" err="1"/>
              <a:t>crédito</a:t>
            </a:r>
            <a:r>
              <a:rPr lang="en-GB" dirty="0"/>
              <a:t>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en-GB" dirty="0"/>
              <a:t>O </a:t>
            </a:r>
            <a:r>
              <a:rPr lang="en-GB" dirty="0" err="1"/>
              <a:t>incentivo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consumo</a:t>
            </a:r>
            <a:r>
              <a:rPr lang="en-GB" dirty="0"/>
              <a:t> </a:t>
            </a:r>
            <a:r>
              <a:rPr lang="en-GB" dirty="0" err="1"/>
              <a:t>gera</a:t>
            </a:r>
            <a:r>
              <a:rPr lang="en-GB" dirty="0"/>
              <a:t> </a:t>
            </a:r>
            <a:r>
              <a:rPr lang="en-GB" dirty="0" err="1"/>
              <a:t>desperdício</a:t>
            </a:r>
            <a:r>
              <a:rPr lang="en-GB" dirty="0"/>
              <a:t>, </a:t>
            </a:r>
            <a:r>
              <a:rPr lang="en-GB" dirty="0" err="1"/>
              <a:t>afeta</a:t>
            </a:r>
            <a:r>
              <a:rPr lang="en-GB" dirty="0"/>
              <a:t> o </a:t>
            </a:r>
            <a:r>
              <a:rPr lang="en-GB" dirty="0" err="1"/>
              <a:t>bem-estar</a:t>
            </a:r>
            <a:r>
              <a:rPr lang="en-GB" dirty="0"/>
              <a:t> e </a:t>
            </a:r>
            <a:r>
              <a:rPr lang="en-GB" dirty="0" err="1"/>
              <a:t>transforma</a:t>
            </a:r>
            <a:r>
              <a:rPr lang="en-GB" dirty="0"/>
              <a:t> a </a:t>
            </a:r>
            <a:r>
              <a:rPr lang="en-GB" dirty="0" err="1"/>
              <a:t>vida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sociedade</a:t>
            </a:r>
            <a:r>
              <a:rPr lang="en-GB" dirty="0"/>
              <a:t>.</a:t>
            </a:r>
          </a:p>
        </p:txBody>
      </p:sp>
      <p:pic>
        <p:nvPicPr>
          <p:cNvPr id="2052" name="Picture 4" descr="30+ House Of Cards Falling Stock Photos, Pictures &amp; Royalty-Free Images -  iStock | Jenga, Unstable, Playing cards">
            <a:extLst>
              <a:ext uri="{FF2B5EF4-FFF2-40B4-BE49-F238E27FC236}">
                <a16:creationId xmlns:a16="http://schemas.microsoft.com/office/drawing/2014/main" id="{156F201A-2C62-95D5-52DD-8C3F05C49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2850" y="3870506"/>
            <a:ext cx="777240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479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CD10-50E7-4098-3D14-C446AF63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map of countries/regions in different colors&#10;&#10;AI-generated content may be incorrect.">
            <a:extLst>
              <a:ext uri="{FF2B5EF4-FFF2-40B4-BE49-F238E27FC236}">
                <a16:creationId xmlns:a16="http://schemas.microsoft.com/office/drawing/2014/main" id="{FBE6EB8A-6886-0085-DC71-32BDFC2BC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7" r="36646"/>
          <a:stretch>
            <a:fillRect/>
          </a:stretch>
        </p:blipFill>
        <p:spPr>
          <a:xfrm>
            <a:off x="9682163" y="-60779"/>
            <a:ext cx="10421937" cy="10287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738FCE7-9B93-85F9-3591-A956871132BE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8669337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5.2.3 O peso da </a:t>
            </a:r>
            <a:r>
              <a:rPr lang="en-GB" sz="6350" dirty="0" err="1"/>
              <a:t>dívida</a:t>
            </a:r>
            <a:r>
              <a:rPr lang="en-GB" sz="6350" dirty="0"/>
              <a:t> global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1E1981-D059-25C4-0765-46C5382D0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419838"/>
            <a:ext cx="7754937" cy="7187837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governos</a:t>
            </a:r>
            <a:r>
              <a:rPr lang="en-GB" dirty="0"/>
              <a:t> </a:t>
            </a:r>
            <a:r>
              <a:rPr lang="en-GB" dirty="0" err="1"/>
              <a:t>estão</a:t>
            </a:r>
            <a:r>
              <a:rPr lang="en-GB" dirty="0"/>
              <a:t> </a:t>
            </a:r>
            <a:r>
              <a:rPr lang="en-GB" dirty="0" err="1"/>
              <a:t>presos</a:t>
            </a:r>
            <a:r>
              <a:rPr lang="en-GB" dirty="0"/>
              <a:t> </a:t>
            </a:r>
            <a:r>
              <a:rPr lang="en-GB" dirty="0" err="1"/>
              <a:t>numa</a:t>
            </a:r>
            <a:r>
              <a:rPr lang="en-GB" dirty="0"/>
              <a:t> </a:t>
            </a:r>
            <a:r>
              <a:rPr lang="en-GB" dirty="0" err="1"/>
              <a:t>espiral</a:t>
            </a:r>
            <a:r>
              <a:rPr lang="en-GB" dirty="0"/>
              <a:t> de </a:t>
            </a:r>
            <a:r>
              <a:rPr lang="en-GB" dirty="0" err="1"/>
              <a:t>dívida</a:t>
            </a:r>
            <a:r>
              <a:rPr lang="en-GB" dirty="0"/>
              <a:t> global, </a:t>
            </a:r>
            <a:r>
              <a:rPr lang="en-GB" dirty="0" err="1"/>
              <a:t>acumulando</a:t>
            </a:r>
            <a:r>
              <a:rPr lang="en-GB" dirty="0"/>
              <a:t> </a:t>
            </a:r>
            <a:r>
              <a:rPr lang="en-GB" dirty="0" err="1"/>
              <a:t>empréstimos</a:t>
            </a:r>
            <a:r>
              <a:rPr lang="en-GB" dirty="0"/>
              <a:t> </a:t>
            </a:r>
            <a:r>
              <a:rPr lang="en-GB" dirty="0" err="1"/>
              <a:t>muito</a:t>
            </a:r>
            <a:r>
              <a:rPr lang="en-GB" dirty="0"/>
              <a:t> </a:t>
            </a:r>
            <a:r>
              <a:rPr lang="en-GB" dirty="0" err="1"/>
              <a:t>acima</a:t>
            </a:r>
            <a:r>
              <a:rPr lang="en-GB" dirty="0"/>
              <a:t> da </a:t>
            </a:r>
            <a:r>
              <a:rPr lang="en-GB" dirty="0" err="1"/>
              <a:t>sua</a:t>
            </a:r>
            <a:r>
              <a:rPr lang="en-GB" dirty="0"/>
              <a:t> </a:t>
            </a:r>
            <a:r>
              <a:rPr lang="en-GB" dirty="0" err="1"/>
              <a:t>capacidade</a:t>
            </a:r>
            <a:r>
              <a:rPr lang="en-GB" dirty="0"/>
              <a:t> de </a:t>
            </a:r>
            <a:r>
              <a:rPr lang="en-GB" dirty="0" err="1"/>
              <a:t>pagamento</a:t>
            </a:r>
            <a:r>
              <a:rPr lang="en-GB" dirty="0"/>
              <a:t>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en-GB" dirty="0"/>
              <a:t>A </a:t>
            </a:r>
            <a:r>
              <a:rPr lang="en-GB" dirty="0" err="1"/>
              <a:t>imprudência</a:t>
            </a:r>
            <a:r>
              <a:rPr lang="en-GB" dirty="0"/>
              <a:t> </a:t>
            </a:r>
            <a:r>
              <a:rPr lang="en-GB" dirty="0" err="1"/>
              <a:t>nos</a:t>
            </a:r>
            <a:r>
              <a:rPr lang="en-GB" dirty="0"/>
              <a:t> </a:t>
            </a:r>
            <a:r>
              <a:rPr lang="en-GB" dirty="0" err="1"/>
              <a:t>gastos</a:t>
            </a:r>
            <a:r>
              <a:rPr lang="en-GB" dirty="0"/>
              <a:t> e a </a:t>
            </a:r>
            <a:r>
              <a:rPr lang="en-GB" dirty="0" err="1"/>
              <a:t>falta</a:t>
            </a:r>
            <a:r>
              <a:rPr lang="en-GB" dirty="0"/>
              <a:t> de </a:t>
            </a:r>
            <a:r>
              <a:rPr lang="en-GB" dirty="0" err="1"/>
              <a:t>planeamento</a:t>
            </a:r>
            <a:r>
              <a:rPr lang="en-GB" dirty="0"/>
              <a:t> </a:t>
            </a:r>
            <a:r>
              <a:rPr lang="en-GB" dirty="0" err="1"/>
              <a:t>financeiro</a:t>
            </a:r>
            <a:r>
              <a:rPr lang="en-GB" dirty="0"/>
              <a:t> </a:t>
            </a:r>
            <a:r>
              <a:rPr lang="en-GB" dirty="0" err="1"/>
              <a:t>empurram</a:t>
            </a:r>
            <a:r>
              <a:rPr lang="en-GB" dirty="0"/>
              <a:t> as </a:t>
            </a:r>
            <a:r>
              <a:rPr lang="en-GB" dirty="0" err="1"/>
              <a:t>nações</a:t>
            </a:r>
            <a:r>
              <a:rPr lang="en-GB" dirty="0"/>
              <a:t> para um </a:t>
            </a:r>
            <a:r>
              <a:rPr lang="en-GB" dirty="0" err="1"/>
              <a:t>potencial</a:t>
            </a:r>
            <a:r>
              <a:rPr lang="en-GB" dirty="0"/>
              <a:t> </a:t>
            </a:r>
            <a:r>
              <a:rPr lang="en-GB" dirty="0" err="1"/>
              <a:t>desastre</a:t>
            </a:r>
            <a:r>
              <a:rPr lang="en-GB" dirty="0"/>
              <a:t> </a:t>
            </a:r>
            <a:r>
              <a:rPr lang="en-GB" dirty="0" err="1"/>
              <a:t>económico</a:t>
            </a:r>
            <a:r>
              <a:rPr lang="en-GB" dirty="0"/>
              <a:t>.</a:t>
            </a:r>
          </a:p>
        </p:txBody>
      </p:sp>
      <p:pic>
        <p:nvPicPr>
          <p:cNvPr id="16" name="Picture 15" descr="A map of countries/regions in different colors&#10;&#10;AI-generated content may be incorrect.">
            <a:extLst>
              <a:ext uri="{FF2B5EF4-FFF2-40B4-BE49-F238E27FC236}">
                <a16:creationId xmlns:a16="http://schemas.microsoft.com/office/drawing/2014/main" id="{3BD93002-D0DE-3B1D-63C6-5FF02E8EE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3" t="65100"/>
          <a:stretch>
            <a:fillRect/>
          </a:stretch>
        </p:blipFill>
        <p:spPr>
          <a:xfrm>
            <a:off x="9480550" y="9540875"/>
            <a:ext cx="2019300" cy="1478558"/>
          </a:xfrm>
          <a:prstGeom prst="rect">
            <a:avLst/>
          </a:prstGeom>
        </p:spPr>
      </p:pic>
      <p:pic>
        <p:nvPicPr>
          <p:cNvPr id="17" name="Picture 16" descr="A map of countries/regions in different colors&#10;&#10;AI-generated content may be incorrect.">
            <a:extLst>
              <a:ext uri="{FF2B5EF4-FFF2-40B4-BE49-F238E27FC236}">
                <a16:creationId xmlns:a16="http://schemas.microsoft.com/office/drawing/2014/main" id="{563B65B0-4BF6-1211-7DAA-EC91D9A8FD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4" t="-1864" r="53904" b="95591"/>
          <a:stretch>
            <a:fillRect/>
          </a:stretch>
        </p:blipFill>
        <p:spPr>
          <a:xfrm>
            <a:off x="12149931" y="10379075"/>
            <a:ext cx="54864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25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F899-C9B4-5F59-FB12-FC492C0E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4A3388F-C5E5-B1A6-E9E9-D393561D3240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5.2.3 O peso da </a:t>
            </a:r>
            <a:r>
              <a:rPr lang="en-GB" sz="6350" dirty="0" err="1"/>
              <a:t>dívida</a:t>
            </a:r>
            <a:r>
              <a:rPr lang="en-GB" sz="6350" dirty="0"/>
              <a:t> global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4E1F76-7619-6349-AA95-5A0B05CD737E}"/>
              </a:ext>
            </a:extLst>
          </p:cNvPr>
          <p:cNvGrpSpPr>
            <a:grpSpLocks noChangeAspect="1"/>
          </p:cNvGrpSpPr>
          <p:nvPr/>
        </p:nvGrpSpPr>
        <p:grpSpPr>
          <a:xfrm>
            <a:off x="1382713" y="3292475"/>
            <a:ext cx="17293152" cy="6008646"/>
            <a:chOff x="2432050" y="84356"/>
            <a:chExt cx="15308802" cy="531916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96812A8-0C70-EB51-DCAB-156B20B9FE94}"/>
                </a:ext>
              </a:extLst>
            </p:cNvPr>
            <p:cNvSpPr/>
            <p:nvPr/>
          </p:nvSpPr>
          <p:spPr>
            <a:xfrm>
              <a:off x="2432050" y="421636"/>
              <a:ext cx="15308802" cy="4587021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Não acredito que alguma vez voltemos a ter uma boa moeda, enquanto não a tirarmos das mãos do governo. (...) A única opção que temos é, de uma forma astuta e indireta, introduzir algo que eles não consigam impedir.</a:t>
              </a:r>
            </a:p>
            <a:p>
              <a:pPr algn="ctr"/>
              <a:endParaRPr lang="pt-PT" sz="3200" b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Friedrich </a:t>
              </a:r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Hayek</a:t>
              </a:r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, Vencedor do Prémio Nobel de Economia</a:t>
              </a:r>
            </a:p>
          </p:txBody>
        </p:sp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6B191C61-0CCD-98D0-260E-DE00B21F0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84356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0533270E-3751-8F00-D9F9-AEC92ED18D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4738834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155789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E9D02-F44C-D1DD-A737-9FECB163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240CE2A-B130-2B95-30A5-A1B234CA4166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5.3.1 </a:t>
            </a:r>
            <a:r>
              <a:rPr lang="en-GB" sz="6350" dirty="0" err="1"/>
              <a:t>Os</a:t>
            </a:r>
            <a:r>
              <a:rPr lang="en-GB" sz="6350" dirty="0"/>
              <a:t> Cypherpunks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0551FD2-0852-2C9B-0C13-146AD938C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734038"/>
            <a:ext cx="17338675" cy="7187837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en-GB" sz="3000" dirty="0"/>
              <a:t>Na era digital, </a:t>
            </a:r>
            <a:r>
              <a:rPr lang="en-GB" sz="3000" dirty="0" err="1"/>
              <a:t>surgiu</a:t>
            </a:r>
            <a:r>
              <a:rPr lang="en-GB" sz="3000" dirty="0"/>
              <a:t> o </a:t>
            </a:r>
            <a:r>
              <a:rPr lang="en-GB" sz="3000" dirty="0" err="1"/>
              <a:t>movimento</a:t>
            </a:r>
            <a:r>
              <a:rPr lang="en-GB" sz="3000" dirty="0"/>
              <a:t> Cypherpunk, </a:t>
            </a:r>
            <a:r>
              <a:rPr lang="en-GB" sz="3000" dirty="0" err="1"/>
              <a:t>formado</a:t>
            </a:r>
            <a:r>
              <a:rPr lang="en-GB" sz="3000" dirty="0"/>
              <a:t> </a:t>
            </a:r>
            <a:r>
              <a:rPr lang="en-GB" sz="3000" dirty="0" err="1"/>
              <a:t>por</a:t>
            </a:r>
            <a:r>
              <a:rPr lang="en-GB" sz="3000" dirty="0"/>
              <a:t> </a:t>
            </a:r>
            <a:r>
              <a:rPr lang="en-GB" sz="3000" dirty="0" err="1"/>
              <a:t>ativistas</a:t>
            </a:r>
            <a:r>
              <a:rPr lang="en-GB" sz="3000" dirty="0"/>
              <a:t> e </a:t>
            </a:r>
            <a:r>
              <a:rPr lang="en-GB" sz="3000" dirty="0" err="1"/>
              <a:t>criptógrafos</a:t>
            </a:r>
            <a:r>
              <a:rPr lang="en-GB" sz="3000" dirty="0"/>
              <a:t> </a:t>
            </a:r>
            <a:r>
              <a:rPr lang="en-GB" sz="3000" dirty="0" err="1"/>
              <a:t>que</a:t>
            </a:r>
            <a:r>
              <a:rPr lang="en-GB" sz="3000" dirty="0"/>
              <a:t> </a:t>
            </a:r>
            <a:r>
              <a:rPr lang="en-GB" sz="3000" dirty="0" err="1"/>
              <a:t>viam</a:t>
            </a:r>
            <a:r>
              <a:rPr lang="en-GB" sz="3000" dirty="0"/>
              <a:t> o </a:t>
            </a:r>
            <a:r>
              <a:rPr lang="en-GB" sz="3000" dirty="0" err="1"/>
              <a:t>computador</a:t>
            </a:r>
            <a:r>
              <a:rPr lang="en-GB" sz="3000" dirty="0"/>
              <a:t> </a:t>
            </a:r>
            <a:r>
              <a:rPr lang="en-GB" sz="3000" dirty="0" err="1"/>
              <a:t>como</a:t>
            </a:r>
            <a:r>
              <a:rPr lang="en-GB" sz="3000" dirty="0"/>
              <a:t> </a:t>
            </a:r>
            <a:r>
              <a:rPr lang="en-GB" sz="3000" dirty="0" err="1"/>
              <a:t>uma</a:t>
            </a:r>
            <a:r>
              <a:rPr lang="en-GB" sz="3000" dirty="0"/>
              <a:t> ferramenta tanto de </a:t>
            </a:r>
            <a:r>
              <a:rPr lang="en-GB" sz="3000" dirty="0" err="1"/>
              <a:t>liberdade</a:t>
            </a:r>
            <a:r>
              <a:rPr lang="en-GB" sz="3000" dirty="0"/>
              <a:t> </a:t>
            </a:r>
            <a:r>
              <a:rPr lang="en-GB" sz="3000" dirty="0" err="1"/>
              <a:t>como</a:t>
            </a:r>
            <a:r>
              <a:rPr lang="en-GB" sz="3000" dirty="0"/>
              <a:t> de </a:t>
            </a:r>
            <a:r>
              <a:rPr lang="en-GB" sz="3000" dirty="0" err="1"/>
              <a:t>controlo</a:t>
            </a:r>
            <a:r>
              <a:rPr lang="en-GB" sz="3000" dirty="0"/>
              <a:t>. 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en-GB" sz="3000" dirty="0" err="1"/>
              <a:t>Defendiam</a:t>
            </a:r>
            <a:r>
              <a:rPr lang="en-GB" sz="3000" dirty="0"/>
              <a:t> a </a:t>
            </a:r>
            <a:r>
              <a:rPr lang="en-GB" sz="3000" dirty="0" err="1"/>
              <a:t>privacidade</a:t>
            </a:r>
            <a:r>
              <a:rPr lang="en-GB" sz="3000" dirty="0"/>
              <a:t>, a </a:t>
            </a:r>
            <a:r>
              <a:rPr lang="en-GB" sz="3000" dirty="0" err="1"/>
              <a:t>descentralização</a:t>
            </a:r>
            <a:r>
              <a:rPr lang="en-GB" sz="3000" dirty="0"/>
              <a:t> e o </a:t>
            </a:r>
            <a:r>
              <a:rPr lang="en-GB" sz="3000" dirty="0" err="1"/>
              <a:t>uso</a:t>
            </a:r>
            <a:r>
              <a:rPr lang="en-GB" sz="3000" dirty="0"/>
              <a:t> da </a:t>
            </a:r>
            <a:r>
              <a:rPr lang="en-GB" sz="3000" dirty="0" err="1"/>
              <a:t>criptografia</a:t>
            </a:r>
            <a:r>
              <a:rPr lang="en-GB" sz="3000" dirty="0"/>
              <a:t> para </a:t>
            </a:r>
            <a:r>
              <a:rPr lang="en-GB" sz="3000" dirty="0" err="1"/>
              <a:t>proteger</a:t>
            </a:r>
            <a:r>
              <a:rPr lang="en-GB" sz="3000" dirty="0"/>
              <a:t> </a:t>
            </a:r>
            <a:r>
              <a:rPr lang="en-GB" sz="3000" dirty="0" err="1"/>
              <a:t>comunicações</a:t>
            </a:r>
            <a:r>
              <a:rPr lang="en-GB" sz="3000" dirty="0"/>
              <a:t>, </a:t>
            </a:r>
            <a:r>
              <a:rPr lang="en-GB" sz="3000" dirty="0" err="1"/>
              <a:t>garantir</a:t>
            </a:r>
            <a:r>
              <a:rPr lang="en-GB" sz="3000" dirty="0"/>
              <a:t> </a:t>
            </a:r>
            <a:r>
              <a:rPr lang="en-GB" sz="3000" dirty="0" err="1"/>
              <a:t>anonimato</a:t>
            </a:r>
            <a:r>
              <a:rPr lang="en-GB" sz="3000" dirty="0"/>
              <a:t> e </a:t>
            </a:r>
            <a:r>
              <a:rPr lang="en-GB" sz="3000" dirty="0" err="1"/>
              <a:t>criar</a:t>
            </a:r>
            <a:r>
              <a:rPr lang="en-GB" sz="3000" dirty="0"/>
              <a:t> </a:t>
            </a:r>
            <a:r>
              <a:rPr lang="en-GB" sz="3000" dirty="0" err="1"/>
              <a:t>moedas</a:t>
            </a:r>
            <a:r>
              <a:rPr lang="en-GB" sz="3000" dirty="0"/>
              <a:t> </a:t>
            </a:r>
            <a:r>
              <a:rPr lang="en-GB" sz="3000" dirty="0" err="1"/>
              <a:t>digitais</a:t>
            </a:r>
            <a:r>
              <a:rPr lang="en-GB" sz="3000" dirty="0"/>
              <a:t> fora do </a:t>
            </a:r>
            <a:r>
              <a:rPr lang="en-GB" sz="3000" dirty="0" err="1"/>
              <a:t>alcance</a:t>
            </a:r>
            <a:r>
              <a:rPr lang="en-GB" sz="3000" dirty="0"/>
              <a:t> dos </a:t>
            </a:r>
            <a:r>
              <a:rPr lang="en-GB" sz="3000" dirty="0" err="1"/>
              <a:t>Estados</a:t>
            </a:r>
            <a:r>
              <a:rPr lang="en-GB" sz="3000" dirty="0"/>
              <a:t>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en-GB" sz="3000" dirty="0"/>
              <a:t>O </a:t>
            </a:r>
            <a:r>
              <a:rPr lang="en-GB" sz="3000" dirty="0" err="1"/>
              <a:t>movimento</a:t>
            </a:r>
            <a:r>
              <a:rPr lang="en-GB" sz="3000" dirty="0"/>
              <a:t> </a:t>
            </a:r>
            <a:r>
              <a:rPr lang="en-GB" sz="3000" dirty="0" err="1"/>
              <a:t>alertava</a:t>
            </a:r>
            <a:r>
              <a:rPr lang="en-GB" sz="3000" dirty="0"/>
              <a:t> para o </a:t>
            </a:r>
            <a:r>
              <a:rPr lang="en-GB" sz="3000" dirty="0" err="1"/>
              <a:t>risco</a:t>
            </a:r>
            <a:r>
              <a:rPr lang="en-GB" sz="3000" dirty="0"/>
              <a:t> de um </a:t>
            </a:r>
            <a:r>
              <a:rPr lang="en-GB" sz="3000" dirty="0" err="1"/>
              <a:t>futuro</a:t>
            </a:r>
            <a:r>
              <a:rPr lang="en-GB" sz="3000" dirty="0"/>
              <a:t> </a:t>
            </a:r>
            <a:r>
              <a:rPr lang="en-GB" sz="3000" dirty="0" err="1"/>
              <a:t>orwelliano</a:t>
            </a:r>
            <a:r>
              <a:rPr lang="en-GB" sz="3000" dirty="0"/>
              <a:t>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BA4F46A-9DAF-B37B-1730-80DA4D45691B}"/>
              </a:ext>
            </a:extLst>
          </p:cNvPr>
          <p:cNvSpPr/>
          <p:nvPr/>
        </p:nvSpPr>
        <p:spPr>
          <a:xfrm>
            <a:off x="1382711" y="7102475"/>
            <a:ext cx="17338675" cy="32004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000" b="1" dirty="0">
                <a:solidFill>
                  <a:srgbClr val="FBB040"/>
                </a:solidFill>
              </a:rPr>
              <a:t>Futuro orwelliano </a:t>
            </a:r>
            <a:r>
              <a:rPr lang="pt-PT" sz="3000" dirty="0">
                <a:solidFill>
                  <a:srgbClr val="58595B"/>
                </a:solidFill>
              </a:rPr>
              <a:t>refere-se a uma visão distópica inspirada nos trabalhos de George Orwell.</a:t>
            </a:r>
            <a:br>
              <a:rPr lang="pt-PT" sz="3000" dirty="0">
                <a:solidFill>
                  <a:srgbClr val="58595B"/>
                </a:solidFill>
              </a:rPr>
            </a:br>
            <a:r>
              <a:rPr lang="pt-PT" sz="3000" dirty="0">
                <a:solidFill>
                  <a:srgbClr val="58595B"/>
                </a:solidFill>
              </a:rPr>
              <a:t>Uma sociedade distópica marcada por vigilância excessiva, propaganda, manipulação da informação e perda de liberdades individuais, onde o Estado exerce controlo total sobre os cidadãos.</a:t>
            </a:r>
          </a:p>
        </p:txBody>
      </p:sp>
    </p:spTree>
    <p:extLst>
      <p:ext uri="{BB962C8B-B14F-4D97-AF65-F5344CB8AC3E}">
        <p14:creationId xmlns:p14="http://schemas.microsoft.com/office/powerpoint/2010/main" val="3319222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E7A1B-34EC-7F8F-C6B8-1BF9AB9C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EBB248A-3DBF-51D2-3DD5-68B1206F2046}"/>
              </a:ext>
            </a:extLst>
          </p:cNvPr>
          <p:cNvGrpSpPr/>
          <p:nvPr/>
        </p:nvGrpSpPr>
        <p:grpSpPr>
          <a:xfrm>
            <a:off x="1382713" y="2987675"/>
            <a:ext cx="6267214" cy="7669534"/>
            <a:chOff x="1431295" y="2286842"/>
            <a:chExt cx="5580000" cy="3996000"/>
          </a:xfrm>
        </p:grpSpPr>
        <p:sp>
          <p:nvSpPr>
            <p:cNvPr id="5" name="Content Placeholder 5">
              <a:extLst>
                <a:ext uri="{FF2B5EF4-FFF2-40B4-BE49-F238E27FC236}">
                  <a16:creationId xmlns:a16="http://schemas.microsoft.com/office/drawing/2014/main" id="{E3F04D0F-56DB-E3FF-C890-4A32787EDC66}"/>
                </a:ext>
              </a:extLst>
            </p:cNvPr>
            <p:cNvSpPr txBox="1">
              <a:spLocks/>
            </p:cNvSpPr>
            <p:nvPr/>
          </p:nvSpPr>
          <p:spPr>
            <a:xfrm>
              <a:off x="1431295" y="2286842"/>
              <a:ext cx="5580000" cy="3996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5000"/>
                </a:prstClr>
              </a:innerShdw>
            </a:effectLst>
          </p:spPr>
          <p:txBody>
            <a:bodyPr vert="horz" wrap="square" lIns="144000" tIns="251999" rIns="108000" bIns="251999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lang="en-PT"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pt-PT" sz="2800" dirty="0"/>
            </a:p>
          </p:txBody>
        </p:sp>
        <p:pic>
          <p:nvPicPr>
            <p:cNvPr id="9" name="Graphic 8" descr="Gold bars outline">
              <a:extLst>
                <a:ext uri="{FF2B5EF4-FFF2-40B4-BE49-F238E27FC236}">
                  <a16:creationId xmlns:a16="http://schemas.microsoft.com/office/drawing/2014/main" id="{006D723F-270A-84F5-26BF-553DA719B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33850" y="2694270"/>
              <a:ext cx="540000" cy="540000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4C9868A-5487-A4C5-5F4D-AFCE613B94F3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5.3.2 Sistemas </a:t>
            </a:r>
            <a:r>
              <a:rPr lang="en-GB" sz="6350" dirty="0" err="1"/>
              <a:t>centralizados</a:t>
            </a:r>
            <a:r>
              <a:rPr lang="en-GB" sz="6350" dirty="0"/>
              <a:t> e </a:t>
            </a:r>
            <a:r>
              <a:rPr lang="en-GB" sz="6350" dirty="0" err="1"/>
              <a:t>descentralizados</a:t>
            </a:r>
            <a:endParaRPr lang="en-GB" sz="635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345EFF6-DE42-DEBE-4B50-AEF7FF0D1DF7}"/>
              </a:ext>
            </a:extLst>
          </p:cNvPr>
          <p:cNvGrpSpPr>
            <a:grpSpLocks noChangeAspect="1"/>
          </p:cNvGrpSpPr>
          <p:nvPr/>
        </p:nvGrpSpPr>
        <p:grpSpPr>
          <a:xfrm>
            <a:off x="2660658" y="4960262"/>
            <a:ext cx="3677279" cy="5040000"/>
            <a:chOff x="2813050" y="2796180"/>
            <a:chExt cx="5151324" cy="706029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F5A6968-EF32-6424-E82E-EDD38CD6B8CE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4548890" y="3030180"/>
              <a:ext cx="702560" cy="3157895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1A5ED9-97B7-58BD-19BE-D05529CDA2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1539" y="3678549"/>
              <a:ext cx="357111" cy="2576481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BA4FEFB-FD6F-C98C-56DE-59CEF44304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5357" y="3552888"/>
              <a:ext cx="1817905" cy="3092387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922EC03-207E-8ADA-50D6-D5B952755120}"/>
                </a:ext>
              </a:extLst>
            </p:cNvPr>
            <p:cNvCxnSpPr>
              <a:stCxn id="15" idx="3"/>
            </p:cNvCxnSpPr>
            <p:nvPr/>
          </p:nvCxnSpPr>
          <p:spPr>
            <a:xfrm flipH="1">
              <a:off x="5315357" y="4840338"/>
              <a:ext cx="2249554" cy="1804937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68DCFA-A367-26EB-3071-13747F8C1D8D}"/>
                </a:ext>
              </a:extLst>
            </p:cNvPr>
            <p:cNvCxnSpPr/>
            <p:nvPr/>
          </p:nvCxnSpPr>
          <p:spPr>
            <a:xfrm flipH="1">
              <a:off x="5315357" y="6228465"/>
              <a:ext cx="2051905" cy="41681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9467672-6F13-3BC3-EBB4-176634C247F8}"/>
                </a:ext>
              </a:extLst>
            </p:cNvPr>
            <p:cNvCxnSpPr/>
            <p:nvPr/>
          </p:nvCxnSpPr>
          <p:spPr>
            <a:xfrm flipH="1" flipV="1">
              <a:off x="5251450" y="6645275"/>
              <a:ext cx="2313461" cy="211682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54A75B6-4ED5-5861-DC91-538CABEA5B2A}"/>
                </a:ext>
              </a:extLst>
            </p:cNvPr>
            <p:cNvCxnSpPr/>
            <p:nvPr/>
          </p:nvCxnSpPr>
          <p:spPr>
            <a:xfrm flipH="1" flipV="1">
              <a:off x="5251450" y="6645275"/>
              <a:ext cx="1453854" cy="297720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C851FD7-86FC-750F-6C8E-5CF8432329E0}"/>
                </a:ext>
              </a:extLst>
            </p:cNvPr>
            <p:cNvCxnSpPr/>
            <p:nvPr/>
          </p:nvCxnSpPr>
          <p:spPr>
            <a:xfrm flipV="1">
              <a:off x="4930068" y="6645275"/>
              <a:ext cx="321382" cy="211682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92CCB9C-2122-C47E-4268-6F1E66753AC1}"/>
                </a:ext>
              </a:extLst>
            </p:cNvPr>
            <p:cNvCxnSpPr/>
            <p:nvPr/>
          </p:nvCxnSpPr>
          <p:spPr>
            <a:xfrm flipV="1">
              <a:off x="3993118" y="6645275"/>
              <a:ext cx="1170950" cy="1838781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0DB4255-C998-1650-7342-44BFC2F8FCEF}"/>
                </a:ext>
              </a:extLst>
            </p:cNvPr>
            <p:cNvCxnSpPr/>
            <p:nvPr/>
          </p:nvCxnSpPr>
          <p:spPr>
            <a:xfrm flipV="1">
              <a:off x="3047050" y="6645275"/>
              <a:ext cx="2117018" cy="114840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C2DE79B-91ED-3EE0-96FA-3E2BD29FB4A9}"/>
                </a:ext>
              </a:extLst>
            </p:cNvPr>
            <p:cNvCxnSpPr/>
            <p:nvPr/>
          </p:nvCxnSpPr>
          <p:spPr>
            <a:xfrm>
              <a:off x="3399929" y="6220322"/>
              <a:ext cx="1851521" cy="424953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8C99A20-8EBE-27D9-CEA3-26675B8F70B7}"/>
                </a:ext>
              </a:extLst>
            </p:cNvPr>
            <p:cNvCxnSpPr/>
            <p:nvPr/>
          </p:nvCxnSpPr>
          <p:spPr>
            <a:xfrm>
              <a:off x="3809050" y="4440875"/>
              <a:ext cx="1355018" cy="202159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0E0F2A4-C228-208F-5988-2DCC4E7082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75050" y="4206875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D402C69-6404-9B6F-C036-876A9BDE90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6250" y="2796180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65944A8-6588-E39A-13A6-DE903CC691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4650" y="3327960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DDDBBAB-AB2D-158F-EA8E-74A1CED53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7787" y="3210549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4755E02-07A0-FFCE-ACB2-DB2D02BD93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6374" y="4440875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FB923E3-5D9A-1D1C-AF0D-1B0A50A8E1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33262" y="5986322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7F6DE25-F919-57BC-E17C-65D9D4CA2F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08950" y="8528095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2415D5-1FAE-6424-5655-1488577E90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71304" y="9388475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505D64A-8143-6674-46B7-C22705CA7F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96068" y="8484056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89CB519-5313-B7CE-D801-4409F04AEA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118" y="8250056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02DF679-B6EC-B80E-466B-5E067C2CA6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050" y="7559675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A1F40A9-C9BC-AEBA-30AF-9FFC614A6D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5929" y="5994465"/>
              <a:ext cx="468000" cy="468000"/>
            </a:xfrm>
            <a:prstGeom prst="ellipse">
              <a:avLst/>
            </a:prstGeom>
            <a:solidFill>
              <a:srgbClr val="D8CD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94B4FC9-45CD-F9CD-A578-4AD671B35729}"/>
                </a:ext>
              </a:extLst>
            </p:cNvPr>
            <p:cNvSpPr/>
            <p:nvPr/>
          </p:nvSpPr>
          <p:spPr>
            <a:xfrm>
              <a:off x="4794250" y="6188075"/>
              <a:ext cx="914400" cy="914400"/>
            </a:xfrm>
            <a:prstGeom prst="ellipse">
              <a:avLst/>
            </a:prstGeom>
            <a:solidFill>
              <a:srgbClr val="241A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A9E4E05-0142-E359-D51E-6B8D92C67E41}"/>
              </a:ext>
            </a:extLst>
          </p:cNvPr>
          <p:cNvSpPr txBox="1"/>
          <p:nvPr/>
        </p:nvSpPr>
        <p:spPr>
          <a:xfrm>
            <a:off x="2041831" y="3521075"/>
            <a:ext cx="4914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3200" b="1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Sistemas Centralizados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A5A27-3491-F105-BC48-4DA4F0E741BE}"/>
              </a:ext>
            </a:extLst>
          </p:cNvPr>
          <p:cNvSpPr txBox="1"/>
          <p:nvPr/>
        </p:nvSpPr>
        <p:spPr>
          <a:xfrm>
            <a:off x="9603224" y="3597275"/>
            <a:ext cx="8839200" cy="6732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1300" indent="-222250" algn="ctr">
              <a:lnSpc>
                <a:spcPct val="150000"/>
              </a:lnSpc>
              <a:spcAft>
                <a:spcPts val="1200"/>
              </a:spcAft>
            </a:pPr>
            <a:r>
              <a:rPr lang="pt-PT" sz="32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Desvantagens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Ponto único de falha pode levar ao colapso do sistema.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Poder concentrado em poucos, limitando a autonomia das pessoas.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Ineficiência e custos elevados devido a intermediários.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Sujeitos a censura, restrições e riscos de segurança.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Falta de transparência gera desconfiança.</a:t>
            </a:r>
          </a:p>
        </p:txBody>
      </p:sp>
    </p:spTree>
    <p:extLst>
      <p:ext uri="{BB962C8B-B14F-4D97-AF65-F5344CB8AC3E}">
        <p14:creationId xmlns:p14="http://schemas.microsoft.com/office/powerpoint/2010/main" val="380789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A4CF-7E61-0EAA-DC66-86DFA118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81ADED8-ED22-1EB4-1D54-82420B3A6883}"/>
              </a:ext>
            </a:extLst>
          </p:cNvPr>
          <p:cNvGrpSpPr/>
          <p:nvPr/>
        </p:nvGrpSpPr>
        <p:grpSpPr>
          <a:xfrm>
            <a:off x="1458913" y="2987675"/>
            <a:ext cx="6992937" cy="7669534"/>
            <a:chOff x="1431295" y="2286842"/>
            <a:chExt cx="5580000" cy="3996000"/>
          </a:xfrm>
        </p:grpSpPr>
        <p:sp>
          <p:nvSpPr>
            <p:cNvPr id="141" name="Content Placeholder 5">
              <a:extLst>
                <a:ext uri="{FF2B5EF4-FFF2-40B4-BE49-F238E27FC236}">
                  <a16:creationId xmlns:a16="http://schemas.microsoft.com/office/drawing/2014/main" id="{82A08E29-33C0-0F90-15D9-485C439F49EE}"/>
                </a:ext>
              </a:extLst>
            </p:cNvPr>
            <p:cNvSpPr txBox="1">
              <a:spLocks/>
            </p:cNvSpPr>
            <p:nvPr/>
          </p:nvSpPr>
          <p:spPr>
            <a:xfrm>
              <a:off x="1431295" y="2286842"/>
              <a:ext cx="5580000" cy="3996000"/>
            </a:xfrm>
            <a:prstGeom prst="roundRect">
              <a:avLst>
                <a:gd name="adj" fmla="val 4832"/>
              </a:avLst>
            </a:prstGeom>
            <a:solidFill>
              <a:schemeClr val="bg1"/>
            </a:solidFill>
            <a:effectLst>
              <a:innerShdw blurRad="127000">
                <a:prstClr val="black">
                  <a:alpha val="5000"/>
                </a:prstClr>
              </a:innerShdw>
            </a:effectLst>
          </p:spPr>
          <p:txBody>
            <a:bodyPr vert="horz" wrap="square" lIns="144000" tIns="251999" rIns="108000" bIns="251999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12700" marR="0" indent="0" algn="l" defTabSz="914400" rtl="0" eaLnBrk="1" fontAlgn="auto" latinLnBrk="0" hangingPunct="1">
                <a:lnSpc>
                  <a:spcPct val="100000"/>
                </a:lnSpc>
                <a:spcBef>
                  <a:spcPts val="107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6730" algn="l"/>
                </a:tabLst>
                <a:defRPr lang="en-PT" sz="2800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pt-PT" sz="2800" dirty="0"/>
            </a:p>
          </p:txBody>
        </p:sp>
        <p:pic>
          <p:nvPicPr>
            <p:cNvPr id="142" name="Graphic 141" descr="Gold bars outline">
              <a:extLst>
                <a:ext uri="{FF2B5EF4-FFF2-40B4-BE49-F238E27FC236}">
                  <a16:creationId xmlns:a16="http://schemas.microsoft.com/office/drawing/2014/main" id="{E8B78960-B5A5-7168-62CE-F92CCF3A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33850" y="2694270"/>
              <a:ext cx="540000" cy="540000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541B1113-624E-760A-3BF4-BC86BE8D09D5}"/>
              </a:ext>
            </a:extLst>
          </p:cNvPr>
          <p:cNvSpPr txBox="1">
            <a:spLocks/>
          </p:cNvSpPr>
          <p:nvPr/>
        </p:nvSpPr>
        <p:spPr>
          <a:xfrm>
            <a:off x="1382713" y="10064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5.3.2 Sistemas </a:t>
            </a:r>
            <a:r>
              <a:rPr lang="en-GB" sz="6350" dirty="0" err="1"/>
              <a:t>centralizados</a:t>
            </a:r>
            <a:r>
              <a:rPr lang="en-GB" sz="6350" dirty="0"/>
              <a:t> e </a:t>
            </a:r>
            <a:r>
              <a:rPr lang="en-GB" sz="6350" dirty="0" err="1"/>
              <a:t>descentralizados</a:t>
            </a:r>
            <a:endParaRPr lang="en-GB" sz="6350" dirty="0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89CEE8F-F963-77F0-E80D-3203A2236B33}"/>
              </a:ext>
            </a:extLst>
          </p:cNvPr>
          <p:cNvGrpSpPr>
            <a:grpSpLocks noChangeAspect="1"/>
          </p:cNvGrpSpPr>
          <p:nvPr/>
        </p:nvGrpSpPr>
        <p:grpSpPr>
          <a:xfrm>
            <a:off x="2724750" y="5110475"/>
            <a:ext cx="4572848" cy="5040000"/>
            <a:chOff x="10433050" y="3502140"/>
            <a:chExt cx="7068753" cy="7790881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31CDE9D-E8A8-413E-E4B6-574EF95474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3050" y="4642591"/>
              <a:ext cx="97177" cy="1880607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05369AC-31D6-E183-91BC-79CB65B3F01D}"/>
                </a:ext>
              </a:extLst>
            </p:cNvPr>
            <p:cNvCxnSpPr/>
            <p:nvPr/>
          </p:nvCxnSpPr>
          <p:spPr>
            <a:xfrm flipV="1">
              <a:off x="10890227" y="3862140"/>
              <a:ext cx="1284865" cy="780451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458F729-1A5E-2E96-F25E-CFDAF1820FF4}"/>
                </a:ext>
              </a:extLst>
            </p:cNvPr>
            <p:cNvCxnSpPr/>
            <p:nvPr/>
          </p:nvCxnSpPr>
          <p:spPr>
            <a:xfrm>
              <a:off x="12243457" y="3862140"/>
              <a:ext cx="2511993" cy="36000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B432C73-7359-73A1-D6DC-28B0574D2BFB}"/>
                </a:ext>
              </a:extLst>
            </p:cNvPr>
            <p:cNvCxnSpPr/>
            <p:nvPr/>
          </p:nvCxnSpPr>
          <p:spPr>
            <a:xfrm>
              <a:off x="14870788" y="4222140"/>
              <a:ext cx="2271015" cy="167631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A7E8AC4-97BC-00B4-275D-2014090F0177}"/>
                </a:ext>
              </a:extLst>
            </p:cNvPr>
            <p:cNvCxnSpPr/>
            <p:nvPr/>
          </p:nvCxnSpPr>
          <p:spPr>
            <a:xfrm>
              <a:off x="10793050" y="6523198"/>
              <a:ext cx="1388415" cy="2847752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CE7B218-7918-9894-2141-A2A85297EF97}"/>
                </a:ext>
              </a:extLst>
            </p:cNvPr>
            <p:cNvCxnSpPr/>
            <p:nvPr/>
          </p:nvCxnSpPr>
          <p:spPr>
            <a:xfrm>
              <a:off x="12243457" y="9370950"/>
              <a:ext cx="1080000" cy="1562071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FDF8A9E-238C-CA1B-6A8A-B90A2460891C}"/>
                </a:ext>
              </a:extLst>
            </p:cNvPr>
            <p:cNvCxnSpPr/>
            <p:nvPr/>
          </p:nvCxnSpPr>
          <p:spPr>
            <a:xfrm flipV="1">
              <a:off x="13323457" y="9208959"/>
              <a:ext cx="1547331" cy="1724062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09574A0-297D-F188-3B69-8597B5032882}"/>
                </a:ext>
              </a:extLst>
            </p:cNvPr>
            <p:cNvCxnSpPr/>
            <p:nvPr/>
          </p:nvCxnSpPr>
          <p:spPr>
            <a:xfrm flipV="1">
              <a:off x="14870788" y="8060871"/>
              <a:ext cx="2136462" cy="1148088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F0DD150-953A-8092-9AF7-73AC020DC5D1}"/>
                </a:ext>
              </a:extLst>
            </p:cNvPr>
            <p:cNvCxnSpPr/>
            <p:nvPr/>
          </p:nvCxnSpPr>
          <p:spPr>
            <a:xfrm flipV="1">
              <a:off x="17007250" y="5985988"/>
              <a:ext cx="134553" cy="2074883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C8E5B3B-A91F-C7E5-A8E3-E3E803F6BC96}"/>
                </a:ext>
              </a:extLst>
            </p:cNvPr>
            <p:cNvCxnSpPr/>
            <p:nvPr/>
          </p:nvCxnSpPr>
          <p:spPr>
            <a:xfrm flipV="1">
              <a:off x="10841638" y="3872160"/>
              <a:ext cx="1339827" cy="2651038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3CD45F5-8087-F933-7A0A-8F8A22A99B6E}"/>
                </a:ext>
              </a:extLst>
            </p:cNvPr>
            <p:cNvCxnSpPr/>
            <p:nvPr/>
          </p:nvCxnSpPr>
          <p:spPr>
            <a:xfrm flipV="1">
              <a:off x="10890227" y="4222140"/>
              <a:ext cx="3865223" cy="2301058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A53B280-BCB8-94BA-15E5-A049BB5A6576}"/>
                </a:ext>
              </a:extLst>
            </p:cNvPr>
            <p:cNvCxnSpPr/>
            <p:nvPr/>
          </p:nvCxnSpPr>
          <p:spPr>
            <a:xfrm flipV="1">
              <a:off x="10793050" y="6014675"/>
              <a:ext cx="3076011" cy="464787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ED17E17-54F1-F17C-2521-E918E32E67B9}"/>
                </a:ext>
              </a:extLst>
            </p:cNvPr>
            <p:cNvCxnSpPr/>
            <p:nvPr/>
          </p:nvCxnSpPr>
          <p:spPr>
            <a:xfrm>
              <a:off x="10890227" y="4642591"/>
              <a:ext cx="1713230" cy="3135551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E7E3A0F-C6B2-9AF9-5405-351679336B4D}"/>
                </a:ext>
              </a:extLst>
            </p:cNvPr>
            <p:cNvCxnSpPr/>
            <p:nvPr/>
          </p:nvCxnSpPr>
          <p:spPr>
            <a:xfrm>
              <a:off x="10890227" y="4642591"/>
              <a:ext cx="2978834" cy="1303305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A33D2F8-173E-F2E9-3862-DF6445C5E745}"/>
                </a:ext>
              </a:extLst>
            </p:cNvPr>
            <p:cNvCxnSpPr/>
            <p:nvPr/>
          </p:nvCxnSpPr>
          <p:spPr>
            <a:xfrm>
              <a:off x="12181465" y="3872160"/>
              <a:ext cx="421992" cy="4008487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3F17CCF-E119-4B05-5A5A-240D85B574C5}"/>
                </a:ext>
              </a:extLst>
            </p:cNvPr>
            <p:cNvCxnSpPr/>
            <p:nvPr/>
          </p:nvCxnSpPr>
          <p:spPr>
            <a:xfrm>
              <a:off x="12175092" y="3872160"/>
              <a:ext cx="0" cy="549879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944CA7B-48F0-66E0-069B-6EC4A745AA7C}"/>
                </a:ext>
              </a:extLst>
            </p:cNvPr>
            <p:cNvCxnSpPr/>
            <p:nvPr/>
          </p:nvCxnSpPr>
          <p:spPr>
            <a:xfrm>
              <a:off x="12181465" y="3862140"/>
              <a:ext cx="1687596" cy="2152535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B0F1AC8-0349-AFF1-E818-61DB95582727}"/>
                </a:ext>
              </a:extLst>
            </p:cNvPr>
            <p:cNvCxnSpPr/>
            <p:nvPr/>
          </p:nvCxnSpPr>
          <p:spPr>
            <a:xfrm>
              <a:off x="12181465" y="3862140"/>
              <a:ext cx="2689323" cy="550881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343FFF7F-E15C-91F7-D9EA-BA3FFB9AD16F}"/>
                </a:ext>
              </a:extLst>
            </p:cNvPr>
            <p:cNvCxnSpPr/>
            <p:nvPr/>
          </p:nvCxnSpPr>
          <p:spPr>
            <a:xfrm flipH="1">
              <a:off x="13869061" y="4232160"/>
              <a:ext cx="886389" cy="1845409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D95C142-BCC0-AD9F-7F7E-0283AD089607}"/>
                </a:ext>
              </a:extLst>
            </p:cNvPr>
            <p:cNvCxnSpPr/>
            <p:nvPr/>
          </p:nvCxnSpPr>
          <p:spPr>
            <a:xfrm>
              <a:off x="14755450" y="4222140"/>
              <a:ext cx="2319076" cy="3956312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014F52E-CF30-3699-BDFB-1CF561850467}"/>
                </a:ext>
              </a:extLst>
            </p:cNvPr>
            <p:cNvCxnSpPr/>
            <p:nvPr/>
          </p:nvCxnSpPr>
          <p:spPr>
            <a:xfrm>
              <a:off x="14755450" y="4232160"/>
              <a:ext cx="115338" cy="4976799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B1C24CC-62F5-7F0A-DCAE-0B8AB1B624FE}"/>
                </a:ext>
              </a:extLst>
            </p:cNvPr>
            <p:cNvCxnSpPr/>
            <p:nvPr/>
          </p:nvCxnSpPr>
          <p:spPr>
            <a:xfrm flipH="1">
              <a:off x="13869061" y="5898450"/>
              <a:ext cx="3138189" cy="47446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18D259E-EA29-E947-A4EA-FE160B198138}"/>
                </a:ext>
              </a:extLst>
            </p:cNvPr>
            <p:cNvCxnSpPr/>
            <p:nvPr/>
          </p:nvCxnSpPr>
          <p:spPr>
            <a:xfrm flipH="1">
              <a:off x="12603457" y="5898450"/>
              <a:ext cx="4471069" cy="1879692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4E44B18-B8C5-B16C-F75F-1B985AA71150}"/>
                </a:ext>
              </a:extLst>
            </p:cNvPr>
            <p:cNvCxnSpPr/>
            <p:nvPr/>
          </p:nvCxnSpPr>
          <p:spPr>
            <a:xfrm flipH="1">
              <a:off x="12243457" y="5898450"/>
              <a:ext cx="4831069" cy="347250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3A537B4-BCD4-5351-38CF-D7B536CDE73C}"/>
                </a:ext>
              </a:extLst>
            </p:cNvPr>
            <p:cNvCxnSpPr/>
            <p:nvPr/>
          </p:nvCxnSpPr>
          <p:spPr>
            <a:xfrm flipH="1">
              <a:off x="14838991" y="5922173"/>
              <a:ext cx="2235535" cy="3448777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9C3DF770-7BAD-6132-23CE-73EF571B0AFA}"/>
                </a:ext>
              </a:extLst>
            </p:cNvPr>
            <p:cNvCxnSpPr/>
            <p:nvPr/>
          </p:nvCxnSpPr>
          <p:spPr>
            <a:xfrm flipH="1" flipV="1">
              <a:off x="13869061" y="6014675"/>
              <a:ext cx="3138189" cy="1928269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EBD8ED92-40CC-FF82-BCFD-73C5BDFD5B12}"/>
                </a:ext>
              </a:extLst>
            </p:cNvPr>
            <p:cNvCxnSpPr/>
            <p:nvPr/>
          </p:nvCxnSpPr>
          <p:spPr>
            <a:xfrm flipH="1">
              <a:off x="13499453" y="7942944"/>
              <a:ext cx="3642350" cy="2990077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18F25-0E8D-02A7-2A6C-B0DB4289A658}"/>
                </a:ext>
              </a:extLst>
            </p:cNvPr>
            <p:cNvCxnSpPr/>
            <p:nvPr/>
          </p:nvCxnSpPr>
          <p:spPr>
            <a:xfrm flipV="1">
              <a:off x="12181465" y="9208959"/>
              <a:ext cx="2689323" cy="161991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58439CC-E2F9-1D4A-7439-8CEBEF191737}"/>
                </a:ext>
              </a:extLst>
            </p:cNvPr>
            <p:cNvCxnSpPr/>
            <p:nvPr/>
          </p:nvCxnSpPr>
          <p:spPr>
            <a:xfrm flipV="1">
              <a:off x="12181465" y="7778142"/>
              <a:ext cx="421992" cy="1592808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6183BA59-B479-06DA-B699-386BF9D392CB}"/>
                </a:ext>
              </a:extLst>
            </p:cNvPr>
            <p:cNvCxnSpPr/>
            <p:nvPr/>
          </p:nvCxnSpPr>
          <p:spPr>
            <a:xfrm flipV="1">
              <a:off x="12331055" y="6077569"/>
              <a:ext cx="1538006" cy="3293381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00BE3D-8580-3A55-2FE1-8DE1638612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33050" y="6119462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67D651A-0552-8F4F-BDF6-A150E7BE4C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30227" y="4282591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CF2F4E0-606A-CDD0-7861-07FD6EC1BB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15092" y="3502140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43D7AA8-DE73-FC45-D522-4A80813054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395450" y="3872160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9553F36-2361-36C4-44D8-FBBF9E1F9A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781803" y="5538450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97F5F0C-CA4B-CBC5-BE9B-CE15B54223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647250" y="7700871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556B96D-3910-AA1A-67D0-0B645CD256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63457" y="10573021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3A00DF8-B021-F444-BEC3-86ED1BC368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21465" y="9010950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06EBE00-59FD-289B-499C-A6585AE773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43457" y="7418142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ABC9B7B-2463-D5EE-B367-7B0E885F65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09061" y="5654675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6173518-0358-5AF2-E505-F154B8A968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510788" y="8848959"/>
              <a:ext cx="720000" cy="720000"/>
            </a:xfrm>
            <a:prstGeom prst="ellipse">
              <a:avLst/>
            </a:prstGeom>
            <a:solidFill>
              <a:srgbClr val="88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0BF11DD6-D0A2-E8DD-7565-3DDF1717F8D0}"/>
              </a:ext>
            </a:extLst>
          </p:cNvPr>
          <p:cNvSpPr txBox="1"/>
          <p:nvPr/>
        </p:nvSpPr>
        <p:spPr>
          <a:xfrm>
            <a:off x="2203450" y="3572773"/>
            <a:ext cx="5615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3200" b="1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Sistemas Descentralizados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64A5DBD-6D96-0836-D212-D6316DBC7664}"/>
              </a:ext>
            </a:extLst>
          </p:cNvPr>
          <p:cNvSpPr txBox="1"/>
          <p:nvPr/>
        </p:nvSpPr>
        <p:spPr>
          <a:xfrm>
            <a:off x="9345907" y="4890586"/>
            <a:ext cx="9448800" cy="3501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1300" indent="-222250" algn="ctr">
              <a:lnSpc>
                <a:spcPct val="150000"/>
              </a:lnSpc>
              <a:spcAft>
                <a:spcPts val="1200"/>
              </a:spcAft>
            </a:pPr>
            <a:r>
              <a:rPr lang="pt-PT" sz="3200" b="1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Vantagens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Mais resilientes e seguros, sem ponto único de falha.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Maior controlo e privacidade a cada pessoa.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Oferecem transparência e confiança no sistema.</a:t>
            </a:r>
          </a:p>
          <a:p>
            <a:pPr marL="371475" indent="-3524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Promovem inclusão e igualdade de participação.</a:t>
            </a:r>
          </a:p>
        </p:txBody>
      </p:sp>
    </p:spTree>
    <p:extLst>
      <p:ext uri="{BB962C8B-B14F-4D97-AF65-F5344CB8AC3E}">
        <p14:creationId xmlns:p14="http://schemas.microsoft.com/office/powerpoint/2010/main" val="1727802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AF50-ED6A-59CF-9E1C-F307835C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FE03047-7FD1-A5DD-74E3-1304015E240D}"/>
              </a:ext>
            </a:extLst>
          </p:cNvPr>
          <p:cNvCxnSpPr/>
          <p:nvPr/>
        </p:nvCxnSpPr>
        <p:spPr>
          <a:xfrm flipV="1">
            <a:off x="13350909" y="5437740"/>
            <a:ext cx="5411" cy="631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D345B60-753F-0A32-45C2-2CDDC5CF61EB}"/>
              </a:ext>
            </a:extLst>
          </p:cNvPr>
          <p:cNvCxnSpPr>
            <a:cxnSpLocks/>
          </p:cNvCxnSpPr>
          <p:nvPr/>
        </p:nvCxnSpPr>
        <p:spPr>
          <a:xfrm flipV="1">
            <a:off x="3531933" y="6696258"/>
            <a:ext cx="5411" cy="107305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E9DB012F-B8B7-26A1-AE14-C6589981BC27}"/>
              </a:ext>
            </a:extLst>
          </p:cNvPr>
          <p:cNvSpPr txBox="1">
            <a:spLocks/>
          </p:cNvSpPr>
          <p:nvPr/>
        </p:nvSpPr>
        <p:spPr>
          <a:xfrm>
            <a:off x="1136650" y="1006475"/>
            <a:ext cx="17660937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5.3.3 </a:t>
            </a:r>
            <a:r>
              <a:rPr lang="en-GB" sz="6350" dirty="0" err="1"/>
              <a:t>História</a:t>
            </a:r>
            <a:r>
              <a:rPr lang="en-GB" sz="6350" dirty="0"/>
              <a:t> </a:t>
            </a:r>
            <a:r>
              <a:rPr lang="en-GB" sz="6350" dirty="0" err="1"/>
              <a:t>resumida</a:t>
            </a:r>
            <a:r>
              <a:rPr lang="en-GB" sz="6350" dirty="0"/>
              <a:t> das </a:t>
            </a:r>
            <a:r>
              <a:rPr lang="en-GB" sz="6350" dirty="0" err="1"/>
              <a:t>moedas</a:t>
            </a:r>
            <a:r>
              <a:rPr lang="en-GB" sz="6350" dirty="0"/>
              <a:t> </a:t>
            </a:r>
            <a:r>
              <a:rPr lang="en-GB" sz="6350" dirty="0" err="1"/>
              <a:t>digitais</a:t>
            </a:r>
            <a:endParaRPr lang="en-GB" sz="6350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FCE964A-486E-C699-6DB9-CCC194B6AD66}"/>
              </a:ext>
            </a:extLst>
          </p:cNvPr>
          <p:cNvSpPr txBox="1">
            <a:spLocks/>
          </p:cNvSpPr>
          <p:nvPr/>
        </p:nvSpPr>
        <p:spPr>
          <a:xfrm>
            <a:off x="1441450" y="7769313"/>
            <a:ext cx="4140000" cy="2592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100" b="1" dirty="0"/>
              <a:t>E-Cash de David </a:t>
            </a:r>
            <a:r>
              <a:rPr lang="en-GB" sz="2100" b="1" dirty="0" err="1"/>
              <a:t>Chaum</a:t>
            </a:r>
            <a:br>
              <a:rPr lang="pt-PT" sz="2100" dirty="0"/>
            </a:br>
            <a:r>
              <a:rPr lang="pt-PT" sz="2100" dirty="0"/>
              <a:t>Dinheiro eletrónico pioneiro, com foco na privacidade, mas dependente de uma autoridade central.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AEC619B-F369-8E67-3C49-CDEFAB7A6697}"/>
              </a:ext>
            </a:extLst>
          </p:cNvPr>
          <p:cNvSpPr txBox="1">
            <a:spLocks/>
          </p:cNvSpPr>
          <p:nvPr/>
        </p:nvSpPr>
        <p:spPr>
          <a:xfrm>
            <a:off x="3232544" y="2937084"/>
            <a:ext cx="4539529" cy="24714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100" b="1" dirty="0" err="1"/>
              <a:t>DigiCash</a:t>
            </a:r>
            <a:r>
              <a:rPr lang="en-GB" sz="2100" b="1" dirty="0"/>
              <a:t> de David </a:t>
            </a:r>
            <a:r>
              <a:rPr lang="en-GB" sz="2100" b="1" dirty="0" err="1"/>
              <a:t>Chaum</a:t>
            </a:r>
            <a:endParaRPr lang="en-GB" sz="2100" b="1" dirty="0"/>
          </a:p>
          <a:p>
            <a:r>
              <a:rPr lang="en-GB" sz="2100" dirty="0"/>
              <a:t>Moeda digital </a:t>
            </a:r>
            <a:r>
              <a:rPr lang="en-GB" sz="2100" dirty="0" err="1"/>
              <a:t>focada</a:t>
            </a:r>
            <a:r>
              <a:rPr lang="en-GB" sz="2100" dirty="0"/>
              <a:t> </a:t>
            </a:r>
            <a:r>
              <a:rPr lang="en-GB" sz="2100" dirty="0" err="1"/>
              <a:t>na</a:t>
            </a:r>
            <a:r>
              <a:rPr lang="en-GB" sz="2100" dirty="0"/>
              <a:t> </a:t>
            </a:r>
            <a:r>
              <a:rPr lang="en-GB" sz="2100" dirty="0" err="1"/>
              <a:t>privacidade</a:t>
            </a:r>
            <a:r>
              <a:rPr lang="en-GB" sz="2100" dirty="0"/>
              <a:t>, mas </a:t>
            </a:r>
            <a:r>
              <a:rPr lang="en-GB" sz="2100" dirty="0" err="1"/>
              <a:t>centralizada</a:t>
            </a:r>
            <a:r>
              <a:rPr lang="en-GB" sz="2100" dirty="0"/>
              <a:t>, o </a:t>
            </a:r>
            <a:r>
              <a:rPr lang="en-GB" sz="2100" dirty="0" err="1"/>
              <a:t>que</a:t>
            </a:r>
            <a:r>
              <a:rPr lang="en-GB" sz="2100" dirty="0"/>
              <a:t> </a:t>
            </a:r>
            <a:r>
              <a:rPr lang="en-GB" sz="2100" dirty="0" err="1"/>
              <a:t>levou</a:t>
            </a:r>
            <a:r>
              <a:rPr lang="en-GB" sz="2100" dirty="0"/>
              <a:t> à </a:t>
            </a:r>
            <a:r>
              <a:rPr lang="en-GB" sz="2100" dirty="0" err="1"/>
              <a:t>sua</a:t>
            </a:r>
            <a:r>
              <a:rPr lang="en-GB" sz="2100" dirty="0"/>
              <a:t> </a:t>
            </a:r>
            <a:r>
              <a:rPr lang="en-GB" sz="2100" dirty="0" err="1"/>
              <a:t>falência</a:t>
            </a:r>
            <a:r>
              <a:rPr lang="en-GB" sz="2100" dirty="0"/>
              <a:t> </a:t>
            </a:r>
            <a:r>
              <a:rPr lang="en-GB" sz="2100" dirty="0" err="1"/>
              <a:t>em</a:t>
            </a:r>
            <a:r>
              <a:rPr lang="en-GB" sz="2100" dirty="0"/>
              <a:t> 1998.</a:t>
            </a:r>
            <a:endParaRPr lang="en-GB" sz="2100" b="1" dirty="0">
              <a:effectLst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AF5F41-743E-C756-A154-1BBBCB782580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11715944" y="7134907"/>
            <a:ext cx="1425306" cy="1864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BC4091-4C74-C17D-18CA-2870EFD65C5B}"/>
              </a:ext>
            </a:extLst>
          </p:cNvPr>
          <p:cNvCxnSpPr/>
          <p:nvPr/>
        </p:nvCxnSpPr>
        <p:spPr>
          <a:xfrm flipV="1">
            <a:off x="10090544" y="5430349"/>
            <a:ext cx="5411" cy="631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5">
            <a:extLst>
              <a:ext uri="{FF2B5EF4-FFF2-40B4-BE49-F238E27FC236}">
                <a16:creationId xmlns:a16="http://schemas.microsoft.com/office/drawing/2014/main" id="{C20A34C5-AD55-1F27-39F7-F7B7BAC06004}"/>
              </a:ext>
            </a:extLst>
          </p:cNvPr>
          <p:cNvSpPr>
            <a:spLocks/>
          </p:cNvSpPr>
          <p:nvPr/>
        </p:nvSpPr>
        <p:spPr bwMode="auto">
          <a:xfrm>
            <a:off x="1479944" y="6061852"/>
            <a:ext cx="4140000" cy="1073055"/>
          </a:xfrm>
          <a:custGeom>
            <a:avLst/>
            <a:gdLst>
              <a:gd name="T0" fmla="*/ 0 w 929"/>
              <a:gd name="T1" fmla="*/ 0 h 365"/>
              <a:gd name="T2" fmla="*/ 747 w 929"/>
              <a:gd name="T3" fmla="*/ 0 h 365"/>
              <a:gd name="T4" fmla="*/ 929 w 929"/>
              <a:gd name="T5" fmla="*/ 182 h 365"/>
              <a:gd name="T6" fmla="*/ 747 w 929"/>
              <a:gd name="T7" fmla="*/ 365 h 365"/>
              <a:gd name="T8" fmla="*/ 0 w 929"/>
              <a:gd name="T9" fmla="*/ 365 h 365"/>
              <a:gd name="T10" fmla="*/ 0 w 929"/>
              <a:gd name="T11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29" h="365">
                <a:moveTo>
                  <a:pt x="0" y="0"/>
                </a:moveTo>
                <a:lnTo>
                  <a:pt x="747" y="0"/>
                </a:lnTo>
                <a:lnTo>
                  <a:pt x="929" y="182"/>
                </a:lnTo>
                <a:lnTo>
                  <a:pt x="747" y="365"/>
                </a:lnTo>
                <a:lnTo>
                  <a:pt x="0" y="365"/>
                </a:lnTo>
                <a:lnTo>
                  <a:pt x="0" y="0"/>
                </a:lnTo>
                <a:close/>
              </a:path>
            </a:pathLst>
          </a:custGeom>
          <a:solidFill>
            <a:srgbClr val="FBB040"/>
          </a:solidFill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2400" b="1" noProof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1982</a:t>
            </a: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BC16730B-E4B1-485B-00D5-F5E01D99F034}"/>
              </a:ext>
            </a:extLst>
          </p:cNvPr>
          <p:cNvSpPr>
            <a:spLocks/>
          </p:cNvSpPr>
          <p:nvPr/>
        </p:nvSpPr>
        <p:spPr bwMode="auto">
          <a:xfrm>
            <a:off x="4731344" y="6061852"/>
            <a:ext cx="4140000" cy="1073055"/>
          </a:xfrm>
          <a:custGeom>
            <a:avLst/>
            <a:gdLst>
              <a:gd name="T0" fmla="*/ 0 w 923"/>
              <a:gd name="T1" fmla="*/ 0 h 365"/>
              <a:gd name="T2" fmla="*/ 741 w 923"/>
              <a:gd name="T3" fmla="*/ 0 h 365"/>
              <a:gd name="T4" fmla="*/ 923 w 923"/>
              <a:gd name="T5" fmla="*/ 182 h 365"/>
              <a:gd name="T6" fmla="*/ 741 w 923"/>
              <a:gd name="T7" fmla="*/ 365 h 365"/>
              <a:gd name="T8" fmla="*/ 0 w 923"/>
              <a:gd name="T9" fmla="*/ 365 h 365"/>
              <a:gd name="T10" fmla="*/ 182 w 923"/>
              <a:gd name="T11" fmla="*/ 182 h 365"/>
              <a:gd name="T12" fmla="*/ 0 w 923"/>
              <a:gd name="T13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3" h="365">
                <a:moveTo>
                  <a:pt x="0" y="0"/>
                </a:moveTo>
                <a:lnTo>
                  <a:pt x="741" y="0"/>
                </a:lnTo>
                <a:lnTo>
                  <a:pt x="923" y="182"/>
                </a:lnTo>
                <a:lnTo>
                  <a:pt x="741" y="365"/>
                </a:lnTo>
                <a:lnTo>
                  <a:pt x="0" y="365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solidFill>
            <a:srgbClr val="FBB040">
              <a:alpha val="94902"/>
            </a:srgbClr>
          </a:solidFill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2400" b="1" noProof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1990</a:t>
            </a:r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A89280A6-5456-3C44-CBE2-5180D247F38D}"/>
              </a:ext>
            </a:extLst>
          </p:cNvPr>
          <p:cNvSpPr>
            <a:spLocks/>
          </p:cNvSpPr>
          <p:nvPr/>
        </p:nvSpPr>
        <p:spPr bwMode="auto">
          <a:xfrm>
            <a:off x="8007944" y="6061852"/>
            <a:ext cx="4140000" cy="1073055"/>
          </a:xfrm>
          <a:custGeom>
            <a:avLst/>
            <a:gdLst>
              <a:gd name="T0" fmla="*/ 0 w 923"/>
              <a:gd name="T1" fmla="*/ 0 h 365"/>
              <a:gd name="T2" fmla="*/ 741 w 923"/>
              <a:gd name="T3" fmla="*/ 0 h 365"/>
              <a:gd name="T4" fmla="*/ 923 w 923"/>
              <a:gd name="T5" fmla="*/ 182 h 365"/>
              <a:gd name="T6" fmla="*/ 741 w 923"/>
              <a:gd name="T7" fmla="*/ 365 h 365"/>
              <a:gd name="T8" fmla="*/ 0 w 923"/>
              <a:gd name="T9" fmla="*/ 365 h 365"/>
              <a:gd name="T10" fmla="*/ 182 w 923"/>
              <a:gd name="T11" fmla="*/ 182 h 365"/>
              <a:gd name="T12" fmla="*/ 0 w 923"/>
              <a:gd name="T13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3" h="365">
                <a:moveTo>
                  <a:pt x="0" y="0"/>
                </a:moveTo>
                <a:lnTo>
                  <a:pt x="741" y="0"/>
                </a:lnTo>
                <a:lnTo>
                  <a:pt x="923" y="182"/>
                </a:lnTo>
                <a:lnTo>
                  <a:pt x="741" y="365"/>
                </a:lnTo>
                <a:lnTo>
                  <a:pt x="0" y="365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solidFill>
            <a:srgbClr val="FBB040">
              <a:alpha val="89804"/>
            </a:srgbClr>
          </a:solidFill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2400" b="1" noProof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1996</a:t>
            </a: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F381D5E8-80C4-472B-641B-1605F102A975}"/>
              </a:ext>
            </a:extLst>
          </p:cNvPr>
          <p:cNvSpPr>
            <a:spLocks/>
          </p:cNvSpPr>
          <p:nvPr/>
        </p:nvSpPr>
        <p:spPr bwMode="auto">
          <a:xfrm>
            <a:off x="11284544" y="6061852"/>
            <a:ext cx="4140000" cy="1073055"/>
          </a:xfrm>
          <a:custGeom>
            <a:avLst/>
            <a:gdLst>
              <a:gd name="T0" fmla="*/ 0 w 930"/>
              <a:gd name="T1" fmla="*/ 0 h 365"/>
              <a:gd name="T2" fmla="*/ 747 w 930"/>
              <a:gd name="T3" fmla="*/ 0 h 365"/>
              <a:gd name="T4" fmla="*/ 930 w 930"/>
              <a:gd name="T5" fmla="*/ 182 h 365"/>
              <a:gd name="T6" fmla="*/ 747 w 930"/>
              <a:gd name="T7" fmla="*/ 365 h 365"/>
              <a:gd name="T8" fmla="*/ 0 w 930"/>
              <a:gd name="T9" fmla="*/ 365 h 365"/>
              <a:gd name="T10" fmla="*/ 182 w 930"/>
              <a:gd name="T11" fmla="*/ 182 h 365"/>
              <a:gd name="T12" fmla="*/ 0 w 930"/>
              <a:gd name="T13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30" h="365">
                <a:moveTo>
                  <a:pt x="0" y="0"/>
                </a:moveTo>
                <a:lnTo>
                  <a:pt x="747" y="0"/>
                </a:lnTo>
                <a:lnTo>
                  <a:pt x="930" y="182"/>
                </a:lnTo>
                <a:lnTo>
                  <a:pt x="747" y="365"/>
                </a:lnTo>
                <a:lnTo>
                  <a:pt x="0" y="365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solidFill>
            <a:srgbClr val="FBB040">
              <a:alpha val="85098"/>
            </a:srgbClr>
          </a:solidFill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2400" b="1" noProof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1998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00FD2D88-5B63-17DC-160F-F14CABF24531}"/>
              </a:ext>
            </a:extLst>
          </p:cNvPr>
          <p:cNvSpPr>
            <a:spLocks/>
          </p:cNvSpPr>
          <p:nvPr/>
        </p:nvSpPr>
        <p:spPr bwMode="auto">
          <a:xfrm>
            <a:off x="14561144" y="6061852"/>
            <a:ext cx="4140000" cy="1073055"/>
          </a:xfrm>
          <a:custGeom>
            <a:avLst/>
            <a:gdLst>
              <a:gd name="T0" fmla="*/ 0 w 923"/>
              <a:gd name="T1" fmla="*/ 0 h 365"/>
              <a:gd name="T2" fmla="*/ 741 w 923"/>
              <a:gd name="T3" fmla="*/ 0 h 365"/>
              <a:gd name="T4" fmla="*/ 923 w 923"/>
              <a:gd name="T5" fmla="*/ 182 h 365"/>
              <a:gd name="T6" fmla="*/ 741 w 923"/>
              <a:gd name="T7" fmla="*/ 365 h 365"/>
              <a:gd name="T8" fmla="*/ 0 w 923"/>
              <a:gd name="T9" fmla="*/ 365 h 365"/>
              <a:gd name="T10" fmla="*/ 182 w 923"/>
              <a:gd name="T11" fmla="*/ 182 h 365"/>
              <a:gd name="T12" fmla="*/ 0 w 923"/>
              <a:gd name="T13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3" h="365">
                <a:moveTo>
                  <a:pt x="0" y="0"/>
                </a:moveTo>
                <a:lnTo>
                  <a:pt x="741" y="0"/>
                </a:lnTo>
                <a:lnTo>
                  <a:pt x="923" y="182"/>
                </a:lnTo>
                <a:lnTo>
                  <a:pt x="741" y="365"/>
                </a:lnTo>
                <a:lnTo>
                  <a:pt x="0" y="365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solidFill>
            <a:srgbClr val="FBB040">
              <a:alpha val="80000"/>
            </a:srgbClr>
          </a:solidFill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2400" b="1" noProof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2004</a:t>
            </a:r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2B704E73-CEF2-07F7-A5B7-E1A060629B8B}"/>
              </a:ext>
            </a:extLst>
          </p:cNvPr>
          <p:cNvSpPr txBox="1">
            <a:spLocks/>
          </p:cNvSpPr>
          <p:nvPr/>
        </p:nvSpPr>
        <p:spPr>
          <a:xfrm>
            <a:off x="8524544" y="2870075"/>
            <a:ext cx="3708000" cy="2556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100" b="1" dirty="0"/>
              <a:t>B-Money de Wei Dai</a:t>
            </a:r>
            <a:br>
              <a:rPr lang="pt-PT" sz="2100" dirty="0"/>
            </a:br>
            <a:r>
              <a:rPr lang="pt-PT" sz="2100" dirty="0"/>
              <a:t>Proposta teórica para um sistema financeiro anónimo e distribuído, que nunca foi implementada.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65552634-DD43-71A3-C789-83867AD7EEB7}"/>
              </a:ext>
            </a:extLst>
          </p:cNvPr>
          <p:cNvSpPr txBox="1">
            <a:spLocks/>
          </p:cNvSpPr>
          <p:nvPr/>
        </p:nvSpPr>
        <p:spPr>
          <a:xfrm>
            <a:off x="12713815" y="2759075"/>
            <a:ext cx="4539529" cy="2700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 err="1"/>
              <a:t>HashCash</a:t>
            </a:r>
            <a:r>
              <a:rPr lang="en-GB" sz="2100" b="1" dirty="0"/>
              <a:t> de </a:t>
            </a:r>
            <a:r>
              <a:rPr lang="en-GB" sz="2000" b="1" dirty="0"/>
              <a:t>Adam Back</a:t>
            </a:r>
            <a:endParaRPr lang="en-GB" sz="2100" b="1" dirty="0"/>
          </a:p>
          <a:p>
            <a:r>
              <a:rPr lang="en-GB" sz="2100" dirty="0"/>
              <a:t>Sistema de proof-of-work para </a:t>
            </a:r>
            <a:r>
              <a:rPr lang="en-GB" sz="2100" dirty="0" err="1"/>
              <a:t>travar</a:t>
            </a:r>
            <a:r>
              <a:rPr lang="en-GB" sz="2100" dirty="0"/>
              <a:t> spam e </a:t>
            </a:r>
            <a:r>
              <a:rPr lang="en-GB" sz="2100" dirty="0" err="1"/>
              <a:t>ataques</a:t>
            </a:r>
            <a:r>
              <a:rPr lang="en-GB" sz="2100" dirty="0"/>
              <a:t>, mas </a:t>
            </a:r>
            <a:r>
              <a:rPr lang="en-GB" sz="2100" dirty="0" err="1"/>
              <a:t>sem</a:t>
            </a:r>
            <a:r>
              <a:rPr lang="en-GB" sz="2100" dirty="0"/>
              <a:t> resolver o </a:t>
            </a:r>
            <a:r>
              <a:rPr lang="en-GB" sz="2100" dirty="0" err="1"/>
              <a:t>problema</a:t>
            </a:r>
            <a:r>
              <a:rPr lang="en-GB" sz="2100" dirty="0"/>
              <a:t> do </a:t>
            </a:r>
            <a:r>
              <a:rPr lang="en-GB" sz="2100" dirty="0" err="1"/>
              <a:t>gasto</a:t>
            </a:r>
            <a:r>
              <a:rPr lang="en-GB" sz="2100" dirty="0"/>
              <a:t> </a:t>
            </a:r>
            <a:r>
              <a:rPr lang="en-GB" sz="2100" dirty="0" err="1"/>
              <a:t>duplo</a:t>
            </a:r>
            <a:r>
              <a:rPr lang="en-GB" sz="2100" dirty="0"/>
              <a:t> das </a:t>
            </a:r>
            <a:r>
              <a:rPr lang="en-GB" sz="2100" dirty="0" err="1"/>
              <a:t>moedas</a:t>
            </a:r>
            <a:r>
              <a:rPr lang="en-GB" sz="2100" dirty="0"/>
              <a:t> </a:t>
            </a:r>
            <a:r>
              <a:rPr lang="en-GB" sz="2100" dirty="0" err="1"/>
              <a:t>digitais</a:t>
            </a:r>
            <a:r>
              <a:rPr lang="en-GB" sz="2100" dirty="0"/>
              <a:t>.</a:t>
            </a:r>
            <a:endParaRPr lang="en-GB" sz="2100" b="1" dirty="0">
              <a:effectLst/>
            </a:endParaRP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BB232DCE-8A9E-AEA3-3276-FAF68A5FA1E7}"/>
              </a:ext>
            </a:extLst>
          </p:cNvPr>
          <p:cNvSpPr txBox="1">
            <a:spLocks/>
          </p:cNvSpPr>
          <p:nvPr/>
        </p:nvSpPr>
        <p:spPr>
          <a:xfrm>
            <a:off x="7575944" y="7804150"/>
            <a:ext cx="4140000" cy="2391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Bit Gold</a:t>
            </a:r>
            <a:r>
              <a:rPr lang="en-GB" sz="2100" b="1" dirty="0"/>
              <a:t> de </a:t>
            </a:r>
            <a:r>
              <a:rPr lang="en-GB" b="1" dirty="0"/>
              <a:t>Nick Szabo</a:t>
            </a:r>
            <a:endParaRPr lang="en-GB" sz="2100" b="1" dirty="0"/>
          </a:p>
          <a:p>
            <a:r>
              <a:rPr lang="en-GB" sz="2100" dirty="0"/>
              <a:t>Moeda digital </a:t>
            </a:r>
            <a:r>
              <a:rPr lang="en-GB" sz="2100" dirty="0" err="1"/>
              <a:t>descentralizada</a:t>
            </a:r>
            <a:r>
              <a:rPr lang="en-GB" sz="2100" dirty="0"/>
              <a:t> com proof-of-work, </a:t>
            </a:r>
            <a:r>
              <a:rPr lang="en-GB" sz="2100" dirty="0" err="1"/>
              <a:t>que</a:t>
            </a:r>
            <a:r>
              <a:rPr lang="en-GB" sz="2100" dirty="0"/>
              <a:t> </a:t>
            </a:r>
            <a:r>
              <a:rPr lang="en-GB" sz="2100" dirty="0" err="1"/>
              <a:t>nunca</a:t>
            </a:r>
            <a:r>
              <a:rPr lang="en-GB" sz="2100" dirty="0"/>
              <a:t> </a:t>
            </a:r>
            <a:r>
              <a:rPr lang="en-GB" sz="2100" dirty="0" err="1"/>
              <a:t>foi</a:t>
            </a:r>
            <a:r>
              <a:rPr lang="en-GB" sz="2100" dirty="0"/>
              <a:t> </a:t>
            </a:r>
            <a:r>
              <a:rPr lang="en-GB" sz="2100" dirty="0" err="1"/>
              <a:t>implementada</a:t>
            </a:r>
            <a:r>
              <a:rPr lang="en-GB" sz="2100" dirty="0"/>
              <a:t>.</a:t>
            </a:r>
            <a:endParaRPr lang="en-GB" sz="2100" b="1" dirty="0">
              <a:effectLst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D672FD6-FEE4-0850-E764-7A84191AD54C}"/>
              </a:ext>
            </a:extLst>
          </p:cNvPr>
          <p:cNvCxnSpPr>
            <a:cxnSpLocks/>
          </p:cNvCxnSpPr>
          <p:nvPr/>
        </p:nvCxnSpPr>
        <p:spPr>
          <a:xfrm flipV="1">
            <a:off x="6827417" y="5408484"/>
            <a:ext cx="0" cy="65336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5">
            <a:extLst>
              <a:ext uri="{FF2B5EF4-FFF2-40B4-BE49-F238E27FC236}">
                <a16:creationId xmlns:a16="http://schemas.microsoft.com/office/drawing/2014/main" id="{1ED377DF-360D-5C54-D89B-9B5CABA94B2E}"/>
              </a:ext>
            </a:extLst>
          </p:cNvPr>
          <p:cNvSpPr txBox="1">
            <a:spLocks/>
          </p:cNvSpPr>
          <p:nvPr/>
        </p:nvSpPr>
        <p:spPr>
          <a:xfrm>
            <a:off x="13710438" y="7769313"/>
            <a:ext cx="5328000" cy="2880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7000"/>
              </a:prstClr>
            </a:innerShdw>
          </a:effectLst>
        </p:spPr>
        <p:txBody>
          <a:bodyPr vert="horz" wrap="square" lIns="144000" tIns="251999" rIns="108000" bIns="251999" rtlCol="0">
            <a:noAutofit/>
          </a:bodyPr>
          <a:lstStyle>
            <a:defPPr>
              <a:defRPr kern="0"/>
            </a:defPPr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e-Gold</a:t>
            </a:r>
          </a:p>
          <a:p>
            <a:r>
              <a:rPr lang="en-GB" sz="2100" dirty="0"/>
              <a:t>Moeda digital </a:t>
            </a:r>
            <a:r>
              <a:rPr lang="en-GB" sz="2100" dirty="0" err="1"/>
              <a:t>centralizada</a:t>
            </a:r>
            <a:r>
              <a:rPr lang="en-GB" sz="2100" dirty="0"/>
              <a:t> </a:t>
            </a:r>
            <a:r>
              <a:rPr lang="en-GB" sz="2100" dirty="0" err="1"/>
              <a:t>lastreada</a:t>
            </a:r>
            <a:r>
              <a:rPr lang="en-GB" sz="2100" dirty="0"/>
              <a:t> </a:t>
            </a:r>
            <a:r>
              <a:rPr lang="en-GB" sz="2100" dirty="0" err="1"/>
              <a:t>em</a:t>
            </a:r>
            <a:r>
              <a:rPr lang="en-GB" sz="2100" dirty="0"/>
              <a:t> </a:t>
            </a:r>
            <a:r>
              <a:rPr lang="en-GB" sz="2100" dirty="0" err="1"/>
              <a:t>ouro</a:t>
            </a:r>
            <a:r>
              <a:rPr lang="en-GB" sz="2100" dirty="0"/>
              <a:t>, </a:t>
            </a:r>
            <a:r>
              <a:rPr lang="en-GB" sz="2100" dirty="0" err="1"/>
              <a:t>encerrada</a:t>
            </a:r>
            <a:r>
              <a:rPr lang="en-GB" sz="2100" dirty="0"/>
              <a:t> </a:t>
            </a:r>
            <a:r>
              <a:rPr lang="en-GB" sz="2100" dirty="0" err="1"/>
              <a:t>em</a:t>
            </a:r>
            <a:r>
              <a:rPr lang="en-GB" sz="2100" dirty="0"/>
              <a:t> 2009 </a:t>
            </a:r>
            <a:r>
              <a:rPr lang="en-GB" sz="2100" dirty="0" err="1"/>
              <a:t>devido</a:t>
            </a:r>
            <a:r>
              <a:rPr lang="en-GB" sz="2100" dirty="0"/>
              <a:t> a </a:t>
            </a:r>
            <a:r>
              <a:rPr lang="en-GB" sz="2100" dirty="0" err="1"/>
              <a:t>problemas</a:t>
            </a:r>
            <a:r>
              <a:rPr lang="en-GB" sz="2100" dirty="0"/>
              <a:t> </a:t>
            </a:r>
            <a:r>
              <a:rPr lang="en-GB" sz="2100" dirty="0" err="1"/>
              <a:t>jurídicos</a:t>
            </a:r>
            <a:r>
              <a:rPr lang="en-GB" sz="2100" dirty="0"/>
              <a:t>, </a:t>
            </a:r>
            <a:r>
              <a:rPr lang="en-GB" sz="2100" dirty="0" err="1"/>
              <a:t>evidenciando</a:t>
            </a:r>
            <a:r>
              <a:rPr lang="en-GB" sz="2100" dirty="0"/>
              <a:t> as </a:t>
            </a:r>
            <a:r>
              <a:rPr lang="en-GB" sz="2100" dirty="0" err="1"/>
              <a:t>fragilidades</a:t>
            </a:r>
            <a:r>
              <a:rPr lang="en-GB" sz="2100" dirty="0"/>
              <a:t> dos </a:t>
            </a:r>
            <a:r>
              <a:rPr lang="en-GB" sz="2100" dirty="0" err="1"/>
              <a:t>modelos</a:t>
            </a:r>
            <a:r>
              <a:rPr lang="en-GB" sz="2100" dirty="0"/>
              <a:t> </a:t>
            </a:r>
            <a:r>
              <a:rPr lang="en-GB" sz="2100" dirty="0" err="1"/>
              <a:t>centralizados</a:t>
            </a:r>
            <a:r>
              <a:rPr lang="en-GB" sz="2100" dirty="0"/>
              <a:t>.</a:t>
            </a:r>
            <a:endParaRPr lang="en-GB" sz="2100" b="1" dirty="0">
              <a:effectLst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9E1E6A4-5043-C689-E8FE-E7D3A3E78A78}"/>
              </a:ext>
            </a:extLst>
          </p:cNvPr>
          <p:cNvCxnSpPr/>
          <p:nvPr/>
        </p:nvCxnSpPr>
        <p:spPr>
          <a:xfrm flipV="1">
            <a:off x="16611532" y="7134907"/>
            <a:ext cx="5411" cy="631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905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E98E-4D56-810D-F4E5-AB61548E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650D469-3A1C-3FEF-9AC7-DD4CA597575A}"/>
              </a:ext>
            </a:extLst>
          </p:cNvPr>
          <p:cNvSpPr txBox="1">
            <a:spLocks/>
          </p:cNvSpPr>
          <p:nvPr/>
        </p:nvSpPr>
        <p:spPr>
          <a:xfrm>
            <a:off x="1136650" y="1006475"/>
            <a:ext cx="17660937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sz="6350" dirty="0"/>
              <a:t>5.3.3 </a:t>
            </a:r>
            <a:r>
              <a:rPr lang="en-GB" sz="6350" dirty="0" err="1"/>
              <a:t>História</a:t>
            </a:r>
            <a:r>
              <a:rPr lang="en-GB" sz="6350" dirty="0"/>
              <a:t> </a:t>
            </a:r>
            <a:r>
              <a:rPr lang="en-GB" sz="6350" dirty="0" err="1"/>
              <a:t>resumida</a:t>
            </a:r>
            <a:r>
              <a:rPr lang="en-GB" sz="6350" dirty="0"/>
              <a:t> das </a:t>
            </a:r>
            <a:r>
              <a:rPr lang="en-GB" sz="6350" dirty="0" err="1"/>
              <a:t>moedas</a:t>
            </a:r>
            <a:r>
              <a:rPr lang="en-GB" sz="6350" dirty="0"/>
              <a:t> </a:t>
            </a:r>
            <a:r>
              <a:rPr lang="en-GB" sz="6350" dirty="0" err="1"/>
              <a:t>digitais</a:t>
            </a:r>
            <a:endParaRPr lang="en-GB" sz="635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ACBE7D4-9480-7F3F-2CB1-31FB0449D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734038"/>
            <a:ext cx="17338675" cy="7187837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en-GB" sz="3000" dirty="0" err="1"/>
              <a:t>Apesar</a:t>
            </a:r>
            <a:r>
              <a:rPr lang="en-GB" sz="3000" dirty="0"/>
              <a:t> das </a:t>
            </a:r>
            <a:r>
              <a:rPr lang="en-GB" sz="3000" dirty="0" err="1"/>
              <a:t>inúmeras</a:t>
            </a:r>
            <a:r>
              <a:rPr lang="en-GB" sz="3000" dirty="0"/>
              <a:t> </a:t>
            </a:r>
            <a:r>
              <a:rPr lang="en-GB" sz="3000" dirty="0" err="1"/>
              <a:t>tentativas</a:t>
            </a:r>
            <a:r>
              <a:rPr lang="en-GB" sz="3000" dirty="0"/>
              <a:t> dos Cypherpunks, </a:t>
            </a:r>
            <a:r>
              <a:rPr lang="en-GB" sz="3000" dirty="0" err="1"/>
              <a:t>ao</a:t>
            </a:r>
            <a:r>
              <a:rPr lang="en-GB" sz="3000" dirty="0"/>
              <a:t> </a:t>
            </a:r>
            <a:r>
              <a:rPr lang="en-GB" sz="3000" dirty="0" err="1"/>
              <a:t>longo</a:t>
            </a:r>
            <a:r>
              <a:rPr lang="en-GB" sz="3000" dirty="0"/>
              <a:t> de </a:t>
            </a:r>
            <a:r>
              <a:rPr lang="en-GB" sz="3000" dirty="0" err="1"/>
              <a:t>décadas</a:t>
            </a:r>
            <a:r>
              <a:rPr lang="en-GB" sz="3000" dirty="0"/>
              <a:t>, de </a:t>
            </a:r>
            <a:r>
              <a:rPr lang="en-GB" sz="3000" dirty="0" err="1"/>
              <a:t>criar</a:t>
            </a:r>
            <a:r>
              <a:rPr lang="en-GB" sz="3000" dirty="0"/>
              <a:t> </a:t>
            </a:r>
            <a:r>
              <a:rPr lang="en-GB" sz="3000" dirty="0" err="1"/>
              <a:t>uma</a:t>
            </a:r>
            <a:r>
              <a:rPr lang="en-GB" sz="3000" dirty="0"/>
              <a:t> </a:t>
            </a:r>
            <a:r>
              <a:rPr lang="en-GB" sz="3000" dirty="0" err="1"/>
              <a:t>moeda</a:t>
            </a:r>
            <a:r>
              <a:rPr lang="en-GB" sz="3000" dirty="0"/>
              <a:t> digital livre do </a:t>
            </a:r>
            <a:r>
              <a:rPr lang="en-GB" sz="3000" dirty="0" err="1"/>
              <a:t>controlo</a:t>
            </a:r>
            <a:r>
              <a:rPr lang="en-GB" sz="3000" dirty="0"/>
              <a:t> de </a:t>
            </a:r>
            <a:r>
              <a:rPr lang="en-GB" sz="3000" dirty="0" err="1"/>
              <a:t>qualquer</a:t>
            </a:r>
            <a:r>
              <a:rPr lang="en-GB" sz="3000" dirty="0"/>
              <a:t> </a:t>
            </a:r>
            <a:r>
              <a:rPr lang="en-GB" sz="3000" dirty="0" err="1"/>
              <a:t>grupo</a:t>
            </a:r>
            <a:r>
              <a:rPr lang="en-GB" sz="3000" dirty="0"/>
              <a:t> </a:t>
            </a:r>
            <a:r>
              <a:rPr lang="en-GB" sz="3000" dirty="0" err="1"/>
              <a:t>ou</a:t>
            </a:r>
            <a:r>
              <a:rPr lang="en-GB" sz="3000" dirty="0"/>
              <a:t> </a:t>
            </a:r>
            <a:r>
              <a:rPr lang="en-GB" sz="3000" dirty="0" err="1"/>
              <a:t>governo</a:t>
            </a:r>
            <a:r>
              <a:rPr lang="en-GB" sz="3000" dirty="0"/>
              <a:t>, </a:t>
            </a:r>
            <a:r>
              <a:rPr lang="en-GB" sz="3000" dirty="0" err="1"/>
              <a:t>os</a:t>
            </a:r>
            <a:r>
              <a:rPr lang="en-GB" sz="3000" dirty="0"/>
              <a:t> </a:t>
            </a:r>
            <a:r>
              <a:rPr lang="en-GB" sz="3000" dirty="0" err="1"/>
              <a:t>seus</a:t>
            </a:r>
            <a:r>
              <a:rPr lang="en-GB" sz="3000" dirty="0"/>
              <a:t> </a:t>
            </a:r>
            <a:r>
              <a:rPr lang="en-GB" sz="3000" dirty="0" err="1"/>
              <a:t>projetos</a:t>
            </a:r>
            <a:r>
              <a:rPr lang="en-GB" sz="3000" dirty="0"/>
              <a:t> </a:t>
            </a:r>
            <a:r>
              <a:rPr lang="en-GB" sz="3000" dirty="0" err="1"/>
              <a:t>enfrentaram</a:t>
            </a:r>
            <a:r>
              <a:rPr lang="en-GB" sz="3000" dirty="0"/>
              <a:t> </a:t>
            </a:r>
            <a:r>
              <a:rPr lang="en-GB" sz="3000" dirty="0" err="1"/>
              <a:t>problemas</a:t>
            </a:r>
            <a:r>
              <a:rPr lang="en-GB" sz="3000" dirty="0"/>
              <a:t> </a:t>
            </a:r>
            <a:r>
              <a:rPr lang="en-GB" sz="3000" dirty="0" err="1"/>
              <a:t>práticos</a:t>
            </a:r>
            <a:r>
              <a:rPr lang="en-GB" sz="3000" dirty="0"/>
              <a:t> e </a:t>
            </a:r>
            <a:r>
              <a:rPr lang="en-GB" sz="3000" dirty="0" err="1"/>
              <a:t>não</a:t>
            </a:r>
            <a:r>
              <a:rPr lang="en-GB" sz="3000" dirty="0"/>
              <a:t> </a:t>
            </a:r>
            <a:r>
              <a:rPr lang="en-GB" sz="3000" dirty="0" err="1"/>
              <a:t>puderam</a:t>
            </a:r>
            <a:r>
              <a:rPr lang="en-GB" sz="3000" dirty="0"/>
              <a:t> ser </a:t>
            </a:r>
            <a:r>
              <a:rPr lang="en-GB" sz="3000" dirty="0" err="1"/>
              <a:t>concretizados</a:t>
            </a:r>
            <a:r>
              <a:rPr lang="en-GB" sz="3000" dirty="0"/>
              <a:t> no </a:t>
            </a:r>
            <a:r>
              <a:rPr lang="en-GB" sz="3000" dirty="0" err="1"/>
              <a:t>mundo</a:t>
            </a:r>
            <a:r>
              <a:rPr lang="en-GB" sz="3000" dirty="0"/>
              <a:t> real.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en-GB" sz="3000" dirty="0" err="1"/>
              <a:t>Tudo</a:t>
            </a:r>
            <a:r>
              <a:rPr lang="en-GB" sz="3000" dirty="0"/>
              <a:t> </a:t>
            </a:r>
            <a:r>
              <a:rPr lang="en-GB" sz="3000" dirty="0" err="1"/>
              <a:t>mudou</a:t>
            </a:r>
            <a:r>
              <a:rPr lang="en-GB" sz="3000" dirty="0"/>
              <a:t> com a </a:t>
            </a:r>
            <a:r>
              <a:rPr lang="en-GB" sz="3000" dirty="0" err="1"/>
              <a:t>chegada</a:t>
            </a:r>
            <a:r>
              <a:rPr lang="en-GB" sz="3000" dirty="0"/>
              <a:t> de um </a:t>
            </a:r>
            <a:r>
              <a:rPr lang="en-GB" sz="3000" dirty="0" err="1"/>
              <a:t>indivíduo</a:t>
            </a:r>
            <a:r>
              <a:rPr lang="en-GB" sz="3000" dirty="0"/>
              <a:t> </a:t>
            </a:r>
            <a:r>
              <a:rPr lang="en-GB" sz="3000" dirty="0" err="1"/>
              <a:t>que</a:t>
            </a:r>
            <a:r>
              <a:rPr lang="en-GB" sz="3000" dirty="0"/>
              <a:t>, </a:t>
            </a:r>
            <a:r>
              <a:rPr lang="en-GB" sz="3000" dirty="0" err="1"/>
              <a:t>aprendendo</a:t>
            </a:r>
            <a:r>
              <a:rPr lang="en-GB" sz="3000" dirty="0"/>
              <a:t> com esses </a:t>
            </a:r>
            <a:r>
              <a:rPr lang="en-GB" sz="3000" dirty="0" err="1"/>
              <a:t>erros</a:t>
            </a:r>
            <a:r>
              <a:rPr lang="en-GB" sz="3000" dirty="0"/>
              <a:t>, </a:t>
            </a:r>
            <a:r>
              <a:rPr lang="en-GB" sz="3000" dirty="0" err="1"/>
              <a:t>levou</a:t>
            </a:r>
            <a:r>
              <a:rPr lang="en-GB" sz="3000" dirty="0"/>
              <a:t> a </a:t>
            </a:r>
            <a:r>
              <a:rPr lang="en-GB" sz="3000" dirty="0" err="1"/>
              <a:t>ideia</a:t>
            </a:r>
            <a:r>
              <a:rPr lang="en-GB" sz="3000" dirty="0"/>
              <a:t> de </a:t>
            </a:r>
            <a:r>
              <a:rPr lang="en-GB" sz="3000" dirty="0" err="1"/>
              <a:t>uma</a:t>
            </a:r>
            <a:r>
              <a:rPr lang="en-GB" sz="3000" dirty="0"/>
              <a:t> </a:t>
            </a:r>
            <a:r>
              <a:rPr lang="en-GB" sz="3000" dirty="0" err="1"/>
              <a:t>moeda</a:t>
            </a:r>
            <a:r>
              <a:rPr lang="en-GB" sz="3000" dirty="0"/>
              <a:t> </a:t>
            </a:r>
            <a:r>
              <a:rPr lang="en-GB" sz="3000" dirty="0" err="1"/>
              <a:t>descentralizada</a:t>
            </a:r>
            <a:r>
              <a:rPr lang="en-GB" sz="3000" dirty="0"/>
              <a:t> a um </a:t>
            </a:r>
            <a:r>
              <a:rPr lang="en-GB" sz="3000" dirty="0" err="1"/>
              <a:t>sistema</a:t>
            </a:r>
            <a:r>
              <a:rPr lang="en-GB" sz="3000" dirty="0"/>
              <a:t> </a:t>
            </a:r>
            <a:r>
              <a:rPr lang="en-GB" sz="3000" dirty="0" err="1"/>
              <a:t>funcional</a:t>
            </a:r>
            <a:r>
              <a:rPr lang="en-GB" sz="3000" dirty="0"/>
              <a:t>.</a:t>
            </a:r>
          </a:p>
        </p:txBody>
      </p:sp>
      <p:pic>
        <p:nvPicPr>
          <p:cNvPr id="12292" name="Picture 4" descr="Bitcoin - Wikipedia">
            <a:extLst>
              <a:ext uri="{FF2B5EF4-FFF2-40B4-BE49-F238E27FC236}">
                <a16:creationId xmlns:a16="http://schemas.microsoft.com/office/drawing/2014/main" id="{C74BBF23-FC11-FD92-1952-6CA3F298B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6510" y="6628042"/>
            <a:ext cx="3894540" cy="389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13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3304</TotalTime>
  <Words>1122</Words>
  <Application>Microsoft Macintosh PowerPoint</Application>
  <PresentationFormat>Custom</PresentationFormat>
  <Paragraphs>102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Open Sans</vt:lpstr>
      <vt:lpstr>Open Sans Light</vt:lpstr>
      <vt:lpstr>Ubuntu Light</vt:lpstr>
      <vt:lpstr>1_Custom Design</vt:lpstr>
      <vt:lpstr>A criação de soluções, com base nos problemas</vt:lpstr>
      <vt:lpstr>5.0 Introdução ao problema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271</cp:revision>
  <dcterms:created xsi:type="dcterms:W3CDTF">2024-11-12T03:26:48Z</dcterms:created>
  <dcterms:modified xsi:type="dcterms:W3CDTF">2025-10-22T06:45:20Z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