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notesMasterIdLst>
    <p:notesMasterId r:id="rId10"/>
  </p:notesMasterIdLst>
  <p:sldIdLst>
    <p:sldId id="260" r:id="rId2"/>
    <p:sldId id="273" r:id="rId3"/>
    <p:sldId id="278" r:id="rId4"/>
    <p:sldId id="274" r:id="rId5"/>
    <p:sldId id="276" r:id="rId6"/>
    <p:sldId id="277" r:id="rId7"/>
    <p:sldId id="269" r:id="rId8"/>
    <p:sldId id="268" r:id="rId9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B040"/>
    <a:srgbClr val="58595B"/>
    <a:srgbClr val="739138"/>
    <a:srgbClr val="CCBAE8"/>
    <a:srgbClr val="8C2930"/>
    <a:srgbClr val="20007D"/>
    <a:srgbClr val="53AEDD"/>
    <a:srgbClr val="E4E0FD"/>
    <a:srgbClr val="392569"/>
    <a:srgbClr val="1613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/>
    <p:restoredTop sz="95735"/>
  </p:normalViewPr>
  <p:slideViewPr>
    <p:cSldViewPr>
      <p:cViewPr varScale="1">
        <p:scale>
          <a:sx n="60" d="100"/>
          <a:sy n="60" d="100"/>
        </p:scale>
        <p:origin x="1528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806190-753F-B441-B6BD-4CD1B6C676A4}" type="datetimeFigureOut">
              <a:rPr lang="en-PT" smtClean="0"/>
              <a:t>29/10/2025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BDFA0-B2CB-F643-A7D4-44C1F02A8D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076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8989FBFA-0A59-F895-70E1-7D2A78E89463}"/>
              </a:ext>
            </a:extLst>
          </p:cNvPr>
          <p:cNvSpPr txBox="1"/>
          <p:nvPr userDrawn="1"/>
        </p:nvSpPr>
        <p:spPr>
          <a:xfrm>
            <a:off x="15919450" y="10284003"/>
            <a:ext cx="2790723" cy="414857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algn="r">
              <a:spcBef>
                <a:spcPts val="595"/>
              </a:spcBef>
            </a:pPr>
            <a:r>
              <a:rPr lang="pt-PT" sz="2200" b="1" i="1" dirty="0">
                <a:solidFill>
                  <a:srgbClr val="FFFFFF"/>
                </a:solidFill>
                <a:latin typeface="Open Sans"/>
                <a:cs typeface="Open Sans"/>
              </a:rPr>
              <a:t>2025</a:t>
            </a:r>
            <a:endParaRPr sz="1650" dirty="0">
              <a:latin typeface="Open Sans Light"/>
              <a:cs typeface="Open Sans Light"/>
            </a:endParaRPr>
          </a:p>
        </p:txBody>
      </p:sp>
      <p:pic>
        <p:nvPicPr>
          <p:cNvPr id="11" name="object 4">
            <a:extLst>
              <a:ext uri="{FF2B5EF4-FFF2-40B4-BE49-F238E27FC236}">
                <a16:creationId xmlns:a16="http://schemas.microsoft.com/office/drawing/2014/main" id="{614F2C05-B827-E769-869E-A3BF56A914E1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7461636" y="9540875"/>
            <a:ext cx="1273721" cy="678795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B713F4C0-5C97-2B8D-A32C-F48226619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548" y="1642219"/>
            <a:ext cx="17338675" cy="1463700"/>
          </a:xfrm>
        </p:spPr>
        <p:txBody>
          <a:bodyPr anchor="t">
            <a:normAutofit/>
          </a:bodyPr>
          <a:lstStyle>
            <a:lvl1pPr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E312E16-9584-D7B3-7B88-21458C9FBADE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383517" y="601663"/>
            <a:ext cx="17313491" cy="9762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lang="en-PT" sz="5800" b="0" i="0" dirty="0">
                <a:solidFill>
                  <a:schemeClr val="bg1"/>
                </a:solidFill>
                <a:latin typeface="Ubuntu Light"/>
                <a:ea typeface="+mj-ea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5B12DCEC-016D-97EA-5E80-9A1084974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3368675"/>
            <a:ext cx="17338675" cy="7339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27383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1F7DA-DD75-4AF1-99D3-BACF7C5CA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3" y="1851025"/>
            <a:ext cx="15078075" cy="3937000"/>
          </a:xfrm>
        </p:spPr>
        <p:txBody>
          <a:bodyPr anchor="b">
            <a:normAutofit/>
          </a:bodyPr>
          <a:lstStyle>
            <a:lvl1pPr algn="ctr"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F8D16-9FCF-612A-CB90-38F6CEA14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013" y="5940425"/>
            <a:ext cx="15078075" cy="27305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lang="en-PT" sz="5800" b="0" i="0" kern="1200" spc="-25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78572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4A01-9D54-73A9-7F54-31626191B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2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02D9D-896F-FB87-A8A7-DC5D858D4F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2301875"/>
            <a:ext cx="8593137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C2BF4-CC5D-4E9E-838E-93C00EABB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28250" y="2301875"/>
            <a:ext cx="8593138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6066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F709-FAF1-2507-082C-24B92C7B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601663"/>
            <a:ext cx="17340263" cy="1472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PT"/>
            </a:lvl1pPr>
          </a:lstStyle>
          <a:p>
            <a:pPr lvl="0"/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E7870-07E7-9960-2FD7-CC65D9768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4300" y="2237964"/>
            <a:ext cx="8505825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CD55D-ADCF-8B08-2444-3E6F436EA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300" y="3481865"/>
            <a:ext cx="8505825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B58E6B-9046-4406-1246-9D0D85EB3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77463" y="2237964"/>
            <a:ext cx="8547100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4C1B51-CDD4-A4F7-DA9D-B40D1A381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77463" y="3481865"/>
            <a:ext cx="8547100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656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246849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6287BF9-E319-1393-4A5E-804B9FC0B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9964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051E5-DEA9-6BF8-6F9B-EEE66AE7C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754063"/>
            <a:ext cx="8439150" cy="1364400"/>
          </a:xfrm>
        </p:spPr>
        <p:txBody>
          <a:bodyPr anchor="ctr">
            <a:noAutofit/>
          </a:bodyPr>
          <a:lstStyle>
            <a:lvl1pPr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653D5-7794-C41A-9DD6-3910C4EAA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052050" y="1628775"/>
            <a:ext cx="8672513" cy="8926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1992960-9DC4-AC57-14E2-FE9C2142B8B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82713" y="2301875"/>
            <a:ext cx="8439151" cy="8253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41064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16938-309D-4211-98D7-1067DBDB07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 err="1"/>
              <a:t>Caixas</a:t>
            </a:r>
            <a:r>
              <a:rPr lang="en-GB" dirty="0"/>
              <a:t> de </a:t>
            </a:r>
            <a:r>
              <a:rPr lang="en-GB" dirty="0" err="1"/>
              <a:t>texto</a:t>
            </a:r>
            <a:endParaRPr lang="en-PT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F8E8CE-5C66-BFF0-8EBA-AFCAC710C6D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2225675"/>
            <a:ext cx="17230977" cy="4600756"/>
            <a:chOff x="2813050" y="4486266"/>
            <a:chExt cx="15308802" cy="408752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07D29E82-B7E4-1BE8-E299-86B33C4D5471}"/>
                </a:ext>
              </a:extLst>
            </p:cNvPr>
            <p:cNvSpPr/>
            <p:nvPr/>
          </p:nvSpPr>
          <p:spPr>
            <a:xfrm>
              <a:off x="2813050" y="4892675"/>
              <a:ext cx="15308802" cy="3339117"/>
            </a:xfrm>
            <a:prstGeom prst="roundRect">
              <a:avLst/>
            </a:prstGeom>
            <a:gradFill flip="none" rotWithShape="1">
              <a:gsLst>
                <a:gs pos="64000">
                  <a:srgbClr val="E4E0FD"/>
                </a:gs>
                <a:gs pos="22000">
                  <a:srgbClr val="F1EEFE"/>
                </a:gs>
                <a:gs pos="0">
                  <a:srgbClr val="FEFEFF"/>
                </a:gs>
              </a:gsLst>
              <a:lin ang="162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FA58915-BF8B-865E-2A90-E53EDFD6E0C1}"/>
                </a:ext>
              </a:extLst>
            </p:cNvPr>
            <p:cNvGrpSpPr/>
            <p:nvPr/>
          </p:nvGrpSpPr>
          <p:grpSpPr>
            <a:xfrm>
              <a:off x="3339290" y="4486266"/>
              <a:ext cx="1113010" cy="684000"/>
              <a:chOff x="3117850" y="2659357"/>
              <a:chExt cx="1113010" cy="684000"/>
            </a:xfrm>
          </p:grpSpPr>
          <p:pic>
            <p:nvPicPr>
              <p:cNvPr id="9" name="object 10">
                <a:extLst>
                  <a:ext uri="{FF2B5EF4-FFF2-40B4-BE49-F238E27FC236}">
                    <a16:creationId xmlns:a16="http://schemas.microsoft.com/office/drawing/2014/main" id="{96F4CA46-016A-4A4A-D7A9-BB0AD2137AAD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10" name="object 10">
                <a:extLst>
                  <a:ext uri="{FF2B5EF4-FFF2-40B4-BE49-F238E27FC236}">
                    <a16:creationId xmlns:a16="http://schemas.microsoft.com/office/drawing/2014/main" id="{73D0768D-76BA-0C17-37C3-4306316DE19F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8D3AAAC-924D-2E08-3F08-2FBEC9E4EDC1}"/>
                </a:ext>
              </a:extLst>
            </p:cNvPr>
            <p:cNvGrpSpPr/>
            <p:nvPr/>
          </p:nvGrpSpPr>
          <p:grpSpPr>
            <a:xfrm rot="10800000">
              <a:off x="16468044" y="7889792"/>
              <a:ext cx="1113010" cy="684000"/>
              <a:chOff x="3117850" y="2659357"/>
              <a:chExt cx="1113010" cy="684000"/>
            </a:xfrm>
          </p:grpSpPr>
          <p:pic>
            <p:nvPicPr>
              <p:cNvPr id="7" name="object 10">
                <a:extLst>
                  <a:ext uri="{FF2B5EF4-FFF2-40B4-BE49-F238E27FC236}">
                    <a16:creationId xmlns:a16="http://schemas.microsoft.com/office/drawing/2014/main" id="{49008B3A-3CD4-5144-57BC-BC850EC74CB5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8" name="object 10">
                <a:extLst>
                  <a:ext uri="{FF2B5EF4-FFF2-40B4-BE49-F238E27FC236}">
                    <a16:creationId xmlns:a16="http://schemas.microsoft.com/office/drawing/2014/main" id="{AA2A24D8-7CD5-2334-B6D3-4C84B1D9CEE4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23DCB-56B2-0700-16EE-D45981DA30F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6768919"/>
            <a:ext cx="17293152" cy="4448356"/>
            <a:chOff x="2432050" y="2478758"/>
            <a:chExt cx="15308802" cy="3937917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0CEF03E-A728-A527-B2E8-FAC006662993}"/>
                </a:ext>
              </a:extLst>
            </p:cNvPr>
            <p:cNvSpPr/>
            <p:nvPr/>
          </p:nvSpPr>
          <p:spPr>
            <a:xfrm>
              <a:off x="2432050" y="2811758"/>
              <a:ext cx="15308802" cy="3339117"/>
            </a:xfrm>
            <a:prstGeom prst="roundRect">
              <a:avLst/>
            </a:prstGeom>
            <a:gradFill flip="none" rotWithShape="1">
              <a:gsLst>
                <a:gs pos="7000">
                  <a:srgbClr val="161346"/>
                </a:gs>
                <a:gs pos="69000">
                  <a:srgbClr val="392569"/>
                </a:gs>
                <a:gs pos="99000">
                  <a:srgbClr val="653B93"/>
                </a:gs>
              </a:gsLst>
              <a:lin ang="108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object 16">
              <a:extLst>
                <a:ext uri="{FF2B5EF4-FFF2-40B4-BE49-F238E27FC236}">
                  <a16:creationId xmlns:a16="http://schemas.microsoft.com/office/drawing/2014/main" id="{B3CFF4FB-E36B-1EA1-B4E9-8FF0EC3C20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9250" y="2478758"/>
              <a:ext cx="1082250" cy="666000"/>
            </a:xfrm>
            <a:custGeom>
              <a:avLst/>
              <a:gdLst/>
              <a:ahLst/>
              <a:cxnLst/>
              <a:rect l="l" t="t" r="r" b="b"/>
              <a:pathLst>
                <a:path w="487044" h="299720">
                  <a:moveTo>
                    <a:pt x="220649" y="109423"/>
                  </a:moveTo>
                  <a:lnTo>
                    <a:pt x="211632" y="66548"/>
                  </a:lnTo>
                  <a:lnTo>
                    <a:pt x="187693" y="31673"/>
                  </a:lnTo>
                  <a:lnTo>
                    <a:pt x="152438" y="8318"/>
                  </a:lnTo>
                  <a:lnTo>
                    <a:pt x="109423" y="0"/>
                  </a:lnTo>
                  <a:lnTo>
                    <a:pt x="66548" y="9017"/>
                  </a:lnTo>
                  <a:lnTo>
                    <a:pt x="31673" y="32956"/>
                  </a:lnTo>
                  <a:lnTo>
                    <a:pt x="8318" y="68224"/>
                  </a:lnTo>
                  <a:lnTo>
                    <a:pt x="0" y="111239"/>
                  </a:lnTo>
                  <a:lnTo>
                    <a:pt x="368" y="119291"/>
                  </a:lnTo>
                  <a:lnTo>
                    <a:pt x="15646" y="178536"/>
                  </a:lnTo>
                  <a:lnTo>
                    <a:pt x="36449" y="220433"/>
                  </a:lnTo>
                  <a:lnTo>
                    <a:pt x="70332" y="261975"/>
                  </a:lnTo>
                  <a:lnTo>
                    <a:pt x="120472" y="297065"/>
                  </a:lnTo>
                  <a:lnTo>
                    <a:pt x="127469" y="299237"/>
                  </a:lnTo>
                  <a:lnTo>
                    <a:pt x="134632" y="299059"/>
                  </a:lnTo>
                  <a:lnTo>
                    <a:pt x="144462" y="255079"/>
                  </a:lnTo>
                  <a:lnTo>
                    <a:pt x="139217" y="243890"/>
                  </a:lnTo>
                  <a:lnTo>
                    <a:pt x="135013" y="231495"/>
                  </a:lnTo>
                  <a:lnTo>
                    <a:pt x="132664" y="218376"/>
                  </a:lnTo>
                  <a:lnTo>
                    <a:pt x="167817" y="204495"/>
                  </a:lnTo>
                  <a:lnTo>
                    <a:pt x="195783" y="180086"/>
                  </a:lnTo>
                  <a:lnTo>
                    <a:pt x="214198" y="147586"/>
                  </a:lnTo>
                  <a:lnTo>
                    <a:pt x="220649" y="109423"/>
                  </a:lnTo>
                  <a:close/>
                </a:path>
                <a:path w="487044" h="299720">
                  <a:moveTo>
                    <a:pt x="486829" y="110324"/>
                  </a:moveTo>
                  <a:lnTo>
                    <a:pt x="478167" y="67386"/>
                  </a:lnTo>
                  <a:lnTo>
                    <a:pt x="454520" y="32308"/>
                  </a:lnTo>
                  <a:lnTo>
                    <a:pt x="419455" y="8661"/>
                  </a:lnTo>
                  <a:lnTo>
                    <a:pt x="376516" y="0"/>
                  </a:lnTo>
                  <a:lnTo>
                    <a:pt x="333565" y="8661"/>
                  </a:lnTo>
                  <a:lnTo>
                    <a:pt x="298488" y="32308"/>
                  </a:lnTo>
                  <a:lnTo>
                    <a:pt x="274853" y="67386"/>
                  </a:lnTo>
                  <a:lnTo>
                    <a:pt x="266179" y="110324"/>
                  </a:lnTo>
                  <a:lnTo>
                    <a:pt x="266471" y="118376"/>
                  </a:lnTo>
                  <a:lnTo>
                    <a:pt x="281266" y="177749"/>
                  </a:lnTo>
                  <a:lnTo>
                    <a:pt x="301726" y="219811"/>
                  </a:lnTo>
                  <a:lnTo>
                    <a:pt x="335267" y="261632"/>
                  </a:lnTo>
                  <a:lnTo>
                    <a:pt x="385114" y="297141"/>
                  </a:lnTo>
                  <a:lnTo>
                    <a:pt x="392112" y="299364"/>
                  </a:lnTo>
                  <a:lnTo>
                    <a:pt x="399275" y="299250"/>
                  </a:lnTo>
                  <a:lnTo>
                    <a:pt x="409460" y="255346"/>
                  </a:lnTo>
                  <a:lnTo>
                    <a:pt x="404304" y="244119"/>
                  </a:lnTo>
                  <a:lnTo>
                    <a:pt x="400215" y="231698"/>
                  </a:lnTo>
                  <a:lnTo>
                    <a:pt x="397967" y="218567"/>
                  </a:lnTo>
                  <a:lnTo>
                    <a:pt x="433222" y="204965"/>
                  </a:lnTo>
                  <a:lnTo>
                    <a:pt x="461391" y="180797"/>
                  </a:lnTo>
                  <a:lnTo>
                    <a:pt x="480072" y="148437"/>
                  </a:lnTo>
                  <a:lnTo>
                    <a:pt x="486829" y="110324"/>
                  </a:lnTo>
                  <a:close/>
                </a:path>
              </a:pathLst>
            </a:custGeom>
            <a:solidFill>
              <a:srgbClr val="251B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7">
              <a:extLst>
                <a:ext uri="{FF2B5EF4-FFF2-40B4-BE49-F238E27FC236}">
                  <a16:creationId xmlns:a16="http://schemas.microsoft.com/office/drawing/2014/main" id="{FD38801D-612D-53A9-E76A-87F1708446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48050" y="5751986"/>
              <a:ext cx="1080119" cy="664689"/>
            </a:xfrm>
            <a:custGeom>
              <a:avLst/>
              <a:gdLst/>
              <a:ahLst/>
              <a:cxnLst/>
              <a:rect l="l" t="t" r="r" b="b"/>
              <a:pathLst>
                <a:path w="487045" h="299720">
                  <a:moveTo>
                    <a:pt x="220649" y="110337"/>
                  </a:moveTo>
                  <a:lnTo>
                    <a:pt x="211988" y="67398"/>
                  </a:lnTo>
                  <a:lnTo>
                    <a:pt x="188341" y="32321"/>
                  </a:lnTo>
                  <a:lnTo>
                    <a:pt x="153263" y="8674"/>
                  </a:lnTo>
                  <a:lnTo>
                    <a:pt x="110324" y="0"/>
                  </a:lnTo>
                  <a:lnTo>
                    <a:pt x="67373" y="8674"/>
                  </a:lnTo>
                  <a:lnTo>
                    <a:pt x="32308" y="32321"/>
                  </a:lnTo>
                  <a:lnTo>
                    <a:pt x="8674" y="67398"/>
                  </a:lnTo>
                  <a:lnTo>
                    <a:pt x="0" y="110337"/>
                  </a:lnTo>
                  <a:lnTo>
                    <a:pt x="6769" y="148450"/>
                  </a:lnTo>
                  <a:lnTo>
                    <a:pt x="25438" y="180797"/>
                  </a:lnTo>
                  <a:lnTo>
                    <a:pt x="53619" y="204978"/>
                  </a:lnTo>
                  <a:lnTo>
                    <a:pt x="88861" y="218579"/>
                  </a:lnTo>
                  <a:lnTo>
                    <a:pt x="86626" y="231711"/>
                  </a:lnTo>
                  <a:lnTo>
                    <a:pt x="82524" y="244119"/>
                  </a:lnTo>
                  <a:lnTo>
                    <a:pt x="77368" y="255358"/>
                  </a:lnTo>
                  <a:lnTo>
                    <a:pt x="71970" y="264934"/>
                  </a:lnTo>
                  <a:lnTo>
                    <a:pt x="69164" y="271881"/>
                  </a:lnTo>
                  <a:lnTo>
                    <a:pt x="94729" y="299377"/>
                  </a:lnTo>
                  <a:lnTo>
                    <a:pt x="101714" y="297141"/>
                  </a:lnTo>
                  <a:lnTo>
                    <a:pt x="151561" y="261645"/>
                  </a:lnTo>
                  <a:lnTo>
                    <a:pt x="185102" y="219824"/>
                  </a:lnTo>
                  <a:lnTo>
                    <a:pt x="205562" y="177761"/>
                  </a:lnTo>
                  <a:lnTo>
                    <a:pt x="218084" y="133997"/>
                  </a:lnTo>
                  <a:lnTo>
                    <a:pt x="220357" y="118389"/>
                  </a:lnTo>
                  <a:lnTo>
                    <a:pt x="220649" y="110337"/>
                  </a:lnTo>
                  <a:close/>
                </a:path>
                <a:path w="487045" h="299720">
                  <a:moveTo>
                    <a:pt x="486829" y="111239"/>
                  </a:moveTo>
                  <a:lnTo>
                    <a:pt x="478510" y="68224"/>
                  </a:lnTo>
                  <a:lnTo>
                    <a:pt x="455155" y="32969"/>
                  </a:lnTo>
                  <a:lnTo>
                    <a:pt x="420281" y="9029"/>
                  </a:lnTo>
                  <a:lnTo>
                    <a:pt x="377418" y="12"/>
                  </a:lnTo>
                  <a:lnTo>
                    <a:pt x="334403" y="8331"/>
                  </a:lnTo>
                  <a:lnTo>
                    <a:pt x="299135" y="31686"/>
                  </a:lnTo>
                  <a:lnTo>
                    <a:pt x="275209" y="66560"/>
                  </a:lnTo>
                  <a:lnTo>
                    <a:pt x="266179" y="109435"/>
                  </a:lnTo>
                  <a:lnTo>
                    <a:pt x="272630" y="147599"/>
                  </a:lnTo>
                  <a:lnTo>
                    <a:pt x="291045" y="180098"/>
                  </a:lnTo>
                  <a:lnTo>
                    <a:pt x="319024" y="204508"/>
                  </a:lnTo>
                  <a:lnTo>
                    <a:pt x="354164" y="218376"/>
                  </a:lnTo>
                  <a:lnTo>
                    <a:pt x="351815" y="231508"/>
                  </a:lnTo>
                  <a:lnTo>
                    <a:pt x="347611" y="243890"/>
                  </a:lnTo>
                  <a:lnTo>
                    <a:pt x="342366" y="255092"/>
                  </a:lnTo>
                  <a:lnTo>
                    <a:pt x="336880" y="264617"/>
                  </a:lnTo>
                  <a:lnTo>
                    <a:pt x="334010" y="271538"/>
                  </a:lnTo>
                  <a:lnTo>
                    <a:pt x="359359" y="299237"/>
                  </a:lnTo>
                  <a:lnTo>
                    <a:pt x="366369" y="297065"/>
                  </a:lnTo>
                  <a:lnTo>
                    <a:pt x="416509" y="261975"/>
                  </a:lnTo>
                  <a:lnTo>
                    <a:pt x="450392" y="220446"/>
                  </a:lnTo>
                  <a:lnTo>
                    <a:pt x="471182" y="178549"/>
                  </a:lnTo>
                  <a:lnTo>
                    <a:pt x="484073" y="134886"/>
                  </a:lnTo>
                  <a:lnTo>
                    <a:pt x="486473" y="119291"/>
                  </a:lnTo>
                  <a:lnTo>
                    <a:pt x="486829" y="111239"/>
                  </a:lnTo>
                  <a:close/>
                </a:path>
              </a:pathLst>
            </a:custGeom>
            <a:solidFill>
              <a:srgbClr val="673C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42223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2C462808-59C4-0F22-BB9F-CCDF019BB6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33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úvid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CE3253F-773F-42FB-EB13-8F960268D436}"/>
              </a:ext>
            </a:extLst>
          </p:cNvPr>
          <p:cNvSpPr txBox="1">
            <a:spLocks/>
          </p:cNvSpPr>
          <p:nvPr userDrawn="1"/>
        </p:nvSpPr>
        <p:spPr>
          <a:xfrm>
            <a:off x="1382713" y="4918870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 err="1"/>
              <a:t>Esclarecimento</a:t>
            </a:r>
            <a:r>
              <a:rPr lang="en-GB" dirty="0"/>
              <a:t> de </a:t>
            </a:r>
            <a:r>
              <a:rPr lang="en-GB" dirty="0" err="1"/>
              <a:t>dúvidas</a:t>
            </a:r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D50785F-F9BE-8C2E-1CC4-AC143A747D6E}"/>
              </a:ext>
            </a:extLst>
          </p:cNvPr>
          <p:cNvGrpSpPr/>
          <p:nvPr userDrawn="1"/>
        </p:nvGrpSpPr>
        <p:grpSpPr>
          <a:xfrm>
            <a:off x="1382713" y="7788275"/>
            <a:ext cx="2819364" cy="3498604"/>
            <a:chOff x="10661650" y="7173860"/>
            <a:chExt cx="2819364" cy="3498604"/>
          </a:xfrm>
        </p:grpSpPr>
        <p:pic>
          <p:nvPicPr>
            <p:cNvPr id="2052" name="Picture 4" descr="Thinking Bubble, Thought, Creative Free PNG">
              <a:extLst>
                <a:ext uri="{FF2B5EF4-FFF2-40B4-BE49-F238E27FC236}">
                  <a16:creationId xmlns:a16="http://schemas.microsoft.com/office/drawing/2014/main" id="{6C240295-4B5D-5F2D-2499-C58A304CF1F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463873">
              <a:off x="12338014" y="7173860"/>
              <a:ext cx="1143000" cy="12095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object 49">
              <a:extLst>
                <a:ext uri="{FF2B5EF4-FFF2-40B4-BE49-F238E27FC236}">
                  <a16:creationId xmlns:a16="http://schemas.microsoft.com/office/drawing/2014/main" id="{3BF697C5-C66F-8CDC-DA2C-04341361A8CF}"/>
                </a:ext>
              </a:extLst>
            </p:cNvPr>
            <p:cNvPicPr/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10661650" y="8093075"/>
              <a:ext cx="2134792" cy="2579389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D1189C-F066-647C-9B72-285F8BC82E36}"/>
                </a:ext>
              </a:extLst>
            </p:cNvPr>
            <p:cNvSpPr txBox="1"/>
            <p:nvPr userDrawn="1"/>
          </p:nvSpPr>
          <p:spPr>
            <a:xfrm>
              <a:off x="12719050" y="7323634"/>
              <a:ext cx="4572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4000" b="1" i="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9586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1F273-D823-AE26-1462-3E538D7D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83DB76-D669-AFBE-4517-FAECCDB7E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08179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9" r:id="rId2"/>
    <p:sldLayoutId id="2147483682" r:id="rId3"/>
    <p:sldLayoutId id="2147483683" r:id="rId4"/>
    <p:sldLayoutId id="2147483684" r:id="rId5"/>
    <p:sldLayoutId id="2147483688" r:id="rId6"/>
    <p:sldLayoutId id="2147483687" r:id="rId7"/>
    <p:sldLayoutId id="2147483689" r:id="rId8"/>
    <p:sldLayoutId id="2147483690" r:id="rId9"/>
    <p:sldLayoutId id="214748369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PT" sz="7400" b="1" i="0" kern="1200" dirty="0">
          <a:solidFill>
            <a:srgbClr val="251B55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lang="en-PT" sz="2800" kern="1200" spc="-10" dirty="0" smtClean="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515B-A057-7374-4463-2EFD066F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dirty="0"/>
              <a:t>A criação de soluções, com base nos problemas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B419-C206-2CAA-7F36-14E774E4B75C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pt-PT" dirty="0"/>
              <a:t>Capítulo #5 – Sessão prática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E78AC-9731-A805-E836-E847F667B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3902075"/>
            <a:ext cx="17338675" cy="6805612"/>
          </a:xfrm>
        </p:spPr>
        <p:txBody>
          <a:bodyPr/>
          <a:lstStyle/>
          <a:p>
            <a:r>
              <a:rPr lang="pt-PT" dirty="0"/>
              <a:t>Atividade: Os efeitos da inflação – Uma atividade de leilão</a:t>
            </a:r>
          </a:p>
          <a:p>
            <a:r>
              <a:rPr lang="pt-PT" dirty="0"/>
              <a:t>Atividade: Consequências do Sistema Fiduciário</a:t>
            </a:r>
          </a:p>
          <a:p>
            <a:r>
              <a:rPr lang="pt-PT" dirty="0"/>
              <a:t>Esclarecimento de dúvidas</a:t>
            </a:r>
          </a:p>
        </p:txBody>
      </p:sp>
    </p:spTree>
    <p:extLst>
      <p:ext uri="{BB962C8B-B14F-4D97-AF65-F5344CB8AC3E}">
        <p14:creationId xmlns:p14="http://schemas.microsoft.com/office/powerpoint/2010/main" val="2252863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DE38B-0E25-CEBD-8927-1C9CA775C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BCCF-EA96-EBF1-28E2-5E3BA85F7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Atividade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CB45356-FAB9-1A3C-DB21-2D8DD7BCD72D}"/>
              </a:ext>
            </a:extLst>
          </p:cNvPr>
          <p:cNvSpPr txBox="1">
            <a:spLocks/>
          </p:cNvSpPr>
          <p:nvPr/>
        </p:nvSpPr>
        <p:spPr>
          <a:xfrm>
            <a:off x="1441450" y="22256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2800" kern="1200" spc="-10" dirty="0" smtClean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pt-PT" b="1" dirty="0"/>
              <a:t>Os efeitos da inflação – uma atividade de leilão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PT" b="1" dirty="0"/>
              <a:t>Objetivo:</a:t>
            </a:r>
            <a:r>
              <a:rPr lang="pt-PT" dirty="0"/>
              <a:t> Compreender o conceito de inflação e como o mesmo afeta os preços dos bens e serviços numa economia.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GB" b="1" dirty="0" err="1"/>
              <a:t>Definições</a:t>
            </a:r>
            <a:r>
              <a:rPr lang="en-GB" b="1" dirty="0"/>
              <a:t>: </a:t>
            </a:r>
            <a:endParaRPr lang="en-GB" dirty="0"/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endParaRPr lang="pt-PT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F6B793A-63AD-2E64-46D7-8C4379137228}"/>
              </a:ext>
            </a:extLst>
          </p:cNvPr>
          <p:cNvSpPr/>
          <p:nvPr/>
        </p:nvSpPr>
        <p:spPr>
          <a:xfrm>
            <a:off x="8815389" y="5365750"/>
            <a:ext cx="9905999" cy="5434011"/>
          </a:xfrm>
          <a:prstGeom prst="roundRect">
            <a:avLst>
              <a:gd name="adj" fmla="val 8003"/>
            </a:avLst>
          </a:prstGeom>
          <a:gradFill flip="none" rotWithShape="1">
            <a:gsLst>
              <a:gs pos="64000">
                <a:srgbClr val="E4E0FD"/>
              </a:gs>
              <a:gs pos="22000">
                <a:srgbClr val="F1EEFE"/>
              </a:gs>
              <a:gs pos="0">
                <a:srgbClr val="FEFEFF"/>
              </a:gs>
            </a:gsLst>
            <a:lin ang="16200000" scaled="1"/>
            <a:tileRect/>
          </a:gradFill>
          <a:ln w="12700">
            <a:solidFill>
              <a:srgbClr val="613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0" bIns="36000" rtlCol="0" anchor="ctr"/>
          <a:lstStyle/>
          <a:p>
            <a:pPr algn="just">
              <a:lnSpc>
                <a:spcPct val="130000"/>
              </a:lnSpc>
            </a:pPr>
            <a:r>
              <a:rPr lang="pt-PT" sz="3000" b="1" dirty="0">
                <a:solidFill>
                  <a:srgbClr val="FBB040"/>
                </a:solidFill>
              </a:rPr>
              <a:t>Massa monetária </a:t>
            </a:r>
            <a:r>
              <a:rPr lang="pt-PT" sz="3000" dirty="0">
                <a:solidFill>
                  <a:srgbClr val="58595B"/>
                </a:solidFill>
              </a:rPr>
              <a:t>é a quantia total em circulação numa economia, num determinado momento.</a:t>
            </a:r>
            <a:br>
              <a:rPr lang="pt-PT" sz="3000" dirty="0">
                <a:solidFill>
                  <a:srgbClr val="58595B"/>
                </a:solidFill>
              </a:rPr>
            </a:br>
            <a:r>
              <a:rPr lang="pt-PT" sz="3000" dirty="0">
                <a:solidFill>
                  <a:srgbClr val="58595B"/>
                </a:solidFill>
              </a:rPr>
              <a:t>Isto inclui:</a:t>
            </a:r>
          </a:p>
          <a:p>
            <a:pPr marL="4572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pt-PT" sz="3000" dirty="0">
                <a:solidFill>
                  <a:srgbClr val="58595B"/>
                </a:solidFill>
              </a:rPr>
              <a:t>As formas físicas da moeda (moedas e notas)</a:t>
            </a:r>
          </a:p>
          <a:p>
            <a:pPr marL="4572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pt-PT" sz="3000" dirty="0" err="1">
                <a:solidFill>
                  <a:srgbClr val="58595B"/>
                </a:solidFill>
              </a:rPr>
              <a:t>Contas-correntes</a:t>
            </a:r>
            <a:endParaRPr lang="pt-PT" sz="3000" dirty="0">
              <a:solidFill>
                <a:srgbClr val="58595B"/>
              </a:solidFill>
            </a:endParaRPr>
          </a:p>
          <a:p>
            <a:pPr marL="4572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pt-PT" sz="3000" dirty="0">
                <a:solidFill>
                  <a:srgbClr val="58595B"/>
                </a:solidFill>
              </a:rPr>
              <a:t>Contas poupança</a:t>
            </a:r>
          </a:p>
          <a:p>
            <a:pPr marL="4572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pt-PT" sz="3000" dirty="0">
                <a:solidFill>
                  <a:srgbClr val="58595B"/>
                </a:solidFill>
              </a:rPr>
              <a:t>Contas no Mercado Monetário</a:t>
            </a:r>
          </a:p>
          <a:p>
            <a:pPr marL="4572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pt-PT" sz="3000" dirty="0">
                <a:solidFill>
                  <a:srgbClr val="58595B"/>
                </a:solidFill>
              </a:rPr>
              <a:t>Pequenos depósitos a prazo (inferiores a 100 000 €)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787FC99-2A00-44D1-CD65-7B9CBEECB0DD}"/>
              </a:ext>
            </a:extLst>
          </p:cNvPr>
          <p:cNvSpPr/>
          <p:nvPr/>
        </p:nvSpPr>
        <p:spPr>
          <a:xfrm>
            <a:off x="1441450" y="6111875"/>
            <a:ext cx="6823075" cy="2743200"/>
          </a:xfrm>
          <a:prstGeom prst="roundRect">
            <a:avLst>
              <a:gd name="adj" fmla="val 8003"/>
            </a:avLst>
          </a:prstGeom>
          <a:gradFill flip="none" rotWithShape="1">
            <a:gsLst>
              <a:gs pos="64000">
                <a:srgbClr val="E4E0FD"/>
              </a:gs>
              <a:gs pos="22000">
                <a:srgbClr val="F1EEFE"/>
              </a:gs>
              <a:gs pos="0">
                <a:srgbClr val="FEFEFF"/>
              </a:gs>
            </a:gsLst>
            <a:lin ang="16200000" scaled="1"/>
            <a:tileRect/>
          </a:gradFill>
          <a:ln w="12700">
            <a:solidFill>
              <a:srgbClr val="613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0" bIns="36000" rtlCol="0" anchor="ctr"/>
          <a:lstStyle/>
          <a:p>
            <a:pPr algn="just">
              <a:lnSpc>
                <a:spcPct val="130000"/>
              </a:lnSpc>
            </a:pPr>
            <a:r>
              <a:rPr lang="pt-PT" sz="3000" b="1" dirty="0">
                <a:solidFill>
                  <a:srgbClr val="FBB040"/>
                </a:solidFill>
              </a:rPr>
              <a:t>Leilão</a:t>
            </a:r>
            <a:r>
              <a:rPr lang="pt-PT" sz="3000" b="1" dirty="0">
                <a:solidFill>
                  <a:srgbClr val="58595B"/>
                </a:solidFill>
              </a:rPr>
              <a:t> </a:t>
            </a:r>
            <a:r>
              <a:rPr lang="pt-PT" sz="3000" dirty="0">
                <a:solidFill>
                  <a:srgbClr val="58595B"/>
                </a:solidFill>
              </a:rPr>
              <a:t>é uma venda pública, na qual são vendidos bens ou propriedades a quem fizer a melhor oferta.</a:t>
            </a:r>
          </a:p>
        </p:txBody>
      </p:sp>
    </p:spTree>
    <p:extLst>
      <p:ext uri="{BB962C8B-B14F-4D97-AF65-F5344CB8AC3E}">
        <p14:creationId xmlns:p14="http://schemas.microsoft.com/office/powerpoint/2010/main" val="786051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BCC8E-1D1B-2E77-D4CB-E759ABDAC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8123A-188E-00B1-7ABE-53EB79EB2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Atividade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FEB22E5-764F-3AB5-9DDC-598C65B561D3}"/>
              </a:ext>
            </a:extLst>
          </p:cNvPr>
          <p:cNvSpPr txBox="1">
            <a:spLocks/>
          </p:cNvSpPr>
          <p:nvPr/>
        </p:nvSpPr>
        <p:spPr>
          <a:xfrm>
            <a:off x="1441450" y="22256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2800" kern="1200" spc="-10" dirty="0" smtClean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en-GB" b="1" dirty="0"/>
              <a:t>Ronda 1</a:t>
            </a:r>
            <a:endParaRPr lang="en-GB" dirty="0"/>
          </a:p>
          <a:p>
            <a:pPr marL="592138" indent="-592138">
              <a:spcAft>
                <a:spcPts val="1200"/>
              </a:spcAft>
              <a:buSzPct val="125000"/>
              <a:buBlip>
                <a:blip r:embed="rId2"/>
              </a:buBlip>
            </a:pPr>
            <a:r>
              <a:rPr lang="pt-PT" sz="3000" dirty="0"/>
              <a:t>Uma determinada quantia em dinheiro vai ser distribuída, de forma aleatória, pelos alunos. Isto representa a massa monetária numa sociedade.</a:t>
            </a:r>
          </a:p>
          <a:p>
            <a:pPr marL="592138" indent="-592138">
              <a:spcAft>
                <a:spcPts val="1200"/>
              </a:spcAft>
              <a:buSzPct val="125000"/>
              <a:buBlip>
                <a:blip r:embed="rId2"/>
              </a:buBlip>
            </a:pPr>
            <a:r>
              <a:rPr lang="pt-PT" sz="3000" dirty="0"/>
              <a:t>Imagina que está a ser leiloada uma noite num hotel de 5*. Para ganhares, terás de fazer a melhor oferta com o dinheiro que tens disponível.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endParaRPr lang="pt-PT" dirty="0"/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A037E578-6456-71BA-33D2-90C65585C7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1708781"/>
              </p:ext>
            </p:extLst>
          </p:nvPr>
        </p:nvGraphicFramePr>
        <p:xfrm>
          <a:off x="1441450" y="7483475"/>
          <a:ext cx="12098337" cy="23257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779">
                  <a:extLst>
                    <a:ext uri="{9D8B030D-6E8A-4147-A177-3AD203B41FA5}">
                      <a16:colId xmlns:a16="http://schemas.microsoft.com/office/drawing/2014/main" val="2636362406"/>
                    </a:ext>
                  </a:extLst>
                </a:gridCol>
                <a:gridCol w="4032779">
                  <a:extLst>
                    <a:ext uri="{9D8B030D-6E8A-4147-A177-3AD203B41FA5}">
                      <a16:colId xmlns:a16="http://schemas.microsoft.com/office/drawing/2014/main" val="1096987866"/>
                    </a:ext>
                  </a:extLst>
                </a:gridCol>
                <a:gridCol w="4032779">
                  <a:extLst>
                    <a:ext uri="{9D8B030D-6E8A-4147-A177-3AD203B41FA5}">
                      <a16:colId xmlns:a16="http://schemas.microsoft.com/office/drawing/2014/main" val="4218618019"/>
                    </a:ext>
                  </a:extLst>
                </a:gridCol>
              </a:tblGrid>
              <a:tr h="885783"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Ronda</a:t>
                      </a:r>
                    </a:p>
                  </a:txBody>
                  <a:tcPr anchor="ctr">
                    <a:solidFill>
                      <a:srgbClr val="392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Massa monetária</a:t>
                      </a:r>
                    </a:p>
                  </a:txBody>
                  <a:tcPr anchor="ctr">
                    <a:solidFill>
                      <a:srgbClr val="392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Oferta vencedora</a:t>
                      </a:r>
                    </a:p>
                  </a:txBody>
                  <a:tcPr anchor="ctr">
                    <a:solidFill>
                      <a:srgbClr val="392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54637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PT" sz="24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PT" sz="24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332834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PT" sz="24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PT" sz="24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8896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3269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73360-0F0B-A1FF-0964-1D5538F73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F4DD5-1457-85DE-B359-A6CE2DF84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Atividade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5B16CD-C406-FE09-D620-7D15C553E0BB}"/>
              </a:ext>
            </a:extLst>
          </p:cNvPr>
          <p:cNvSpPr txBox="1">
            <a:spLocks/>
          </p:cNvSpPr>
          <p:nvPr/>
        </p:nvSpPr>
        <p:spPr>
          <a:xfrm>
            <a:off x="1441450" y="22256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2800" kern="1200" spc="-10" dirty="0" smtClean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en-GB" b="1" dirty="0"/>
              <a:t>Ronda 2: </a:t>
            </a:r>
            <a:endParaRPr lang="en-GB" dirty="0"/>
          </a:p>
          <a:p>
            <a:pPr marL="592138" indent="-592138">
              <a:spcAft>
                <a:spcPts val="1200"/>
              </a:spcAft>
              <a:buSzPct val="125000"/>
              <a:buBlip>
                <a:blip r:embed="rId2"/>
              </a:buBlip>
            </a:pPr>
            <a:r>
              <a:rPr lang="pt-PT" sz="3000" dirty="0"/>
              <a:t>Agora, vai ser adicionada uma grande quantia de dinheiro à massa monetária. Isto representa um aumento da massa monetária de uma economia.</a:t>
            </a:r>
          </a:p>
          <a:p>
            <a:pPr marL="592138" indent="-592138">
              <a:spcAft>
                <a:spcPts val="1200"/>
              </a:spcAft>
              <a:buSzPct val="125000"/>
              <a:buBlip>
                <a:blip r:embed="rId2"/>
              </a:buBlip>
            </a:pPr>
            <a:r>
              <a:rPr lang="pt-PT" sz="3000" dirty="0"/>
              <a:t>Vai ser leiloada uma segunda noite num hotel de 5*, utilizando o mesmo processo.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9C02124F-6702-C873-85D2-2DFC9196FC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5572616"/>
              </p:ext>
            </p:extLst>
          </p:nvPr>
        </p:nvGraphicFramePr>
        <p:xfrm>
          <a:off x="1441450" y="6795538"/>
          <a:ext cx="12098337" cy="23257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779">
                  <a:extLst>
                    <a:ext uri="{9D8B030D-6E8A-4147-A177-3AD203B41FA5}">
                      <a16:colId xmlns:a16="http://schemas.microsoft.com/office/drawing/2014/main" val="2636362406"/>
                    </a:ext>
                  </a:extLst>
                </a:gridCol>
                <a:gridCol w="4032779">
                  <a:extLst>
                    <a:ext uri="{9D8B030D-6E8A-4147-A177-3AD203B41FA5}">
                      <a16:colId xmlns:a16="http://schemas.microsoft.com/office/drawing/2014/main" val="1096987866"/>
                    </a:ext>
                  </a:extLst>
                </a:gridCol>
                <a:gridCol w="4032779">
                  <a:extLst>
                    <a:ext uri="{9D8B030D-6E8A-4147-A177-3AD203B41FA5}">
                      <a16:colId xmlns:a16="http://schemas.microsoft.com/office/drawing/2014/main" val="4218618019"/>
                    </a:ext>
                  </a:extLst>
                </a:gridCol>
              </a:tblGrid>
              <a:tr h="885783"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Ronda</a:t>
                      </a:r>
                    </a:p>
                  </a:txBody>
                  <a:tcPr anchor="ctr">
                    <a:solidFill>
                      <a:srgbClr val="392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Massa monetária</a:t>
                      </a:r>
                    </a:p>
                  </a:txBody>
                  <a:tcPr anchor="ctr">
                    <a:solidFill>
                      <a:srgbClr val="392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Oferta vencedora</a:t>
                      </a:r>
                    </a:p>
                  </a:txBody>
                  <a:tcPr anchor="ctr">
                    <a:solidFill>
                      <a:srgbClr val="392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54637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PT" sz="24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PT" sz="24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332834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PT" sz="24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PT" sz="24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8896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007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6E22A-22B3-715F-190F-892696F2F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6260C93-312B-416C-16B5-0B547EBC4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2301875"/>
            <a:ext cx="17352000" cy="8405811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PT" b="1" dirty="0"/>
              <a:t>Após a realização da atividade, responde às seguintes questões: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926376-9014-DE03-FA86-89F0235D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Atividade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CD891C-CFDE-03F6-2976-A399A1563AF1}"/>
              </a:ext>
            </a:extLst>
          </p:cNvPr>
          <p:cNvSpPr txBox="1"/>
          <p:nvPr/>
        </p:nvSpPr>
        <p:spPr>
          <a:xfrm>
            <a:off x="1365250" y="3368675"/>
            <a:ext cx="17338675" cy="711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 que forma é que o aumento da massa monetária afetou as ofertas vencedoras?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C76061-B666-1CCB-8B89-97DDAF68064A}"/>
              </a:ext>
            </a:extLst>
          </p:cNvPr>
          <p:cNvSpPr txBox="1"/>
          <p:nvPr/>
        </p:nvSpPr>
        <p:spPr>
          <a:xfrm>
            <a:off x="1365250" y="4321271"/>
            <a:ext cx="17338675" cy="71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Qual é a relação entre o aumento da massa monetária e o aumento dos preços?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EA07F1-81CA-2D57-A5B8-6A4545331D9E}"/>
              </a:ext>
            </a:extLst>
          </p:cNvPr>
          <p:cNvSpPr txBox="1"/>
          <p:nvPr/>
        </p:nvSpPr>
        <p:spPr>
          <a:xfrm>
            <a:off x="1382712" y="5273803"/>
            <a:ext cx="17338675" cy="71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Que importância tem a massa monetária na vida real?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F2900D-AF93-4940-A324-BD8636A94B26}"/>
              </a:ext>
            </a:extLst>
          </p:cNvPr>
          <p:cNvSpPr txBox="1"/>
          <p:nvPr/>
        </p:nvSpPr>
        <p:spPr>
          <a:xfrm>
            <a:off x="1382712" y="6226335"/>
            <a:ext cx="17338675" cy="1403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Quando se injeta mais dinheiro na economia, o que achas que acontece aos preços dos bens e serviços?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85D9DC-D2B0-3418-6514-503388263723}"/>
              </a:ext>
            </a:extLst>
          </p:cNvPr>
          <p:cNvSpPr txBox="1"/>
          <p:nvPr/>
        </p:nvSpPr>
        <p:spPr>
          <a:xfrm>
            <a:off x="1358899" y="8823896"/>
            <a:ext cx="17338675" cy="1403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longo prazo, que impacto terão essas alterações de preços nos cidadãos de uma sociedade?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E0519B-1D3F-A176-A468-9CCB147E6AEE}"/>
              </a:ext>
            </a:extLst>
          </p:cNvPr>
          <p:cNvSpPr txBox="1"/>
          <p:nvPr/>
        </p:nvSpPr>
        <p:spPr>
          <a:xfrm>
            <a:off x="1365249" y="7871364"/>
            <a:ext cx="17338675" cy="71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Será essa alteração nos preços temporária ou permanente? Porquê?</a:t>
            </a:r>
          </a:p>
        </p:txBody>
      </p:sp>
    </p:spTree>
    <p:extLst>
      <p:ext uri="{BB962C8B-B14F-4D97-AF65-F5344CB8AC3E}">
        <p14:creationId xmlns:p14="http://schemas.microsoft.com/office/powerpoint/2010/main" val="958362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1D596-D745-F630-8508-D0062771F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88CB8-F9C0-501B-93FB-B695066A6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Atividade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AFA1A5E-5CA4-FD43-8952-CC22D45E5F07}"/>
              </a:ext>
            </a:extLst>
          </p:cNvPr>
          <p:cNvSpPr txBox="1">
            <a:spLocks/>
          </p:cNvSpPr>
          <p:nvPr/>
        </p:nvSpPr>
        <p:spPr>
          <a:xfrm>
            <a:off x="1441450" y="22256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2800" kern="1200" spc="-10" dirty="0" smtClean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pt-PT" b="1" dirty="0"/>
              <a:t>Consequências do Sistema Fiduciário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021280-D86E-FF76-78F7-4F93A05577A3}"/>
              </a:ext>
            </a:extLst>
          </p:cNvPr>
          <p:cNvSpPr txBox="1"/>
          <p:nvPr/>
        </p:nvSpPr>
        <p:spPr>
          <a:xfrm>
            <a:off x="1365250" y="3460638"/>
            <a:ext cx="17338675" cy="1403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Existem outras consequências para os indivíduos e sociedade em geral, resultantes do sistema fiduciário?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680A7-8D28-2A97-FEE8-FC97E20638F0}"/>
              </a:ext>
            </a:extLst>
          </p:cNvPr>
          <p:cNvSpPr txBox="1"/>
          <p:nvPr/>
        </p:nvSpPr>
        <p:spPr>
          <a:xfrm>
            <a:off x="1365250" y="5318014"/>
            <a:ext cx="17338675" cy="1403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Quais são as consequências do sistema fiduciário no teu país? O que aconteceu ao longo da História, e como é que esses acontecimentos afetaram as pessoas do teu país?</a:t>
            </a:r>
          </a:p>
        </p:txBody>
      </p:sp>
    </p:spTree>
    <p:extLst>
      <p:ext uri="{BB962C8B-B14F-4D97-AF65-F5344CB8AC3E}">
        <p14:creationId xmlns:p14="http://schemas.microsoft.com/office/powerpoint/2010/main" val="227857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218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5C804049-FBAA-4F11-AD08-1A3A749D7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178460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1582</TotalTime>
  <Words>406</Words>
  <Application>Microsoft Macintosh PowerPoint</Application>
  <PresentationFormat>Custom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Open Sans</vt:lpstr>
      <vt:lpstr>Open Sans Light</vt:lpstr>
      <vt:lpstr>Ubuntu Light</vt:lpstr>
      <vt:lpstr>1_Custom Design</vt:lpstr>
      <vt:lpstr>A criação de soluções, com base nos problemas</vt:lpstr>
      <vt:lpstr>Atividade</vt:lpstr>
      <vt:lpstr>Atividade</vt:lpstr>
      <vt:lpstr>Atividade</vt:lpstr>
      <vt:lpstr>Atividade</vt:lpstr>
      <vt:lpstr>Atividade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</dc:title>
  <dc:creator>z2020</dc:creator>
  <cp:lastModifiedBy>INES RAMALHETE SALVADO PAZ LOURO</cp:lastModifiedBy>
  <cp:revision>147</cp:revision>
  <dcterms:created xsi:type="dcterms:W3CDTF">2024-11-12T03:26:48Z</dcterms:created>
  <dcterms:modified xsi:type="dcterms:W3CDTF">2025-10-29T11:17:14Z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2024-11-12T00:00:00Z</vt:filetime>
  </property>
  <property fmtid="{D5CDD505-2E9C-101B-9397-08002B2CF9AE}" pid="3" name="Creator">
    <vt:lpwstr>Adobe Illustrator 29.0 (Windows)</vt:lpwstr>
  </property>
  <property fmtid="{D5CDD505-2E9C-101B-9397-08002B2CF9AE}" pid="4" name="LastSaved">
    <vt:filetime>2024-11-12T00:00:00Z</vt:filetime>
  </property>
  <property fmtid="{D5CDD505-2E9C-101B-9397-08002B2CF9AE}" pid="5" name="Producer">
    <vt:lpwstr>Adobe PDF library 17.00</vt:lpwstr>
  </property>
</Properties>
</file>