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notesMasterIdLst>
    <p:notesMasterId r:id="rId18"/>
  </p:notesMasterIdLst>
  <p:sldIdLst>
    <p:sldId id="260" r:id="rId2"/>
    <p:sldId id="265" r:id="rId3"/>
    <p:sldId id="269" r:id="rId4"/>
    <p:sldId id="280" r:id="rId5"/>
    <p:sldId id="281" r:id="rId6"/>
    <p:sldId id="283" r:id="rId7"/>
    <p:sldId id="285" r:id="rId8"/>
    <p:sldId id="287" r:id="rId9"/>
    <p:sldId id="289" r:id="rId10"/>
    <p:sldId id="270" r:id="rId11"/>
    <p:sldId id="291" r:id="rId12"/>
    <p:sldId id="292" r:id="rId13"/>
    <p:sldId id="293" r:id="rId14"/>
    <p:sldId id="294" r:id="rId15"/>
    <p:sldId id="295" r:id="rId16"/>
    <p:sldId id="268" r:id="rId17"/>
  </p:sldIdLst>
  <p:sldSz cx="20104100" cy="11309350"/>
  <p:notesSz cx="1130935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B040"/>
    <a:srgbClr val="392569"/>
    <a:srgbClr val="58595B"/>
    <a:srgbClr val="0051FF"/>
    <a:srgbClr val="E4E0FD"/>
    <a:srgbClr val="FF9415"/>
    <a:srgbClr val="161346"/>
    <a:srgbClr val="0C4C24"/>
    <a:srgbClr val="653B93"/>
    <a:srgbClr val="FE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50"/>
    <p:restoredTop sz="62638"/>
  </p:normalViewPr>
  <p:slideViewPr>
    <p:cSldViewPr>
      <p:cViewPr varScale="1">
        <p:scale>
          <a:sx n="39" d="100"/>
          <a:sy n="39" d="100"/>
        </p:scale>
        <p:origin x="2520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900956" cy="10074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405715" y="0"/>
            <a:ext cx="4900956" cy="10074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06190-753F-B441-B6BD-4CD1B6C676A4}" type="datetimeFigureOut">
              <a:rPr lang="en-PT" smtClean="0"/>
              <a:t>09/11/2025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73063" y="2514600"/>
            <a:ext cx="12055476" cy="6783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9096639"/>
            <a:ext cx="4900956" cy="10074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05715" y="19096639"/>
            <a:ext cx="4900956" cy="10074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BDFA0-B2CB-F643-A7D4-44C1F02A8D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076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62472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60EA7-420F-5F78-CD9E-446F9FE0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11986-C451-67B5-D4BE-4FE866893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C3760-BFD9-5EB4-E463-3717A1771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A4256-1EFC-BC17-DE54-D31B95DEA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2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96947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3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757156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4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154826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40E4B-5F57-8DE0-3E12-312EEAB6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E263F4-0328-114E-CA44-82632A211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269331-2E7A-7E49-4D7C-54FF110E4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719B6-5672-DC22-8FB6-01146B0926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5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9944262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6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329792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PT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7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0486900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8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347853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9D736-65C1-C0D2-8EE0-11D9B7F36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61544-C57C-D873-9115-649321D445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61BF0F-83AA-95B5-23AB-9E31C00F4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432E0-371D-388C-59FC-5C984AE01D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9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4145428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sz="1200" b="0" i="0" spc="10" dirty="0">
              <a:solidFill>
                <a:srgbClr val="241B54"/>
              </a:solidFill>
              <a:latin typeface="Open Sans"/>
              <a:cs typeface="Open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10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20972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11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4203069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12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057742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PT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13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6077766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14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3706877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15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916600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PT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16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781776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8989FBFA-0A59-F895-70E1-7D2A78E89463}"/>
              </a:ext>
            </a:extLst>
          </p:cNvPr>
          <p:cNvSpPr txBox="1"/>
          <p:nvPr userDrawn="1"/>
        </p:nvSpPr>
        <p:spPr>
          <a:xfrm>
            <a:off x="15919450" y="10284003"/>
            <a:ext cx="2790723" cy="414857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algn="r">
              <a:spcBef>
                <a:spcPts val="595"/>
              </a:spcBef>
            </a:pPr>
            <a:r>
              <a:rPr lang="pt-PT" sz="2200" b="1" i="1" dirty="0">
                <a:solidFill>
                  <a:srgbClr val="FFFFFF"/>
                </a:solidFill>
                <a:latin typeface="Open Sans"/>
                <a:cs typeface="Open Sans"/>
              </a:rPr>
              <a:t>2025</a:t>
            </a:r>
            <a:endParaRPr sz="1650" dirty="0">
              <a:latin typeface="Open Sans Light"/>
              <a:cs typeface="Open Sans Light"/>
            </a:endParaRP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614F2C05-B827-E769-869E-A3BF56A914E1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7461636" y="9540875"/>
            <a:ext cx="1273721" cy="67879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B713F4C0-5C97-2B8D-A32C-F4822661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548" y="1642219"/>
            <a:ext cx="17338675" cy="1463700"/>
          </a:xfrm>
        </p:spPr>
        <p:txBody>
          <a:bodyPr anchor="t">
            <a:normAutofit/>
          </a:bodyPr>
          <a:lstStyle>
            <a:lvl1pPr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E312E16-9584-D7B3-7B88-21458C9FBAD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383517" y="601663"/>
            <a:ext cx="17313491" cy="9762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lang="en-PT" sz="5800" b="0" i="0" dirty="0">
                <a:solidFill>
                  <a:schemeClr val="bg1"/>
                </a:solidFill>
                <a:latin typeface="Ubuntu Light"/>
                <a:ea typeface="+mj-ea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5B12DCEC-016D-97EA-5E80-9A1084974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368675"/>
            <a:ext cx="17338675" cy="7339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27383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1F7DA-DD75-4AF1-99D3-BACF7C5CA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1025"/>
            <a:ext cx="15078075" cy="3937000"/>
          </a:xfrm>
        </p:spPr>
        <p:txBody>
          <a:bodyPr anchor="b">
            <a:normAutofit/>
          </a:bodyPr>
          <a:lstStyle>
            <a:lvl1pPr algn="ctr"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F8D16-9FCF-612A-CB90-38F6CEA14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425"/>
            <a:ext cx="15078075" cy="27305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en-PT" sz="5800" b="0" i="0" kern="1200" spc="-25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7857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4A01-9D54-73A9-7F54-31626191B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2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02D9D-896F-FB87-A8A7-DC5D858D4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301875"/>
            <a:ext cx="8593137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C2BF4-CC5D-4E9E-838E-93C00EABB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28250" y="2301875"/>
            <a:ext cx="8593138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606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F709-FAF1-2507-082C-24B92C7B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601663"/>
            <a:ext cx="17340263" cy="1472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PT"/>
            </a:lvl1pPr>
          </a:lstStyle>
          <a:p>
            <a:pPr lvl="0"/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E7870-07E7-9960-2FD7-CC65D9768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300" y="2237964"/>
            <a:ext cx="8505825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CD55D-ADCF-8B08-2444-3E6F436EA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300" y="3481865"/>
            <a:ext cx="8505825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58E6B-9046-4406-1246-9D0D85EB3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463" y="2237964"/>
            <a:ext cx="8547100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C1B51-CDD4-A4F7-DA9D-B40D1A381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463" y="3481865"/>
            <a:ext cx="8547100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656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246849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6287BF9-E319-1393-4A5E-804B9FC0B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9964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51E5-DEA9-6BF8-6F9B-EEE66AE7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754063"/>
            <a:ext cx="8439150" cy="1364400"/>
          </a:xfrm>
        </p:spPr>
        <p:txBody>
          <a:bodyPr anchor="ctr">
            <a:noAutofit/>
          </a:bodyPr>
          <a:lstStyle>
            <a:lvl1pPr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653D5-7794-C41A-9DD6-3910C4EAA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052050" y="1628775"/>
            <a:ext cx="8672513" cy="8926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1992960-9DC4-AC57-14E2-FE9C2142B8B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82713" y="2301875"/>
            <a:ext cx="8439151" cy="8253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41064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16938-309D-4211-98D7-1067DBDB07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 err="1"/>
              <a:t>Caixas</a:t>
            </a:r>
            <a:r>
              <a:rPr lang="en-GB" dirty="0"/>
              <a:t> de </a:t>
            </a:r>
            <a:r>
              <a:rPr lang="en-GB" dirty="0" err="1"/>
              <a:t>texto</a:t>
            </a:r>
            <a:endParaRPr lang="en-PT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F8E8CE-5C66-BFF0-8EBA-AFCAC710C6D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2225675"/>
            <a:ext cx="17230977" cy="4600756"/>
            <a:chOff x="2813050" y="4486266"/>
            <a:chExt cx="15308802" cy="408752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7D29E82-B7E4-1BE8-E299-86B33C4D5471}"/>
                </a:ext>
              </a:extLst>
            </p:cNvPr>
            <p:cNvSpPr/>
            <p:nvPr/>
          </p:nvSpPr>
          <p:spPr>
            <a:xfrm>
              <a:off x="2813050" y="4892675"/>
              <a:ext cx="15308802" cy="3339117"/>
            </a:xfrm>
            <a:prstGeom prst="roundRect">
              <a:avLst/>
            </a:prstGeom>
            <a:gradFill flip="none" rotWithShape="1">
              <a:gsLst>
                <a:gs pos="64000">
                  <a:srgbClr val="E4E0FD"/>
                </a:gs>
                <a:gs pos="22000">
                  <a:srgbClr val="F1EEFE"/>
                </a:gs>
                <a:gs pos="0">
                  <a:srgbClr val="FEFEFF"/>
                </a:gs>
              </a:gsLst>
              <a:lin ang="162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A58915-BF8B-865E-2A90-E53EDFD6E0C1}"/>
                </a:ext>
              </a:extLst>
            </p:cNvPr>
            <p:cNvGrpSpPr/>
            <p:nvPr/>
          </p:nvGrpSpPr>
          <p:grpSpPr>
            <a:xfrm>
              <a:off x="3339290" y="4486266"/>
              <a:ext cx="1113010" cy="684000"/>
              <a:chOff x="3117850" y="2659357"/>
              <a:chExt cx="1113010" cy="684000"/>
            </a:xfrm>
          </p:grpSpPr>
          <p:pic>
            <p:nvPicPr>
              <p:cNvPr id="9" name="object 10">
                <a:extLst>
                  <a:ext uri="{FF2B5EF4-FFF2-40B4-BE49-F238E27FC236}">
                    <a16:creationId xmlns:a16="http://schemas.microsoft.com/office/drawing/2014/main" id="{96F4CA46-016A-4A4A-D7A9-BB0AD2137AAD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10" name="object 10">
                <a:extLst>
                  <a:ext uri="{FF2B5EF4-FFF2-40B4-BE49-F238E27FC236}">
                    <a16:creationId xmlns:a16="http://schemas.microsoft.com/office/drawing/2014/main" id="{73D0768D-76BA-0C17-37C3-4306316DE19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8D3AAAC-924D-2E08-3F08-2FBEC9E4EDC1}"/>
                </a:ext>
              </a:extLst>
            </p:cNvPr>
            <p:cNvGrpSpPr/>
            <p:nvPr/>
          </p:nvGrpSpPr>
          <p:grpSpPr>
            <a:xfrm rot="10800000">
              <a:off x="16468044" y="7889792"/>
              <a:ext cx="1113010" cy="684000"/>
              <a:chOff x="3117850" y="2659357"/>
              <a:chExt cx="1113010" cy="684000"/>
            </a:xfrm>
          </p:grpSpPr>
          <p:pic>
            <p:nvPicPr>
              <p:cNvPr id="7" name="object 10">
                <a:extLst>
                  <a:ext uri="{FF2B5EF4-FFF2-40B4-BE49-F238E27FC236}">
                    <a16:creationId xmlns:a16="http://schemas.microsoft.com/office/drawing/2014/main" id="{49008B3A-3CD4-5144-57BC-BC850EC74CB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8" name="object 10">
                <a:extLst>
                  <a:ext uri="{FF2B5EF4-FFF2-40B4-BE49-F238E27FC236}">
                    <a16:creationId xmlns:a16="http://schemas.microsoft.com/office/drawing/2014/main" id="{AA2A24D8-7CD5-2334-B6D3-4C84B1D9CEE4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23DCB-56B2-0700-16EE-D45981DA30F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6768919"/>
            <a:ext cx="17293152" cy="4448356"/>
            <a:chOff x="2432050" y="2478758"/>
            <a:chExt cx="15308802" cy="3937917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0CEF03E-A728-A527-B2E8-FAC006662993}"/>
                </a:ext>
              </a:extLst>
            </p:cNvPr>
            <p:cNvSpPr/>
            <p:nvPr/>
          </p:nvSpPr>
          <p:spPr>
            <a:xfrm>
              <a:off x="2432050" y="2811758"/>
              <a:ext cx="15308802" cy="3339117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B3CFF4FB-E36B-1EA1-B4E9-8FF0EC3C20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2478758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7">
              <a:extLst>
                <a:ext uri="{FF2B5EF4-FFF2-40B4-BE49-F238E27FC236}">
                  <a16:creationId xmlns:a16="http://schemas.microsoft.com/office/drawing/2014/main" id="{FD38801D-612D-53A9-E76A-87F1708446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5751986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4222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2C462808-59C4-0F22-BB9F-CCDF019BB6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33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1F273-D823-AE26-1462-3E538D7D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83DB76-D669-AFBE-4517-FAECCDB7E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08179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9" r:id="rId2"/>
    <p:sldLayoutId id="2147483682" r:id="rId3"/>
    <p:sldLayoutId id="2147483683" r:id="rId4"/>
    <p:sldLayoutId id="2147483684" r:id="rId5"/>
    <p:sldLayoutId id="2147483688" r:id="rId6"/>
    <p:sldLayoutId id="2147483687" r:id="rId7"/>
    <p:sldLayoutId id="2147483689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PT" sz="7400" b="1" i="0" kern="1200" dirty="0">
          <a:solidFill>
            <a:srgbClr val="251B55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lang="en-PT" sz="2800" kern="1200" spc="-10" dirty="0" smtClean="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6.png"/><Relationship Id="rId21" Type="http://schemas.openxmlformats.org/officeDocument/2006/relationships/image" Target="../media/image38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515B-A057-7374-4463-2EFD066F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Como usar o bitcoin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B419-C206-2CAA-7F36-14E774E4B75C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pt-PT" dirty="0"/>
              <a:t>Capítulo #7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E78AC-9731-A805-E836-E847F667B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PT" dirty="0"/>
              <a:t>7.0 Introdução</a:t>
            </a:r>
          </a:p>
          <a:p>
            <a:r>
              <a:rPr lang="pt-PT" dirty="0"/>
              <a:t>7.1 Adquirir e transferir bitcoin</a:t>
            </a:r>
          </a:p>
          <a:p>
            <a:r>
              <a:rPr lang="pt-PT" dirty="0"/>
              <a:t>	7.1.1 Ponto a ponto: presencial</a:t>
            </a:r>
          </a:p>
          <a:p>
            <a:r>
              <a:rPr lang="pt-PT" dirty="0"/>
              <a:t>	7.1.2 Ponto a ponto: online</a:t>
            </a:r>
          </a:p>
          <a:p>
            <a:r>
              <a:rPr lang="pt-PT" dirty="0"/>
              <a:t>	7.1.3 Corretoras centralizadas</a:t>
            </a:r>
          </a:p>
          <a:p>
            <a:r>
              <a:rPr lang="pt-PT" dirty="0"/>
              <a:t>7.2 Uma introdução às carteiras Bitcoin</a:t>
            </a:r>
          </a:p>
          <a:p>
            <a:r>
              <a:rPr lang="pt-PT" dirty="0"/>
              <a:t>	7.2.1 Carteiras custodiais e não-custodiais</a:t>
            </a:r>
          </a:p>
          <a:p>
            <a:r>
              <a:rPr lang="pt-PT" dirty="0"/>
              <a:t>	7.2.2 Diferentes tipos de carteiras Bitcoin</a:t>
            </a:r>
          </a:p>
          <a:p>
            <a:r>
              <a:rPr lang="pt-PT" dirty="0"/>
              <a:t>	7.2.3 Código aberto e código fechado</a:t>
            </a:r>
          </a:p>
          <a:p>
            <a:r>
              <a:rPr lang="pt-PT" dirty="0"/>
              <a:t>7.3 Configurar uma carteira móvel de Bitcoin</a:t>
            </a:r>
          </a:p>
          <a:p>
            <a:r>
              <a:rPr lang="pt-PT" dirty="0"/>
              <a:t>7.4 Receber e enviar transações</a:t>
            </a:r>
          </a:p>
          <a:p>
            <a:r>
              <a:rPr lang="pt-PT" dirty="0"/>
              <a:t>7.5 Poupar em bitcoin</a:t>
            </a:r>
          </a:p>
          <a:p>
            <a:r>
              <a:rPr lang="pt-PT" dirty="0"/>
              <a:t>7.6 Não confies, verifica</a:t>
            </a:r>
          </a:p>
        </p:txBody>
      </p:sp>
    </p:spTree>
    <p:extLst>
      <p:ext uri="{BB962C8B-B14F-4D97-AF65-F5344CB8AC3E}">
        <p14:creationId xmlns:p14="http://schemas.microsoft.com/office/powerpoint/2010/main" val="225286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EABA8-AE8B-6BEE-D822-7F7D9737D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773A7-D073-8764-6DA7-76BD2F112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982664"/>
            <a:ext cx="17338675" cy="1471611"/>
          </a:xfrm>
        </p:spPr>
        <p:txBody>
          <a:bodyPr>
            <a:normAutofit/>
          </a:bodyPr>
          <a:lstStyle/>
          <a:p>
            <a:r>
              <a:rPr lang="pt-PT" dirty="0"/>
              <a:t>7.0 Introdução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9220175-B2A3-3536-67F3-D18470555F83}"/>
              </a:ext>
            </a:extLst>
          </p:cNvPr>
          <p:cNvGrpSpPr>
            <a:grpSpLocks noChangeAspect="1"/>
          </p:cNvGrpSpPr>
          <p:nvPr/>
        </p:nvGrpSpPr>
        <p:grpSpPr>
          <a:xfrm>
            <a:off x="1405474" y="4054475"/>
            <a:ext cx="17293152" cy="5073422"/>
            <a:chOff x="2432050" y="2040584"/>
            <a:chExt cx="15308802" cy="449126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D5526D77-5CF8-3113-5CD0-1C8AF5816254}"/>
                </a:ext>
              </a:extLst>
            </p:cNvPr>
            <p:cNvSpPr/>
            <p:nvPr/>
          </p:nvSpPr>
          <p:spPr>
            <a:xfrm>
              <a:off x="2432050" y="2478757"/>
              <a:ext cx="15308802" cy="3658223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3998" rIns="503998" rtlCol="0" anchor="ctr"/>
            <a:lstStyle/>
            <a:p>
              <a:pPr algn="ctr"/>
              <a:r>
                <a:rPr lang="pt-PT" sz="3200" b="1" kern="12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Porque haveria alguém de confiar em “dinheiro de nerds”, em vez do dinheiro do banco central? Foram “nerds” que deram origem à internet. Os bancos deram origem à Grande Depressão.</a:t>
              </a:r>
            </a:p>
            <a:p>
              <a:pPr algn="ctr"/>
              <a:endParaRPr lang="pt-PT" sz="3200" b="1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pt-PT" sz="3200" b="1" kern="1200" dirty="0" err="1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Andreas</a:t>
              </a:r>
              <a:r>
                <a:rPr lang="pt-PT" sz="3200" b="1" kern="1200" dirty="0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M. </a:t>
              </a:r>
              <a:r>
                <a:rPr lang="pt-PT" sz="3200" b="1" kern="1200" dirty="0" err="1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Antonopoulos</a:t>
              </a:r>
              <a:endParaRPr lang="pt-PT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object 16">
              <a:extLst>
                <a:ext uri="{FF2B5EF4-FFF2-40B4-BE49-F238E27FC236}">
                  <a16:creationId xmlns:a16="http://schemas.microsoft.com/office/drawing/2014/main" id="{3D35A605-9D18-B0A9-4919-54D4E80733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2040584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10" name="object 17">
              <a:extLst>
                <a:ext uri="{FF2B5EF4-FFF2-40B4-BE49-F238E27FC236}">
                  <a16:creationId xmlns:a16="http://schemas.microsoft.com/office/drawing/2014/main" id="{33DDD715-BE25-D819-9204-6031D1B739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5867155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</p:grpSp>
    </p:spTree>
    <p:extLst>
      <p:ext uri="{BB962C8B-B14F-4D97-AF65-F5344CB8AC3E}">
        <p14:creationId xmlns:p14="http://schemas.microsoft.com/office/powerpoint/2010/main" val="411953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27" y="0"/>
            <a:ext cx="20099074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pic>
        <p:nvPicPr>
          <p:cNvPr id="1026" name="Picture 2" descr="Cómo utilizar Bitcoin en 2025: Pasos esenciales para principiantes 🚀">
            <a:extLst>
              <a:ext uri="{FF2B5EF4-FFF2-40B4-BE49-F238E27FC236}">
                <a16:creationId xmlns:a16="http://schemas.microsoft.com/office/drawing/2014/main" id="{3DE51DB2-1795-C274-E10B-98C79F610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90"/>
          <a:stretch>
            <a:fillRect/>
          </a:stretch>
        </p:blipFill>
        <p:spPr bwMode="auto">
          <a:xfrm>
            <a:off x="4699013" y="10"/>
            <a:ext cx="15944837" cy="11309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6235" cy="1130935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09B866-9F97-1E6F-C414-EA125B9D9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3825875"/>
            <a:ext cx="7754937" cy="6019800"/>
          </a:xfrm>
        </p:spPr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4"/>
              </a:buBlip>
            </a:pPr>
            <a:r>
              <a:rPr lang="pt-PT" dirty="0"/>
              <a:t>Receber o teu salário em bitcoin</a:t>
            </a:r>
          </a:p>
          <a:p>
            <a:pPr marL="592138" indent="-592138">
              <a:buSzPct val="125000"/>
              <a:buBlip>
                <a:blip r:embed="rId4"/>
              </a:buBlip>
            </a:pPr>
            <a:r>
              <a:rPr lang="pt-PT" dirty="0"/>
              <a:t>Minerar bitcoin</a:t>
            </a:r>
          </a:p>
          <a:p>
            <a:pPr marL="592138" indent="-592138">
              <a:buSzPct val="125000"/>
              <a:buBlip>
                <a:blip r:embed="rId4"/>
              </a:buBlip>
            </a:pPr>
            <a:r>
              <a:rPr lang="pt-PT" dirty="0"/>
              <a:t>Trocar presencialmente moeda fiduciária por bitcoin.</a:t>
            </a:r>
          </a:p>
          <a:p>
            <a:pPr marL="592138" indent="-592138">
              <a:buSzPct val="125000"/>
              <a:buBlip>
                <a:blip r:embed="rId4"/>
              </a:buBlip>
            </a:pPr>
            <a:r>
              <a:rPr lang="pt-PT" dirty="0"/>
              <a:t>Trocar online moeda fiduciária por bitcoin.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459693C-A8B7-779D-00F0-84D2A553E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1470875"/>
            <a:ext cx="8439150" cy="1364400"/>
          </a:xfrm>
        </p:spPr>
        <p:txBody>
          <a:bodyPr>
            <a:normAutofit fontScale="90000"/>
          </a:bodyPr>
          <a:lstStyle/>
          <a:p>
            <a:r>
              <a:rPr lang="pt-PT" dirty="0"/>
              <a:t>7.1 Adquirir e transferir bitcoin</a:t>
            </a:r>
          </a:p>
        </p:txBody>
      </p:sp>
    </p:spTree>
    <p:extLst>
      <p:ext uri="{BB962C8B-B14F-4D97-AF65-F5344CB8AC3E}">
        <p14:creationId xmlns:p14="http://schemas.microsoft.com/office/powerpoint/2010/main" val="149878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CCF94-D573-0DD4-5070-0090E636B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198D7-481A-ACBA-95EE-29FE55798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7.1 Adquirir e transferir bitcoin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3A5C30D-3770-ED2B-37CE-C6F1EC231A91}"/>
              </a:ext>
            </a:extLst>
          </p:cNvPr>
          <p:cNvSpPr/>
          <p:nvPr/>
        </p:nvSpPr>
        <p:spPr>
          <a:xfrm>
            <a:off x="1441450" y="2378075"/>
            <a:ext cx="17279937" cy="1905000"/>
          </a:xfrm>
          <a:prstGeom prst="roundRect">
            <a:avLst>
              <a:gd name="adj" fmla="val 8003"/>
            </a:avLst>
          </a:prstGeom>
          <a:gradFill flip="none" rotWithShape="1">
            <a:gsLst>
              <a:gs pos="64000">
                <a:srgbClr val="E4E0FD"/>
              </a:gs>
              <a:gs pos="22000">
                <a:srgbClr val="F1EEFE"/>
              </a:gs>
              <a:gs pos="0">
                <a:srgbClr val="FEFEFF"/>
              </a:gs>
            </a:gsLst>
            <a:lin ang="16200000" scaled="1"/>
            <a:tileRect/>
          </a:gradFill>
          <a:ln w="12700">
            <a:solidFill>
              <a:srgbClr val="613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0" bIns="36000" rtlCol="0" anchor="ctr"/>
          <a:lstStyle/>
          <a:p>
            <a:pPr algn="just">
              <a:lnSpc>
                <a:spcPct val="130000"/>
              </a:lnSpc>
            </a:pPr>
            <a:r>
              <a:rPr lang="pt-PT" sz="3200" dirty="0">
                <a:solidFill>
                  <a:srgbClr val="58595B"/>
                </a:solidFill>
              </a:rPr>
              <a:t>As </a:t>
            </a:r>
            <a:r>
              <a:rPr lang="pt-PT" sz="3200" b="1" dirty="0">
                <a:solidFill>
                  <a:srgbClr val="FBB040"/>
                </a:solidFill>
              </a:rPr>
              <a:t>transações Ponto a Ponto (P2P) </a:t>
            </a:r>
            <a:r>
              <a:rPr lang="pt-PT" sz="3200" dirty="0">
                <a:solidFill>
                  <a:srgbClr val="58595B"/>
                </a:solidFill>
              </a:rPr>
              <a:t>permitem a compra e venda direta de bitcoin entre pessoas, sem intermediários, oferecendo maior privacidade e liberdade de negociação.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41C878A-C27B-60F6-C16A-DAB646D18202}"/>
              </a:ext>
            </a:extLst>
          </p:cNvPr>
          <p:cNvSpPr txBox="1">
            <a:spLocks/>
          </p:cNvSpPr>
          <p:nvPr/>
        </p:nvSpPr>
        <p:spPr>
          <a:xfrm>
            <a:off x="1384301" y="5121275"/>
            <a:ext cx="7524750" cy="10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lang="en-PT"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b="1" dirty="0">
                <a:solidFill>
                  <a:srgbClr val="251B55"/>
                </a:solidFill>
              </a:rPr>
              <a:t>7.1.1 Ponto a ponto: presencial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0A711D-9B2B-A9DD-18A4-B1E3000EA749}"/>
              </a:ext>
            </a:extLst>
          </p:cNvPr>
          <p:cNvSpPr txBox="1">
            <a:spLocks/>
          </p:cNvSpPr>
          <p:nvPr/>
        </p:nvSpPr>
        <p:spPr>
          <a:xfrm>
            <a:off x="1384301" y="6099586"/>
            <a:ext cx="7524750" cy="2438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lang="en-PT"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92138" indent="-592138">
              <a:buSzPct val="125000"/>
              <a:buFont typeface="Arial" panose="020B0604020202020204" pitchFamily="34" charset="0"/>
              <a:buBlip>
                <a:blip r:embed="rId3"/>
              </a:buBlip>
            </a:pPr>
            <a:r>
              <a:rPr lang="pt-PT" dirty="0"/>
              <a:t>Encontro físico.</a:t>
            </a:r>
          </a:p>
          <a:p>
            <a:pPr marL="592138" indent="-592138">
              <a:buSzPct val="125000"/>
              <a:buFont typeface="Arial" panose="020B0604020202020204" pitchFamily="34" charset="0"/>
              <a:buBlip>
                <a:blip r:embed="rId3"/>
              </a:buBlip>
            </a:pPr>
            <a:r>
              <a:rPr lang="pt-PT" dirty="0"/>
              <a:t>Simples e rápido, mas exige confiança e segurança no encontro.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CDD87B3-2430-3E9E-BDD3-3B6FDE07FBC3}"/>
              </a:ext>
            </a:extLst>
          </p:cNvPr>
          <p:cNvSpPr txBox="1">
            <a:spLocks/>
          </p:cNvSpPr>
          <p:nvPr/>
        </p:nvSpPr>
        <p:spPr>
          <a:xfrm>
            <a:off x="9747250" y="5121275"/>
            <a:ext cx="8977313" cy="108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b="1" dirty="0">
                <a:solidFill>
                  <a:srgbClr val="251B55"/>
                </a:solidFill>
              </a:rPr>
              <a:t>7.1.2 Ponto a ponto: online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3314CEC2-04ED-05D0-4597-2E5CC24BBBC6}"/>
              </a:ext>
            </a:extLst>
          </p:cNvPr>
          <p:cNvSpPr txBox="1">
            <a:spLocks/>
          </p:cNvSpPr>
          <p:nvPr/>
        </p:nvSpPr>
        <p:spPr>
          <a:xfrm>
            <a:off x="9747250" y="6201275"/>
            <a:ext cx="8977313" cy="439411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92138" indent="-592138">
              <a:buSzPct val="125000"/>
              <a:buFont typeface="Arial" panose="020B0604020202020204" pitchFamily="34" charset="0"/>
              <a:buBlip>
                <a:blip r:embed="rId3"/>
              </a:buBlip>
            </a:pPr>
            <a:r>
              <a:rPr lang="pt-PT" dirty="0"/>
              <a:t>Plataformas P2P na internet</a:t>
            </a:r>
          </a:p>
          <a:p>
            <a:pPr marL="592138" indent="-592138">
              <a:buSzPct val="125000"/>
              <a:buFont typeface="Arial" panose="020B0604020202020204" pitchFamily="34" charset="0"/>
              <a:buBlip>
                <a:blip r:embed="rId3"/>
              </a:buBlip>
            </a:pPr>
            <a:r>
              <a:rPr lang="pt-PT" dirty="0"/>
              <a:t>Não é necessário confiar dados ou dinheiro a terceiros.</a:t>
            </a:r>
          </a:p>
          <a:p>
            <a:pPr marL="592138" indent="-592138">
              <a:buSzPct val="125000"/>
              <a:buFont typeface="Arial" panose="020B0604020202020204" pitchFamily="34" charset="0"/>
              <a:buBlip>
                <a:blip r:embed="rId3"/>
              </a:buBlip>
            </a:pPr>
            <a:r>
              <a:rPr lang="pt-PT" dirty="0"/>
              <a:t>Plataformas usam sistemas de garantia.</a:t>
            </a:r>
          </a:p>
          <a:p>
            <a:pPr marL="592138" indent="-592138">
              <a:buSzPct val="125000"/>
              <a:buFont typeface="Arial" panose="020B0604020202020204" pitchFamily="34" charset="0"/>
              <a:buBlip>
                <a:blip r:embed="rId3"/>
              </a:buBlip>
            </a:pPr>
            <a:r>
              <a:rPr lang="pt-PT" dirty="0"/>
              <a:t>Garante segurança e evita fraudes.</a:t>
            </a:r>
          </a:p>
        </p:txBody>
      </p:sp>
    </p:spTree>
    <p:extLst>
      <p:ext uri="{BB962C8B-B14F-4D97-AF65-F5344CB8AC3E}">
        <p14:creationId xmlns:p14="http://schemas.microsoft.com/office/powerpoint/2010/main" val="1603041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75757-B328-F7B1-69C6-E3FB6D337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D75A9-D011-C2F7-83B3-57C050976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7.1 Adquirir e transferir bitcoin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CD313C2-05B0-124D-03BA-9EE41DD130CC}"/>
              </a:ext>
            </a:extLst>
          </p:cNvPr>
          <p:cNvSpPr txBox="1">
            <a:spLocks/>
          </p:cNvSpPr>
          <p:nvPr/>
        </p:nvSpPr>
        <p:spPr>
          <a:xfrm>
            <a:off x="1384301" y="2354264"/>
            <a:ext cx="7524750" cy="10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lang="en-PT"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b="1" dirty="0">
                <a:solidFill>
                  <a:srgbClr val="251B55"/>
                </a:solidFill>
              </a:rPr>
              <a:t>7.1.3 Corretoras centralizadas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FE6FAEBA-8AAA-08EA-6BE1-D3E4F6C5F2F9}"/>
              </a:ext>
            </a:extLst>
          </p:cNvPr>
          <p:cNvSpPr txBox="1">
            <a:spLocks/>
          </p:cNvSpPr>
          <p:nvPr/>
        </p:nvSpPr>
        <p:spPr>
          <a:xfrm>
            <a:off x="1382713" y="3434264"/>
            <a:ext cx="9658350" cy="7503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lang="en-PT"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Forma mais fácil de comprar e vender bitcoin.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Exige verificação de identidade, expondo dados pessoais a riscos.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Controla os teus bitcoins.</a:t>
            </a:r>
          </a:p>
          <a:p>
            <a:pPr marL="592138" lvl="0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Pode usar ou desviar fundos ou até colapsar.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42BC08A-DF3E-9060-4E4C-457956231350}"/>
              </a:ext>
            </a:extLst>
          </p:cNvPr>
          <p:cNvSpPr txBox="1">
            <a:spLocks/>
          </p:cNvSpPr>
          <p:nvPr/>
        </p:nvSpPr>
        <p:spPr>
          <a:xfrm>
            <a:off x="15035215" y="5708650"/>
            <a:ext cx="4397544" cy="1471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000" b="1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ct val="125000"/>
            </a:pPr>
            <a:r>
              <a:rPr lang="pt-PT" sz="2400" spc="10" dirty="0">
                <a:solidFill>
                  <a:srgbClr val="241B54"/>
                </a:solidFill>
                <a:latin typeface="Open Sans"/>
                <a:cs typeface="Open Sans"/>
              </a:rPr>
              <a:t>No Bitcoin, não há resgates nem criação de mais moedas para cobrir perdas.</a:t>
            </a:r>
          </a:p>
        </p:txBody>
      </p:sp>
      <p:pic>
        <p:nvPicPr>
          <p:cNvPr id="18" name="object 11">
            <a:extLst>
              <a:ext uri="{FF2B5EF4-FFF2-40B4-BE49-F238E27FC236}">
                <a16:creationId xmlns:a16="http://schemas.microsoft.com/office/drawing/2014/main" id="{F879E697-A293-DF78-52FF-AD0EE5734898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328650" y="7628152"/>
            <a:ext cx="3905337" cy="368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612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4C51E-A884-5F49-B3AD-41A4BAC54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dirty="0"/>
              <a:t>7.2 Uma introdução às carteiras Bitcoin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499ED-C28A-642E-5920-67D609228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4587" y="4892675"/>
            <a:ext cx="17206800" cy="4583906"/>
          </a:xfrm>
        </p:spPr>
        <p:txBody>
          <a:bodyPr/>
          <a:lstStyle/>
          <a:p>
            <a:pPr marL="0" indent="0">
              <a:buSzPct val="125000"/>
              <a:buNone/>
            </a:pPr>
            <a:r>
              <a:rPr lang="pt-PT" dirty="0"/>
              <a:t>Dois conceitos que utilizamos, quando nos referimos a uma “carteira” bitcoin: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Dispositivo que armazena uma chave mestra privada a partir da qual se pode gerar chaves públicas.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Interface móvel ou de computador, a partir da qual se pode interagir com a rede Bitcoin.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4C53F51-4160-F5E5-F6F3-622BC7FAEC3D}"/>
              </a:ext>
            </a:extLst>
          </p:cNvPr>
          <p:cNvSpPr/>
          <p:nvPr/>
        </p:nvSpPr>
        <p:spPr>
          <a:xfrm>
            <a:off x="1441450" y="2378075"/>
            <a:ext cx="17279937" cy="1905000"/>
          </a:xfrm>
          <a:prstGeom prst="roundRect">
            <a:avLst>
              <a:gd name="adj" fmla="val 8003"/>
            </a:avLst>
          </a:prstGeom>
          <a:gradFill flip="none" rotWithShape="1">
            <a:gsLst>
              <a:gs pos="64000">
                <a:srgbClr val="E4E0FD"/>
              </a:gs>
              <a:gs pos="22000">
                <a:srgbClr val="F1EEFE"/>
              </a:gs>
              <a:gs pos="0">
                <a:srgbClr val="FEFEFF"/>
              </a:gs>
            </a:gsLst>
            <a:lin ang="16200000" scaled="1"/>
            <a:tileRect/>
          </a:gradFill>
          <a:ln w="12700">
            <a:solidFill>
              <a:srgbClr val="613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0" bIns="36000" rtlCol="0" anchor="ctr"/>
          <a:lstStyle/>
          <a:p>
            <a:pPr algn="just">
              <a:lnSpc>
                <a:spcPct val="130000"/>
              </a:lnSpc>
            </a:pPr>
            <a:r>
              <a:rPr lang="pt-PT" sz="3200" dirty="0">
                <a:solidFill>
                  <a:srgbClr val="58595B"/>
                </a:solidFill>
              </a:rPr>
              <a:t>Só se é proprietário de bitcoin quando se tem as chaves privadas que permitem assinar transações e transferir a propriedade desse bitcoin para outra pessoa.</a:t>
            </a:r>
          </a:p>
        </p:txBody>
      </p:sp>
      <p:pic>
        <p:nvPicPr>
          <p:cNvPr id="6" name="Picture 5" descr="A close up of a device&#10;&#10;AI-generated content may be incorrect.">
            <a:extLst>
              <a:ext uri="{FF2B5EF4-FFF2-40B4-BE49-F238E27FC236}">
                <a16:creationId xmlns:a16="http://schemas.microsoft.com/office/drawing/2014/main" id="{9FD4D528-6294-C725-6589-926B833B2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8987" y="8778875"/>
            <a:ext cx="2590800" cy="2590800"/>
          </a:xfrm>
          <a:prstGeom prst="rect">
            <a:avLst/>
          </a:prstGeom>
        </p:spPr>
      </p:pic>
      <p:pic>
        <p:nvPicPr>
          <p:cNvPr id="8196" name="Picture 4" descr="BlueWallet : un portefeuille Bitcoin - h17n">
            <a:extLst>
              <a:ext uri="{FF2B5EF4-FFF2-40B4-BE49-F238E27FC236}">
                <a16:creationId xmlns:a16="http://schemas.microsoft.com/office/drawing/2014/main" id="{5575E78F-7A81-9145-BE7D-55AA271516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833" l="10000" r="90000">
                        <a14:foregroundMark x1="53333" y1="90093" x2="57315" y2="91667"/>
                        <a14:foregroundMark x1="57315" y1="91667" x2="66389" y2="92037"/>
                        <a14:foregroundMark x1="66389" y1="92037" x2="81852" y2="90833"/>
                        <a14:foregroundMark x1="81852" y1="90833" x2="86852" y2="90833"/>
                        <a14:foregroundMark x1="86852" y1="90833" x2="88796" y2="895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021" t="13616" r="8226" b="5320"/>
          <a:stretch>
            <a:fillRect/>
          </a:stretch>
        </p:blipFill>
        <p:spPr bwMode="auto">
          <a:xfrm>
            <a:off x="13849656" y="8474075"/>
            <a:ext cx="2061062" cy="4202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3560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D2B94-135B-1833-AC85-CC8598DE8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6400" dirty="0"/>
              <a:t>7.2.1 Carteiras custodiais e não-custodiais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9DA1-A5B0-7810-6C5A-865891327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Carteiras não-custodiais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04CAA-0762-339C-4F52-D29F029FCA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O utilizador detém as chaves privadas, o bitcoin pertence-lhe por completo.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Total controlo e independência sobre os fundos, sem interferência externa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Total responsabilidade — se a frase de recuperação for perdida, não há forma de recuperar o acesso.</a:t>
            </a:r>
          </a:p>
          <a:p>
            <a:endParaRPr lang="pt-P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5E90E6-8CE1-60BA-FBF8-FBE73608D3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PT" dirty="0"/>
              <a:t>Carteiras custodiais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D6B9B8-8944-D044-334D-57932CEBEFB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O “teu” bitcoin está na posse de terceiros (custódios).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Maior conveniência e suporte em caso de perda de acesso.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Menor segurança — os fundos estão online e sob controlo do custódio, que pode restringir ou congelar contas.</a:t>
            </a:r>
          </a:p>
        </p:txBody>
      </p:sp>
    </p:spTree>
    <p:extLst>
      <p:ext uri="{BB962C8B-B14F-4D97-AF65-F5344CB8AC3E}">
        <p14:creationId xmlns:p14="http://schemas.microsoft.com/office/powerpoint/2010/main" val="1011475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7B126-0B9A-CC30-93B5-5E34D8FC5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 descr="Key Background Graphic by design60 · Creative Fabrica">
            <a:extLst>
              <a:ext uri="{FF2B5EF4-FFF2-40B4-BE49-F238E27FC236}">
                <a16:creationId xmlns:a16="http://schemas.microsoft.com/office/drawing/2014/main" id="{D9C3E8C8-054D-7EF7-0475-E327E05318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9"/>
          <a:stretch>
            <a:fillRect/>
          </a:stretch>
        </p:blipFill>
        <p:spPr bwMode="auto">
          <a:xfrm>
            <a:off x="-36087" y="23433"/>
            <a:ext cx="20140187" cy="11285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F2EC7B-9816-6269-34F7-AEC2BD9D9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6400" dirty="0"/>
              <a:t>7.2.1 Carteiras custodiais e não-custodiais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43792E2-CB4E-0A24-6E16-8ECBA86E7CA0}"/>
              </a:ext>
            </a:extLst>
          </p:cNvPr>
          <p:cNvGrpSpPr/>
          <p:nvPr/>
        </p:nvGrpSpPr>
        <p:grpSpPr>
          <a:xfrm>
            <a:off x="3625044" y="4180778"/>
            <a:ext cx="13437406" cy="3378897"/>
            <a:chOff x="2634445" y="4635474"/>
            <a:chExt cx="13437406" cy="3378897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F9D36553-5BEE-4910-407D-DB3883D58C8E}"/>
                </a:ext>
              </a:extLst>
            </p:cNvPr>
            <p:cNvSpPr txBox="1">
              <a:spLocks/>
            </p:cNvSpPr>
            <p:nvPr/>
          </p:nvSpPr>
          <p:spPr>
            <a:xfrm>
              <a:off x="2634445" y="4635474"/>
              <a:ext cx="13437406" cy="315258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en-PT" sz="7400" b="1" i="0" kern="1200">
                  <a:solidFill>
                    <a:srgbClr val="251B55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pt-PT" sz="8000" i="1" dirty="0">
                  <a:solidFill>
                    <a:srgbClr val="58595B"/>
                  </a:solidFill>
                </a:rPr>
                <a:t>Se as                não são tuas,</a:t>
              </a:r>
              <a:br>
                <a:rPr lang="pt-PT" sz="8000" i="1" dirty="0">
                  <a:solidFill>
                    <a:srgbClr val="58595B"/>
                  </a:solidFill>
                </a:rPr>
              </a:br>
              <a:r>
                <a:rPr lang="pt-PT" sz="8000" i="1" dirty="0">
                  <a:solidFill>
                    <a:srgbClr val="58595B"/>
                  </a:solidFill>
                </a:rPr>
                <a:t>as                 também não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526D53C-DE4F-5786-52FB-C26F80CD360C}"/>
                </a:ext>
              </a:extLst>
            </p:cNvPr>
            <p:cNvSpPr txBox="1"/>
            <p:nvPr/>
          </p:nvSpPr>
          <p:spPr>
            <a:xfrm>
              <a:off x="4032250" y="6690932"/>
              <a:ext cx="3999808" cy="1323439"/>
            </a:xfrm>
            <a:prstGeom prst="rect">
              <a:avLst/>
            </a:prstGeom>
            <a:solidFill>
              <a:srgbClr val="FF9415"/>
            </a:solidFill>
          </p:spPr>
          <p:txBody>
            <a:bodyPr wrap="square" rtlCol="0" anchor="ctr">
              <a:spAutoFit/>
            </a:bodyPr>
            <a:lstStyle>
              <a:defPPr>
                <a:defRPr kern="0"/>
              </a:defPPr>
              <a:lvl1pPr algn="ctr">
                <a:defRPr sz="9600" b="1" i="1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r>
                <a:rPr lang="pt-PT" sz="8000" dirty="0"/>
                <a:t>moedas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D32145-9406-E636-06C2-08F8BE653CF0}"/>
                </a:ext>
              </a:extLst>
            </p:cNvPr>
            <p:cNvSpPr txBox="1"/>
            <p:nvPr/>
          </p:nvSpPr>
          <p:spPr>
            <a:xfrm>
              <a:off x="5568284" y="4816475"/>
              <a:ext cx="3493166" cy="1323439"/>
            </a:xfrm>
            <a:prstGeom prst="rect">
              <a:avLst/>
            </a:prstGeom>
            <a:solidFill>
              <a:srgbClr val="FF9415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PT" sz="8000" b="1" i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chaves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3890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98DC2-5697-C6E6-6837-E97F75E2F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2F373-6217-DF12-F840-DC489DFA2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6500" dirty="0"/>
              <a:t>7.2.2 Diferentes tipos de carteiras Bitcoin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D1DDBB50-99DD-BFE5-C8CD-B8BA933D6043}"/>
              </a:ext>
            </a:extLst>
          </p:cNvPr>
          <p:cNvSpPr txBox="1">
            <a:spLocks/>
          </p:cNvSpPr>
          <p:nvPr/>
        </p:nvSpPr>
        <p:spPr>
          <a:xfrm>
            <a:off x="1384300" y="2237964"/>
            <a:ext cx="5576400" cy="8469723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5000"/>
              </a:prstClr>
            </a:innerShdw>
          </a:effectLst>
        </p:spPr>
        <p:txBody>
          <a:bodyPr vert="horz" wrap="square" lIns="144000" tIns="251999" rIns="108000" bIns="251999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lang="en-PT"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lnSpc>
                <a:spcPct val="170000"/>
              </a:lnSpc>
              <a:spcAft>
                <a:spcPts val="1600"/>
              </a:spcAft>
              <a:buSzPct val="125000"/>
              <a:buNone/>
            </a:pPr>
            <a:r>
              <a:rPr lang="pt-PT" b="1" dirty="0">
                <a:solidFill>
                  <a:srgbClr val="251B55"/>
                </a:solidFill>
              </a:rPr>
              <a:t>Carteira Online</a:t>
            </a:r>
          </a:p>
          <a:p>
            <a:pPr marL="458788" indent="-458788" fontAlgn="base">
              <a:lnSpc>
                <a:spcPct val="170000"/>
              </a:lnSpc>
              <a:spcAft>
                <a:spcPct val="0"/>
              </a:spcAft>
              <a:buSzPct val="100000"/>
              <a:buBlip>
                <a:blip r:embed="rId3"/>
              </a:buBlip>
            </a:pPr>
            <a:r>
              <a:rPr lang="pt-PT" sz="3000" dirty="0"/>
              <a:t>Acesso através de um browser.</a:t>
            </a:r>
          </a:p>
          <a:p>
            <a:pPr marL="458788" indent="-458788" fontAlgn="base">
              <a:lnSpc>
                <a:spcPct val="170000"/>
              </a:lnSpc>
              <a:spcAft>
                <a:spcPct val="0"/>
              </a:spcAft>
              <a:buSzPct val="100000"/>
              <a:buBlip>
                <a:blip r:embed="rId3"/>
              </a:buBlip>
            </a:pPr>
            <a:r>
              <a:rPr lang="pt-PT" sz="3000" dirty="0"/>
              <a:t>Fácil de usar e aceder.</a:t>
            </a:r>
          </a:p>
          <a:p>
            <a:pPr marL="458788" indent="-458788" fontAlgn="base">
              <a:lnSpc>
                <a:spcPct val="170000"/>
              </a:lnSpc>
              <a:spcAft>
                <a:spcPct val="0"/>
              </a:spcAft>
              <a:buSzPct val="100000"/>
              <a:buBlip>
                <a:blip r:embed="rId3"/>
              </a:buBlip>
            </a:pPr>
            <a:r>
              <a:rPr lang="pt-PT" sz="3000" dirty="0"/>
              <a:t>Menos Segura. Pode ser </a:t>
            </a:r>
            <a:r>
              <a:rPr lang="pt-PT" sz="3000" dirty="0" err="1"/>
              <a:t>hackeada</a:t>
            </a:r>
            <a:r>
              <a:rPr lang="pt-PT" sz="3000" dirty="0"/>
              <a:t>.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90CE9700-7122-48AB-7209-BDFA379BD3A5}"/>
              </a:ext>
            </a:extLst>
          </p:cNvPr>
          <p:cNvSpPr txBox="1">
            <a:spLocks/>
          </p:cNvSpPr>
          <p:nvPr/>
        </p:nvSpPr>
        <p:spPr>
          <a:xfrm>
            <a:off x="7262051" y="2237964"/>
            <a:ext cx="5576400" cy="8469723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5000"/>
              </a:prstClr>
            </a:innerShdw>
          </a:effectLst>
        </p:spPr>
        <p:txBody>
          <a:bodyPr vert="horz" wrap="square" lIns="144000" tIns="251999" rIns="108000" bIns="251999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lang="en-PT"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lnSpc>
                <a:spcPct val="170000"/>
              </a:lnSpc>
              <a:spcAft>
                <a:spcPts val="1600"/>
              </a:spcAft>
              <a:buSzPct val="125000"/>
              <a:buNone/>
            </a:pPr>
            <a:r>
              <a:rPr lang="pt-PT" b="1" dirty="0">
                <a:solidFill>
                  <a:srgbClr val="251B55"/>
                </a:solidFill>
              </a:rPr>
              <a:t>Carteira Móvel</a:t>
            </a:r>
          </a:p>
          <a:p>
            <a:pPr marL="458788" indent="-458788" fontAlgn="base">
              <a:lnSpc>
                <a:spcPct val="170000"/>
              </a:lnSpc>
              <a:spcAft>
                <a:spcPct val="0"/>
              </a:spcAft>
              <a:buSzPct val="100000"/>
              <a:buBlip>
                <a:blip r:embed="rId3"/>
              </a:buBlip>
            </a:pPr>
            <a:r>
              <a:rPr lang="pt-PT" sz="3000" dirty="0"/>
              <a:t>Instalada num telemóvel.</a:t>
            </a:r>
          </a:p>
          <a:p>
            <a:pPr marL="458788" indent="-458788" fontAlgn="base">
              <a:lnSpc>
                <a:spcPct val="170000"/>
              </a:lnSpc>
              <a:spcAft>
                <a:spcPct val="0"/>
              </a:spcAft>
              <a:buSzPct val="100000"/>
              <a:buBlip>
                <a:blip r:embed="rId3"/>
              </a:buBlip>
            </a:pPr>
            <a:r>
              <a:rPr lang="pt-PT" sz="3000" dirty="0"/>
              <a:t>Conveniente. Acesso em qualquer lado.</a:t>
            </a:r>
          </a:p>
          <a:p>
            <a:pPr marL="458788" indent="-458788" fontAlgn="base">
              <a:lnSpc>
                <a:spcPct val="170000"/>
              </a:lnSpc>
              <a:spcAft>
                <a:spcPct val="0"/>
              </a:spcAft>
              <a:buSzPct val="100000"/>
              <a:buBlip>
                <a:blip r:embed="rId3"/>
              </a:buBlip>
            </a:pPr>
            <a:r>
              <a:rPr lang="pt-PT" sz="3000" dirty="0"/>
              <a:t>Pode ser perdida se o dispositivo desaparecer ou for </a:t>
            </a:r>
            <a:r>
              <a:rPr lang="pt-PT" sz="3000" dirty="0" err="1"/>
              <a:t>hackeado</a:t>
            </a:r>
            <a:r>
              <a:rPr lang="pt-PT" sz="3000" dirty="0"/>
              <a:t>.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A2DFF4BA-DDEA-972F-597A-AA876C9DA451}"/>
              </a:ext>
            </a:extLst>
          </p:cNvPr>
          <p:cNvSpPr txBox="1">
            <a:spLocks/>
          </p:cNvSpPr>
          <p:nvPr/>
        </p:nvSpPr>
        <p:spPr>
          <a:xfrm>
            <a:off x="13139802" y="2237964"/>
            <a:ext cx="5576400" cy="8469723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5000"/>
              </a:prstClr>
            </a:innerShdw>
          </a:effectLst>
        </p:spPr>
        <p:txBody>
          <a:bodyPr vert="horz" wrap="square" lIns="144000" tIns="251999" rIns="108000" bIns="251999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lang="en-PT"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lnSpc>
                <a:spcPct val="170000"/>
              </a:lnSpc>
              <a:spcAft>
                <a:spcPts val="1600"/>
              </a:spcAft>
              <a:buSzPct val="125000"/>
              <a:buNone/>
            </a:pPr>
            <a:r>
              <a:rPr lang="pt-PT" b="1" dirty="0">
                <a:solidFill>
                  <a:srgbClr val="251B55"/>
                </a:solidFill>
              </a:rPr>
              <a:t>Carteira de Computador</a:t>
            </a:r>
          </a:p>
          <a:p>
            <a:pPr marL="458788" indent="-458788" fontAlgn="base">
              <a:lnSpc>
                <a:spcPct val="170000"/>
              </a:lnSpc>
              <a:spcAft>
                <a:spcPct val="0"/>
              </a:spcAft>
              <a:buSzPct val="100000"/>
              <a:buBlip>
                <a:blip r:embed="rId3"/>
              </a:buBlip>
            </a:pPr>
            <a:r>
              <a:rPr lang="pt-PT" sz="3000" dirty="0"/>
              <a:t>Instalada num computador.</a:t>
            </a:r>
          </a:p>
          <a:p>
            <a:pPr marL="458788" indent="-458788" fontAlgn="base">
              <a:lnSpc>
                <a:spcPct val="170000"/>
              </a:lnSpc>
              <a:spcAft>
                <a:spcPct val="0"/>
              </a:spcAft>
              <a:buSzPct val="100000"/>
              <a:buBlip>
                <a:blip r:embed="rId3"/>
              </a:buBlip>
            </a:pPr>
            <a:r>
              <a:rPr lang="pt-PT" sz="3000" dirty="0"/>
              <a:t>Mais segura do que as carteiras online. Pode ser usada offline.</a:t>
            </a:r>
          </a:p>
          <a:p>
            <a:pPr marL="458788" indent="-458788" fontAlgn="base">
              <a:lnSpc>
                <a:spcPct val="170000"/>
              </a:lnSpc>
              <a:spcAft>
                <a:spcPct val="0"/>
              </a:spcAft>
              <a:buSzPct val="100000"/>
              <a:buBlip>
                <a:blip r:embed="rId3"/>
              </a:buBlip>
            </a:pPr>
            <a:r>
              <a:rPr lang="pt-PT" sz="3000" dirty="0"/>
              <a:t>Pode ser </a:t>
            </a:r>
            <a:r>
              <a:rPr lang="pt-PT" sz="3000" dirty="0" err="1"/>
              <a:t>hackeada</a:t>
            </a:r>
            <a:r>
              <a:rPr lang="pt-PT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5856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E349D-3300-49BC-258B-803C57F9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6500" dirty="0"/>
              <a:t>7.2.2 Diferentes tipos de carteiras Bitcoin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EAB0EA07-9BF7-E623-BF0F-258CBF159945}"/>
              </a:ext>
            </a:extLst>
          </p:cNvPr>
          <p:cNvSpPr txBox="1">
            <a:spLocks/>
          </p:cNvSpPr>
          <p:nvPr/>
        </p:nvSpPr>
        <p:spPr>
          <a:xfrm>
            <a:off x="1398394" y="2237964"/>
            <a:ext cx="5576400" cy="8469723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5000"/>
              </a:prstClr>
            </a:innerShdw>
          </a:effectLst>
        </p:spPr>
        <p:txBody>
          <a:bodyPr vert="horz" wrap="square" lIns="144000" tIns="251999" rIns="108000" bIns="251999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lang="en-PT"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lnSpc>
                <a:spcPct val="180000"/>
              </a:lnSpc>
              <a:spcAft>
                <a:spcPts val="1600"/>
              </a:spcAft>
              <a:buSzPct val="125000"/>
              <a:buNone/>
            </a:pPr>
            <a:r>
              <a:rPr lang="pt-PT" b="1" dirty="0">
                <a:solidFill>
                  <a:srgbClr val="251B55"/>
                </a:solidFill>
              </a:rPr>
              <a:t>Carteira Física</a:t>
            </a:r>
          </a:p>
          <a:p>
            <a:pPr marL="458788" indent="-458788" fontAlgn="base">
              <a:lnSpc>
                <a:spcPct val="170000"/>
              </a:lnSpc>
              <a:spcAft>
                <a:spcPct val="0"/>
              </a:spcAft>
              <a:buSzPct val="100000"/>
              <a:buBlip>
                <a:blip r:embed="rId3"/>
              </a:buBlip>
            </a:pPr>
            <a:r>
              <a:rPr lang="pt-PT" sz="3000" dirty="0"/>
              <a:t>Dispositivo físico que armazena bitcoin offline.</a:t>
            </a:r>
          </a:p>
          <a:p>
            <a:pPr marL="458788" indent="-458788" fontAlgn="base">
              <a:lnSpc>
                <a:spcPct val="170000"/>
              </a:lnSpc>
              <a:spcAft>
                <a:spcPct val="0"/>
              </a:spcAft>
              <a:buSzPct val="100000"/>
              <a:buBlip>
                <a:blip r:embed="rId3"/>
              </a:buBlip>
            </a:pPr>
            <a:r>
              <a:rPr lang="pt-PT" sz="3000" dirty="0"/>
              <a:t>Muito segura. Pode ser utilizada offline.</a:t>
            </a:r>
          </a:p>
          <a:p>
            <a:pPr marL="458788" indent="-458788" fontAlgn="base">
              <a:lnSpc>
                <a:spcPct val="170000"/>
              </a:lnSpc>
              <a:spcAft>
                <a:spcPct val="0"/>
              </a:spcAft>
              <a:buSzPct val="100000"/>
              <a:buBlip>
                <a:blip r:embed="rId3"/>
              </a:buBlip>
            </a:pPr>
            <a:r>
              <a:rPr lang="pt-PT" sz="3000" dirty="0"/>
              <a:t>Os fundos podem ser irrecuperáveis se o dispositivo desaparecer.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BA3A633-CC1B-F334-FFD6-42AC837EE74D}"/>
              </a:ext>
            </a:extLst>
          </p:cNvPr>
          <p:cNvSpPr txBox="1">
            <a:spLocks/>
          </p:cNvSpPr>
          <p:nvPr/>
        </p:nvSpPr>
        <p:spPr>
          <a:xfrm>
            <a:off x="7371250" y="2237964"/>
            <a:ext cx="5576400" cy="8469723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5000"/>
              </a:prstClr>
            </a:innerShdw>
          </a:effectLst>
        </p:spPr>
        <p:txBody>
          <a:bodyPr vert="horz" wrap="square" lIns="144000" tIns="251999" rIns="108000" bIns="251999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lang="en-PT"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lnSpc>
                <a:spcPct val="170000"/>
              </a:lnSpc>
              <a:spcAft>
                <a:spcPts val="1600"/>
              </a:spcAft>
              <a:buSzPct val="125000"/>
              <a:buNone/>
            </a:pPr>
            <a:r>
              <a:rPr lang="pt-PT" b="1" dirty="0">
                <a:solidFill>
                  <a:srgbClr val="251B55"/>
                </a:solidFill>
              </a:rPr>
              <a:t>Carteira de Papel</a:t>
            </a:r>
          </a:p>
          <a:p>
            <a:pPr marL="458788" indent="-458788" fontAlgn="base">
              <a:lnSpc>
                <a:spcPct val="170000"/>
              </a:lnSpc>
              <a:spcAft>
                <a:spcPct val="0"/>
              </a:spcAft>
              <a:buSzPct val="100000"/>
              <a:buBlip>
                <a:blip r:embed="rId3"/>
              </a:buBlip>
            </a:pPr>
            <a:r>
              <a:rPr lang="pt-PT" sz="3000" dirty="0"/>
              <a:t>Um registo físico das chaves privadas e públicas de uma carteira Bitcoin.</a:t>
            </a:r>
          </a:p>
          <a:p>
            <a:pPr marL="458788" indent="-458788" fontAlgn="base">
              <a:lnSpc>
                <a:spcPct val="170000"/>
              </a:lnSpc>
              <a:spcAft>
                <a:spcPct val="0"/>
              </a:spcAft>
              <a:buSzPct val="100000"/>
              <a:buBlip>
                <a:blip r:embed="rId3"/>
              </a:buBlip>
            </a:pPr>
            <a:r>
              <a:rPr lang="pt-PT" sz="3000" dirty="0"/>
              <a:t>Muito segura. Pode ser utilizada offline.</a:t>
            </a:r>
          </a:p>
          <a:p>
            <a:pPr marL="458788" indent="-458788" fontAlgn="base">
              <a:lnSpc>
                <a:spcPct val="170000"/>
              </a:lnSpc>
              <a:spcAft>
                <a:spcPct val="0"/>
              </a:spcAft>
              <a:buSzPct val="100000"/>
              <a:buBlip>
                <a:blip r:embed="rId3"/>
              </a:buBlip>
            </a:pPr>
            <a:r>
              <a:rPr lang="pt-PT" sz="3000" dirty="0"/>
              <a:t>Pode ser perdida se o registo físico for perdido ou roubado.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4927F05-1D80-99FB-F99B-73607E50EDFF}"/>
              </a:ext>
            </a:extLst>
          </p:cNvPr>
          <p:cNvGrpSpPr/>
          <p:nvPr/>
        </p:nvGrpSpPr>
        <p:grpSpPr>
          <a:xfrm>
            <a:off x="14624050" y="3749907"/>
            <a:ext cx="4587240" cy="6957780"/>
            <a:chOff x="14700250" y="3749907"/>
            <a:chExt cx="4587240" cy="6957780"/>
          </a:xfrm>
        </p:grpSpPr>
        <p:grpSp>
          <p:nvGrpSpPr>
            <p:cNvPr id="5" name="object 10">
              <a:extLst>
                <a:ext uri="{FF2B5EF4-FFF2-40B4-BE49-F238E27FC236}">
                  <a16:creationId xmlns:a16="http://schemas.microsoft.com/office/drawing/2014/main" id="{55A2B842-D6C4-532C-373F-870DF155A71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700250" y="3749907"/>
              <a:ext cx="4587240" cy="6957780"/>
              <a:chOff x="6045045" y="2597330"/>
              <a:chExt cx="3749040" cy="5686425"/>
            </a:xfrm>
          </p:grpSpPr>
          <p:pic>
            <p:nvPicPr>
              <p:cNvPr id="6" name="object 11">
                <a:extLst>
                  <a:ext uri="{FF2B5EF4-FFF2-40B4-BE49-F238E27FC236}">
                    <a16:creationId xmlns:a16="http://schemas.microsoft.com/office/drawing/2014/main" id="{4617B0F1-A693-905D-675C-E83D56C7DDA4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677304" y="4937943"/>
                <a:ext cx="2674065" cy="2674086"/>
              </a:xfrm>
              <a:prstGeom prst="rect">
                <a:avLst/>
              </a:prstGeom>
            </p:spPr>
          </p:pic>
          <p:pic>
            <p:nvPicPr>
              <p:cNvPr id="7" name="object 12">
                <a:extLst>
                  <a:ext uri="{FF2B5EF4-FFF2-40B4-BE49-F238E27FC236}">
                    <a16:creationId xmlns:a16="http://schemas.microsoft.com/office/drawing/2014/main" id="{0CC3C867-24CE-F9D3-02A2-7575DB6A9540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6748076" y="7829311"/>
                <a:ext cx="2567660" cy="454279"/>
              </a:xfrm>
              <a:prstGeom prst="rect">
                <a:avLst/>
              </a:prstGeom>
            </p:spPr>
          </p:pic>
          <p:pic>
            <p:nvPicPr>
              <p:cNvPr id="8" name="object 13">
                <a:extLst>
                  <a:ext uri="{FF2B5EF4-FFF2-40B4-BE49-F238E27FC236}">
                    <a16:creationId xmlns:a16="http://schemas.microsoft.com/office/drawing/2014/main" id="{B8097D74-09D9-9EC8-6B1E-64D4A821EA31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6347486" y="5109971"/>
                <a:ext cx="2815287" cy="2872422"/>
              </a:xfrm>
              <a:prstGeom prst="rect">
                <a:avLst/>
              </a:prstGeom>
            </p:spPr>
          </p:pic>
          <p:pic>
            <p:nvPicPr>
              <p:cNvPr id="9" name="object 14">
                <a:extLst>
                  <a:ext uri="{FF2B5EF4-FFF2-40B4-BE49-F238E27FC236}">
                    <a16:creationId xmlns:a16="http://schemas.microsoft.com/office/drawing/2014/main" id="{E4596282-3599-CF33-366A-CAB80060DDA1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6051354" y="2693656"/>
                <a:ext cx="3735865" cy="2088742"/>
              </a:xfrm>
              <a:prstGeom prst="rect">
                <a:avLst/>
              </a:prstGeom>
            </p:spPr>
          </p:pic>
          <p:sp>
            <p:nvSpPr>
              <p:cNvPr id="11" name="object 15">
                <a:extLst>
                  <a:ext uri="{FF2B5EF4-FFF2-40B4-BE49-F238E27FC236}">
                    <a16:creationId xmlns:a16="http://schemas.microsoft.com/office/drawing/2014/main" id="{96C18370-6AD9-5428-556D-AE0A8C20C012}"/>
                  </a:ext>
                </a:extLst>
              </p:cNvPr>
              <p:cNvSpPr/>
              <p:nvPr/>
            </p:nvSpPr>
            <p:spPr>
              <a:xfrm>
                <a:off x="6051395" y="2693637"/>
                <a:ext cx="728345" cy="2089150"/>
              </a:xfrm>
              <a:custGeom>
                <a:avLst/>
                <a:gdLst/>
                <a:ahLst/>
                <a:cxnLst/>
                <a:rect l="l" t="t" r="r" b="b"/>
                <a:pathLst>
                  <a:path w="728345" h="2089150">
                    <a:moveTo>
                      <a:pt x="728271" y="2088721"/>
                    </a:moveTo>
                    <a:lnTo>
                      <a:pt x="183795" y="2088721"/>
                    </a:lnTo>
                    <a:lnTo>
                      <a:pt x="134936" y="2082156"/>
                    </a:lnTo>
                    <a:lnTo>
                      <a:pt x="91031" y="2063627"/>
                    </a:lnTo>
                    <a:lnTo>
                      <a:pt x="53833" y="2034888"/>
                    </a:lnTo>
                    <a:lnTo>
                      <a:pt x="25094" y="1997690"/>
                    </a:lnTo>
                    <a:lnTo>
                      <a:pt x="6565" y="1953785"/>
                    </a:lnTo>
                    <a:lnTo>
                      <a:pt x="0" y="1904926"/>
                    </a:lnTo>
                    <a:lnTo>
                      <a:pt x="0" y="183795"/>
                    </a:lnTo>
                    <a:lnTo>
                      <a:pt x="6565" y="134936"/>
                    </a:lnTo>
                    <a:lnTo>
                      <a:pt x="25094" y="91031"/>
                    </a:lnTo>
                    <a:lnTo>
                      <a:pt x="53833" y="53833"/>
                    </a:lnTo>
                    <a:lnTo>
                      <a:pt x="91031" y="25094"/>
                    </a:lnTo>
                    <a:lnTo>
                      <a:pt x="134936" y="6565"/>
                    </a:lnTo>
                    <a:lnTo>
                      <a:pt x="183795" y="0"/>
                    </a:lnTo>
                  </a:path>
                </a:pathLst>
              </a:custGeom>
              <a:ln w="1207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2" name="object 16">
                <a:extLst>
                  <a:ext uri="{FF2B5EF4-FFF2-40B4-BE49-F238E27FC236}">
                    <a16:creationId xmlns:a16="http://schemas.microsoft.com/office/drawing/2014/main" id="{398DE20E-79C6-874C-9B44-210DCD7823B7}"/>
                  </a:ext>
                </a:extLst>
              </p:cNvPr>
              <p:cNvSpPr/>
              <p:nvPr/>
            </p:nvSpPr>
            <p:spPr>
              <a:xfrm>
                <a:off x="7092089" y="4782359"/>
                <a:ext cx="1850389" cy="0"/>
              </a:xfrm>
              <a:custGeom>
                <a:avLst/>
                <a:gdLst/>
                <a:ahLst/>
                <a:cxnLst/>
                <a:rect l="l" t="t" r="r" b="b"/>
                <a:pathLst>
                  <a:path w="1850390">
                    <a:moveTo>
                      <a:pt x="1850090" y="0"/>
                    </a:moveTo>
                    <a:lnTo>
                      <a:pt x="0" y="0"/>
                    </a:lnTo>
                  </a:path>
                </a:pathLst>
              </a:custGeom>
              <a:ln w="1207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3" name="object 17">
                <a:extLst>
                  <a:ext uri="{FF2B5EF4-FFF2-40B4-BE49-F238E27FC236}">
                    <a16:creationId xmlns:a16="http://schemas.microsoft.com/office/drawing/2014/main" id="{881816B7-E3CA-8E41-76AE-AE594AE07714}"/>
                  </a:ext>
                </a:extLst>
              </p:cNvPr>
              <p:cNvSpPr/>
              <p:nvPr/>
            </p:nvSpPr>
            <p:spPr>
              <a:xfrm>
                <a:off x="6743899" y="2693639"/>
                <a:ext cx="3043555" cy="2089150"/>
              </a:xfrm>
              <a:custGeom>
                <a:avLst/>
                <a:gdLst/>
                <a:ahLst/>
                <a:cxnLst/>
                <a:rect l="l" t="t" r="r" b="b"/>
                <a:pathLst>
                  <a:path w="3043554" h="2089150">
                    <a:moveTo>
                      <a:pt x="0" y="0"/>
                    </a:moveTo>
                    <a:lnTo>
                      <a:pt x="2859546" y="0"/>
                    </a:lnTo>
                    <a:lnTo>
                      <a:pt x="2908405" y="6565"/>
                    </a:lnTo>
                    <a:lnTo>
                      <a:pt x="2952310" y="25094"/>
                    </a:lnTo>
                    <a:lnTo>
                      <a:pt x="2989508" y="53833"/>
                    </a:lnTo>
                    <a:lnTo>
                      <a:pt x="3018247" y="91031"/>
                    </a:lnTo>
                    <a:lnTo>
                      <a:pt x="3036776" y="134936"/>
                    </a:lnTo>
                    <a:lnTo>
                      <a:pt x="3043341" y="183795"/>
                    </a:lnTo>
                    <a:lnTo>
                      <a:pt x="3043341" y="1904926"/>
                    </a:lnTo>
                    <a:lnTo>
                      <a:pt x="3036776" y="1953785"/>
                    </a:lnTo>
                    <a:lnTo>
                      <a:pt x="3018247" y="1997690"/>
                    </a:lnTo>
                    <a:lnTo>
                      <a:pt x="2989508" y="2034888"/>
                    </a:lnTo>
                    <a:lnTo>
                      <a:pt x="2952310" y="2063627"/>
                    </a:lnTo>
                    <a:lnTo>
                      <a:pt x="2908405" y="2082156"/>
                    </a:lnTo>
                    <a:lnTo>
                      <a:pt x="2859546" y="2088721"/>
                    </a:lnTo>
                    <a:lnTo>
                      <a:pt x="2646202" y="2088721"/>
                    </a:lnTo>
                  </a:path>
                </a:pathLst>
              </a:custGeom>
              <a:ln w="1207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pic>
            <p:nvPicPr>
              <p:cNvPr id="14" name="object 18">
                <a:extLst>
                  <a:ext uri="{FF2B5EF4-FFF2-40B4-BE49-F238E27FC236}">
                    <a16:creationId xmlns:a16="http://schemas.microsoft.com/office/drawing/2014/main" id="{E53ABA33-33B6-6EAD-D525-B752AE67F445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6511892" y="2597332"/>
                <a:ext cx="141859" cy="193983"/>
              </a:xfrm>
              <a:prstGeom prst="rect">
                <a:avLst/>
              </a:prstGeom>
            </p:spPr>
          </p:pic>
          <p:pic>
            <p:nvPicPr>
              <p:cNvPr id="15" name="object 19">
                <a:extLst>
                  <a:ext uri="{FF2B5EF4-FFF2-40B4-BE49-F238E27FC236}">
                    <a16:creationId xmlns:a16="http://schemas.microsoft.com/office/drawing/2014/main" id="{A6C25C9C-47EC-755E-C4C1-2BF71925D617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9009796" y="4693303"/>
                <a:ext cx="141859" cy="193983"/>
              </a:xfrm>
              <a:prstGeom prst="rect">
                <a:avLst/>
              </a:prstGeom>
            </p:spPr>
          </p:pic>
          <p:pic>
            <p:nvPicPr>
              <p:cNvPr id="17" name="object 20">
                <a:extLst>
                  <a:ext uri="{FF2B5EF4-FFF2-40B4-BE49-F238E27FC236}">
                    <a16:creationId xmlns:a16="http://schemas.microsoft.com/office/drawing/2014/main" id="{1228862A-EDD7-E1C9-2220-37C3EB81FB9B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6340762" y="2597330"/>
                <a:ext cx="141859" cy="193889"/>
              </a:xfrm>
              <a:prstGeom prst="rect">
                <a:avLst/>
              </a:prstGeom>
            </p:spPr>
          </p:pic>
          <p:pic>
            <p:nvPicPr>
              <p:cNvPr id="18" name="object 21">
                <a:extLst>
                  <a:ext uri="{FF2B5EF4-FFF2-40B4-BE49-F238E27FC236}">
                    <a16:creationId xmlns:a16="http://schemas.microsoft.com/office/drawing/2014/main" id="{1CCCC45D-4B6A-0E4D-3C22-6B0D86E30726}"/>
                  </a:ext>
                </a:extLst>
              </p:cNvPr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9180924" y="4693300"/>
                <a:ext cx="141859" cy="193889"/>
              </a:xfrm>
              <a:prstGeom prst="rect">
                <a:avLst/>
              </a:prstGeom>
            </p:spPr>
          </p:pic>
        </p:grpSp>
        <p:sp>
          <p:nvSpPr>
            <p:cNvPr id="19" name="Content Placeholder 2">
              <a:extLst>
                <a:ext uri="{FF2B5EF4-FFF2-40B4-BE49-F238E27FC236}">
                  <a16:creationId xmlns:a16="http://schemas.microsoft.com/office/drawing/2014/main" id="{F0ADDF83-E665-3E27-CA1E-FB3BA056FEE3}"/>
                </a:ext>
              </a:extLst>
            </p:cNvPr>
            <p:cNvSpPr txBox="1">
              <a:spLocks/>
            </p:cNvSpPr>
            <p:nvPr/>
          </p:nvSpPr>
          <p:spPr>
            <a:xfrm>
              <a:off x="14791064" y="4424861"/>
              <a:ext cx="4397544" cy="147161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GB" sz="3200" b="1" i="0" kern="1200" dirty="0" smtClean="0">
                  <a:solidFill>
                    <a:srgbClr val="251B55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lang="en-PT" sz="2000" b="1" kern="1200" spc="-1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125000"/>
              </a:pPr>
              <a:r>
                <a:rPr lang="pt-PT" sz="1700" b="0" spc="10" dirty="0">
                  <a:solidFill>
                    <a:srgbClr val="241B54"/>
                  </a:solidFill>
                  <a:latin typeface="Open Sans"/>
                  <a:cs typeface="Open Sans"/>
                </a:rPr>
                <a:t>Tendo em conta que as chaves podem ser movidas de um dispositivo para outro, o estatuto da tua carteira Bitcoin não é definitivo.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6297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BF694-4823-BDE3-4918-F73E02D37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6500" dirty="0"/>
              <a:t>7.2.2 Diferentes tipos de carteiras Bitcoin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21237-3F1A-7B38-C090-A1D3B475A1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301875"/>
            <a:ext cx="8669337" cy="8405811"/>
          </a:xfrm>
        </p:spPr>
        <p:txBody>
          <a:bodyPr/>
          <a:lstStyle/>
          <a:p>
            <a:pPr marL="0" indent="0">
              <a:buNone/>
            </a:pPr>
            <a:r>
              <a:rPr lang="pt-PT" b="1" dirty="0"/>
              <a:t>Aspetos a ter em consideração ao escolher uma carteira Bitcoin: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Segurança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Privacidade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Facilidade de Utilização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Compatibilidade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Taxas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Reputação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Controlo</a:t>
            </a:r>
          </a:p>
          <a:p>
            <a:pPr marL="0" indent="0">
              <a:buNone/>
            </a:pPr>
            <a:endParaRPr lang="pt-PT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CD990E7-89BC-3384-FC35-A2A8C3EFE741}"/>
              </a:ext>
            </a:extLst>
          </p:cNvPr>
          <p:cNvSpPr txBox="1">
            <a:spLocks/>
          </p:cNvSpPr>
          <p:nvPr/>
        </p:nvSpPr>
        <p:spPr>
          <a:xfrm>
            <a:off x="10052050" y="2301875"/>
            <a:ext cx="8669337" cy="840581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lang="en-PT"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PT" sz="4100" b="1" dirty="0">
                <a:solidFill>
                  <a:srgbClr val="251B55"/>
                </a:solidFill>
              </a:rPr>
              <a:t>7.2.3 Código aberto e código fechado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PT" sz="4100" b="1" dirty="0">
              <a:solidFill>
                <a:srgbClr val="251B55"/>
              </a:solidFill>
            </a:endParaRPr>
          </a:p>
          <a:p>
            <a:pPr marL="592138" indent="-592138">
              <a:lnSpc>
                <a:spcPct val="170000"/>
              </a:lnSpc>
              <a:buSzPct val="125000"/>
              <a:buBlip>
                <a:blip r:embed="rId3"/>
              </a:buBlip>
            </a:pPr>
            <a:r>
              <a:rPr lang="pt-PT" sz="3800" dirty="0"/>
              <a:t>Código aberto (</a:t>
            </a:r>
            <a:r>
              <a:rPr lang="pt-PT" sz="3800" i="1" dirty="0"/>
              <a:t>open-</a:t>
            </a:r>
            <a:r>
              <a:rPr lang="pt-PT" sz="3800" i="1" dirty="0" err="1"/>
              <a:t>source</a:t>
            </a:r>
            <a:r>
              <a:rPr lang="pt-PT" sz="3800" dirty="0"/>
              <a:t>) permite que a comunidade analise e melhore o software.</a:t>
            </a:r>
            <a:endParaRPr lang="pt-PT" sz="5100" dirty="0"/>
          </a:p>
          <a:p>
            <a:pPr marL="592138" indent="-592138">
              <a:lnSpc>
                <a:spcPct val="170000"/>
              </a:lnSpc>
              <a:buSzPct val="125000"/>
              <a:buBlip>
                <a:blip r:embed="rId3"/>
              </a:buBlip>
            </a:pPr>
            <a:r>
              <a:rPr lang="pt-PT" sz="3800" dirty="0"/>
              <a:t>Garante transparência e segurança: o código pode ser auditado por qualquer pessoa.</a:t>
            </a:r>
          </a:p>
          <a:p>
            <a:pPr marL="592138" indent="-592138">
              <a:lnSpc>
                <a:spcPct val="170000"/>
              </a:lnSpc>
              <a:buSzPct val="125000"/>
              <a:buBlip>
                <a:blip r:embed="rId3"/>
              </a:buBlip>
            </a:pPr>
            <a:r>
              <a:rPr lang="pt-PT" sz="3800" dirty="0"/>
              <a:t>Se o projeto deixar de ser mantido, outros podem continuar o desenvolvimento.</a:t>
            </a:r>
          </a:p>
          <a:p>
            <a:pPr marL="592138" indent="-592138">
              <a:lnSpc>
                <a:spcPct val="170000"/>
              </a:lnSpc>
              <a:buSzPct val="125000"/>
              <a:buBlip>
                <a:blip r:embed="rId3"/>
              </a:buBlip>
            </a:pPr>
            <a:r>
              <a:rPr lang="pt-PT" sz="3800" dirty="0"/>
              <a:t>Tal como o Bitcoin é de código aberto, o ideal é que a tua carteira também o seja.</a:t>
            </a:r>
          </a:p>
        </p:txBody>
      </p:sp>
    </p:spTree>
    <p:extLst>
      <p:ext uri="{BB962C8B-B14F-4D97-AF65-F5344CB8AC3E}">
        <p14:creationId xmlns:p14="http://schemas.microsoft.com/office/powerpoint/2010/main" val="3351043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930B2-FB42-7EE6-C37F-A6AF82BF1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2" y="1006475"/>
            <a:ext cx="17338675" cy="1472400"/>
          </a:xfrm>
        </p:spPr>
        <p:txBody>
          <a:bodyPr>
            <a:normAutofit fontScale="90000"/>
          </a:bodyPr>
          <a:lstStyle/>
          <a:p>
            <a:r>
              <a:rPr lang="pt-PT" dirty="0"/>
              <a:t>7.3 Configurar uma carteira móvel de Bitcoin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91BC4-1BDD-9A8B-712B-13B8FDFA89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3063875"/>
            <a:ext cx="8593137" cy="7643811"/>
          </a:xfrm>
        </p:spPr>
        <p:txBody>
          <a:bodyPr/>
          <a:lstStyle/>
          <a:p>
            <a:pPr marL="0" indent="0" algn="ctr" fontAlgn="base">
              <a:lnSpc>
                <a:spcPct val="180000"/>
              </a:lnSpc>
              <a:spcAft>
                <a:spcPts val="1600"/>
              </a:spcAft>
              <a:buSzPct val="125000"/>
              <a:buNone/>
            </a:pPr>
            <a:r>
              <a:rPr lang="pt-PT" b="1" dirty="0">
                <a:solidFill>
                  <a:srgbClr val="FBB040"/>
                </a:solidFill>
              </a:rPr>
              <a:t>Carteira não-</a:t>
            </a:r>
            <a:r>
              <a:rPr lang="pt-PT" b="1" dirty="0" err="1">
                <a:solidFill>
                  <a:srgbClr val="FBB040"/>
                </a:solidFill>
              </a:rPr>
              <a:t>custodial</a:t>
            </a:r>
            <a:endParaRPr lang="pt-PT" b="1" dirty="0">
              <a:solidFill>
                <a:srgbClr val="FBB040"/>
              </a:solidFill>
            </a:endParaRP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És tu quem gera e guarda a frase de recuperação.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Deténs o controlo total sobre as tuas chaves privadas.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E87CF4-3428-1A59-763B-9D09BCA72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28250" y="3063875"/>
            <a:ext cx="8593138" cy="7643811"/>
          </a:xfrm>
        </p:spPr>
        <p:txBody>
          <a:bodyPr/>
          <a:lstStyle/>
          <a:p>
            <a:pPr marL="0" indent="0" algn="ctr" fontAlgn="base">
              <a:lnSpc>
                <a:spcPct val="180000"/>
              </a:lnSpc>
              <a:spcAft>
                <a:spcPts val="1600"/>
              </a:spcAft>
              <a:buSzPct val="125000"/>
              <a:buNone/>
            </a:pPr>
            <a:r>
              <a:rPr lang="pt-PT" b="1" dirty="0">
                <a:solidFill>
                  <a:srgbClr val="FBB040"/>
                </a:solidFill>
              </a:rPr>
              <a:t>Carteira </a:t>
            </a:r>
            <a:r>
              <a:rPr lang="pt-PT" b="1" dirty="0" err="1">
                <a:solidFill>
                  <a:srgbClr val="FBB040"/>
                </a:solidFill>
              </a:rPr>
              <a:t>custodial</a:t>
            </a:r>
            <a:endParaRPr lang="pt-PT" b="1" dirty="0">
              <a:solidFill>
                <a:srgbClr val="FBB040"/>
              </a:solidFill>
            </a:endParaRP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Crias uma conta com o fornecedor.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É o fornecedor quem guarda as chaves por ti.</a:t>
            </a:r>
          </a:p>
        </p:txBody>
      </p:sp>
      <p:pic>
        <p:nvPicPr>
          <p:cNvPr id="35" name="Picture 34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87F7CB3F-3436-C95F-1AAE-23ADF261EB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750" y="7597775"/>
            <a:ext cx="3086100" cy="6134100"/>
          </a:xfrm>
          <a:prstGeom prst="rect">
            <a:avLst/>
          </a:prstGeom>
        </p:spPr>
      </p:pic>
      <p:pic>
        <p:nvPicPr>
          <p:cNvPr id="37" name="Picture 36" descr="A screenshot of a phone&#10;&#10;AI-generated content may be incorrect.">
            <a:extLst>
              <a:ext uri="{FF2B5EF4-FFF2-40B4-BE49-F238E27FC236}">
                <a16:creationId xmlns:a16="http://schemas.microsoft.com/office/drawing/2014/main" id="{BF519254-A32F-0A4C-3739-DD779C70A2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7450" y="7483475"/>
            <a:ext cx="3073400" cy="613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980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5BA8C-B8E6-472A-C2B6-F8155064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7.4 Receber e enviar transações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E0069-8F9D-5F72-0294-5082B4CB1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5883275"/>
            <a:ext cx="8593137" cy="5281611"/>
          </a:xfrm>
        </p:spPr>
        <p:txBody>
          <a:bodyPr>
            <a:normAutofit/>
          </a:bodyPr>
          <a:lstStyle/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A rede atualiza o livro-razão para refletir essa mudança.</a:t>
            </a:r>
          </a:p>
          <a:p>
            <a:pPr marL="592138" indent="-592138" fontAlgn="base">
              <a:lnSpc>
                <a:spcPct val="17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dirty="0"/>
              <a:t>Sem intermediários: não existe um processador de pagamentos central.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6BC1F3-6508-D6A0-B7FC-7CF878C75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09250" y="2582864"/>
            <a:ext cx="9045528" cy="8405811"/>
          </a:xfrm>
        </p:spPr>
        <p:txBody>
          <a:bodyPr>
            <a:normAutofit/>
          </a:bodyPr>
          <a:lstStyle/>
          <a:p>
            <a:pPr marL="0" indent="0" algn="ctr" fontAlgn="base">
              <a:lnSpc>
                <a:spcPct val="170000"/>
              </a:lnSpc>
              <a:spcAft>
                <a:spcPct val="0"/>
              </a:spcAft>
              <a:buSzPct val="125000"/>
              <a:buNone/>
            </a:pPr>
            <a:r>
              <a:rPr lang="pt-PT" b="1" dirty="0">
                <a:solidFill>
                  <a:srgbClr val="392569"/>
                </a:solidFill>
              </a:rPr>
              <a:t>Como Funciona uma Transação de Bitcoin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7747FA0-5129-D65D-C8CB-F9E32EF20C31}"/>
              </a:ext>
            </a:extLst>
          </p:cNvPr>
          <p:cNvSpPr/>
          <p:nvPr/>
        </p:nvSpPr>
        <p:spPr>
          <a:xfrm>
            <a:off x="1382713" y="2759075"/>
            <a:ext cx="8059737" cy="2667000"/>
          </a:xfrm>
          <a:prstGeom prst="roundRect">
            <a:avLst>
              <a:gd name="adj" fmla="val 8003"/>
            </a:avLst>
          </a:prstGeom>
          <a:gradFill flip="none" rotWithShape="1">
            <a:gsLst>
              <a:gs pos="64000">
                <a:srgbClr val="E4E0FD"/>
              </a:gs>
              <a:gs pos="22000">
                <a:srgbClr val="F1EEFE"/>
              </a:gs>
              <a:gs pos="0">
                <a:srgbClr val="FEFEFF"/>
              </a:gs>
            </a:gsLst>
            <a:lin ang="16200000" scaled="1"/>
            <a:tileRect/>
          </a:gradFill>
          <a:ln w="12700">
            <a:solidFill>
              <a:srgbClr val="613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0" bIns="36000" rtlCol="0" anchor="ctr"/>
          <a:lstStyle/>
          <a:p>
            <a:pPr algn="just">
              <a:lnSpc>
                <a:spcPct val="130000"/>
              </a:lnSpc>
            </a:pPr>
            <a:r>
              <a:rPr lang="pt-PT" sz="3200" dirty="0">
                <a:solidFill>
                  <a:srgbClr val="58595B"/>
                </a:solidFill>
              </a:rPr>
              <a:t>Uma </a:t>
            </a:r>
            <a:r>
              <a:rPr lang="pt-PT" sz="3200" b="1" dirty="0">
                <a:solidFill>
                  <a:srgbClr val="FBB040"/>
                </a:solidFill>
              </a:rPr>
              <a:t>transação Bitcoin </a:t>
            </a:r>
            <a:r>
              <a:rPr lang="pt-PT" sz="3200" dirty="0">
                <a:solidFill>
                  <a:srgbClr val="58595B"/>
                </a:solidFill>
              </a:rPr>
              <a:t>é uma transferência de propriedade do bitcoin existente para um novo proprietário.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BD06DFC-A88D-ABED-7C23-72D9D05F4A77}"/>
              </a:ext>
            </a:extLst>
          </p:cNvPr>
          <p:cNvGrpSpPr>
            <a:grpSpLocks noChangeAspect="1"/>
          </p:cNvGrpSpPr>
          <p:nvPr/>
        </p:nvGrpSpPr>
        <p:grpSpPr>
          <a:xfrm>
            <a:off x="11252466" y="7672205"/>
            <a:ext cx="754170" cy="1260000"/>
            <a:chOff x="18246345" y="8615093"/>
            <a:chExt cx="593164" cy="991006"/>
          </a:xfrm>
        </p:grpSpPr>
        <p:sp>
          <p:nvSpPr>
            <p:cNvPr id="37" name="object 27">
              <a:extLst>
                <a:ext uri="{FF2B5EF4-FFF2-40B4-BE49-F238E27FC236}">
                  <a16:creationId xmlns:a16="http://schemas.microsoft.com/office/drawing/2014/main" id="{87DD551B-3C97-CBEB-BC1D-4F34B51F5C7B}"/>
                </a:ext>
              </a:extLst>
            </p:cNvPr>
            <p:cNvSpPr/>
            <p:nvPr/>
          </p:nvSpPr>
          <p:spPr>
            <a:xfrm>
              <a:off x="18301965" y="8734332"/>
              <a:ext cx="475842" cy="660583"/>
            </a:xfrm>
            <a:custGeom>
              <a:avLst/>
              <a:gdLst/>
              <a:ahLst/>
              <a:cxnLst/>
              <a:rect l="l" t="t" r="r" b="b"/>
              <a:pathLst>
                <a:path w="387350" h="535304">
                  <a:moveTo>
                    <a:pt x="387244" y="0"/>
                  </a:moveTo>
                  <a:lnTo>
                    <a:pt x="0" y="0"/>
                  </a:lnTo>
                  <a:lnTo>
                    <a:pt x="0" y="535166"/>
                  </a:lnTo>
                  <a:lnTo>
                    <a:pt x="387244" y="535166"/>
                  </a:lnTo>
                  <a:lnTo>
                    <a:pt x="387244" y="0"/>
                  </a:lnTo>
                  <a:close/>
                </a:path>
              </a:pathLst>
            </a:custGeom>
            <a:solidFill>
              <a:srgbClr val="EB8B29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pic>
          <p:nvPicPr>
            <p:cNvPr id="38" name="object 28">
              <a:extLst>
                <a:ext uri="{FF2B5EF4-FFF2-40B4-BE49-F238E27FC236}">
                  <a16:creationId xmlns:a16="http://schemas.microsoft.com/office/drawing/2014/main" id="{250BB7F7-926A-F965-C81F-F13165F19F2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246345" y="8615093"/>
              <a:ext cx="593164" cy="991006"/>
            </a:xfrm>
            <a:prstGeom prst="rect">
              <a:avLst/>
            </a:prstGeom>
          </p:spPr>
        </p:pic>
        <p:sp>
          <p:nvSpPr>
            <p:cNvPr id="39" name="object 29">
              <a:extLst>
                <a:ext uri="{FF2B5EF4-FFF2-40B4-BE49-F238E27FC236}">
                  <a16:creationId xmlns:a16="http://schemas.microsoft.com/office/drawing/2014/main" id="{38A3472A-048C-7118-F93D-6B5FCA049100}"/>
                </a:ext>
              </a:extLst>
            </p:cNvPr>
            <p:cNvSpPr/>
            <p:nvPr/>
          </p:nvSpPr>
          <p:spPr>
            <a:xfrm>
              <a:off x="18387355" y="8902670"/>
              <a:ext cx="290185" cy="354192"/>
            </a:xfrm>
            <a:custGeom>
              <a:avLst/>
              <a:gdLst/>
              <a:ahLst/>
              <a:cxnLst/>
              <a:rect l="l" t="t" r="r" b="b"/>
              <a:pathLst>
                <a:path w="236220" h="287020">
                  <a:moveTo>
                    <a:pt x="124885" y="245448"/>
                  </a:moveTo>
                  <a:lnTo>
                    <a:pt x="98604" y="245448"/>
                  </a:lnTo>
                  <a:lnTo>
                    <a:pt x="109221" y="286682"/>
                  </a:lnTo>
                  <a:lnTo>
                    <a:pt x="134289" y="281195"/>
                  </a:lnTo>
                  <a:lnTo>
                    <a:pt x="124885" y="245448"/>
                  </a:lnTo>
                  <a:close/>
                </a:path>
                <a:path w="236220" h="287020">
                  <a:moveTo>
                    <a:pt x="168266" y="234233"/>
                  </a:moveTo>
                  <a:lnTo>
                    <a:pt x="142027" y="234233"/>
                  </a:lnTo>
                  <a:lnTo>
                    <a:pt x="152853" y="276441"/>
                  </a:lnTo>
                  <a:lnTo>
                    <a:pt x="177889" y="270902"/>
                  </a:lnTo>
                  <a:lnTo>
                    <a:pt x="168266" y="234233"/>
                  </a:lnTo>
                  <a:close/>
                </a:path>
                <a:path w="236220" h="287020">
                  <a:moveTo>
                    <a:pt x="85370" y="90311"/>
                  </a:moveTo>
                  <a:lnTo>
                    <a:pt x="32773" y="90311"/>
                  </a:lnTo>
                  <a:lnTo>
                    <a:pt x="40679" y="95033"/>
                  </a:lnTo>
                  <a:lnTo>
                    <a:pt x="42511" y="102698"/>
                  </a:lnTo>
                  <a:lnTo>
                    <a:pt x="67558" y="205051"/>
                  </a:lnTo>
                  <a:lnTo>
                    <a:pt x="69421" y="212370"/>
                  </a:lnTo>
                  <a:lnTo>
                    <a:pt x="65191" y="219773"/>
                  </a:lnTo>
                  <a:lnTo>
                    <a:pt x="45715" y="226014"/>
                  </a:lnTo>
                  <a:lnTo>
                    <a:pt x="48857" y="258348"/>
                  </a:lnTo>
                  <a:lnTo>
                    <a:pt x="98604" y="245448"/>
                  </a:lnTo>
                  <a:lnTo>
                    <a:pt x="124885" y="245448"/>
                  </a:lnTo>
                  <a:lnTo>
                    <a:pt x="123221" y="239123"/>
                  </a:lnTo>
                  <a:lnTo>
                    <a:pt x="142027" y="234233"/>
                  </a:lnTo>
                  <a:lnTo>
                    <a:pt x="168266" y="234233"/>
                  </a:lnTo>
                  <a:lnTo>
                    <a:pt x="166612" y="227930"/>
                  </a:lnTo>
                  <a:lnTo>
                    <a:pt x="169052" y="227270"/>
                  </a:lnTo>
                  <a:lnTo>
                    <a:pt x="210661" y="216644"/>
                  </a:lnTo>
                  <a:lnTo>
                    <a:pt x="226399" y="208381"/>
                  </a:lnTo>
                  <a:lnTo>
                    <a:pt x="115944" y="208381"/>
                  </a:lnTo>
                  <a:lnTo>
                    <a:pt x="103159" y="155115"/>
                  </a:lnTo>
                  <a:lnTo>
                    <a:pt x="145157" y="145985"/>
                  </a:lnTo>
                  <a:lnTo>
                    <a:pt x="226000" y="145985"/>
                  </a:lnTo>
                  <a:lnTo>
                    <a:pt x="219019" y="129742"/>
                  </a:lnTo>
                  <a:lnTo>
                    <a:pt x="218518" y="129367"/>
                  </a:lnTo>
                  <a:lnTo>
                    <a:pt x="95305" y="129367"/>
                  </a:lnTo>
                  <a:lnTo>
                    <a:pt x="85370" y="90311"/>
                  </a:lnTo>
                  <a:close/>
                </a:path>
                <a:path w="236220" h="287020">
                  <a:moveTo>
                    <a:pt x="226000" y="145985"/>
                  </a:moveTo>
                  <a:lnTo>
                    <a:pt x="145157" y="145985"/>
                  </a:lnTo>
                  <a:lnTo>
                    <a:pt x="157596" y="146745"/>
                  </a:lnTo>
                  <a:lnTo>
                    <a:pt x="167767" y="150331"/>
                  </a:lnTo>
                  <a:lnTo>
                    <a:pt x="174910" y="157312"/>
                  </a:lnTo>
                  <a:lnTo>
                    <a:pt x="178266" y="168256"/>
                  </a:lnTo>
                  <a:lnTo>
                    <a:pt x="177296" y="176635"/>
                  </a:lnTo>
                  <a:lnTo>
                    <a:pt x="141807" y="202213"/>
                  </a:lnTo>
                  <a:lnTo>
                    <a:pt x="134414" y="204213"/>
                  </a:lnTo>
                  <a:lnTo>
                    <a:pt x="124027" y="207155"/>
                  </a:lnTo>
                  <a:lnTo>
                    <a:pt x="115944" y="208381"/>
                  </a:lnTo>
                  <a:lnTo>
                    <a:pt x="226399" y="208381"/>
                  </a:lnTo>
                  <a:lnTo>
                    <a:pt x="231028" y="205950"/>
                  </a:lnTo>
                  <a:lnTo>
                    <a:pt x="236001" y="188752"/>
                  </a:lnTo>
                  <a:lnTo>
                    <a:pt x="231427" y="158612"/>
                  </a:lnTo>
                  <a:lnTo>
                    <a:pt x="226000" y="145985"/>
                  </a:lnTo>
                  <a:close/>
                </a:path>
                <a:path w="236220" h="287020">
                  <a:moveTo>
                    <a:pt x="190937" y="71882"/>
                  </a:moveTo>
                  <a:lnTo>
                    <a:pt x="118781" y="71882"/>
                  </a:lnTo>
                  <a:lnTo>
                    <a:pt x="126079" y="73013"/>
                  </a:lnTo>
                  <a:lnTo>
                    <a:pt x="134060" y="75204"/>
                  </a:lnTo>
                  <a:lnTo>
                    <a:pt x="140455" y="79217"/>
                  </a:lnTo>
                  <a:lnTo>
                    <a:pt x="144908" y="85287"/>
                  </a:lnTo>
                  <a:lnTo>
                    <a:pt x="147063" y="93651"/>
                  </a:lnTo>
                  <a:lnTo>
                    <a:pt x="147817" y="101745"/>
                  </a:lnTo>
                  <a:lnTo>
                    <a:pt x="143335" y="108258"/>
                  </a:lnTo>
                  <a:lnTo>
                    <a:pt x="136655" y="113326"/>
                  </a:lnTo>
                  <a:lnTo>
                    <a:pt x="130194" y="118300"/>
                  </a:lnTo>
                  <a:lnTo>
                    <a:pt x="121682" y="121954"/>
                  </a:lnTo>
                  <a:lnTo>
                    <a:pt x="103860" y="127996"/>
                  </a:lnTo>
                  <a:lnTo>
                    <a:pt x="95305" y="129367"/>
                  </a:lnTo>
                  <a:lnTo>
                    <a:pt x="218518" y="129367"/>
                  </a:lnTo>
                  <a:lnTo>
                    <a:pt x="201408" y="116577"/>
                  </a:lnTo>
                  <a:lnTo>
                    <a:pt x="186466" y="113274"/>
                  </a:lnTo>
                  <a:lnTo>
                    <a:pt x="178842" y="113274"/>
                  </a:lnTo>
                  <a:lnTo>
                    <a:pt x="191032" y="108035"/>
                  </a:lnTo>
                  <a:lnTo>
                    <a:pt x="196414" y="102109"/>
                  </a:lnTo>
                  <a:lnTo>
                    <a:pt x="196175" y="91734"/>
                  </a:lnTo>
                  <a:lnTo>
                    <a:pt x="191502" y="73149"/>
                  </a:lnTo>
                  <a:lnTo>
                    <a:pt x="190937" y="71882"/>
                  </a:lnTo>
                  <a:close/>
                </a:path>
                <a:path w="236220" h="287020">
                  <a:moveTo>
                    <a:pt x="185661" y="113096"/>
                  </a:moveTo>
                  <a:lnTo>
                    <a:pt x="178842" y="113274"/>
                  </a:lnTo>
                  <a:lnTo>
                    <a:pt x="186466" y="113274"/>
                  </a:lnTo>
                  <a:lnTo>
                    <a:pt x="185661" y="113096"/>
                  </a:lnTo>
                  <a:close/>
                </a:path>
                <a:path w="236220" h="287020">
                  <a:moveTo>
                    <a:pt x="63327" y="10250"/>
                  </a:moveTo>
                  <a:lnTo>
                    <a:pt x="40354" y="17308"/>
                  </a:lnTo>
                  <a:lnTo>
                    <a:pt x="50364" y="56804"/>
                  </a:lnTo>
                  <a:lnTo>
                    <a:pt x="0" y="70123"/>
                  </a:lnTo>
                  <a:lnTo>
                    <a:pt x="6156" y="97180"/>
                  </a:lnTo>
                  <a:lnTo>
                    <a:pt x="32773" y="90311"/>
                  </a:lnTo>
                  <a:lnTo>
                    <a:pt x="85370" y="90311"/>
                  </a:lnTo>
                  <a:lnTo>
                    <a:pt x="118781" y="71882"/>
                  </a:lnTo>
                  <a:lnTo>
                    <a:pt x="190937" y="71882"/>
                  </a:lnTo>
                  <a:lnTo>
                    <a:pt x="183042" y="54174"/>
                  </a:lnTo>
                  <a:lnTo>
                    <a:pt x="179248" y="50898"/>
                  </a:lnTo>
                  <a:lnTo>
                    <a:pt x="73903" y="50898"/>
                  </a:lnTo>
                  <a:lnTo>
                    <a:pt x="63327" y="10250"/>
                  </a:lnTo>
                  <a:close/>
                </a:path>
                <a:path w="236220" h="287020">
                  <a:moveTo>
                    <a:pt x="106960" y="0"/>
                  </a:moveTo>
                  <a:lnTo>
                    <a:pt x="84007" y="7109"/>
                  </a:lnTo>
                  <a:lnTo>
                    <a:pt x="93986" y="46155"/>
                  </a:lnTo>
                  <a:lnTo>
                    <a:pt x="73903" y="50898"/>
                  </a:lnTo>
                  <a:lnTo>
                    <a:pt x="179248" y="50898"/>
                  </a:lnTo>
                  <a:lnTo>
                    <a:pt x="170916" y="43704"/>
                  </a:lnTo>
                  <a:lnTo>
                    <a:pt x="162091" y="41150"/>
                  </a:lnTo>
                  <a:lnTo>
                    <a:pt x="117724" y="41150"/>
                  </a:lnTo>
                  <a:lnTo>
                    <a:pt x="106960" y="0"/>
                  </a:lnTo>
                  <a:close/>
                </a:path>
                <a:path w="236220" h="287020">
                  <a:moveTo>
                    <a:pt x="137985" y="38532"/>
                  </a:moveTo>
                  <a:lnTo>
                    <a:pt x="133535" y="38543"/>
                  </a:lnTo>
                  <a:lnTo>
                    <a:pt x="126488" y="39600"/>
                  </a:lnTo>
                  <a:lnTo>
                    <a:pt x="117755" y="41129"/>
                  </a:lnTo>
                  <a:lnTo>
                    <a:pt x="162091" y="41150"/>
                  </a:lnTo>
                  <a:lnTo>
                    <a:pt x="155703" y="39301"/>
                  </a:lnTo>
                  <a:lnTo>
                    <a:pt x="137985" y="385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508763E-7635-BB3A-82D8-34CC84E7EC78}"/>
              </a:ext>
            </a:extLst>
          </p:cNvPr>
          <p:cNvGrpSpPr>
            <a:grpSpLocks noChangeAspect="1"/>
          </p:cNvGrpSpPr>
          <p:nvPr/>
        </p:nvGrpSpPr>
        <p:grpSpPr>
          <a:xfrm>
            <a:off x="17433732" y="8068378"/>
            <a:ext cx="1364129" cy="504000"/>
            <a:chOff x="13896592" y="8943387"/>
            <a:chExt cx="1121165" cy="414233"/>
          </a:xfrm>
        </p:grpSpPr>
        <p:pic>
          <p:nvPicPr>
            <p:cNvPr id="40" name="object 30">
              <a:extLst>
                <a:ext uri="{FF2B5EF4-FFF2-40B4-BE49-F238E27FC236}">
                  <a16:creationId xmlns:a16="http://schemas.microsoft.com/office/drawing/2014/main" id="{70EF3034-808B-878D-2043-E91CE04304A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96592" y="8943387"/>
              <a:ext cx="1121165" cy="414233"/>
            </a:xfrm>
            <a:prstGeom prst="rect">
              <a:avLst/>
            </a:prstGeom>
          </p:spPr>
        </p:pic>
        <p:pic>
          <p:nvPicPr>
            <p:cNvPr id="41" name="object 31">
              <a:extLst>
                <a:ext uri="{FF2B5EF4-FFF2-40B4-BE49-F238E27FC236}">
                  <a16:creationId xmlns:a16="http://schemas.microsoft.com/office/drawing/2014/main" id="{5C28A267-6078-C8E0-C13F-C4DC5E92C4A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238889" y="9066980"/>
              <a:ext cx="449780" cy="214947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1636F51-302F-7D16-D2BE-C8142EBBE705}"/>
              </a:ext>
            </a:extLst>
          </p:cNvPr>
          <p:cNvGrpSpPr>
            <a:grpSpLocks noChangeAspect="1"/>
          </p:cNvGrpSpPr>
          <p:nvPr/>
        </p:nvGrpSpPr>
        <p:grpSpPr>
          <a:xfrm>
            <a:off x="14296632" y="4283075"/>
            <a:ext cx="1243128" cy="1260000"/>
            <a:chOff x="10869113" y="8687151"/>
            <a:chExt cx="983608" cy="996958"/>
          </a:xfrm>
        </p:grpSpPr>
        <p:pic>
          <p:nvPicPr>
            <p:cNvPr id="42" name="object 32">
              <a:extLst>
                <a:ext uri="{FF2B5EF4-FFF2-40B4-BE49-F238E27FC236}">
                  <a16:creationId xmlns:a16="http://schemas.microsoft.com/office/drawing/2014/main" id="{7CC096FA-DDE3-6216-F094-C552E6832888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912722" y="8741967"/>
              <a:ext cx="906096" cy="905570"/>
            </a:xfrm>
            <a:prstGeom prst="rect">
              <a:avLst/>
            </a:prstGeom>
          </p:spPr>
        </p:pic>
        <p:sp>
          <p:nvSpPr>
            <p:cNvPr id="43" name="object 33">
              <a:extLst>
                <a:ext uri="{FF2B5EF4-FFF2-40B4-BE49-F238E27FC236}">
                  <a16:creationId xmlns:a16="http://schemas.microsoft.com/office/drawing/2014/main" id="{535BBD91-785F-E6DF-C0B0-458D08CC6603}"/>
                </a:ext>
              </a:extLst>
            </p:cNvPr>
            <p:cNvSpPr/>
            <p:nvPr/>
          </p:nvSpPr>
          <p:spPr>
            <a:xfrm>
              <a:off x="11260111" y="9312119"/>
              <a:ext cx="2340" cy="784"/>
            </a:xfrm>
            <a:custGeom>
              <a:avLst/>
              <a:gdLst/>
              <a:ahLst/>
              <a:cxnLst/>
              <a:rect l="l" t="t" r="r" b="b"/>
              <a:pathLst>
                <a:path w="1905" h="635">
                  <a:moveTo>
                    <a:pt x="1528" y="0"/>
                  </a:moveTo>
                  <a:lnTo>
                    <a:pt x="0" y="104"/>
                  </a:lnTo>
                  <a:lnTo>
                    <a:pt x="1581" y="188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rgbClr val="F9B533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pic>
          <p:nvPicPr>
            <p:cNvPr id="44" name="object 34">
              <a:extLst>
                <a:ext uri="{FF2B5EF4-FFF2-40B4-BE49-F238E27FC236}">
                  <a16:creationId xmlns:a16="http://schemas.microsoft.com/office/drawing/2014/main" id="{11856570-22F9-364E-D3A0-F59318F7793A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84054" y="9021186"/>
              <a:ext cx="345525" cy="347093"/>
            </a:xfrm>
            <a:prstGeom prst="rect">
              <a:avLst/>
            </a:prstGeom>
          </p:spPr>
        </p:pic>
        <p:pic>
          <p:nvPicPr>
            <p:cNvPr id="45" name="object 35">
              <a:extLst>
                <a:ext uri="{FF2B5EF4-FFF2-40B4-BE49-F238E27FC236}">
                  <a16:creationId xmlns:a16="http://schemas.microsoft.com/office/drawing/2014/main" id="{A2BA4092-DC92-CB05-E0BC-CB1A5E13738D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88272" y="9533894"/>
              <a:ext cx="123947" cy="124510"/>
            </a:xfrm>
            <a:prstGeom prst="rect">
              <a:avLst/>
            </a:prstGeom>
          </p:spPr>
        </p:pic>
        <p:pic>
          <p:nvPicPr>
            <p:cNvPr id="46" name="object 36">
              <a:extLst>
                <a:ext uri="{FF2B5EF4-FFF2-40B4-BE49-F238E27FC236}">
                  <a16:creationId xmlns:a16="http://schemas.microsoft.com/office/drawing/2014/main" id="{9355435D-52FC-6ED4-717C-367D6101A4F5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294836" y="9559587"/>
              <a:ext cx="123947" cy="124522"/>
            </a:xfrm>
            <a:prstGeom prst="rect">
              <a:avLst/>
            </a:prstGeom>
          </p:spPr>
        </p:pic>
        <p:pic>
          <p:nvPicPr>
            <p:cNvPr id="47" name="object 37">
              <a:extLst>
                <a:ext uri="{FF2B5EF4-FFF2-40B4-BE49-F238E27FC236}">
                  <a16:creationId xmlns:a16="http://schemas.microsoft.com/office/drawing/2014/main" id="{4F8B5BA5-FC4F-6DCF-07A2-65108335BFAD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652563" y="9471647"/>
              <a:ext cx="123934" cy="124510"/>
            </a:xfrm>
            <a:prstGeom prst="rect">
              <a:avLst/>
            </a:prstGeom>
          </p:spPr>
        </p:pic>
        <p:pic>
          <p:nvPicPr>
            <p:cNvPr id="48" name="object 38">
              <a:extLst>
                <a:ext uri="{FF2B5EF4-FFF2-40B4-BE49-F238E27FC236}">
                  <a16:creationId xmlns:a16="http://schemas.microsoft.com/office/drawing/2014/main" id="{B3787148-F810-8795-D1A2-A0367FFE17F0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728774" y="9159282"/>
              <a:ext cx="123947" cy="124522"/>
            </a:xfrm>
            <a:prstGeom prst="rect">
              <a:avLst/>
            </a:prstGeom>
          </p:spPr>
        </p:pic>
        <p:pic>
          <p:nvPicPr>
            <p:cNvPr id="49" name="object 39">
              <a:extLst>
                <a:ext uri="{FF2B5EF4-FFF2-40B4-BE49-F238E27FC236}">
                  <a16:creationId xmlns:a16="http://schemas.microsoft.com/office/drawing/2014/main" id="{0564509E-F42F-F533-FA47-DA4D38E1391F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702596" y="8904746"/>
              <a:ext cx="123934" cy="124522"/>
            </a:xfrm>
            <a:prstGeom prst="rect">
              <a:avLst/>
            </a:prstGeom>
          </p:spPr>
        </p:pic>
        <p:pic>
          <p:nvPicPr>
            <p:cNvPr id="50" name="object 40">
              <a:extLst>
                <a:ext uri="{FF2B5EF4-FFF2-40B4-BE49-F238E27FC236}">
                  <a16:creationId xmlns:a16="http://schemas.microsoft.com/office/drawing/2014/main" id="{A540C19D-E4DF-C31A-A59C-CC58BC28EA6D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278380" y="8687151"/>
              <a:ext cx="123947" cy="124522"/>
            </a:xfrm>
            <a:prstGeom prst="rect">
              <a:avLst/>
            </a:prstGeom>
          </p:spPr>
        </p:pic>
        <p:pic>
          <p:nvPicPr>
            <p:cNvPr id="51" name="object 41">
              <a:extLst>
                <a:ext uri="{FF2B5EF4-FFF2-40B4-BE49-F238E27FC236}">
                  <a16:creationId xmlns:a16="http://schemas.microsoft.com/office/drawing/2014/main" id="{B4E1620B-F38C-5D85-65CB-D90656A9436F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931080" y="8825993"/>
              <a:ext cx="123947" cy="124522"/>
            </a:xfrm>
            <a:prstGeom prst="rect">
              <a:avLst/>
            </a:prstGeom>
          </p:spPr>
        </p:pic>
        <p:pic>
          <p:nvPicPr>
            <p:cNvPr id="52" name="object 42">
              <a:extLst>
                <a:ext uri="{FF2B5EF4-FFF2-40B4-BE49-F238E27FC236}">
                  <a16:creationId xmlns:a16="http://schemas.microsoft.com/office/drawing/2014/main" id="{E2154B4F-B569-1980-46DB-8C892CBFCB9E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869113" y="9239195"/>
              <a:ext cx="123947" cy="124522"/>
            </a:xfrm>
            <a:prstGeom prst="rect">
              <a:avLst/>
            </a:prstGeom>
          </p:spPr>
        </p:pic>
      </p:grpSp>
      <p:pic>
        <p:nvPicPr>
          <p:cNvPr id="53" name="object 43">
            <a:extLst>
              <a:ext uri="{FF2B5EF4-FFF2-40B4-BE49-F238E27FC236}">
                <a16:creationId xmlns:a16="http://schemas.microsoft.com/office/drawing/2014/main" id="{4A1092BF-A625-BB12-9968-4435A332A673}"/>
              </a:ext>
            </a:extLst>
          </p:cNvPr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7590611" y="4394646"/>
            <a:ext cx="1075065" cy="1080000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93CE7575-B24D-2AC6-5E87-912A141DDF84}"/>
              </a:ext>
            </a:extLst>
          </p:cNvPr>
          <p:cNvGrpSpPr>
            <a:grpSpLocks noChangeAspect="1"/>
          </p:cNvGrpSpPr>
          <p:nvPr/>
        </p:nvGrpSpPr>
        <p:grpSpPr>
          <a:xfrm>
            <a:off x="13546835" y="8085669"/>
            <a:ext cx="2690743" cy="504000"/>
            <a:chOff x="15457235" y="8921743"/>
            <a:chExt cx="2211497" cy="414233"/>
          </a:xfrm>
        </p:grpSpPr>
        <p:pic>
          <p:nvPicPr>
            <p:cNvPr id="54" name="object 44">
              <a:extLst>
                <a:ext uri="{FF2B5EF4-FFF2-40B4-BE49-F238E27FC236}">
                  <a16:creationId xmlns:a16="http://schemas.microsoft.com/office/drawing/2014/main" id="{3D8B4A3E-E67C-8144-ABD9-CEA519F98E27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457235" y="8921743"/>
              <a:ext cx="1121164" cy="414233"/>
            </a:xfrm>
            <a:prstGeom prst="rect">
              <a:avLst/>
            </a:prstGeom>
          </p:spPr>
        </p:pic>
        <p:pic>
          <p:nvPicPr>
            <p:cNvPr id="55" name="object 45">
              <a:extLst>
                <a:ext uri="{FF2B5EF4-FFF2-40B4-BE49-F238E27FC236}">
                  <a16:creationId xmlns:a16="http://schemas.microsoft.com/office/drawing/2014/main" id="{3FD09995-E24C-555A-6879-B9FE20922F28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799531" y="9045336"/>
              <a:ext cx="449780" cy="214934"/>
            </a:xfrm>
            <a:prstGeom prst="rect">
              <a:avLst/>
            </a:prstGeom>
          </p:spPr>
        </p:pic>
        <p:pic>
          <p:nvPicPr>
            <p:cNvPr id="56" name="object 46">
              <a:extLst>
                <a:ext uri="{FF2B5EF4-FFF2-40B4-BE49-F238E27FC236}">
                  <a16:creationId xmlns:a16="http://schemas.microsoft.com/office/drawing/2014/main" id="{A8CFC9E7-E8E5-F901-692C-6EA21095DDCB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547541" y="8921743"/>
              <a:ext cx="1121191" cy="414233"/>
            </a:xfrm>
            <a:prstGeom prst="rect">
              <a:avLst/>
            </a:prstGeom>
          </p:spPr>
        </p:pic>
        <p:pic>
          <p:nvPicPr>
            <p:cNvPr id="57" name="object 47">
              <a:extLst>
                <a:ext uri="{FF2B5EF4-FFF2-40B4-BE49-F238E27FC236}">
                  <a16:creationId xmlns:a16="http://schemas.microsoft.com/office/drawing/2014/main" id="{7641C39B-3A6D-FC19-5CDF-DD6A8A2B3765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889852" y="9045336"/>
              <a:ext cx="449767" cy="214934"/>
            </a:xfrm>
            <a:prstGeom prst="rect">
              <a:avLst/>
            </a:prstGeom>
          </p:spPr>
        </p:pic>
        <p:pic>
          <p:nvPicPr>
            <p:cNvPr id="58" name="object 48">
              <a:extLst>
                <a:ext uri="{FF2B5EF4-FFF2-40B4-BE49-F238E27FC236}">
                  <a16:creationId xmlns:a16="http://schemas.microsoft.com/office/drawing/2014/main" id="{BD1E3A76-AF84-D062-7E11-9F51B3F1EA50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337411" y="9045336"/>
              <a:ext cx="449780" cy="214934"/>
            </a:xfrm>
            <a:prstGeom prst="rect">
              <a:avLst/>
            </a:prstGeom>
          </p:spPr>
        </p:pic>
      </p:grpSp>
      <p:pic>
        <p:nvPicPr>
          <p:cNvPr id="60" name="object 50">
            <a:extLst>
              <a:ext uri="{FF2B5EF4-FFF2-40B4-BE49-F238E27FC236}">
                <a16:creationId xmlns:a16="http://schemas.microsoft.com/office/drawing/2014/main" id="{D434B90A-C920-8D60-0562-3B717DEDC8C5}"/>
              </a:ext>
            </a:extLst>
          </p:cNvPr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10962776" y="4283075"/>
            <a:ext cx="1305291" cy="1260000"/>
          </a:xfrm>
          <a:prstGeom prst="rect">
            <a:avLst/>
          </a:prstGeom>
        </p:spPr>
      </p:pic>
      <p:sp>
        <p:nvSpPr>
          <p:cNvPr id="62" name="object 52">
            <a:extLst>
              <a:ext uri="{FF2B5EF4-FFF2-40B4-BE49-F238E27FC236}">
                <a16:creationId xmlns:a16="http://schemas.microsoft.com/office/drawing/2014/main" id="{2510BCBA-7AE3-14A1-7FC6-2287EF8A8F89}"/>
              </a:ext>
            </a:extLst>
          </p:cNvPr>
          <p:cNvSpPr txBox="1"/>
          <p:nvPr/>
        </p:nvSpPr>
        <p:spPr>
          <a:xfrm>
            <a:off x="10943546" y="5826366"/>
            <a:ext cx="1343749" cy="8634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69850" algn="ctr">
              <a:lnSpc>
                <a:spcPct val="104099"/>
              </a:lnSpc>
              <a:spcBef>
                <a:spcPts val="90"/>
              </a:spcBef>
            </a:pPr>
            <a:r>
              <a:rPr lang="pt-PT" spc="-10" dirty="0">
                <a:solidFill>
                  <a:srgbClr val="58595B"/>
                </a:solidFill>
                <a:latin typeface="Open Sans"/>
                <a:cs typeface="Open Sans"/>
              </a:rPr>
              <a:t>Alguém solicita uma transação</a:t>
            </a:r>
            <a:endParaRPr lang="pt-PT" dirty="0">
              <a:solidFill>
                <a:srgbClr val="58595B"/>
              </a:solidFill>
              <a:latin typeface="Open Sans"/>
              <a:cs typeface="Open Sans"/>
            </a:endParaRPr>
          </a:p>
        </p:txBody>
      </p:sp>
      <p:sp>
        <p:nvSpPr>
          <p:cNvPr id="63" name="object 53">
            <a:extLst>
              <a:ext uri="{FF2B5EF4-FFF2-40B4-BE49-F238E27FC236}">
                <a16:creationId xmlns:a16="http://schemas.microsoft.com/office/drawing/2014/main" id="{8D678270-E9A5-2FF8-438E-04236099A05E}"/>
              </a:ext>
            </a:extLst>
          </p:cNvPr>
          <p:cNvSpPr txBox="1"/>
          <p:nvPr/>
        </p:nvSpPr>
        <p:spPr>
          <a:xfrm>
            <a:off x="13898089" y="5826366"/>
            <a:ext cx="2029832" cy="116435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635" algn="ctr">
              <a:lnSpc>
                <a:spcPct val="104099"/>
              </a:lnSpc>
              <a:spcBef>
                <a:spcPts val="90"/>
              </a:spcBef>
            </a:pPr>
            <a:r>
              <a:rPr lang="pt-PT" spc="-10" dirty="0">
                <a:solidFill>
                  <a:srgbClr val="58595B"/>
                </a:solidFill>
                <a:latin typeface="Open Sans"/>
                <a:cs typeface="Open Sans"/>
              </a:rPr>
              <a:t>A transação é transmitida para os computadores</a:t>
            </a:r>
          </a:p>
          <a:p>
            <a:pPr marL="12700" marR="5080" indent="-635" algn="ctr">
              <a:lnSpc>
                <a:spcPct val="104099"/>
              </a:lnSpc>
              <a:spcBef>
                <a:spcPts val="90"/>
              </a:spcBef>
            </a:pPr>
            <a:r>
              <a:rPr lang="pt-PT" spc="-10" dirty="0">
                <a:solidFill>
                  <a:srgbClr val="58595B"/>
                </a:solidFill>
                <a:latin typeface="Open Sans"/>
                <a:cs typeface="Open Sans"/>
              </a:rPr>
              <a:t>P2P (nós)</a:t>
            </a:r>
          </a:p>
        </p:txBody>
      </p:sp>
      <p:sp>
        <p:nvSpPr>
          <p:cNvPr id="64" name="object 54">
            <a:extLst>
              <a:ext uri="{FF2B5EF4-FFF2-40B4-BE49-F238E27FC236}">
                <a16:creationId xmlns:a16="http://schemas.microsoft.com/office/drawing/2014/main" id="{770F0A8D-96D5-B800-96DC-31D06095D624}"/>
              </a:ext>
            </a:extLst>
          </p:cNvPr>
          <p:cNvSpPr txBox="1"/>
          <p:nvPr/>
        </p:nvSpPr>
        <p:spPr>
          <a:xfrm>
            <a:off x="17113227" y="5826366"/>
            <a:ext cx="2029832" cy="8634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indent="33020" algn="ctr">
              <a:lnSpc>
                <a:spcPct val="104099"/>
              </a:lnSpc>
              <a:spcBef>
                <a:spcPts val="90"/>
              </a:spcBef>
            </a:pPr>
            <a:r>
              <a:rPr lang="pt-PT" spc="-10" dirty="0">
                <a:solidFill>
                  <a:srgbClr val="58595B"/>
                </a:solidFill>
                <a:latin typeface="Open Sans"/>
                <a:cs typeface="Open Sans"/>
              </a:rPr>
              <a:t>Os mineradores verificam a transação</a:t>
            </a:r>
          </a:p>
        </p:txBody>
      </p:sp>
      <p:sp>
        <p:nvSpPr>
          <p:cNvPr id="65" name="object 55">
            <a:extLst>
              <a:ext uri="{FF2B5EF4-FFF2-40B4-BE49-F238E27FC236}">
                <a16:creationId xmlns:a16="http://schemas.microsoft.com/office/drawing/2014/main" id="{D768A0AA-B99B-FA0A-F305-9D7B7CF050D6}"/>
              </a:ext>
            </a:extLst>
          </p:cNvPr>
          <p:cNvSpPr txBox="1"/>
          <p:nvPr/>
        </p:nvSpPr>
        <p:spPr>
          <a:xfrm>
            <a:off x="16738367" y="9181978"/>
            <a:ext cx="2762483" cy="8634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635" algn="ctr">
              <a:lnSpc>
                <a:spcPct val="104099"/>
              </a:lnSpc>
              <a:spcBef>
                <a:spcPts val="90"/>
              </a:spcBef>
            </a:pPr>
            <a:r>
              <a:rPr lang="pt-PT" spc="-10" dirty="0">
                <a:solidFill>
                  <a:srgbClr val="58595B"/>
                </a:solidFill>
                <a:latin typeface="Open Sans"/>
                <a:cs typeface="Open Sans"/>
              </a:rPr>
              <a:t>As transações são combinadas para formar um bloco de dados</a:t>
            </a:r>
          </a:p>
        </p:txBody>
      </p:sp>
      <p:sp>
        <p:nvSpPr>
          <p:cNvPr id="66" name="object 56">
            <a:extLst>
              <a:ext uri="{FF2B5EF4-FFF2-40B4-BE49-F238E27FC236}">
                <a16:creationId xmlns:a16="http://schemas.microsoft.com/office/drawing/2014/main" id="{1A41D0FD-9101-E4EE-68A6-CD7F1B4BDA05}"/>
              </a:ext>
            </a:extLst>
          </p:cNvPr>
          <p:cNvSpPr txBox="1"/>
          <p:nvPr/>
        </p:nvSpPr>
        <p:spPr>
          <a:xfrm>
            <a:off x="13832591" y="9181978"/>
            <a:ext cx="2317478" cy="8634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4099"/>
              </a:lnSpc>
              <a:spcBef>
                <a:spcPts val="90"/>
              </a:spcBef>
            </a:pPr>
            <a:r>
              <a:rPr lang="pt-PT" spc="-10" dirty="0">
                <a:solidFill>
                  <a:srgbClr val="58595B"/>
                </a:solidFill>
                <a:latin typeface="Open Sans"/>
                <a:cs typeface="Open Sans"/>
              </a:rPr>
              <a:t>O novo bloco é adicionado à blockchain existente</a:t>
            </a:r>
          </a:p>
        </p:txBody>
      </p:sp>
      <p:sp>
        <p:nvSpPr>
          <p:cNvPr id="70" name="object 56">
            <a:extLst>
              <a:ext uri="{FF2B5EF4-FFF2-40B4-BE49-F238E27FC236}">
                <a16:creationId xmlns:a16="http://schemas.microsoft.com/office/drawing/2014/main" id="{1782F19B-3BB8-FDA1-0E4E-50F2CB4C48BA}"/>
              </a:ext>
            </a:extLst>
          </p:cNvPr>
          <p:cNvSpPr txBox="1"/>
          <p:nvPr/>
        </p:nvSpPr>
        <p:spPr>
          <a:xfrm>
            <a:off x="10852432" y="9181978"/>
            <a:ext cx="1525975" cy="575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4099"/>
              </a:lnSpc>
              <a:spcBef>
                <a:spcPts val="90"/>
              </a:spcBef>
            </a:pPr>
            <a:r>
              <a:rPr lang="pt-PT" spc="-10" dirty="0">
                <a:solidFill>
                  <a:srgbClr val="58595B"/>
                </a:solidFill>
                <a:latin typeface="Open Sans"/>
                <a:cs typeface="Open Sans"/>
              </a:rPr>
              <a:t>A transação está completa</a:t>
            </a:r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66507BB5-0DD9-9B6E-94FC-4B2453B4A73E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12583331" y="8183578"/>
            <a:ext cx="417600" cy="360000"/>
          </a:xfrm>
          <a:prstGeom prst="triangle">
            <a:avLst/>
          </a:prstGeom>
          <a:solidFill>
            <a:srgbClr val="3925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DF2D8542-9FAE-31D9-B65C-D4B1C36B7FCC}"/>
              </a:ext>
            </a:extLst>
          </p:cNvPr>
          <p:cNvSpPr>
            <a:spLocks noChangeAspect="1"/>
          </p:cNvSpPr>
          <p:nvPr/>
        </p:nvSpPr>
        <p:spPr>
          <a:xfrm rot="5400000">
            <a:off x="13103750" y="4800773"/>
            <a:ext cx="417600" cy="360000"/>
          </a:xfrm>
          <a:prstGeom prst="triangle">
            <a:avLst/>
          </a:prstGeom>
          <a:solidFill>
            <a:srgbClr val="3925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6FCDB20F-5286-2D7F-7218-1739A295D88B}"/>
              </a:ext>
            </a:extLst>
          </p:cNvPr>
          <p:cNvSpPr>
            <a:spLocks noChangeAspect="1"/>
          </p:cNvSpPr>
          <p:nvPr/>
        </p:nvSpPr>
        <p:spPr>
          <a:xfrm rot="5400000">
            <a:off x="16366803" y="4800860"/>
            <a:ext cx="417600" cy="360000"/>
          </a:xfrm>
          <a:prstGeom prst="triangle">
            <a:avLst/>
          </a:prstGeom>
          <a:solidFill>
            <a:srgbClr val="3925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0E6AF4C9-088F-DCB9-3EBF-6D77D935B8E2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16642931" y="8183578"/>
            <a:ext cx="417600" cy="360000"/>
          </a:xfrm>
          <a:prstGeom prst="triangle">
            <a:avLst/>
          </a:prstGeom>
          <a:solidFill>
            <a:srgbClr val="3925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CB460322-6745-0FE8-6EF6-428A6AADB601}"/>
              </a:ext>
            </a:extLst>
          </p:cNvPr>
          <p:cNvSpPr>
            <a:spLocks noChangeAspect="1"/>
          </p:cNvSpPr>
          <p:nvPr/>
        </p:nvSpPr>
        <p:spPr>
          <a:xfrm rot="10800000">
            <a:off x="17984943" y="7090717"/>
            <a:ext cx="417600" cy="360000"/>
          </a:xfrm>
          <a:prstGeom prst="triangle">
            <a:avLst/>
          </a:prstGeom>
          <a:solidFill>
            <a:srgbClr val="3925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57638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D7437-AFCF-4748-16BF-BEFC1E48D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7.5 Poupar em bitcoin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05DA5D2-CA68-1209-8E59-F826D7D2C83D}"/>
              </a:ext>
            </a:extLst>
          </p:cNvPr>
          <p:cNvSpPr txBox="1">
            <a:spLocks/>
          </p:cNvSpPr>
          <p:nvPr/>
        </p:nvSpPr>
        <p:spPr>
          <a:xfrm>
            <a:off x="1350963" y="2454275"/>
            <a:ext cx="5580000" cy="3420000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5000"/>
              </a:prstClr>
            </a:innerShdw>
          </a:effectLst>
        </p:spPr>
        <p:txBody>
          <a:bodyPr vert="horz" wrap="square" lIns="144000" tIns="251999" rIns="108000" bIns="251999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lang="en-PT"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lnSpc>
                <a:spcPct val="170000"/>
              </a:lnSpc>
              <a:spcAft>
                <a:spcPts val="1600"/>
              </a:spcAft>
              <a:buSzPct val="125000"/>
              <a:buNone/>
            </a:pPr>
            <a:r>
              <a:rPr lang="pt-PT" sz="3000" b="1" dirty="0">
                <a:solidFill>
                  <a:srgbClr val="FBB040"/>
                </a:solidFill>
              </a:rPr>
              <a:t>Proteção contra inflação</a:t>
            </a:r>
          </a:p>
          <a:p>
            <a:pPr marL="0" indent="0" algn="ctr" fontAlgn="base">
              <a:lnSpc>
                <a:spcPct val="170000"/>
              </a:lnSpc>
              <a:spcAft>
                <a:spcPts val="1600"/>
              </a:spcAft>
              <a:buSzPct val="125000"/>
              <a:buNone/>
            </a:pPr>
            <a:r>
              <a:rPr lang="pt-PT" sz="2800" dirty="0"/>
              <a:t>Bitcoin preserva o valor do teu dinheiro ao longo do tempo.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B61CE4E-E91B-F35E-E9B0-49BEAD2DD210}"/>
              </a:ext>
            </a:extLst>
          </p:cNvPr>
          <p:cNvSpPr txBox="1">
            <a:spLocks/>
          </p:cNvSpPr>
          <p:nvPr/>
        </p:nvSpPr>
        <p:spPr>
          <a:xfrm>
            <a:off x="7228714" y="2454275"/>
            <a:ext cx="5580000" cy="3420000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5000"/>
              </a:prstClr>
            </a:innerShdw>
          </a:effectLst>
        </p:spPr>
        <p:txBody>
          <a:bodyPr vert="horz" wrap="square" lIns="144000" tIns="251999" rIns="108000" bIns="251999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lang="en-PT"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lnSpc>
                <a:spcPct val="170000"/>
              </a:lnSpc>
              <a:spcAft>
                <a:spcPts val="1600"/>
              </a:spcAft>
              <a:buSzPct val="125000"/>
              <a:buNone/>
            </a:pPr>
            <a:r>
              <a:rPr lang="pt-PT" sz="3000" b="1" dirty="0">
                <a:solidFill>
                  <a:srgbClr val="FBB040"/>
                </a:solidFill>
              </a:rPr>
              <a:t>Independência financeira</a:t>
            </a:r>
          </a:p>
          <a:p>
            <a:pPr marL="0" indent="0" algn="ctr" fontAlgn="base">
              <a:lnSpc>
                <a:spcPct val="170000"/>
              </a:lnSpc>
              <a:spcAft>
                <a:spcPts val="1600"/>
              </a:spcAft>
              <a:buSzPct val="125000"/>
              <a:buNone/>
            </a:pPr>
            <a:r>
              <a:rPr lang="pt-PT" sz="2800" dirty="0"/>
              <a:t>Não pode ser controlado nem confiscado por terceiros.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68554FEF-BBAA-9ADF-3A4C-1ADC5FD3173C}"/>
              </a:ext>
            </a:extLst>
          </p:cNvPr>
          <p:cNvSpPr txBox="1">
            <a:spLocks/>
          </p:cNvSpPr>
          <p:nvPr/>
        </p:nvSpPr>
        <p:spPr>
          <a:xfrm>
            <a:off x="7228714" y="6188075"/>
            <a:ext cx="5576400" cy="4178711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5000"/>
              </a:prstClr>
            </a:innerShdw>
          </a:effectLst>
        </p:spPr>
        <p:txBody>
          <a:bodyPr vert="horz" wrap="square" lIns="144000" tIns="251999" rIns="108000" bIns="251999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lang="en-PT"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lnSpc>
                <a:spcPct val="170000"/>
              </a:lnSpc>
              <a:spcAft>
                <a:spcPts val="1600"/>
              </a:spcAft>
              <a:buSzPct val="125000"/>
              <a:buNone/>
            </a:pPr>
            <a:r>
              <a:rPr lang="pt-PT" sz="3000" b="1" dirty="0">
                <a:solidFill>
                  <a:srgbClr val="FBB040"/>
                </a:solidFill>
              </a:rPr>
              <a:t>Poupança a longo prazo</a:t>
            </a:r>
          </a:p>
          <a:p>
            <a:pPr marL="0" indent="0" algn="ctr" fontAlgn="base">
              <a:lnSpc>
                <a:spcPct val="170000"/>
              </a:lnSpc>
              <a:spcAft>
                <a:spcPts val="1600"/>
              </a:spcAft>
              <a:buSzPct val="125000"/>
              <a:buNone/>
            </a:pPr>
            <a:r>
              <a:rPr lang="pt-PT" sz="2800" dirty="0"/>
              <a:t>Guardar e acumular bitcoin é investir no teu futuro e no da tua família.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5D4BE4C6-FD06-9A5A-06FD-D57076BA524B}"/>
              </a:ext>
            </a:extLst>
          </p:cNvPr>
          <p:cNvSpPr txBox="1">
            <a:spLocks/>
          </p:cNvSpPr>
          <p:nvPr/>
        </p:nvSpPr>
        <p:spPr>
          <a:xfrm>
            <a:off x="1350963" y="6188075"/>
            <a:ext cx="5580000" cy="4178711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5000"/>
              </a:prstClr>
            </a:innerShdw>
          </a:effectLst>
        </p:spPr>
        <p:txBody>
          <a:bodyPr vert="horz" wrap="square" lIns="144000" tIns="251999" rIns="108000" bIns="251999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lang="en-PT"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lnSpc>
                <a:spcPct val="170000"/>
              </a:lnSpc>
              <a:spcAft>
                <a:spcPts val="1600"/>
              </a:spcAft>
              <a:buSzPct val="125000"/>
              <a:buNone/>
            </a:pPr>
            <a:r>
              <a:rPr lang="pt-PT" b="1" dirty="0">
                <a:solidFill>
                  <a:srgbClr val="FBB040"/>
                </a:solidFill>
              </a:rPr>
              <a:t>Tranquilidade</a:t>
            </a:r>
            <a:endParaRPr lang="pt-PT" sz="3000" b="1" dirty="0">
              <a:solidFill>
                <a:srgbClr val="FBB040"/>
              </a:solidFill>
            </a:endParaRPr>
          </a:p>
          <a:p>
            <a:pPr marL="0" indent="0" algn="ctr" fontAlgn="base">
              <a:lnSpc>
                <a:spcPct val="170000"/>
              </a:lnSpc>
              <a:spcAft>
                <a:spcPts val="1600"/>
              </a:spcAft>
              <a:buSzPct val="125000"/>
              <a:buNone/>
            </a:pPr>
            <a:r>
              <a:rPr lang="pt-PT" sz="3000" dirty="0"/>
              <a:t>Quando bem armazenado, é a única forma de propriedade verdadeiramente tua.</a:t>
            </a:r>
          </a:p>
          <a:p>
            <a:pPr marL="0" indent="0" algn="ctr" fontAlgn="base">
              <a:lnSpc>
                <a:spcPct val="170000"/>
              </a:lnSpc>
              <a:spcAft>
                <a:spcPts val="1600"/>
              </a:spcAft>
              <a:buSzPct val="125000"/>
              <a:buNone/>
            </a:pPr>
            <a:endParaRPr lang="pt-PT" sz="3000" dirty="0"/>
          </a:p>
        </p:txBody>
      </p:sp>
      <p:pic>
        <p:nvPicPr>
          <p:cNvPr id="1030" name="Picture 6" descr="5+ Thousand Bitcoin Pig Royalty-Free Images, Stock Photos &amp; Pictures |  Shutterstock">
            <a:extLst>
              <a:ext uri="{FF2B5EF4-FFF2-40B4-BE49-F238E27FC236}">
                <a16:creationId xmlns:a16="http://schemas.microsoft.com/office/drawing/2014/main" id="{47C146A7-134B-061E-12E8-13AE84466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8650" y="2759075"/>
            <a:ext cx="7620000" cy="7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079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117A6-6C0D-BD9D-DDA6-EADEE2F78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7.6 Não confies, verifica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56515-A51F-4D21-3D67-DB8BC26A6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3902075"/>
            <a:ext cx="17338675" cy="4648200"/>
          </a:xfrm>
        </p:spPr>
        <p:txBody>
          <a:bodyPr>
            <a:normAutofit/>
          </a:bodyPr>
          <a:lstStyle/>
          <a:p>
            <a:pPr marL="592138" indent="-592138" fontAlgn="base">
              <a:lnSpc>
                <a:spcPct val="19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sz="3150" dirty="0"/>
              <a:t>O Bitcoin não tem líderes nem autoridades centrais.</a:t>
            </a:r>
          </a:p>
          <a:p>
            <a:pPr marL="592138" indent="-592138" fontAlgn="base">
              <a:lnSpc>
                <a:spcPct val="19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sz="3150" dirty="0"/>
              <a:t>Desconfia de promessas de lucro fácil ou de projetos que dizem ser “o próximo Bitcoin”.</a:t>
            </a:r>
          </a:p>
          <a:p>
            <a:pPr marL="592138" indent="-592138" fontAlgn="base">
              <a:lnSpc>
                <a:spcPct val="19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sz="3150" dirty="0"/>
              <a:t>Ao verificares a informação, proteges o teu bitcoin e o teu dinheiro.</a:t>
            </a:r>
          </a:p>
          <a:p>
            <a:pPr marL="592138" indent="-592138" fontAlgn="base">
              <a:lnSpc>
                <a:spcPct val="19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sz="3150" dirty="0"/>
              <a:t>Seguindo este princípio, ganhas autonomia, segurança e confiança no uso do Bitcoin.</a:t>
            </a:r>
          </a:p>
        </p:txBody>
      </p:sp>
      <p:pic>
        <p:nvPicPr>
          <p:cNvPr id="5126" name="Picture 6" descr="Digital Investigation Stock Illustrations – 14,631 Digital Investigation  Stock Illustrations, Vectors &amp; Clipart - Dreamstime">
            <a:extLst>
              <a:ext uri="{FF2B5EF4-FFF2-40B4-BE49-F238E27FC236}">
                <a16:creationId xmlns:a16="http://schemas.microsoft.com/office/drawing/2014/main" id="{38FF5015-C4E3-5987-5569-DFFD28DB11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50" t="15000" r="6250" b="14500"/>
          <a:stretch>
            <a:fillRect/>
          </a:stretch>
        </p:blipFill>
        <p:spPr bwMode="auto">
          <a:xfrm>
            <a:off x="13785850" y="601664"/>
            <a:ext cx="3660435" cy="3910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44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5C804049-FBAA-4F11-AD08-1A3A749D7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78460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2287</TotalTime>
  <Words>1031</Words>
  <Application>Microsoft Macintosh PowerPoint</Application>
  <PresentationFormat>Custom</PresentationFormat>
  <Paragraphs>146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Open Sans</vt:lpstr>
      <vt:lpstr>Open Sans Light</vt:lpstr>
      <vt:lpstr>Ubuntu Light</vt:lpstr>
      <vt:lpstr>1_Custom Design</vt:lpstr>
      <vt:lpstr>Como usar o bitcoin</vt:lpstr>
      <vt:lpstr>7.0 Introdução</vt:lpstr>
      <vt:lpstr>7.1 Adquirir e transferir bitcoin</vt:lpstr>
      <vt:lpstr>7.1 Adquirir e transferir bitcoin</vt:lpstr>
      <vt:lpstr>7.1 Adquirir e transferir bitcoin</vt:lpstr>
      <vt:lpstr>7.2 Uma introdução às carteiras Bitcoin</vt:lpstr>
      <vt:lpstr>7.2.1 Carteiras custodiais e não-custodiais</vt:lpstr>
      <vt:lpstr>7.2.1 Carteiras custodiais e não-custodiais</vt:lpstr>
      <vt:lpstr>7.2.2 Diferentes tipos de carteiras Bitcoin</vt:lpstr>
      <vt:lpstr>7.2.2 Diferentes tipos de carteiras Bitcoin</vt:lpstr>
      <vt:lpstr>7.2.2 Diferentes tipos de carteiras Bitcoin</vt:lpstr>
      <vt:lpstr>7.3 Configurar uma carteira móvel de Bitcoin</vt:lpstr>
      <vt:lpstr>7.4 Receber e enviar transações</vt:lpstr>
      <vt:lpstr>7.5 Poupar em bitcoin</vt:lpstr>
      <vt:lpstr>7.6 Não confies, verifica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</dc:title>
  <dc:creator>z2020</dc:creator>
  <cp:lastModifiedBy>INES RAMALHETE SALVADO PAZ LOURO</cp:lastModifiedBy>
  <cp:revision>214</cp:revision>
  <cp:lastPrinted>2025-11-02T10:39:49Z</cp:lastPrinted>
  <dcterms:created xsi:type="dcterms:W3CDTF">2024-11-12T03:26:48Z</dcterms:created>
  <dcterms:modified xsi:type="dcterms:W3CDTF">2025-11-09T03:40:57Z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2024-11-12T00:00:00Z</vt:filetime>
  </property>
  <property fmtid="{D5CDD505-2E9C-101B-9397-08002B2CF9AE}" pid="3" name="Creator">
    <vt:lpwstr>Adobe Illustrator 29.0 (Windows)</vt:lpwstr>
  </property>
  <property fmtid="{D5CDD505-2E9C-101B-9397-08002B2CF9AE}" pid="4" name="LastSaved">
    <vt:filetime>2024-11-12T00:00:00Z</vt:filetime>
  </property>
  <property fmtid="{D5CDD505-2E9C-101B-9397-08002B2CF9AE}" pid="5" name="Producer">
    <vt:lpwstr>Adobe PDF library 17.00</vt:lpwstr>
  </property>
</Properties>
</file>