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17"/>
  </p:notesMasterIdLst>
  <p:sldIdLst>
    <p:sldId id="260" r:id="rId2"/>
    <p:sldId id="276" r:id="rId3"/>
    <p:sldId id="278" r:id="rId4"/>
    <p:sldId id="279" r:id="rId5"/>
    <p:sldId id="275" r:id="rId6"/>
    <p:sldId id="281" r:id="rId7"/>
    <p:sldId id="291" r:id="rId8"/>
    <p:sldId id="333" r:id="rId9"/>
    <p:sldId id="334" r:id="rId10"/>
    <p:sldId id="335" r:id="rId11"/>
    <p:sldId id="336" r:id="rId12"/>
    <p:sldId id="349" r:id="rId13"/>
    <p:sldId id="350" r:id="rId14"/>
    <p:sldId id="269" r:id="rId15"/>
    <p:sldId id="268" r:id="rId1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FB3"/>
    <a:srgbClr val="CCDEF9"/>
    <a:srgbClr val="F9B84C"/>
    <a:srgbClr val="FFDC74"/>
    <a:srgbClr val="FFB75D"/>
    <a:srgbClr val="FF9E1D"/>
    <a:srgbClr val="FFBC58"/>
    <a:srgbClr val="BCBCBC"/>
    <a:srgbClr val="A4A4A4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3918"/>
  </p:normalViewPr>
  <p:slideViewPr>
    <p:cSldViewPr>
      <p:cViewPr varScale="1">
        <p:scale>
          <a:sx n="62" d="100"/>
          <a:sy n="62" d="100"/>
        </p:scale>
        <p:origin x="124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09/11/2025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51675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5A494-18A4-3286-2089-BFAA5EAA9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54B7B-FE0B-6C9C-63B5-E3EAC19EB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6BA40-724F-206C-8C6F-E26EEF195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77C43-5B55-15C4-EBFB-AA8A39652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78744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93F1-55C4-CE96-5879-B5BE9875F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15F612-168B-11C4-0167-8725B1EEF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F6960-DBD6-8665-86A7-ADD24C19E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A2D24-76F6-B4DB-49FF-F0E5F5DB7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3726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906EF-074F-36B1-517B-391937DDE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6861" y="598216"/>
            <a:ext cx="10177701" cy="10112919"/>
          </a:xfrm>
        </p:spPr>
        <p:txBody>
          <a:bodyPr/>
          <a:lstStyle>
            <a:lvl1pPr>
              <a:defRPr sz="5277" b="0" i="0">
                <a:latin typeface="Avenir Light" panose="020B0402020203020204" pitchFamily="34" charset="77"/>
              </a:defRPr>
            </a:lvl1pPr>
            <a:lvl2pPr>
              <a:defRPr sz="4617" b="0" i="0"/>
            </a:lvl2pPr>
            <a:lvl3pPr>
              <a:defRPr sz="3958" b="0" i="0"/>
            </a:lvl3pPr>
            <a:lvl4pPr>
              <a:defRPr sz="3298" b="0" i="0"/>
            </a:lvl4pPr>
            <a:lvl5pPr>
              <a:defRPr sz="3298" b="0" i="0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44CB8-65BF-9F64-500B-A226371F3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4776" y="2193328"/>
            <a:ext cx="6484095" cy="8517807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3298" b="0" i="0">
                <a:latin typeface="Avenir Light" panose="020B0402020203020204" pitchFamily="34" charset="77"/>
              </a:defRPr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F745174-D40C-4A1A-DEC9-05F4721B5B6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84776" y="598216"/>
            <a:ext cx="6484095" cy="1329706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5936" b="0" i="0">
                <a:latin typeface="Avenir Medium" panose="02000503020000020003" pitchFamily="2" charset="0"/>
              </a:defRPr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n-GB" dirty="0"/>
              <a:t>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81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úvi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E3253F-773F-42FB-EB13-8F960268D436}"/>
              </a:ext>
            </a:extLst>
          </p:cNvPr>
          <p:cNvSpPr txBox="1">
            <a:spLocks/>
          </p:cNvSpPr>
          <p:nvPr userDrawn="1"/>
        </p:nvSpPr>
        <p:spPr>
          <a:xfrm>
            <a:off x="1382713" y="4918870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 err="1"/>
              <a:t>Esclarecimento</a:t>
            </a:r>
            <a:r>
              <a:rPr lang="en-GB" dirty="0"/>
              <a:t> de </a:t>
            </a:r>
            <a:r>
              <a:rPr lang="en-GB" dirty="0" err="1"/>
              <a:t>dúvidas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50785F-F9BE-8C2E-1CC4-AC143A747D6E}"/>
              </a:ext>
            </a:extLst>
          </p:cNvPr>
          <p:cNvGrpSpPr/>
          <p:nvPr userDrawn="1"/>
        </p:nvGrpSpPr>
        <p:grpSpPr>
          <a:xfrm>
            <a:off x="1382713" y="7788275"/>
            <a:ext cx="2819364" cy="3498604"/>
            <a:chOff x="10661650" y="7173860"/>
            <a:chExt cx="2819364" cy="3498604"/>
          </a:xfrm>
        </p:grpSpPr>
        <p:pic>
          <p:nvPicPr>
            <p:cNvPr id="2052" name="Picture 4" descr="Thinking Bubble, Thought, Creative Free PNG">
              <a:extLst>
                <a:ext uri="{FF2B5EF4-FFF2-40B4-BE49-F238E27FC236}">
                  <a16:creationId xmlns:a16="http://schemas.microsoft.com/office/drawing/2014/main" id="{6C240295-4B5D-5F2D-2499-C58A304CF1F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63873">
              <a:off x="12338014" y="7173860"/>
              <a:ext cx="1143000" cy="1209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object 49">
              <a:extLst>
                <a:ext uri="{FF2B5EF4-FFF2-40B4-BE49-F238E27FC236}">
                  <a16:creationId xmlns:a16="http://schemas.microsoft.com/office/drawing/2014/main" id="{3BF697C5-C66F-8CDC-DA2C-04341361A8CF}"/>
                </a:ext>
              </a:extLst>
            </p:cNvPr>
            <p:cNvPicPr/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0661650" y="8093075"/>
              <a:ext cx="2134792" cy="257938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D1189C-F066-647C-9B72-285F8BC82E36}"/>
                </a:ext>
              </a:extLst>
            </p:cNvPr>
            <p:cNvSpPr txBox="1"/>
            <p:nvPr userDrawn="1"/>
          </p:nvSpPr>
          <p:spPr>
            <a:xfrm>
              <a:off x="12719050" y="7323634"/>
              <a:ext cx="457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4000" b="1" i="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304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bitcoin.org/en/choose-your-wallet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Como usar o bitcoin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Demonstração: Plataformas de compra e venda</a:t>
            </a:r>
          </a:p>
          <a:p>
            <a:r>
              <a:rPr lang="pt-PT" dirty="0"/>
              <a:t>Atividade: Avaliação de turma de carteiras Bitcoin</a:t>
            </a:r>
          </a:p>
          <a:p>
            <a:r>
              <a:rPr lang="pt-PT" dirty="0"/>
              <a:t>Atividade: Configurar, eliminar e recuperar uma carteira Bitcoin</a:t>
            </a:r>
          </a:p>
          <a:p>
            <a:r>
              <a:rPr lang="pt-PT" dirty="0"/>
              <a:t>Atividade: Enviar e receber bitcoin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2D20B-2D5C-A8A7-C26D-D5AAB7F5E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B57DE-7327-8389-3812-FA42D3E2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5700" dirty="0"/>
              <a:t>Demonstração: Plataformas de compra e venda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EBC540-5D3E-2273-1722-F5439F4373AF}"/>
              </a:ext>
            </a:extLst>
          </p:cNvPr>
          <p:cNvSpPr txBox="1">
            <a:spLocks/>
          </p:cNvSpPr>
          <p:nvPr/>
        </p:nvSpPr>
        <p:spPr>
          <a:xfrm>
            <a:off x="1441450" y="20732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P2P online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B157BF4-6A26-BA94-6694-42501CDC3ADB}"/>
              </a:ext>
            </a:extLst>
          </p:cNvPr>
          <p:cNvGrpSpPr/>
          <p:nvPr/>
        </p:nvGrpSpPr>
        <p:grpSpPr>
          <a:xfrm>
            <a:off x="1387249" y="3368675"/>
            <a:ext cx="17392876" cy="7056000"/>
            <a:chOff x="1387249" y="3673475"/>
            <a:chExt cx="17392876" cy="7056000"/>
          </a:xfrm>
        </p:grpSpPr>
        <p:graphicFrame>
          <p:nvGraphicFramePr>
            <p:cNvPr id="7" name="Content Placeholder 3">
              <a:extLst>
                <a:ext uri="{FF2B5EF4-FFF2-40B4-BE49-F238E27FC236}">
                  <a16:creationId xmlns:a16="http://schemas.microsoft.com/office/drawing/2014/main" id="{7C6381B6-4270-D080-1F14-847AF50ABB7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17695441"/>
                </p:ext>
              </p:extLst>
            </p:nvPr>
          </p:nvGraphicFramePr>
          <p:xfrm>
            <a:off x="1387249" y="3673475"/>
            <a:ext cx="17392876" cy="70560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313336">
                    <a:extLst>
                      <a:ext uri="{9D8B030D-6E8A-4147-A177-3AD203B41FA5}">
                        <a16:colId xmlns:a16="http://schemas.microsoft.com/office/drawing/2014/main" val="2636362406"/>
                      </a:ext>
                    </a:extLst>
                  </a:gridCol>
                  <a:gridCol w="5334000">
                    <a:extLst>
                      <a:ext uri="{9D8B030D-6E8A-4147-A177-3AD203B41FA5}">
                        <a16:colId xmlns:a16="http://schemas.microsoft.com/office/drawing/2014/main" val="3599351231"/>
                      </a:ext>
                    </a:extLst>
                  </a:gridCol>
                  <a:gridCol w="4052360">
                    <a:extLst>
                      <a:ext uri="{9D8B030D-6E8A-4147-A177-3AD203B41FA5}">
                        <a16:colId xmlns:a16="http://schemas.microsoft.com/office/drawing/2014/main" val="4218618019"/>
                      </a:ext>
                    </a:extLst>
                  </a:gridCol>
                  <a:gridCol w="4693180">
                    <a:extLst>
                      <a:ext uri="{9D8B030D-6E8A-4147-A177-3AD203B41FA5}">
                        <a16:colId xmlns:a16="http://schemas.microsoft.com/office/drawing/2014/main" val="3079766672"/>
                      </a:ext>
                    </a:extLst>
                  </a:gridCol>
                </a:tblGrid>
                <a:tr h="900000"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Plataforma</a:t>
                        </a:r>
                      </a:p>
                    </a:txBody>
                    <a:tcPr anchor="ctr">
                      <a:solidFill>
                        <a:srgbClr val="39256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Sistema de garantias (</a:t>
                        </a:r>
                        <a:r>
                          <a:rPr lang="pt-PT" sz="2000" noProof="0" dirty="0" err="1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escrow</a:t>
                        </a:r>
                        <a:r>
                          <a:rPr lang="pt-PT" sz="2000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)</a:t>
                        </a:r>
                      </a:p>
                    </a:txBody>
                    <a:tcPr anchor="ctr">
                      <a:solidFill>
                        <a:srgbClr val="39256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KYC</a:t>
                        </a:r>
                      </a:p>
                    </a:txBody>
                    <a:tcPr anchor="ctr">
                      <a:solidFill>
                        <a:srgbClr val="39256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Características</a:t>
                        </a:r>
                      </a:p>
                    </a:txBody>
                    <a:tcPr anchor="ctr">
                      <a:solidFill>
                        <a:srgbClr val="392569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995546372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l"/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Peach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 Bitcoin</a:t>
                        </a:r>
                      </a:p>
                    </a:txBody>
                    <a:tcPr marL="1260000" marT="198000" marB="198000"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Multisig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 2-de-2</a:t>
                        </a:r>
                        <a:b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a:b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(com coordenação da 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Peach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)</a:t>
                        </a:r>
                      </a:p>
                    </a:txBody>
                    <a:tcPr marT="198000" marB="198000"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Sem KYC para pequenos volumes. É necessário um email (que pode ser temporário). </a:t>
                        </a:r>
                      </a:p>
                    </a:txBody>
                    <a:tcPr marT="198000" marB="198000" anchor="ctr"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Aplicação móvel.</a:t>
                        </a:r>
                        <a:b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a:b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100% Bitcoin 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on-chain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.</a:t>
                        </a:r>
                      </a:p>
                    </a:txBody>
                    <a:tcPr marT="198000" marB="198000" anchor="ctr"/>
                  </a:tc>
                  <a:extLst>
                    <a:ext uri="{0D108BD9-81ED-4DB2-BD59-A6C34878D82A}">
                      <a16:rowId xmlns:a16="http://schemas.microsoft.com/office/drawing/2014/main" val="409332834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l"/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Hodl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 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Hodl</a:t>
                        </a:r>
                        <a:endPara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260000" marT="198000" marB="198000" anchor="ctr"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Multisig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 2-de-3 entre comprador, vendedor e plataforma (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Hodl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 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Hodl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).</a:t>
                        </a:r>
                      </a:p>
                    </a:txBody>
                    <a:tcPr marT="198000" marB="198000"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Sem KYC. É necessário um email (que pode ser temporário).</a:t>
                        </a:r>
                      </a:p>
                    </a:txBody>
                    <a:tcPr marT="198000" marB="198000"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Funciona no browser.</a:t>
                        </a:r>
                        <a:b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a:b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100% Bitcoin 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on-chain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.</a:t>
                        </a:r>
                      </a:p>
                    </a:txBody>
                    <a:tcPr marT="198000" marB="198000" anchor="ctr"/>
                  </a:tc>
                  <a:extLst>
                    <a:ext uri="{0D108BD9-81ED-4DB2-BD59-A6C34878D82A}">
                      <a16:rowId xmlns:a16="http://schemas.microsoft.com/office/drawing/2014/main" val="318889682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l"/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Bisq</a:t>
                        </a:r>
                        <a:endPara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260000" marT="198000" marB="198000"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Multisig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 2-de-3 entre comprador, vendedor e árbitro independente</a:t>
                        </a:r>
                        <a:b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a:b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(membro eleito da comunidade 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Bisq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).</a:t>
                        </a:r>
                      </a:p>
                    </a:txBody>
                    <a:tcPr marT="198000" marB="198000"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Não há contas nem servidores centrais. Tudo corre localmente no teu computador.</a:t>
                        </a:r>
                      </a:p>
                    </a:txBody>
                    <a:tcPr marT="198000" marB="198000"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Aplicação desktop que opera sobre Tor. Foco em Bitcoin 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on-chain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 mas é possível negociar algumas 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altcoins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 através de pares BTC/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altcoin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.</a:t>
                        </a:r>
                      </a:p>
                    </a:txBody>
                    <a:tcPr marT="198000" marB="198000" anchor="ctr"/>
                  </a:tc>
                  <a:extLst>
                    <a:ext uri="{0D108BD9-81ED-4DB2-BD59-A6C34878D82A}">
                      <a16:rowId xmlns:a16="http://schemas.microsoft.com/office/drawing/2014/main" val="2844091999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algn="l"/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RoboSats</a:t>
                        </a:r>
                        <a:endPara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260000" marT="198000" marB="198000" anchor="ctr"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pt-PT" sz="2000" kern="12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Lightning</a:t>
                        </a:r>
                        <a:r>
                          <a:rPr lang="pt-PT" sz="2000" kern="12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 HTLC</a:t>
                        </a:r>
                        <a:br>
                          <a:rPr lang="pt-PT" sz="2000" kern="12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a:br>
                        <a:r>
                          <a:rPr lang="pt-PT" sz="2000" kern="12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(</a:t>
                        </a:r>
                        <a:r>
                          <a:rPr lang="pt-PT" sz="2000" kern="12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Hashed</a:t>
                        </a:r>
                        <a:r>
                          <a:rPr lang="pt-PT" sz="2000" kern="12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 Time-</a:t>
                        </a:r>
                        <a:r>
                          <a:rPr lang="pt-PT" sz="2000" kern="12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Locked</a:t>
                        </a:r>
                        <a:r>
                          <a:rPr lang="pt-PT" sz="2000" kern="12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 </a:t>
                        </a:r>
                        <a:r>
                          <a:rPr lang="pt-PT" sz="2000" kern="12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Contract</a:t>
                        </a:r>
                        <a:r>
                          <a:rPr lang="pt-PT" sz="2000" kern="12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).</a:t>
                        </a:r>
                        <a:br>
                          <a:rPr lang="pt-PT" sz="2000" kern="12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a:br>
                        <a:r>
                          <a:rPr lang="pt-PT" sz="2000" kern="12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Garante que o pagamento só acontece se a condição for cumprida, caso contrário, é revertido automaticamente, sem precisar de árbitro.</a:t>
                        </a:r>
                      </a:p>
                    </a:txBody>
                    <a:tcPr marT="198000" marB="198000"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Cada utilizador gera uma identidade temporária.</a:t>
                        </a:r>
                      </a:p>
                    </a:txBody>
                    <a:tcPr marT="198000" marB="198000"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Funciona em browser via Tor. 100% Bitcoin mas apenas via 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Lightning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.</a:t>
                        </a:r>
                      </a:p>
                    </a:txBody>
                    <a:tcPr marT="198000" marB="198000" anchor="ctr"/>
                  </a:tc>
                  <a:extLst>
                    <a:ext uri="{0D108BD9-81ED-4DB2-BD59-A6C34878D82A}">
                      <a16:rowId xmlns:a16="http://schemas.microsoft.com/office/drawing/2014/main" val="82575081"/>
                    </a:ext>
                  </a:extLst>
                </a:tr>
              </a:tbl>
            </a:graphicData>
          </a:graphic>
        </p:graphicFrame>
        <p:pic>
          <p:nvPicPr>
            <p:cNvPr id="2050" name="Picture 2" descr="HODL | Inc.com">
              <a:extLst>
                <a:ext uri="{FF2B5EF4-FFF2-40B4-BE49-F238E27FC236}">
                  <a16:creationId xmlns:a16="http://schemas.microsoft.com/office/drawing/2014/main" id="{4164215D-6A24-A00F-2062-9C3D909541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017"/>
            <a:stretch>
              <a:fillRect/>
            </a:stretch>
          </p:blipFill>
          <p:spPr bwMode="auto">
            <a:xfrm>
              <a:off x="1625600" y="5972662"/>
              <a:ext cx="806450" cy="8250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Bisq · GitHub">
              <a:extLst>
                <a:ext uri="{FF2B5EF4-FFF2-40B4-BE49-F238E27FC236}">
                  <a16:creationId xmlns:a16="http://schemas.microsoft.com/office/drawing/2014/main" id="{C29C5F2C-82B6-EE9E-B3B4-00639D4E8E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7650" y="7268675"/>
              <a:ext cx="824400" cy="82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Peach Bitcoin - Apps on Google Play">
              <a:extLst>
                <a:ext uri="{FF2B5EF4-FFF2-40B4-BE49-F238E27FC236}">
                  <a16:creationId xmlns:a16="http://schemas.microsoft.com/office/drawing/2014/main" id="{D27B25F9-D99B-9C2A-2A62-52F54517CD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7650" y="4722875"/>
              <a:ext cx="1008000" cy="100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GitHub - RoboSats/robosats: A simple and private bitcoin exchange">
              <a:extLst>
                <a:ext uri="{FF2B5EF4-FFF2-40B4-BE49-F238E27FC236}">
                  <a16:creationId xmlns:a16="http://schemas.microsoft.com/office/drawing/2014/main" id="{0256E886-AF94-55BD-E066-C0DF287373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37" t="28340" r="71226" b="13877"/>
            <a:stretch>
              <a:fillRect/>
            </a:stretch>
          </p:blipFill>
          <p:spPr bwMode="auto">
            <a:xfrm>
              <a:off x="1814550" y="9237875"/>
              <a:ext cx="617500" cy="68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795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F717E-1D08-A85F-8111-97BA5AEC9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C933-9484-065B-9186-925E3E7A8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5700" dirty="0"/>
              <a:t>Demonstração: Plataformas de compra e venda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D84C5C-502E-DA07-B872-29EDABE2651D}"/>
              </a:ext>
            </a:extLst>
          </p:cNvPr>
          <p:cNvSpPr txBox="1">
            <a:spLocks/>
          </p:cNvSpPr>
          <p:nvPr/>
        </p:nvSpPr>
        <p:spPr>
          <a:xfrm>
            <a:off x="1441450" y="20732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Plataformas 100% Bitcoin com foco em compras recorrentes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01564B-11A8-B425-DB6E-93D04049EFD9}"/>
              </a:ext>
            </a:extLst>
          </p:cNvPr>
          <p:cNvGrpSpPr/>
          <p:nvPr/>
        </p:nvGrpSpPr>
        <p:grpSpPr>
          <a:xfrm>
            <a:off x="1387249" y="3749675"/>
            <a:ext cx="17392877" cy="4860000"/>
            <a:chOff x="1387249" y="4359275"/>
            <a:chExt cx="17392877" cy="4860000"/>
          </a:xfrm>
        </p:grpSpPr>
        <p:graphicFrame>
          <p:nvGraphicFramePr>
            <p:cNvPr id="7" name="Content Placeholder 3">
              <a:extLst>
                <a:ext uri="{FF2B5EF4-FFF2-40B4-BE49-F238E27FC236}">
                  <a16:creationId xmlns:a16="http://schemas.microsoft.com/office/drawing/2014/main" id="{28873F97-179E-260A-2568-F630CFBBD9B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76741824"/>
                </p:ext>
              </p:extLst>
            </p:nvPr>
          </p:nvGraphicFramePr>
          <p:xfrm>
            <a:off x="1387249" y="4359275"/>
            <a:ext cx="17392877" cy="48600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711801">
                    <a:extLst>
                      <a:ext uri="{9D8B030D-6E8A-4147-A177-3AD203B41FA5}">
                        <a16:colId xmlns:a16="http://schemas.microsoft.com/office/drawing/2014/main" val="2636362406"/>
                      </a:ext>
                    </a:extLst>
                  </a:gridCol>
                  <a:gridCol w="6840538">
                    <a:extLst>
                      <a:ext uri="{9D8B030D-6E8A-4147-A177-3AD203B41FA5}">
                        <a16:colId xmlns:a16="http://schemas.microsoft.com/office/drawing/2014/main" val="3770297670"/>
                      </a:ext>
                    </a:extLst>
                  </a:gridCol>
                  <a:gridCol w="6840538">
                    <a:extLst>
                      <a:ext uri="{9D8B030D-6E8A-4147-A177-3AD203B41FA5}">
                        <a16:colId xmlns:a16="http://schemas.microsoft.com/office/drawing/2014/main" val="4218618019"/>
                      </a:ext>
                    </a:extLst>
                  </a:gridCol>
                </a:tblGrid>
                <a:tr h="900000"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Plataforma</a:t>
                        </a:r>
                      </a:p>
                    </a:txBody>
                    <a:tcPr anchor="ctr">
                      <a:solidFill>
                        <a:srgbClr val="39256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Custódia</a:t>
                        </a:r>
                      </a:p>
                    </a:txBody>
                    <a:tcPr anchor="ctr">
                      <a:solidFill>
                        <a:srgbClr val="39256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chemeClr val="bg1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KYC</a:t>
                        </a:r>
                      </a:p>
                    </a:txBody>
                    <a:tcPr anchor="ctr">
                      <a:solidFill>
                        <a:srgbClr val="392569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995546372"/>
                    </a:ext>
                  </a:extLst>
                </a:tr>
                <a:tr h="1224000">
                  <a:tc>
                    <a:txBody>
                      <a:bodyPr/>
                      <a:lstStyle/>
                      <a:p>
                        <a:pPr algn="l"/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Pocket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 Bitcoin</a:t>
                        </a:r>
                      </a:p>
                    </a:txBody>
                    <a:tcPr marL="1260000"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Não-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custodial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. Indicas um endereço bitcoin externo para onde eles enviam bitcoin.</a:t>
                        </a:r>
                      </a:p>
                    </a:txBody>
                    <a:tcPr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Sem KYC para pequenos volumes. (*)</a:t>
                        </a:r>
                      </a:p>
                    </a:txBody>
                    <a:tcPr anchor="ctr"/>
                  </a:tc>
                  <a:extLst>
                    <a:ext uri="{0D108BD9-81ED-4DB2-BD59-A6C34878D82A}">
                      <a16:rowId xmlns:a16="http://schemas.microsoft.com/office/drawing/2014/main" val="4093328340"/>
                    </a:ext>
                  </a:extLst>
                </a:tr>
                <a:tr h="1188000">
                  <a:tc>
                    <a:txBody>
                      <a:bodyPr/>
                      <a:lstStyle/>
                      <a:p>
                        <a:pPr algn="l"/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Relai</a:t>
                        </a:r>
                      </a:p>
                    </a:txBody>
                    <a:tcPr marL="1260000" anchor="ctr"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Não-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custodial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. A app gera as tuas chaves privadas localmente no teu dispositivo — a Relai não tem acesso a elas.</a:t>
                        </a:r>
                      </a:p>
                    </a:txBody>
                    <a:tcPr anchor="ctr"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KYC obrigatório</a:t>
                        </a:r>
                        <a:b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a:b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(desde Agosto 2024)</a:t>
                        </a:r>
                      </a:p>
                    </a:txBody>
                    <a:tcPr anchor="ctr"/>
                  </a:tc>
                  <a:extLst>
                    <a:ext uri="{0D108BD9-81ED-4DB2-BD59-A6C34878D82A}">
                      <a16:rowId xmlns:a16="http://schemas.microsoft.com/office/drawing/2014/main" val="3188896824"/>
                    </a:ext>
                  </a:extLst>
                </a:tr>
                <a:tr h="1548000">
                  <a:tc>
                    <a:txBody>
                      <a:bodyPr/>
                      <a:lstStyle/>
                      <a:p>
                        <a:pPr algn="l"/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Bittr</a:t>
                        </a:r>
                        <a:endParaRPr lang="pt-PT" sz="200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endParaRPr>
                      </a:p>
                    </a:txBody>
                    <a:tcPr marL="1260000" anchor="ctr"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Não-</a:t>
                        </a:r>
                        <a:r>
                          <a:rPr lang="pt-PT" sz="2000" dirty="0" err="1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custodial</a:t>
                        </a: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. Indicas um endereço bitcoin externo para onde eles enviam bitcoin.</a:t>
                        </a:r>
                      </a:p>
                    </a:txBody>
                    <a:tcPr anchor="ctr"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pt-PT" sz="2000" dirty="0">
                            <a:solidFill>
                              <a:srgbClr val="58595B"/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a:t>Sem KYC para pequenos volumes. (*)</a:t>
                        </a:r>
                      </a:p>
                    </a:txBody>
                    <a:tcPr anchor="ctr"/>
                  </a:tc>
                  <a:extLst>
                    <a:ext uri="{0D108BD9-81ED-4DB2-BD59-A6C34878D82A}">
                      <a16:rowId xmlns:a16="http://schemas.microsoft.com/office/drawing/2014/main" val="2844091999"/>
                    </a:ext>
                  </a:extLst>
                </a:tr>
              </a:tbl>
            </a:graphicData>
          </a:graphic>
        </p:graphicFrame>
        <p:pic>
          <p:nvPicPr>
            <p:cNvPr id="4098" name="Picture 2" descr="Pocket: Buy Bitcoin instantly - Apps on Google Play">
              <a:extLst>
                <a:ext uri="{FF2B5EF4-FFF2-40B4-BE49-F238E27FC236}">
                  <a16:creationId xmlns:a16="http://schemas.microsoft.com/office/drawing/2014/main" id="{A6E96CA6-2FD3-AA12-C0EF-A6DB70EFF4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6250" y="5472275"/>
              <a:ext cx="792000" cy="79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 descr="Career – Relai">
              <a:extLst>
                <a:ext uri="{FF2B5EF4-FFF2-40B4-BE49-F238E27FC236}">
                  <a16:creationId xmlns:a16="http://schemas.microsoft.com/office/drawing/2014/main" id="{987F01B9-799A-9154-569D-D41FBFC773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1453" y="6659075"/>
              <a:ext cx="826797" cy="82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2" name="Picture 6" descr="Get and receive bitcoin directly to your wallet - BITTR AG">
              <a:extLst>
                <a:ext uri="{FF2B5EF4-FFF2-40B4-BE49-F238E27FC236}">
                  <a16:creationId xmlns:a16="http://schemas.microsoft.com/office/drawing/2014/main" id="{B1033AC8-2396-6D13-CE1B-95682C0152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2" t="13233" r="69681" b="13726"/>
            <a:stretch>
              <a:fillRect/>
            </a:stretch>
          </p:blipFill>
          <p:spPr bwMode="auto">
            <a:xfrm>
              <a:off x="1665278" y="8130686"/>
              <a:ext cx="859146" cy="82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564290A-2533-491D-2555-9BEFF2CB7B44}"/>
              </a:ext>
            </a:extLst>
          </p:cNvPr>
          <p:cNvSpPr txBox="1"/>
          <p:nvPr/>
        </p:nvSpPr>
        <p:spPr>
          <a:xfrm>
            <a:off x="1380374" y="8855075"/>
            <a:ext cx="1379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pt-PT" sz="1800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(*) Apesar de não exigirem KYC, as transferências bancárias com IBAN no teu nome fornecem identificação bancária por si só.</a:t>
            </a:r>
          </a:p>
        </p:txBody>
      </p:sp>
    </p:spTree>
    <p:extLst>
      <p:ext uri="{BB962C8B-B14F-4D97-AF65-F5344CB8AC3E}">
        <p14:creationId xmlns:p14="http://schemas.microsoft.com/office/powerpoint/2010/main" val="29404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D09B4-6D8B-4713-98E2-439A37F5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F85C-112D-96A6-EB62-860D74669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5700" dirty="0"/>
              <a:t>Demonstração: Plataformas de compra e venda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936E98-0875-06D9-68C5-796F60DDD8F4}"/>
              </a:ext>
            </a:extLst>
          </p:cNvPr>
          <p:cNvSpPr txBox="1">
            <a:spLocks/>
          </p:cNvSpPr>
          <p:nvPr/>
        </p:nvSpPr>
        <p:spPr>
          <a:xfrm>
            <a:off x="1441450" y="20732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Plataformas custodiais e sem foco em Bitcoin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PT" dirty="0"/>
              <a:t>Estas plataformas geralmente têm uma versão pro que apresenta taxas mais baixas mas requer alguma aprendizagem de </a:t>
            </a:r>
            <a:r>
              <a:rPr lang="pt-PT" i="1" dirty="0" err="1"/>
              <a:t>trading</a:t>
            </a:r>
            <a:r>
              <a:rPr lang="pt-PT" dirty="0"/>
              <a:t>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PT" dirty="0"/>
              <a:t>⚠️ Assim que fizeres a compra, transfere sempre para uma carteira própria, onde tenhas controlo total sobre os teus fundos.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PT" dirty="0"/>
              <a:t>Exemplos: </a:t>
            </a:r>
            <a:r>
              <a:rPr lang="pt-PT" dirty="0" err="1"/>
              <a:t>Binance</a:t>
            </a:r>
            <a:r>
              <a:rPr lang="pt-PT" dirty="0"/>
              <a:t>, </a:t>
            </a:r>
            <a:r>
              <a:rPr lang="pt-PT" dirty="0" err="1"/>
              <a:t>Kraken</a:t>
            </a:r>
            <a:r>
              <a:rPr lang="pt-PT" dirty="0"/>
              <a:t>, </a:t>
            </a:r>
            <a:r>
              <a:rPr lang="pt-PT" dirty="0" err="1"/>
              <a:t>Coinbase</a:t>
            </a:r>
            <a:r>
              <a:rPr lang="pt-PT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2689372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1D33B-6064-66CD-8839-901CF4EA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BC73-B850-7454-138B-B2D6A732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Atividade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F45209-D9BD-78E0-B8E8-FF20FAB8B623}"/>
              </a:ext>
            </a:extLst>
          </p:cNvPr>
          <p:cNvSpPr txBox="1">
            <a:spLocks/>
          </p:cNvSpPr>
          <p:nvPr/>
        </p:nvSpPr>
        <p:spPr>
          <a:xfrm>
            <a:off x="1441450" y="22256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pt-PT" b="1" dirty="0"/>
              <a:t>Avaliação de turma de carteiras Bitcoin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pt-PT" dirty="0"/>
              <a:t>Entra no seguinte website: </a:t>
            </a:r>
            <a:r>
              <a:rPr lang="pt-PT" dirty="0">
                <a:hlinkClick r:id="rId2"/>
              </a:rPr>
              <a:t>https://bitcoin.org/en/choose-your-wallet</a:t>
            </a:r>
            <a:r>
              <a:rPr lang="pt-PT" dirty="0"/>
              <a:t> e coloca em prática os conhecimentos que adquiriste sobre carteiras Bitcoin, ao selecionar a melhor carteira, com base nos critérios que aprendeste.</a:t>
            </a:r>
          </a:p>
        </p:txBody>
      </p:sp>
    </p:spTree>
    <p:extLst>
      <p:ext uri="{BB962C8B-B14F-4D97-AF65-F5344CB8AC3E}">
        <p14:creationId xmlns:p14="http://schemas.microsoft.com/office/powerpoint/2010/main" val="323667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9DB1B-CC2B-CD45-6AA8-CC6266102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32F6-68CB-86DA-CE69-FEEB458C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Configuração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7FF0BD7-AFFF-CD57-C694-C5DBAEE01388}"/>
              </a:ext>
            </a:extLst>
          </p:cNvPr>
          <p:cNvSpPr txBox="1">
            <a:spLocks/>
          </p:cNvSpPr>
          <p:nvPr/>
        </p:nvSpPr>
        <p:spPr>
          <a:xfrm>
            <a:off x="1441450" y="2225675"/>
            <a:ext cx="17338675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PT" sz="2800" kern="1200" spc="-10" dirty="0" smtClean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pt-PT" dirty="0"/>
              <a:t>A tua configuração de Bitcoin pode ser melhorada ao longo do tempo, conforme as tuas capacidades técnicas e o conhecimento que fores adquirindo.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07DC999-D99D-AD90-96E4-22419BC3356D}"/>
              </a:ext>
            </a:extLst>
          </p:cNvPr>
          <p:cNvGrpSpPr/>
          <p:nvPr/>
        </p:nvGrpSpPr>
        <p:grpSpPr>
          <a:xfrm>
            <a:off x="2778779" y="4385505"/>
            <a:ext cx="14546541" cy="6345490"/>
            <a:chOff x="2813050" y="4362196"/>
            <a:chExt cx="14546541" cy="634549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6F78917-8B1B-F688-62F6-761AA4EA840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45548" y="4362196"/>
              <a:ext cx="13414043" cy="6345490"/>
              <a:chOff x="2124407" y="3063869"/>
              <a:chExt cx="15786140" cy="7467606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8C1A340-ECA8-BD9E-4933-9887A302F128}"/>
                  </a:ext>
                </a:extLst>
              </p:cNvPr>
              <p:cNvSpPr/>
              <p:nvPr/>
            </p:nvSpPr>
            <p:spPr>
              <a:xfrm>
                <a:off x="7336209" y="8157295"/>
                <a:ext cx="6683376" cy="2374179"/>
              </a:xfrm>
              <a:prstGeom prst="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38C79BB-4469-605F-A2CD-F9EA217505BA}"/>
                  </a:ext>
                </a:extLst>
              </p:cNvPr>
              <p:cNvSpPr/>
              <p:nvPr/>
            </p:nvSpPr>
            <p:spPr>
              <a:xfrm>
                <a:off x="8479209" y="5610585"/>
                <a:ext cx="5540376" cy="2374176"/>
              </a:xfrm>
              <a:prstGeom prst="rect">
                <a:avLst/>
              </a:prstGeom>
              <a:solidFill>
                <a:srgbClr val="FFDC7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22556FB-155B-6352-6EFD-FE4AF9AB2967}"/>
                  </a:ext>
                </a:extLst>
              </p:cNvPr>
              <p:cNvSpPr/>
              <p:nvPr/>
            </p:nvSpPr>
            <p:spPr>
              <a:xfrm>
                <a:off x="10063829" y="3063869"/>
                <a:ext cx="3924300" cy="2374177"/>
              </a:xfrm>
              <a:prstGeom prst="rect">
                <a:avLst/>
              </a:prstGeom>
              <a:solidFill>
                <a:srgbClr val="FFB7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4" name="Trapezium 23">
                <a:extLst>
                  <a:ext uri="{FF2B5EF4-FFF2-40B4-BE49-F238E27FC236}">
                    <a16:creationId xmlns:a16="http://schemas.microsoft.com/office/drawing/2014/main" id="{16A4AF24-C31E-04DF-A035-929460550EDD}"/>
                  </a:ext>
                </a:extLst>
              </p:cNvPr>
              <p:cNvSpPr/>
              <p:nvPr/>
            </p:nvSpPr>
            <p:spPr>
              <a:xfrm>
                <a:off x="4794250" y="3063871"/>
                <a:ext cx="7848600" cy="2374177"/>
              </a:xfrm>
              <a:prstGeom prst="trapezoid">
                <a:avLst>
                  <a:gd name="adj" fmla="val 53010"/>
                </a:avLst>
              </a:prstGeom>
              <a:solidFill>
                <a:srgbClr val="FFB7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48000" rtlCol="0" anchor="ctr"/>
              <a:lstStyle/>
              <a:p>
                <a:pPr algn="ctr"/>
                <a:r>
                  <a:rPr lang="pt-PT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Carteira física (sem ligação à internet) + carteira apenas de visualização + backup em metal</a:t>
                </a:r>
              </a:p>
            </p:txBody>
          </p:sp>
          <p:sp>
            <p:nvSpPr>
              <p:cNvPr id="23" name="Trapezium 22">
                <a:extLst>
                  <a:ext uri="{FF2B5EF4-FFF2-40B4-BE49-F238E27FC236}">
                    <a16:creationId xmlns:a16="http://schemas.microsoft.com/office/drawing/2014/main" id="{BE606862-E038-43C2-BA10-DF41818BBB59}"/>
                  </a:ext>
                </a:extLst>
              </p:cNvPr>
              <p:cNvSpPr/>
              <p:nvPr/>
            </p:nvSpPr>
            <p:spPr>
              <a:xfrm>
                <a:off x="3446939" y="5610586"/>
                <a:ext cx="7848600" cy="2374177"/>
              </a:xfrm>
              <a:prstGeom prst="trapezoid">
                <a:avLst>
                  <a:gd name="adj" fmla="val 53010"/>
                </a:avLst>
              </a:prstGeom>
              <a:solidFill>
                <a:srgbClr val="FFDC7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24000" rtlCol="0" anchor="ctr"/>
              <a:lstStyle/>
              <a:p>
                <a:pPr algn="ctr"/>
                <a:r>
                  <a:rPr lang="pt-PT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Carteira móvel + backup em papel</a:t>
                </a:r>
              </a:p>
            </p:txBody>
          </p:sp>
          <p:sp>
            <p:nvSpPr>
              <p:cNvPr id="22" name="Trapezium 21">
                <a:extLst>
                  <a:ext uri="{FF2B5EF4-FFF2-40B4-BE49-F238E27FC236}">
                    <a16:creationId xmlns:a16="http://schemas.microsoft.com/office/drawing/2014/main" id="{A162C50C-0A53-6AD3-0494-EF4D4EB2ECD7}"/>
                  </a:ext>
                </a:extLst>
              </p:cNvPr>
              <p:cNvSpPr/>
              <p:nvPr/>
            </p:nvSpPr>
            <p:spPr>
              <a:xfrm>
                <a:off x="2124407" y="8157297"/>
                <a:ext cx="7848600" cy="2374177"/>
              </a:xfrm>
              <a:prstGeom prst="trapezoid">
                <a:avLst>
                  <a:gd name="adj" fmla="val 53010"/>
                </a:avLst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56000" rtlCol="0" anchor="ctr"/>
              <a:lstStyle/>
              <a:p>
                <a:pPr algn="ctr"/>
                <a:r>
                  <a:rPr lang="pt-PT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Guardar bitcoin numa plataforma de compra e venda</a:t>
                </a:r>
              </a:p>
            </p:txBody>
          </p:sp>
          <p:sp>
            <p:nvSpPr>
              <p:cNvPr id="9" name="Trapezium 8">
                <a:extLst>
                  <a:ext uri="{FF2B5EF4-FFF2-40B4-BE49-F238E27FC236}">
                    <a16:creationId xmlns:a16="http://schemas.microsoft.com/office/drawing/2014/main" id="{44802274-8150-9091-35A8-89042DF3805C}"/>
                  </a:ext>
                </a:extLst>
              </p:cNvPr>
              <p:cNvSpPr/>
              <p:nvPr/>
            </p:nvSpPr>
            <p:spPr>
              <a:xfrm>
                <a:off x="10061947" y="8157298"/>
                <a:ext cx="7848600" cy="2374177"/>
              </a:xfrm>
              <a:prstGeom prst="trapezoid">
                <a:avLst>
                  <a:gd name="adj" fmla="val 5301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PT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Inseguro</a:t>
                </a:r>
              </a:p>
            </p:txBody>
          </p:sp>
          <p:sp>
            <p:nvSpPr>
              <p:cNvPr id="10" name="Trapezium 9">
                <a:extLst>
                  <a:ext uri="{FF2B5EF4-FFF2-40B4-BE49-F238E27FC236}">
                    <a16:creationId xmlns:a16="http://schemas.microsoft.com/office/drawing/2014/main" id="{B75D1643-D7CE-B411-7B32-5683B7487D4C}"/>
                  </a:ext>
                </a:extLst>
              </p:cNvPr>
              <p:cNvSpPr/>
              <p:nvPr/>
            </p:nvSpPr>
            <p:spPr>
              <a:xfrm>
                <a:off x="11374809" y="5610586"/>
                <a:ext cx="5181600" cy="2374177"/>
              </a:xfrm>
              <a:prstGeom prst="trapezoid">
                <a:avLst>
                  <a:gd name="adj" fmla="val 53010"/>
                </a:avLst>
              </a:prstGeom>
              <a:solidFill>
                <a:srgbClr val="F9B84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PT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Bom passo intermédio</a:t>
                </a:r>
                <a:endParaRPr lang="pt-PT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" name="Triangle 10">
                <a:extLst>
                  <a:ext uri="{FF2B5EF4-FFF2-40B4-BE49-F238E27FC236}">
                    <a16:creationId xmlns:a16="http://schemas.microsoft.com/office/drawing/2014/main" id="{27A42B2E-71A4-37FE-F73B-28D5170F1EEC}"/>
                  </a:ext>
                </a:extLst>
              </p:cNvPr>
              <p:cNvSpPr/>
              <p:nvPr/>
            </p:nvSpPr>
            <p:spPr>
              <a:xfrm>
                <a:off x="12773863" y="3063875"/>
                <a:ext cx="2410946" cy="2374176"/>
              </a:xfrm>
              <a:prstGeom prst="triangle">
                <a:avLst>
                  <a:gd name="adj" fmla="val 50862"/>
                </a:avLst>
              </a:prstGeom>
              <a:solidFill>
                <a:srgbClr val="FF941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PT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Ideal</a:t>
                </a:r>
                <a:br>
                  <a:rPr lang="pt-PT" sz="24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</a:br>
                <a:endParaRPr lang="pt-PT" sz="24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pic>
          <p:nvPicPr>
            <p:cNvPr id="1028" name="Picture 4" descr="COLDCARD - The Most Trusted and Secure Signing Device (a.k.a. Hardware ...">
              <a:extLst>
                <a:ext uri="{FF2B5EF4-FFF2-40B4-BE49-F238E27FC236}">
                  <a16:creationId xmlns:a16="http://schemas.microsoft.com/office/drawing/2014/main" id="{D4DD525D-EF05-E7C5-7639-33FD9B7197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785" t="22758" r="2890" b="19102"/>
            <a:stretch>
              <a:fillRect/>
            </a:stretch>
          </p:blipFill>
          <p:spPr bwMode="auto">
            <a:xfrm>
              <a:off x="3372405" y="4509681"/>
              <a:ext cx="1261218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Amazon.com : ColdTi - Titanium Bitcoin Seed Plates for Ultra-Secure ...">
              <a:extLst>
                <a:ext uri="{FF2B5EF4-FFF2-40B4-BE49-F238E27FC236}">
                  <a16:creationId xmlns:a16="http://schemas.microsoft.com/office/drawing/2014/main" id="{9CE9629E-B558-CCEA-C32E-4B1B1641AB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7698" y="4396216"/>
              <a:ext cx="1486693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BlueWallet : un portefeuille Bitcoin - h17n">
              <a:extLst>
                <a:ext uri="{FF2B5EF4-FFF2-40B4-BE49-F238E27FC236}">
                  <a16:creationId xmlns:a16="http://schemas.microsoft.com/office/drawing/2014/main" id="{199BCC92-4D88-8AEB-8907-1BC9DB8AE8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1759" l="50093" r="94444">
                          <a14:foregroundMark x1="80741" y1="15370" x2="85370" y2="15741"/>
                          <a14:foregroundMark x1="85370" y1="15741" x2="89259" y2="18241"/>
                          <a14:foregroundMark x1="89259" y1="18241" x2="88796" y2="86574"/>
                          <a14:foregroundMark x1="88796" y1="86574" x2="86204" y2="91389"/>
                          <a14:foregroundMark x1="86204" y1="91389" x2="81389" y2="92500"/>
                          <a14:foregroundMark x1="81389" y1="92500" x2="64907" y2="90556"/>
                          <a14:foregroundMark x1="64907" y1="90556" x2="55926" y2="91759"/>
                          <a14:foregroundMark x1="55926" y1="91759" x2="53981" y2="87222"/>
                          <a14:foregroundMark x1="53981" y1="87222" x2="56204" y2="82407"/>
                          <a14:foregroundMark x1="56204" y1="82407" x2="73796" y2="80648"/>
                          <a14:foregroundMark x1="73796" y1="80648" x2="79259" y2="77778"/>
                          <a14:foregroundMark x1="79259" y1="77778" x2="81204" y2="60185"/>
                          <a14:foregroundMark x1="81204" y1="60185" x2="74074" y2="38056"/>
                          <a14:foregroundMark x1="74074" y1="38056" x2="68981" y2="36574"/>
                          <a14:foregroundMark x1="68981" y1="36574" x2="62500" y2="41296"/>
                          <a14:foregroundMark x1="62500" y1="41296" x2="69259" y2="31019"/>
                          <a14:foregroundMark x1="69259" y1="31019" x2="78519" y2="23241"/>
                          <a14:foregroundMark x1="78519" y1="23241" x2="80741" y2="19352"/>
                          <a14:foregroundMark x1="80741" y1="19352" x2="80926" y2="1620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71" t="14290" r="6601" b="5320"/>
            <a:stretch>
              <a:fillRect/>
            </a:stretch>
          </p:blipFill>
          <p:spPr bwMode="auto">
            <a:xfrm>
              <a:off x="2813050" y="6599972"/>
              <a:ext cx="932083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What Is a Seed Phrase? | River">
              <a:extLst>
                <a:ext uri="{FF2B5EF4-FFF2-40B4-BE49-F238E27FC236}">
                  <a16:creationId xmlns:a16="http://schemas.microsoft.com/office/drawing/2014/main" id="{52C0C10A-1CE8-FFFF-A2E4-7B457CAE22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320" t="15833" r="39219" b="16802"/>
            <a:stretch>
              <a:fillRect/>
            </a:stretch>
          </p:blipFill>
          <p:spPr bwMode="auto">
            <a:xfrm>
              <a:off x="3940482" y="6634942"/>
              <a:ext cx="1019475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Coinbase Review (April 2025) View Spreads, Fees &amp; More">
              <a:extLst>
                <a:ext uri="{FF2B5EF4-FFF2-40B4-BE49-F238E27FC236}">
                  <a16:creationId xmlns:a16="http://schemas.microsoft.com/office/drawing/2014/main" id="{83D41F10-33B2-9856-FFF4-3AE13CEDE2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3" t="17599" r="77123" b="3263"/>
            <a:stretch>
              <a:fillRect/>
            </a:stretch>
          </p:blipFill>
          <p:spPr bwMode="auto">
            <a:xfrm>
              <a:off x="2887830" y="8798973"/>
              <a:ext cx="908161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12030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2007" y="2427370"/>
            <a:ext cx="8840043" cy="7875505"/>
          </a:xfrm>
        </p:spPr>
        <p:txBody>
          <a:bodyPr>
            <a:normAutofit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  <a:buSzPct val="125000"/>
            </a:pPr>
            <a:r>
              <a:rPr lang="pt-PT" sz="3000" b="1" dirty="0">
                <a:latin typeface="Open Sans" panose="020B0606030504020204" pitchFamily="34" charset="0"/>
              </a:rPr>
              <a:t>Instalar a </a:t>
            </a:r>
            <a:r>
              <a:rPr lang="pt-PT" sz="3000" b="1" dirty="0" err="1">
                <a:latin typeface="Open Sans" panose="020B0606030504020204" pitchFamily="34" charset="0"/>
              </a:rPr>
              <a:t>BlueWallet</a:t>
            </a:r>
            <a:endParaRPr lang="pt-PT" sz="3000" b="1" dirty="0">
              <a:latin typeface="Open Sans" panose="020B0606030504020204" pitchFamily="34" charset="0"/>
            </a:endParaRP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É uma carteira Bitcoin não-</a:t>
            </a:r>
            <a:r>
              <a:rPr lang="pt-PT" sz="3000" dirty="0" err="1">
                <a:latin typeface="Open Sans" panose="020B0606030504020204" pitchFamily="34" charset="0"/>
              </a:rPr>
              <a:t>custodial</a:t>
            </a:r>
            <a:r>
              <a:rPr lang="pt-PT" sz="3000" dirty="0">
                <a:latin typeface="Open Sans" panose="020B0606030504020204" pitchFamily="34" charset="0"/>
              </a:rPr>
              <a:t> — as chaves privadas são do utilizador.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É de código aberto.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É uma carteira que está conectada à internet.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Pode ser utilizada como carteira de visualização (apenas para consultar o saldo).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Pode ser utilizada como carteira </a:t>
            </a:r>
            <a:r>
              <a:rPr lang="pt-PT" sz="3000" dirty="0" err="1">
                <a:latin typeface="Open Sans" panose="020B0606030504020204" pitchFamily="34" charset="0"/>
              </a:rPr>
              <a:t>Lightning</a:t>
            </a:r>
            <a:r>
              <a:rPr lang="pt-PT" sz="3000" dirty="0"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4BC64-7E5A-9B5D-33F9-CA7463672F08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212007" y="930275"/>
            <a:ext cx="9221043" cy="1329613"/>
          </a:xfrm>
        </p:spPr>
        <p:txBody>
          <a:bodyPr/>
          <a:lstStyle/>
          <a:p>
            <a:r>
              <a:rPr lang="pt-PT" sz="6500" b="1" dirty="0">
                <a:solidFill>
                  <a:srgbClr val="251B55"/>
                </a:solidFill>
                <a:latin typeface="Open Sans" panose="020B0606030504020204" pitchFamily="34" charset="0"/>
              </a:rPr>
              <a:t>Configurar uma carteira Bitcoin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7A9152-0A7F-FB3C-E614-7DFAA0E9643C}"/>
              </a:ext>
            </a:extLst>
          </p:cNvPr>
          <p:cNvGrpSpPr/>
          <p:nvPr/>
        </p:nvGrpSpPr>
        <p:grpSpPr>
          <a:xfrm>
            <a:off x="12414250" y="598475"/>
            <a:ext cx="5088850" cy="10114970"/>
            <a:chOff x="12414250" y="598475"/>
            <a:chExt cx="5088850" cy="10114970"/>
          </a:xfrm>
        </p:grpSpPr>
        <p:pic>
          <p:nvPicPr>
            <p:cNvPr id="5" name="Picture 4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BAC34353-834C-A13B-0BAF-628135D01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14250" y="598570"/>
              <a:ext cx="5088850" cy="10114875"/>
            </a:xfrm>
            <a:prstGeom prst="rect">
              <a:avLst/>
            </a:prstGeom>
          </p:spPr>
        </p:pic>
        <p:pic>
          <p:nvPicPr>
            <p:cNvPr id="6" name="Picture 5" descr="A black cell phone with a white background&#10;&#10;AI-generated content may be incorrect.">
              <a:extLst>
                <a:ext uri="{FF2B5EF4-FFF2-40B4-BE49-F238E27FC236}">
                  <a16:creationId xmlns:a16="http://schemas.microsoft.com/office/drawing/2014/main" id="{2B840DB9-2724-C74C-72F8-54641422D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27453" y="598475"/>
              <a:ext cx="5075647" cy="1011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1235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35394" y="3589655"/>
            <a:ext cx="7776103" cy="6788568"/>
          </a:xfrm>
        </p:spPr>
        <p:txBody>
          <a:bodyPr>
            <a:normAutofit lnSpcReduction="10000"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  <a:buSzPct val="125000"/>
            </a:pPr>
            <a:r>
              <a:rPr lang="pt-PT" sz="3000" b="1" dirty="0">
                <a:latin typeface="Open Sans" panose="020B0606030504020204" pitchFamily="34" charset="0"/>
              </a:rPr>
              <a:t>Criar carteira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Clicar em “Adicionar agora”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endParaRPr lang="pt-PT" sz="3000" dirty="0">
              <a:latin typeface="Open Sans" panose="020B0606030504020204" pitchFamily="34" charset="0"/>
            </a:endParaRP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endParaRPr lang="pt-PT" sz="3000" dirty="0">
              <a:latin typeface="Open Sans" panose="020B0606030504020204" pitchFamily="34" charset="0"/>
            </a:endParaRPr>
          </a:p>
          <a:p>
            <a:pPr fontAlgn="base">
              <a:lnSpc>
                <a:spcPct val="150000"/>
              </a:lnSpc>
              <a:spcAft>
                <a:spcPct val="0"/>
              </a:spcAft>
              <a:buSzPct val="125000"/>
            </a:pPr>
            <a:endParaRPr lang="pt-PT" sz="5400" dirty="0">
              <a:latin typeface="Open Sans" panose="020B0606030504020204" pitchFamily="34" charset="0"/>
            </a:endParaRP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Dar um nome à carteira e selecionar tipo ”Bitcoin”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Clicar em “Adicionar”</a:t>
            </a:r>
          </a:p>
          <a:p>
            <a:pPr marL="565442" indent="-565442">
              <a:buFont typeface="Arial" panose="020B0604020202020204" pitchFamily="34" charset="0"/>
              <a:buChar char="•"/>
            </a:pPr>
            <a:endParaRPr lang="pt-PT" dirty="0"/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52C6429E-9894-4905-6926-79C05CBFE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650" y="4962895"/>
            <a:ext cx="4816607" cy="2596780"/>
          </a:xfrm>
          <a:prstGeom prst="rect">
            <a:avLst/>
          </a:prstGeom>
        </p:spPr>
      </p:pic>
      <p:pic>
        <p:nvPicPr>
          <p:cNvPr id="13" name="Content Placeholder 12" descr="A screenshot of a phone&#10;&#10;AI-generated content may be incorrect.">
            <a:extLst>
              <a:ext uri="{FF2B5EF4-FFF2-40B4-BE49-F238E27FC236}">
                <a16:creationId xmlns:a16="http://schemas.microsoft.com/office/drawing/2014/main" id="{BF70890F-59F4-623B-6FA6-6749676EC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414250" y="599439"/>
            <a:ext cx="5086215" cy="10109640"/>
          </a:xfr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47D581A-7C7A-4262-2B8C-9A67A1A44153}"/>
              </a:ext>
            </a:extLst>
          </p:cNvPr>
          <p:cNvSpPr txBox="1">
            <a:spLocks/>
          </p:cNvSpPr>
          <p:nvPr/>
        </p:nvSpPr>
        <p:spPr>
          <a:xfrm>
            <a:off x="1212007" y="930275"/>
            <a:ext cx="9221043" cy="1329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936" b="0" i="0" kern="1200">
                <a:solidFill>
                  <a:srgbClr val="58595B"/>
                </a:solidFill>
                <a:latin typeface="Avenir Medium" panose="02000503020000020003" pitchFamily="2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53923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309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507846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97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26176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3015691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376961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2353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774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31382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6500" b="1" dirty="0">
                <a:solidFill>
                  <a:srgbClr val="251B55"/>
                </a:solidFill>
                <a:latin typeface="Open Sans" panose="020B0606030504020204" pitchFamily="34" charset="0"/>
              </a:rPr>
              <a:t>Configurar uma carteira Bitcoin</a:t>
            </a:r>
          </a:p>
        </p:txBody>
      </p:sp>
      <p:pic>
        <p:nvPicPr>
          <p:cNvPr id="8" name="Picture 7" descr="A black cell phone with a white background&#10;&#10;AI-generated content may be incorrect.">
            <a:extLst>
              <a:ext uri="{FF2B5EF4-FFF2-40B4-BE49-F238E27FC236}">
                <a16:creationId xmlns:a16="http://schemas.microsoft.com/office/drawing/2014/main" id="{3A703D7A-4768-67E0-87D6-6E47E1A304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4250" y="600275"/>
            <a:ext cx="5073840" cy="101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64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2007" y="2530475"/>
            <a:ext cx="10592643" cy="7494505"/>
          </a:xfrm>
        </p:spPr>
        <p:txBody>
          <a:bodyPr/>
          <a:lstStyle/>
          <a:p>
            <a:pPr fontAlgn="base">
              <a:lnSpc>
                <a:spcPct val="150000"/>
              </a:lnSpc>
              <a:spcAft>
                <a:spcPct val="0"/>
              </a:spcAft>
              <a:buSzPct val="125000"/>
            </a:pPr>
            <a:r>
              <a:rPr lang="pt-PT" sz="3000" b="1" dirty="0">
                <a:latin typeface="Open Sans" panose="020B0606030504020204" pitchFamily="34" charset="0"/>
              </a:rPr>
              <a:t>Criar cópia de segurança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Num ambiente calmo e privado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Escrever as 12 palavras num papel</a:t>
            </a:r>
            <a:br>
              <a:rPr lang="pt-PT" sz="3000" dirty="0">
                <a:latin typeface="Open Sans" panose="020B0606030504020204" pitchFamily="34" charset="0"/>
              </a:rPr>
            </a:br>
            <a:r>
              <a:rPr lang="pt-PT" sz="3000" dirty="0">
                <a:latin typeface="Open Sans" panose="020B0606030504020204" pitchFamily="34" charset="0"/>
              </a:rPr>
              <a:t>(a ordem interessa)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Não tirar fotos nem capturas de ecrã às palavras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Guardar o papel em local seguro</a:t>
            </a:r>
          </a:p>
        </p:txBody>
      </p:sp>
      <p:pic>
        <p:nvPicPr>
          <p:cNvPr id="9" name="Content Placeholder 8" descr="A cell phone with a screen&#10;&#10;AI-generated content may be incorrect.">
            <a:extLst>
              <a:ext uri="{FF2B5EF4-FFF2-40B4-BE49-F238E27FC236}">
                <a16:creationId xmlns:a16="http://schemas.microsoft.com/office/drawing/2014/main" id="{1F04EA13-0B5D-3C48-7CFA-EF3051DC4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433435" y="599857"/>
            <a:ext cx="5086215" cy="10109640"/>
          </a:xfrm>
        </p:spPr>
      </p:pic>
      <p:pic>
        <p:nvPicPr>
          <p:cNvPr id="5" name="Picture 4" descr="A black cell phone with a white background&#10;&#10;AI-generated content may be incorrect.">
            <a:extLst>
              <a:ext uri="{FF2B5EF4-FFF2-40B4-BE49-F238E27FC236}">
                <a16:creationId xmlns:a16="http://schemas.microsoft.com/office/drawing/2014/main" id="{CD0B8BE2-360E-87FF-6AFF-FDE3AB9458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5810" y="600693"/>
            <a:ext cx="5073840" cy="10108800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043F691-A51C-2310-B93E-6723BBB170C9}"/>
              </a:ext>
            </a:extLst>
          </p:cNvPr>
          <p:cNvSpPr txBox="1">
            <a:spLocks/>
          </p:cNvSpPr>
          <p:nvPr/>
        </p:nvSpPr>
        <p:spPr>
          <a:xfrm>
            <a:off x="1212007" y="930275"/>
            <a:ext cx="9221043" cy="1329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936" b="0" i="0" kern="1200">
                <a:solidFill>
                  <a:srgbClr val="58595B"/>
                </a:solidFill>
                <a:latin typeface="Avenir Medium" panose="02000503020000020003" pitchFamily="2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53923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309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507846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97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26176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3015691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376961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2353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774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31382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6500" b="1" dirty="0">
                <a:solidFill>
                  <a:srgbClr val="251B55"/>
                </a:solidFill>
                <a:latin typeface="Open Sans" panose="020B0606030504020204" pitchFamily="34" charset="0"/>
              </a:rPr>
              <a:t>Configurar uma carteira Bitcoin</a:t>
            </a:r>
          </a:p>
        </p:txBody>
      </p:sp>
    </p:spTree>
    <p:extLst>
      <p:ext uri="{BB962C8B-B14F-4D97-AF65-F5344CB8AC3E}">
        <p14:creationId xmlns:p14="http://schemas.microsoft.com/office/powerpoint/2010/main" val="27714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2007" y="2193571"/>
            <a:ext cx="9221043" cy="8517209"/>
          </a:xfrm>
        </p:spPr>
        <p:txBody>
          <a:bodyPr/>
          <a:lstStyle/>
          <a:p>
            <a:pPr fontAlgn="base">
              <a:lnSpc>
                <a:spcPct val="150000"/>
              </a:lnSpc>
              <a:spcAft>
                <a:spcPct val="0"/>
              </a:spcAft>
              <a:buSzPct val="125000"/>
            </a:pPr>
            <a:r>
              <a:rPr lang="pt-PT" sz="3000" b="1" dirty="0">
                <a:latin typeface="Open Sans" panose="020B0606030504020204" pitchFamily="34" charset="0"/>
              </a:rPr>
              <a:t>Eliminar carteira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Clicar na carteira que se pretende eliminar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endParaRPr lang="pt-PT" sz="3000" dirty="0">
              <a:latin typeface="Open Sans" panose="020B0606030504020204" pitchFamily="34" charset="0"/>
            </a:endParaRP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endParaRPr lang="pt-PT" sz="3000" dirty="0">
              <a:latin typeface="Open Sans" panose="020B0606030504020204" pitchFamily="34" charset="0"/>
            </a:endParaRPr>
          </a:p>
          <a:p>
            <a:pPr fontAlgn="base">
              <a:lnSpc>
                <a:spcPct val="150000"/>
              </a:lnSpc>
              <a:spcAft>
                <a:spcPct val="0"/>
              </a:spcAft>
              <a:buSzPct val="125000"/>
            </a:pPr>
            <a:endParaRPr lang="pt-PT" sz="4000" dirty="0">
              <a:latin typeface="Open Sans" panose="020B0606030504020204" pitchFamily="34" charset="0"/>
            </a:endParaRP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Selecionar “Eliminar” e confirmar </a:t>
            </a:r>
          </a:p>
        </p:txBody>
      </p:sp>
      <p:pic>
        <p:nvPicPr>
          <p:cNvPr id="6" name="Picture 5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0C7DCB56-1966-8699-647A-B96978842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650" y="5578475"/>
            <a:ext cx="4544364" cy="2513013"/>
          </a:xfrm>
          <a:prstGeom prst="rect">
            <a:avLst/>
          </a:prstGeom>
        </p:spPr>
      </p:pic>
      <p:pic>
        <p:nvPicPr>
          <p:cNvPr id="10" name="Content Placeholder 9" descr="A screen shot of a phone&#10;&#10;AI-generated content may be incorrect.">
            <a:extLst>
              <a:ext uri="{FF2B5EF4-FFF2-40B4-BE49-F238E27FC236}">
                <a16:creationId xmlns:a16="http://schemas.microsoft.com/office/drawing/2014/main" id="{9E90B81E-3E9E-5195-957F-866BF17B5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433435" y="573861"/>
            <a:ext cx="5086215" cy="10109640"/>
          </a:xfr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DC769D8-3699-C3F4-557C-EFD3820DA992}"/>
              </a:ext>
            </a:extLst>
          </p:cNvPr>
          <p:cNvSpPr txBox="1">
            <a:spLocks/>
          </p:cNvSpPr>
          <p:nvPr/>
        </p:nvSpPr>
        <p:spPr>
          <a:xfrm>
            <a:off x="1212007" y="930275"/>
            <a:ext cx="8840043" cy="1329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936" b="0" i="0" kern="1200">
                <a:solidFill>
                  <a:srgbClr val="58595B"/>
                </a:solidFill>
                <a:latin typeface="Avenir Medium" panose="02000503020000020003" pitchFamily="2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53923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309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507846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97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26176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3015691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376961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2353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774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31382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6500" b="1" dirty="0">
                <a:solidFill>
                  <a:srgbClr val="251B55"/>
                </a:solidFill>
                <a:latin typeface="Open Sans" panose="020B0606030504020204" pitchFamily="34" charset="0"/>
              </a:rPr>
              <a:t>Eliminar uma carteira Bitcoin</a:t>
            </a:r>
          </a:p>
        </p:txBody>
      </p:sp>
      <p:pic>
        <p:nvPicPr>
          <p:cNvPr id="8" name="Picture 7" descr="A black cell phone with a white background&#10;&#10;AI-generated content may be incorrect.">
            <a:extLst>
              <a:ext uri="{FF2B5EF4-FFF2-40B4-BE49-F238E27FC236}">
                <a16:creationId xmlns:a16="http://schemas.microsoft.com/office/drawing/2014/main" id="{D93A0F45-ECAE-97D9-7085-9EEC9D2430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3435" y="573861"/>
            <a:ext cx="5073840" cy="101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D93B-033E-465A-6702-85953D807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2007" y="2193571"/>
            <a:ext cx="8535243" cy="8517209"/>
          </a:xfrm>
        </p:spPr>
        <p:txBody>
          <a:bodyPr/>
          <a:lstStyle/>
          <a:p>
            <a:pPr fontAlgn="base">
              <a:lnSpc>
                <a:spcPct val="150000"/>
              </a:lnSpc>
              <a:spcAft>
                <a:spcPct val="0"/>
              </a:spcAft>
              <a:buSzPct val="125000"/>
            </a:pPr>
            <a:r>
              <a:rPr lang="pt-PT" sz="3000" b="1" dirty="0">
                <a:latin typeface="Open Sans" panose="020B0606030504020204" pitchFamily="34" charset="0"/>
              </a:rPr>
              <a:t>Restaurar a partir da cópia de segurança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No </a:t>
            </a:r>
            <a:r>
              <a:rPr lang="pt-PT" sz="3000" dirty="0" err="1">
                <a:latin typeface="Open Sans" panose="020B0606030504020204" pitchFamily="34" charset="0"/>
              </a:rPr>
              <a:t>menú</a:t>
            </a:r>
            <a:r>
              <a:rPr lang="pt-PT" sz="3000" dirty="0">
                <a:latin typeface="Open Sans" panose="020B0606030504020204" pitchFamily="34" charset="0"/>
              </a:rPr>
              <a:t> inicial, clicar em “Adicionar agora” e de seguida em “Importar </a:t>
            </a:r>
            <a:r>
              <a:rPr lang="pt-PT" sz="3000" dirty="0" err="1">
                <a:latin typeface="Open Sans" panose="020B0606030504020204" pitchFamily="34" charset="0"/>
              </a:rPr>
              <a:t>wallet</a:t>
            </a:r>
            <a:r>
              <a:rPr lang="pt-PT" sz="3000" dirty="0">
                <a:latin typeface="Open Sans" panose="020B0606030504020204" pitchFamily="34" charset="0"/>
              </a:rPr>
              <a:t>”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Introduzir as palavras da chave privada por ordem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Clicar em “Importar”</a:t>
            </a:r>
          </a:p>
          <a:p>
            <a:pPr marL="565442" indent="-565442">
              <a:buFont typeface="Arial" panose="020B0604020202020204" pitchFamily="34" charset="0"/>
              <a:buChar char="•"/>
            </a:pPr>
            <a:endParaRPr lang="pt-PT" dirty="0"/>
          </a:p>
        </p:txBody>
      </p:sp>
      <p:pic>
        <p:nvPicPr>
          <p:cNvPr id="16" name="Content Placeholder 15" descr="A screenshot of a phone&#10;&#10;AI-generated content may be incorrect.">
            <a:extLst>
              <a:ext uri="{FF2B5EF4-FFF2-40B4-BE49-F238E27FC236}">
                <a16:creationId xmlns:a16="http://schemas.microsoft.com/office/drawing/2014/main" id="{56886B56-BC25-DA17-BBB5-E35CBAF59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414250" y="599857"/>
            <a:ext cx="5086215" cy="10109640"/>
          </a:xfr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59C097A-9B8F-B69E-2002-6C590C2A302F}"/>
              </a:ext>
            </a:extLst>
          </p:cNvPr>
          <p:cNvSpPr txBox="1">
            <a:spLocks/>
          </p:cNvSpPr>
          <p:nvPr/>
        </p:nvSpPr>
        <p:spPr>
          <a:xfrm>
            <a:off x="1212007" y="930275"/>
            <a:ext cx="9221043" cy="1329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936" b="0" i="0" kern="1200">
                <a:solidFill>
                  <a:srgbClr val="58595B"/>
                </a:solidFill>
                <a:latin typeface="Avenir Medium" panose="02000503020000020003" pitchFamily="2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53923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309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507846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97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26176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3015691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376961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2353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774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31382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6500" b="1" dirty="0">
                <a:solidFill>
                  <a:srgbClr val="251B55"/>
                </a:solidFill>
                <a:latin typeface="Open Sans" panose="020B0606030504020204" pitchFamily="34" charset="0"/>
              </a:rPr>
              <a:t>Recuperar uma carteira Bitcoin</a:t>
            </a:r>
          </a:p>
        </p:txBody>
      </p:sp>
      <p:pic>
        <p:nvPicPr>
          <p:cNvPr id="7" name="Picture 6" descr="A black cell phone with a white background&#10;&#10;AI-generated content may be incorrect.">
            <a:extLst>
              <a:ext uri="{FF2B5EF4-FFF2-40B4-BE49-F238E27FC236}">
                <a16:creationId xmlns:a16="http://schemas.microsoft.com/office/drawing/2014/main" id="{6A6DE6E6-6880-FEB5-EF23-12AB47221B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4250" y="600693"/>
            <a:ext cx="5073840" cy="101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1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D073F-374B-9FB4-66A3-1C529531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BF0B8B4-C4AB-4023-A0D6-87A80063F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2007" y="2454275"/>
            <a:ext cx="8306643" cy="7494505"/>
          </a:xfrm>
        </p:spPr>
        <p:txBody>
          <a:bodyPr>
            <a:normAutofit/>
          </a:bodyPr>
          <a:lstStyle/>
          <a:p>
            <a:pPr fontAlgn="base">
              <a:lnSpc>
                <a:spcPct val="150000"/>
              </a:lnSpc>
              <a:spcAft>
                <a:spcPct val="0"/>
              </a:spcAft>
              <a:buSzPct val="125000"/>
            </a:pPr>
            <a:r>
              <a:rPr lang="pt-PT" sz="3000" b="1" dirty="0">
                <a:latin typeface="Open Sans" panose="020B0606030504020204" pitchFamily="34" charset="0"/>
              </a:rPr>
              <a:t>Partilhar um endereço Bitcoin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Clicar na carteira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endParaRPr lang="pt-PT" sz="3000" dirty="0">
              <a:latin typeface="Open Sans" panose="020B0606030504020204" pitchFamily="34" charset="0"/>
            </a:endParaRP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endParaRPr lang="pt-PT" sz="3000" dirty="0">
              <a:latin typeface="Open Sans" panose="020B0606030504020204" pitchFamily="34" charset="0"/>
            </a:endParaRPr>
          </a:p>
          <a:p>
            <a:pPr fontAlgn="base">
              <a:lnSpc>
                <a:spcPct val="150000"/>
              </a:lnSpc>
              <a:spcAft>
                <a:spcPct val="0"/>
              </a:spcAft>
              <a:buSzPct val="125000"/>
            </a:pPr>
            <a:endParaRPr lang="pt-PT" sz="4400" dirty="0">
              <a:latin typeface="Open Sans" panose="020B0606030504020204" pitchFamily="34" charset="0"/>
            </a:endParaRP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Selecionar “Receber”</a:t>
            </a:r>
            <a:br>
              <a:rPr lang="pt-PT" sz="3000" dirty="0">
                <a:latin typeface="Open Sans" panose="020B0606030504020204" pitchFamily="34" charset="0"/>
              </a:rPr>
            </a:br>
            <a:br>
              <a:rPr lang="pt-PT" sz="3000" dirty="0">
                <a:latin typeface="Open Sans" panose="020B0606030504020204" pitchFamily="34" charset="0"/>
              </a:rPr>
            </a:br>
            <a:r>
              <a:rPr lang="pt-PT" sz="1800" dirty="0">
                <a:latin typeface="Open Sans" panose="020B0606030504020204" pitchFamily="34" charset="0"/>
              </a:rPr>
              <a:t> 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Partilhar o endereço para receber bitcoin</a:t>
            </a:r>
          </a:p>
        </p:txBody>
      </p:sp>
      <p:pic>
        <p:nvPicPr>
          <p:cNvPr id="18" name="Picture 17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A444962F-B7B9-EBCD-2A58-42BFD05BB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888" y="4283075"/>
            <a:ext cx="4544364" cy="251301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0EC5C4C-FD37-6D6B-F6B5-482E5181FEF0}"/>
              </a:ext>
            </a:extLst>
          </p:cNvPr>
          <p:cNvGrpSpPr/>
          <p:nvPr/>
        </p:nvGrpSpPr>
        <p:grpSpPr>
          <a:xfrm>
            <a:off x="1858323" y="7964948"/>
            <a:ext cx="2249746" cy="661527"/>
            <a:chOff x="1078895" y="5515811"/>
            <a:chExt cx="1364344" cy="40117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B1F90EF-EEBF-82B5-0926-8679A866D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802" t="85730" r="51146" b="8420"/>
            <a:stretch/>
          </p:blipFill>
          <p:spPr>
            <a:xfrm>
              <a:off x="1078895" y="5515811"/>
              <a:ext cx="1359506" cy="401179"/>
            </a:xfrm>
            <a:prstGeom prst="rect">
              <a:avLst/>
            </a:prstGeom>
          </p:spPr>
        </p:pic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CD4209EE-1E1D-A26C-934C-8CDA769F8F85}"/>
                </a:ext>
              </a:extLst>
            </p:cNvPr>
            <p:cNvSpPr/>
            <p:nvPr/>
          </p:nvSpPr>
          <p:spPr>
            <a:xfrm>
              <a:off x="1083733" y="5515811"/>
              <a:ext cx="1359506" cy="401179"/>
            </a:xfrm>
            <a:prstGeom prst="roundRect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pic>
        <p:nvPicPr>
          <p:cNvPr id="6" name="Content Placeholder 5" descr="A qr code on a cell phone&#10;&#10;AI-generated content may be incorrect.">
            <a:extLst>
              <a:ext uri="{FF2B5EF4-FFF2-40B4-BE49-F238E27FC236}">
                <a16:creationId xmlns:a16="http://schemas.microsoft.com/office/drawing/2014/main" id="{A502EBEF-42CF-159D-5513-F6F05F45A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2433435" y="599857"/>
            <a:ext cx="5086215" cy="10109640"/>
          </a:xfr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3B42D4C-FA97-6443-E7D4-B6D1E8E6EE43}"/>
              </a:ext>
            </a:extLst>
          </p:cNvPr>
          <p:cNvSpPr txBox="1">
            <a:spLocks/>
          </p:cNvSpPr>
          <p:nvPr/>
        </p:nvSpPr>
        <p:spPr>
          <a:xfrm>
            <a:off x="1212007" y="930275"/>
            <a:ext cx="9221043" cy="1329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936" b="0" i="0" kern="1200">
                <a:solidFill>
                  <a:srgbClr val="58595B"/>
                </a:solidFill>
                <a:latin typeface="Avenir Medium" panose="02000503020000020003" pitchFamily="2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53923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309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507846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97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26176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3015691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376961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2353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774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31382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6500" b="1" dirty="0">
                <a:solidFill>
                  <a:srgbClr val="251B55"/>
                </a:solidFill>
                <a:latin typeface="Open Sans" panose="020B0606030504020204" pitchFamily="34" charset="0"/>
              </a:rPr>
              <a:t>Receber Bitcoin</a:t>
            </a:r>
          </a:p>
        </p:txBody>
      </p:sp>
      <p:pic>
        <p:nvPicPr>
          <p:cNvPr id="3" name="Picture 2" descr="A black cell phone with a white background&#10;&#10;AI-generated content may be incorrect.">
            <a:extLst>
              <a:ext uri="{FF2B5EF4-FFF2-40B4-BE49-F238E27FC236}">
                <a16:creationId xmlns:a16="http://schemas.microsoft.com/office/drawing/2014/main" id="{718378CB-DE5F-C581-808C-426AAFA5BD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5810" y="600693"/>
            <a:ext cx="5073840" cy="101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54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7AB6F-9BA2-2012-701D-C3B5FAA22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0EC4A9C-B437-5739-B9A6-51F2EE3B9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2007" y="2454275"/>
            <a:ext cx="10059243" cy="7494505"/>
          </a:xfrm>
        </p:spPr>
        <p:txBody>
          <a:bodyPr>
            <a:normAutofit/>
          </a:bodyPr>
          <a:lstStyle/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Clicar na carteira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endParaRPr lang="pt-PT" sz="3000" dirty="0">
              <a:latin typeface="Open Sans" panose="020B0606030504020204" pitchFamily="34" charset="0"/>
            </a:endParaRP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endParaRPr lang="pt-PT" sz="3000" dirty="0">
              <a:latin typeface="Open Sans" panose="020B0606030504020204" pitchFamily="34" charset="0"/>
            </a:endParaRPr>
          </a:p>
          <a:p>
            <a:pPr fontAlgn="base">
              <a:lnSpc>
                <a:spcPct val="150000"/>
              </a:lnSpc>
              <a:spcAft>
                <a:spcPct val="0"/>
              </a:spcAft>
              <a:buSzPct val="125000"/>
            </a:pPr>
            <a:endParaRPr lang="pt-PT" sz="4400" dirty="0">
              <a:latin typeface="Open Sans" panose="020B0606030504020204" pitchFamily="34" charset="0"/>
            </a:endParaRP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Selecionar “Enviar”</a:t>
            </a:r>
            <a:br>
              <a:rPr lang="pt-PT" sz="3000" dirty="0">
                <a:latin typeface="Open Sans" panose="020B0606030504020204" pitchFamily="34" charset="0"/>
              </a:rPr>
            </a:br>
            <a:r>
              <a:rPr lang="pt-PT" sz="3600" dirty="0">
                <a:latin typeface="Open Sans" panose="020B0606030504020204" pitchFamily="34" charset="0"/>
              </a:rPr>
              <a:t> </a:t>
            </a:r>
            <a:endParaRPr lang="pt-PT" sz="3000" dirty="0">
              <a:latin typeface="Open Sans" panose="020B0606030504020204" pitchFamily="34" charset="0"/>
            </a:endParaRP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Colar o endereço para o qual se quer enviar bitcoin</a:t>
            </a:r>
          </a:p>
          <a:p>
            <a:pPr marL="592138" indent="-592138" fontAlgn="base">
              <a:lnSpc>
                <a:spcPct val="150000"/>
              </a:lnSpc>
              <a:spcAft>
                <a:spcPct val="0"/>
              </a:spcAft>
              <a:buSzPct val="125000"/>
              <a:buBlip>
                <a:blip r:embed="rId2"/>
              </a:buBlip>
            </a:pPr>
            <a:r>
              <a:rPr lang="pt-PT" sz="3000" dirty="0">
                <a:latin typeface="Open Sans" panose="020B0606030504020204" pitchFamily="34" charset="0"/>
              </a:rPr>
              <a:t>É possível acrescentar uma nota descritiva e modificar o valor da taxa de transação</a:t>
            </a:r>
          </a:p>
        </p:txBody>
      </p:sp>
      <p:pic>
        <p:nvPicPr>
          <p:cNvPr id="18" name="Picture 17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DD6C25AF-A979-4FC8-8D3D-46FB65C24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888" y="3217862"/>
            <a:ext cx="4544364" cy="2513013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1081262-0489-32E1-DB86-FCB24DDDF4E2}"/>
              </a:ext>
            </a:extLst>
          </p:cNvPr>
          <p:cNvSpPr txBox="1">
            <a:spLocks/>
          </p:cNvSpPr>
          <p:nvPr/>
        </p:nvSpPr>
        <p:spPr>
          <a:xfrm>
            <a:off x="1212007" y="930275"/>
            <a:ext cx="9221043" cy="1329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936" b="0" i="0" kern="1200">
                <a:solidFill>
                  <a:srgbClr val="58595B"/>
                </a:solidFill>
                <a:latin typeface="Avenir Medium" panose="02000503020000020003" pitchFamily="2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53923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309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507846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97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26176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3015691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376961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2353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27746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31382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4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6500" b="1" dirty="0">
                <a:solidFill>
                  <a:srgbClr val="251B55"/>
                </a:solidFill>
                <a:latin typeface="Open Sans" panose="020B0606030504020204" pitchFamily="34" charset="0"/>
              </a:rPr>
              <a:t>Enviar Bitcoin</a:t>
            </a:r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FD2A0ADB-BD0E-40A6-8839-98BEDB4069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9" t="85764" r="2327" b="7417"/>
          <a:stretch>
            <a:fillRect/>
          </a:stretch>
        </p:blipFill>
        <p:spPr>
          <a:xfrm>
            <a:off x="1835888" y="6797675"/>
            <a:ext cx="2196363" cy="6858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D51E9CE-7853-3A22-D056-3413CCDEECD9}"/>
              </a:ext>
            </a:extLst>
          </p:cNvPr>
          <p:cNvGrpSpPr/>
          <p:nvPr/>
        </p:nvGrpSpPr>
        <p:grpSpPr>
          <a:xfrm>
            <a:off x="12445810" y="625475"/>
            <a:ext cx="5073840" cy="10108800"/>
            <a:chOff x="12445810" y="625475"/>
            <a:chExt cx="5073840" cy="101088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C2C36D2-C83C-7E0E-8F2F-981B7D15E41A}"/>
                </a:ext>
              </a:extLst>
            </p:cNvPr>
            <p:cNvGrpSpPr/>
            <p:nvPr/>
          </p:nvGrpSpPr>
          <p:grpSpPr>
            <a:xfrm>
              <a:off x="12445810" y="625475"/>
              <a:ext cx="5073840" cy="10108800"/>
              <a:chOff x="11499850" y="600693"/>
              <a:chExt cx="5073840" cy="10108800"/>
            </a:xfrm>
          </p:grpSpPr>
          <p:pic>
            <p:nvPicPr>
              <p:cNvPr id="12" name="Picture 11" descr="A screenshot of a phone&#10;&#10;AI-generated content may be incorrect.">
                <a:extLst>
                  <a:ext uri="{FF2B5EF4-FFF2-40B4-BE49-F238E27FC236}">
                    <a16:creationId xmlns:a16="http://schemas.microsoft.com/office/drawing/2014/main" id="{5013AAA1-CDF0-B72F-0001-8027CB2AF2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1310" b="-501"/>
              <a:stretch>
                <a:fillRect/>
              </a:stretch>
            </p:blipFill>
            <p:spPr>
              <a:xfrm>
                <a:off x="11782148" y="7595272"/>
                <a:ext cx="4526280" cy="2936203"/>
              </a:xfrm>
              <a:prstGeom prst="rect">
                <a:avLst/>
              </a:prstGeom>
            </p:spPr>
          </p:pic>
          <p:pic>
            <p:nvPicPr>
              <p:cNvPr id="5" name="Picture 4" descr="A screenshot of a phone&#10;&#10;AI-generated content may be incorrect.">
                <a:extLst>
                  <a:ext uri="{FF2B5EF4-FFF2-40B4-BE49-F238E27FC236}">
                    <a16:creationId xmlns:a16="http://schemas.microsoft.com/office/drawing/2014/main" id="{7946931C-0CFE-4BD5-03AE-F132AA66A7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6515"/>
              <a:stretch>
                <a:fillRect/>
              </a:stretch>
            </p:blipFill>
            <p:spPr>
              <a:xfrm>
                <a:off x="11773630" y="701675"/>
                <a:ext cx="4526280" cy="7391400"/>
              </a:xfrm>
              <a:prstGeom prst="rect">
                <a:avLst/>
              </a:prstGeom>
            </p:spPr>
          </p:pic>
          <p:pic>
            <p:nvPicPr>
              <p:cNvPr id="3" name="Picture 2" descr="A black cell phone with a white background&#10;&#10;AI-generated content may be incorrect.">
                <a:extLst>
                  <a:ext uri="{FF2B5EF4-FFF2-40B4-BE49-F238E27FC236}">
                    <a16:creationId xmlns:a16="http://schemas.microsoft.com/office/drawing/2014/main" id="{F4B5E8AC-84DD-6B8D-C876-B8C2E92971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99850" y="600693"/>
                <a:ext cx="5073840" cy="10108800"/>
              </a:xfrm>
              <a:prstGeom prst="rect">
                <a:avLst/>
              </a:prstGeom>
            </p:spPr>
          </p:pic>
        </p:grp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A22C4B80-2C87-E7E5-56FC-6AE089E973AD}"/>
                </a:ext>
              </a:extLst>
            </p:cNvPr>
            <p:cNvSpPr/>
            <p:nvPr/>
          </p:nvSpPr>
          <p:spPr>
            <a:xfrm>
              <a:off x="12925330" y="5807075"/>
              <a:ext cx="4114800" cy="533400"/>
            </a:xfrm>
            <a:prstGeom prst="roundRect">
              <a:avLst>
                <a:gd name="adj" fmla="val 50000"/>
              </a:avLst>
            </a:prstGeom>
            <a:solidFill>
              <a:srgbClr val="CCDEF9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400" dirty="0">
                  <a:solidFill>
                    <a:srgbClr val="2F5FB3"/>
                  </a:solidFill>
                </a:rPr>
                <a:t>Próximo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3716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218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4046</TotalTime>
  <Words>775</Words>
  <Application>Microsoft Macintosh PowerPoint</Application>
  <PresentationFormat>Custom</PresentationFormat>
  <Paragraphs>112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Avenir Light</vt:lpstr>
      <vt:lpstr>Avenir Medium</vt:lpstr>
      <vt:lpstr>Open Sans</vt:lpstr>
      <vt:lpstr>Open Sans Light</vt:lpstr>
      <vt:lpstr>Ubuntu Light</vt:lpstr>
      <vt:lpstr>1_Custom Design</vt:lpstr>
      <vt:lpstr>Como usar o bitcoin</vt:lpstr>
      <vt:lpstr>Demonstração: Plataformas de compra e venda</vt:lpstr>
      <vt:lpstr>Demonstração: Plataformas de compra e venda</vt:lpstr>
      <vt:lpstr>Demonstração: Plataformas de compra e venda</vt:lpstr>
      <vt:lpstr>Atividade</vt:lpstr>
      <vt:lpstr>Configuração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168</cp:revision>
  <dcterms:created xsi:type="dcterms:W3CDTF">2024-11-12T03:26:48Z</dcterms:created>
  <dcterms:modified xsi:type="dcterms:W3CDTF">2025-11-09T03:54:43Z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