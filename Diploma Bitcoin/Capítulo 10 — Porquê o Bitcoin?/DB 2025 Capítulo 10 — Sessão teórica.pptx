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8"/>
  </p:notesMasterIdLst>
  <p:sldIdLst>
    <p:sldId id="260" r:id="rId2"/>
    <p:sldId id="269" r:id="rId3"/>
    <p:sldId id="270" r:id="rId4"/>
    <p:sldId id="274" r:id="rId5"/>
    <p:sldId id="272" r:id="rId6"/>
    <p:sldId id="268" r:id="rId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595B"/>
    <a:srgbClr val="392569"/>
    <a:srgbClr val="FBB040"/>
    <a:srgbClr val="000000"/>
    <a:srgbClr val="5AB657"/>
    <a:srgbClr val="E4E0FD"/>
    <a:srgbClr val="175CB4"/>
    <a:srgbClr val="8C3BF0"/>
    <a:srgbClr val="0051FF"/>
    <a:srgbClr val="FF94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70"/>
    <p:restoredTop sz="81596"/>
  </p:normalViewPr>
  <p:slideViewPr>
    <p:cSldViewPr>
      <p:cViewPr varScale="1">
        <p:scale>
          <a:sx n="53" d="100"/>
          <a:sy n="53" d="100"/>
        </p:scale>
        <p:origin x="72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26/11/2025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30277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fontAlgn="base">
              <a:lnSpc>
                <a:spcPct val="170000"/>
              </a:lnSpc>
              <a:spcAft>
                <a:spcPct val="0"/>
              </a:spcAft>
              <a:buSzPct val="125000"/>
              <a:buFont typeface="Arial" panose="020B0604020202020204" pitchFamily="34" charset="0"/>
              <a:buNone/>
            </a:pPr>
            <a:endParaRPr lang="pt-PT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08219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985186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84348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7608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6300" noProof="0" dirty="0"/>
              <a:t>Porquê o Bitcoin?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noProof="0" dirty="0"/>
              <a:t>Capítulo #10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140075"/>
            <a:ext cx="17338675" cy="7339012"/>
          </a:xfrm>
        </p:spPr>
        <p:txBody>
          <a:bodyPr>
            <a:noAutofit/>
          </a:bodyPr>
          <a:lstStyle/>
          <a:p>
            <a:r>
              <a:rPr lang="pt-PT" sz="2800" noProof="0" dirty="0"/>
              <a:t>10.1 O que são Moedas Digitais do Banco Central (CBDC) e quem as controla?</a:t>
            </a:r>
          </a:p>
          <a:p>
            <a:r>
              <a:rPr lang="pt-PT" sz="2800" noProof="0" dirty="0"/>
              <a:t>10.2 A filosofia do Bitcoin</a:t>
            </a:r>
          </a:p>
          <a:p>
            <a:r>
              <a:rPr lang="pt-PT" sz="2800" noProof="0" dirty="0"/>
              <a:t>10.3 Os benefícios do Bitcoin</a:t>
            </a:r>
          </a:p>
          <a:p>
            <a:r>
              <a:rPr lang="pt-PT" sz="2800" noProof="0" dirty="0"/>
              <a:t>10.4 Um futuro capacitado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04C8-0543-87A0-CA9F-5F40B2B1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6600" noProof="0" dirty="0"/>
              <a:t>10.1 O que são CBDC e quem as controla?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F6FC4-4058-F455-97C4-722C6C1E3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noProof="0" dirty="0"/>
              <a:t>Moedas Digitais do Banco Central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15CE9-48C7-4BEE-B8FE-61B5129192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noProof="0" dirty="0"/>
              <a:t>Oferta ilimitada (inflação)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noProof="0" dirty="0"/>
              <a:t>Centralizadas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Política monetária pouco transparente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noProof="0" dirty="0"/>
              <a:t>Fechadas e exclusivas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Risco de apreensão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noProof="0" dirty="0"/>
              <a:t>Invasoras da privacidade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Permitem a censura</a:t>
            </a:r>
            <a:endParaRPr lang="pt-PT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1A87C-C07C-ABF9-5DE3-C38788564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PT" noProof="0" dirty="0"/>
              <a:t>Bitcoin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F30D7-C9EB-E9DA-6C10-C366F75918A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592138" indent="-592138" fontAlgn="base">
              <a:lnSpc>
                <a:spcPct val="18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Oferta limitada a 21M</a:t>
            </a:r>
          </a:p>
          <a:p>
            <a:pPr marL="592138" indent="-592138" fontAlgn="base">
              <a:lnSpc>
                <a:spcPct val="18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Descentralizado</a:t>
            </a:r>
          </a:p>
          <a:p>
            <a:pPr marL="592138" indent="-592138" fontAlgn="base">
              <a:lnSpc>
                <a:spcPct val="18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Política monetária transparente</a:t>
            </a:r>
          </a:p>
          <a:p>
            <a:pPr marL="592138" indent="-592138" fontAlgn="base">
              <a:lnSpc>
                <a:spcPct val="18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Aberto e inclusivo</a:t>
            </a:r>
          </a:p>
          <a:p>
            <a:pPr marL="592138" indent="-592138" fontAlgn="base">
              <a:lnSpc>
                <a:spcPct val="18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 err="1"/>
              <a:t>Inconfiscável</a:t>
            </a:r>
            <a:endParaRPr lang="pt-PT" dirty="0"/>
          </a:p>
          <a:p>
            <a:pPr marL="592138" indent="-592138" fontAlgn="base">
              <a:lnSpc>
                <a:spcPct val="18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Consciente da privacidade</a:t>
            </a:r>
          </a:p>
          <a:p>
            <a:pPr marL="592138" indent="-592138" fontAlgn="base">
              <a:lnSpc>
                <a:spcPct val="18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Resistente à censura</a:t>
            </a:r>
          </a:p>
        </p:txBody>
      </p:sp>
    </p:spTree>
    <p:extLst>
      <p:ext uri="{BB962C8B-B14F-4D97-AF65-F5344CB8AC3E}">
        <p14:creationId xmlns:p14="http://schemas.microsoft.com/office/powerpoint/2010/main" val="1895913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F5FA-CEAE-9B2B-0E37-562AE8F7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10.2 A </a:t>
            </a:r>
            <a:r>
              <a:rPr lang="en-GB" dirty="0" err="1"/>
              <a:t>filosofia</a:t>
            </a:r>
            <a:r>
              <a:rPr lang="en-GB" dirty="0"/>
              <a:t> do Bitcoin</a:t>
            </a:r>
            <a:endParaRPr lang="en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935E-F363-8407-C859-03186CB12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3216275"/>
            <a:ext cx="8669337" cy="6705600"/>
          </a:xfrm>
        </p:spPr>
        <p:txBody>
          <a:bodyPr anchor="t"/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en-PT" dirty="0"/>
              <a:t>Capacitação, liberdade, independência financeira e pensamento crítico.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en-PT" dirty="0"/>
              <a:t>Um sistema seguro, transparente e justo, onde todos têm o mesmo acesso ao dinheiro a nível global.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en-PT" dirty="0"/>
              <a:t>Requer a iniciativa dos utilizadores para defender as regras do sistema.</a:t>
            </a:r>
          </a:p>
        </p:txBody>
      </p:sp>
      <p:pic>
        <p:nvPicPr>
          <p:cNvPr id="1026" name="Picture 2" descr="Bitcoin Freedom Act: Langkah Berani Oklahoma Menuju Era Baru ...">
            <a:extLst>
              <a:ext uri="{FF2B5EF4-FFF2-40B4-BE49-F238E27FC236}">
                <a16:creationId xmlns:a16="http://schemas.microsoft.com/office/drawing/2014/main" id="{D6B06F7E-7C30-0259-4D46-C66D9650B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6108" y="4206875"/>
            <a:ext cx="7195279" cy="41148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146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3D78-6BDC-49B5-AE73-6D852CE7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299E-93DB-EE37-0238-67193E065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10.3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benefícios</a:t>
            </a:r>
            <a:r>
              <a:rPr lang="en-GB" dirty="0"/>
              <a:t> do Bitcoin</a:t>
            </a:r>
            <a:endParaRPr lang="en-P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A1BA66-C51F-1387-BED9-86E734F8D977}"/>
              </a:ext>
            </a:extLst>
          </p:cNvPr>
          <p:cNvSpPr txBox="1">
            <a:spLocks/>
          </p:cNvSpPr>
          <p:nvPr/>
        </p:nvSpPr>
        <p:spPr>
          <a:xfrm>
            <a:off x="7892050" y="2564075"/>
            <a:ext cx="4320000" cy="11520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800" dirty="0"/>
              <a:t>Um futuro soberano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38B2642-7698-5BF1-3759-40B4C1860704}"/>
              </a:ext>
            </a:extLst>
          </p:cNvPr>
          <p:cNvSpPr txBox="1">
            <a:spLocks/>
          </p:cNvSpPr>
          <p:nvPr/>
        </p:nvSpPr>
        <p:spPr>
          <a:xfrm>
            <a:off x="13328650" y="4317535"/>
            <a:ext cx="4320000" cy="164194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800" dirty="0"/>
              <a:t>Uma reserva de valor fiável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112FD6B-2513-E9C2-8FD6-B300A7AB0D10}"/>
              </a:ext>
            </a:extLst>
          </p:cNvPr>
          <p:cNvSpPr txBox="1">
            <a:spLocks/>
          </p:cNvSpPr>
          <p:nvPr/>
        </p:nvSpPr>
        <p:spPr>
          <a:xfrm>
            <a:off x="13328650" y="6873875"/>
            <a:ext cx="4320000" cy="164194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800" dirty="0"/>
              <a:t>Alterações nas políticas monetárias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BBEC76A9-66E1-C84C-B730-7B9B502028FF}"/>
              </a:ext>
            </a:extLst>
          </p:cNvPr>
          <p:cNvSpPr txBox="1">
            <a:spLocks/>
          </p:cNvSpPr>
          <p:nvPr/>
        </p:nvSpPr>
        <p:spPr>
          <a:xfrm>
            <a:off x="7892050" y="9065746"/>
            <a:ext cx="4320000" cy="164194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800" dirty="0"/>
              <a:t>Maior transparência e monitorização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E4A86DD-2717-F5ED-70F3-23B0FB30C972}"/>
              </a:ext>
            </a:extLst>
          </p:cNvPr>
          <p:cNvSpPr txBox="1">
            <a:spLocks/>
          </p:cNvSpPr>
          <p:nvPr/>
        </p:nvSpPr>
        <p:spPr>
          <a:xfrm>
            <a:off x="2660650" y="6873875"/>
            <a:ext cx="4320000" cy="164194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800" dirty="0"/>
              <a:t>Uma revolução no mercado de remessas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2B02D20-4EEE-A5C1-F3F8-9DF0F8A33440}"/>
              </a:ext>
            </a:extLst>
          </p:cNvPr>
          <p:cNvSpPr txBox="1">
            <a:spLocks/>
          </p:cNvSpPr>
          <p:nvPr/>
        </p:nvSpPr>
        <p:spPr>
          <a:xfrm>
            <a:off x="2660650" y="4471234"/>
            <a:ext cx="4320000" cy="11520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800" dirty="0"/>
              <a:t>Abundância de energia</a:t>
            </a:r>
          </a:p>
        </p:txBody>
      </p:sp>
      <p:pic>
        <p:nvPicPr>
          <p:cNvPr id="4098" name="Picture 2" descr="bitcoin logo color png ilustración 8505801 PNG">
            <a:extLst>
              <a:ext uri="{FF2B5EF4-FFF2-40B4-BE49-F238E27FC236}">
                <a16:creationId xmlns:a16="http://schemas.microsoft.com/office/drawing/2014/main" id="{A844D490-7B34-09A7-66BF-BA2AF000B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263" y="5197475"/>
            <a:ext cx="2483573" cy="248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916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Free Images : bitcoin, Bitcoins, crypto, money, gold, goldrain ...">
            <a:extLst>
              <a:ext uri="{FF2B5EF4-FFF2-40B4-BE49-F238E27FC236}">
                <a16:creationId xmlns:a16="http://schemas.microsoft.com/office/drawing/2014/main" id="{0E2C8FF5-DDF2-84AC-E4C1-F6DDCD076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"/>
          <a:stretch>
            <a:fillRect/>
          </a:stretch>
        </p:blipFill>
        <p:spPr bwMode="auto">
          <a:xfrm>
            <a:off x="20" y="1"/>
            <a:ext cx="20104080" cy="11309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5A25A-9277-B341-5E67-F098BB8B8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175" y="5045075"/>
            <a:ext cx="15078075" cy="70051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fontAlgn="base">
              <a:lnSpc>
                <a:spcPct val="90000"/>
              </a:lnSpc>
              <a:spcAft>
                <a:spcPct val="0"/>
              </a:spcAft>
              <a:buSzPct val="125000"/>
              <a:buNone/>
            </a:pPr>
            <a:r>
              <a:rPr lang="en-US" sz="4400" dirty="0">
                <a:solidFill>
                  <a:srgbClr val="FFFFFF"/>
                </a:solidFill>
              </a:rPr>
              <a:t>Bitcoin </a:t>
            </a:r>
            <a:r>
              <a:rPr lang="en-US" sz="4400" dirty="0" err="1">
                <a:solidFill>
                  <a:srgbClr val="FFFFFF"/>
                </a:solidFill>
              </a:rPr>
              <a:t>é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dinheiro</a:t>
            </a:r>
            <a:r>
              <a:rPr lang="en-US" sz="44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F59315-6CB3-CCE5-067E-CA90B2BCB007}"/>
              </a:ext>
            </a:extLst>
          </p:cNvPr>
          <p:cNvSpPr txBox="1">
            <a:spLocks/>
          </p:cNvSpPr>
          <p:nvPr/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>
                <a:solidFill>
                  <a:schemeClr val="tx1"/>
                </a:solidFill>
              </a:rPr>
              <a:t>10.4 Um </a:t>
            </a:r>
            <a:r>
              <a:rPr lang="en-GB" dirty="0" err="1">
                <a:solidFill>
                  <a:schemeClr val="tx1"/>
                </a:solidFill>
              </a:rPr>
              <a:t>futuro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capacitado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257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5110</TotalTime>
  <Words>184</Words>
  <Application>Microsoft Macintosh PowerPoint</Application>
  <PresentationFormat>Custom</PresentationFormat>
  <Paragraphs>41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Open Sans</vt:lpstr>
      <vt:lpstr>Open Sans Light</vt:lpstr>
      <vt:lpstr>Ubuntu Light</vt:lpstr>
      <vt:lpstr>1_Custom Design</vt:lpstr>
      <vt:lpstr>Porquê o Bitcoin?</vt:lpstr>
      <vt:lpstr>10.1 O que são CBDC e quem as controla?</vt:lpstr>
      <vt:lpstr>10.2 A filosofia do Bitcoin</vt:lpstr>
      <vt:lpstr>10.3 Os benefícios do Bitcoin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354</cp:revision>
  <dcterms:created xsi:type="dcterms:W3CDTF">2024-11-12T03:26:48Z</dcterms:created>
  <dcterms:modified xsi:type="dcterms:W3CDTF">2025-11-26T08:46:41Z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