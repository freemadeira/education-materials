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15"/>
  </p:notesMasterIdLst>
  <p:sldIdLst>
    <p:sldId id="260" r:id="rId2"/>
    <p:sldId id="265" r:id="rId3"/>
    <p:sldId id="269" r:id="rId4"/>
    <p:sldId id="270" r:id="rId5"/>
    <p:sldId id="271" r:id="rId6"/>
    <p:sldId id="278" r:id="rId7"/>
    <p:sldId id="279" r:id="rId8"/>
    <p:sldId id="282" r:id="rId9"/>
    <p:sldId id="280" r:id="rId10"/>
    <p:sldId id="281" r:id="rId11"/>
    <p:sldId id="285" r:id="rId12"/>
    <p:sldId id="284" r:id="rId13"/>
    <p:sldId id="268" r:id="rId14"/>
  </p:sldIdLst>
  <p:sldSz cx="20104100" cy="11309350"/>
  <p:notesSz cx="1130935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B040"/>
    <a:srgbClr val="FF9415"/>
    <a:srgbClr val="58595B"/>
    <a:srgbClr val="E4E0FD"/>
    <a:srgbClr val="392569"/>
    <a:srgbClr val="161346"/>
    <a:srgbClr val="0C4C24"/>
    <a:srgbClr val="653B93"/>
    <a:srgbClr val="FEFEFF"/>
    <a:srgbClr val="F1E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55"/>
    <p:restoredTop sz="58452"/>
  </p:normalViewPr>
  <p:slideViewPr>
    <p:cSldViewPr>
      <p:cViewPr varScale="1">
        <p:scale>
          <a:sx n="34" d="100"/>
          <a:sy n="34" d="100"/>
        </p:scale>
        <p:origin x="3016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00956" cy="10074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405716" y="0"/>
            <a:ext cx="4900956" cy="10074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06190-753F-B441-B6BD-4CD1B6C676A4}" type="datetimeFigureOut">
              <a:rPr lang="en-PT" smtClean="0"/>
              <a:t>01/11/2025</a:t>
            </a:fld>
            <a:endParaRPr lang="en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73063" y="2514600"/>
            <a:ext cx="12055476" cy="6783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30579" y="9673901"/>
            <a:ext cx="9048194" cy="7918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9096639"/>
            <a:ext cx="4900956" cy="1007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05716" y="19096639"/>
            <a:ext cx="4900956" cy="10074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BDFA0-B2CB-F643-A7D4-44C1F02A8DE8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076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6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718384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0EA7-420F-5F78-CD9E-446F9FE0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11986-C451-67B5-D4BE-4FE866893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C3760-BFD9-5EB4-E463-3717A1771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A4256-1EFC-BC17-DE54-D31B95DEA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6947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C67F8-5790-841E-C687-2C057BB90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6FF9D3-3F0D-4261-1A06-061A2D3CE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4F1D4-59BF-0EBF-27CE-9371CA5BF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6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99022-D8DA-03D9-410B-B8D2D8256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076021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1BE87-5400-EA65-9DED-D04757B55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BBE9A-2332-F7D4-8D4A-9DE258D2F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348A9-C4EB-7AAE-8352-1A650A142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600" noProof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B6E7F-E1B2-182B-6D7F-E8507B8D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4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944165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16235-7E5A-ED84-E675-27105341A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8BCDB-A657-9BF3-606F-CE4B1C57A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B6F42-FDB7-C2A1-2215-3DFEEC37B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6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04BA2-2AC8-5DEC-C952-332F96C57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5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399228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60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6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3791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FA034-2EDA-F6CB-F4A4-D3A79DEB5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1A786-0897-CD7F-7442-F0C3EE563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B72E6-43CC-670C-FF83-101A3382E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6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47FAA-0E2F-BC2A-4F70-4C0290267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7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227437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899C3-7092-13BB-3FAD-CCB0D94B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2C0D1-0CBE-49FE-CAB3-862A370DD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BCBA8-6F14-2FBC-77FF-7663B43AA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BD822-617E-6075-CED2-FB4B612CE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8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851813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26FA9-5D03-9EF6-FC36-05C822B2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68649-86BF-015A-0F1B-FC45320C61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DFD57-B502-25D3-F5F9-3F4EAEB46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6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4ED17-6969-2C16-963C-20D42BC95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9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644585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2BE41-1CC9-0343-A13D-F33C8D067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2E63B-5680-CF6C-FED7-1D53F7341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3BFB3-B6EF-3AAC-0412-8614A0892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600" kern="1200" noProof="1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3ABDE-53D2-CE58-7433-86657088E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10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18538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11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905165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sz="1600" kern="1200" noProof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12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675379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BDFA0-B2CB-F643-A7D4-44C1F02A8DE8}" type="slidenum">
              <a:rPr lang="en-PT" smtClean="0"/>
              <a:t>13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83501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3">
            <a:extLst>
              <a:ext uri="{FF2B5EF4-FFF2-40B4-BE49-F238E27FC236}">
                <a16:creationId xmlns:a16="http://schemas.microsoft.com/office/drawing/2014/main" id="{8989FBFA-0A59-F895-70E1-7D2A78E89463}"/>
              </a:ext>
            </a:extLst>
          </p:cNvPr>
          <p:cNvSpPr txBox="1"/>
          <p:nvPr userDrawn="1"/>
        </p:nvSpPr>
        <p:spPr>
          <a:xfrm>
            <a:off x="15919450" y="10284003"/>
            <a:ext cx="2790723" cy="414857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algn="r">
              <a:spcBef>
                <a:spcPts val="595"/>
              </a:spcBef>
            </a:pPr>
            <a:r>
              <a:rPr lang="pt-PT" sz="2200" b="1" i="1" dirty="0">
                <a:solidFill>
                  <a:srgbClr val="FFFFFF"/>
                </a:solidFill>
                <a:latin typeface="Open Sans"/>
                <a:cs typeface="Open Sans"/>
              </a:rPr>
              <a:t>2025</a:t>
            </a:r>
            <a:endParaRPr sz="1650" dirty="0">
              <a:latin typeface="Open Sans Light"/>
              <a:cs typeface="Open Sans Light"/>
            </a:endParaRPr>
          </a:p>
        </p:txBody>
      </p:sp>
      <p:pic>
        <p:nvPicPr>
          <p:cNvPr id="11" name="object 4">
            <a:extLst>
              <a:ext uri="{FF2B5EF4-FFF2-40B4-BE49-F238E27FC236}">
                <a16:creationId xmlns:a16="http://schemas.microsoft.com/office/drawing/2014/main" id="{614F2C05-B827-E769-869E-A3BF56A914E1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7461636" y="9540875"/>
            <a:ext cx="1273721" cy="678795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B713F4C0-5C97-2B8D-A32C-F48226619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48" y="1642219"/>
            <a:ext cx="17338675" cy="1463700"/>
          </a:xfrm>
        </p:spPr>
        <p:txBody>
          <a:bodyPr anchor="t">
            <a:normAutofit/>
          </a:bodyPr>
          <a:lstStyle>
            <a:lvl1pPr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E312E16-9584-D7B3-7B88-21458C9FBAD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383517" y="601663"/>
            <a:ext cx="17313491" cy="9762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lang="en-PT" sz="5800" b="0" i="0" dirty="0">
                <a:solidFill>
                  <a:schemeClr val="bg1"/>
                </a:solidFill>
                <a:latin typeface="Ubuntu Light"/>
                <a:ea typeface="+mj-ea"/>
                <a:cs typeface="Ubuntu Ligh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B12DCEC-016D-97EA-5E80-9A1084974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2" y="3368675"/>
            <a:ext cx="17338675" cy="7339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27383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F7DA-DD75-4AF1-99D3-BACF7C5CA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3013" y="1851025"/>
            <a:ext cx="15078075" cy="3937000"/>
          </a:xfrm>
        </p:spPr>
        <p:txBody>
          <a:bodyPr anchor="b">
            <a:normAutofit/>
          </a:bodyPr>
          <a:lstStyle>
            <a:lvl1pPr algn="ctr">
              <a:defRPr lang="en-PT" sz="7400" b="1" i="0" kern="12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8F8D16-9FCF-612A-CB90-38F6CEA14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3013" y="5940425"/>
            <a:ext cx="15078075" cy="27305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lang="en-PT" sz="5800" b="0" i="0" kern="1200" spc="-25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7857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A01-9D54-73A9-7F54-31626191B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2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2D9D-896F-FB87-A8A7-DC5D858D4F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82713" y="2301875"/>
            <a:ext cx="8593137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C2BF4-CC5D-4E9E-838E-93C00EABB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8250" y="2301875"/>
            <a:ext cx="8593138" cy="8405811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606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F709-FAF1-2507-082C-24B92C7BE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601663"/>
            <a:ext cx="17340263" cy="1472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PT"/>
            </a:lvl1pPr>
          </a:lstStyle>
          <a:p>
            <a:pPr lvl="0"/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E7870-07E7-9960-2FD7-CC65D9768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237964"/>
            <a:ext cx="8505825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CD55D-ADCF-8B08-2444-3E6F436EA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8505825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58E6B-9046-4406-1246-9D0D85EB35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177463" y="2237964"/>
            <a:ext cx="8547100" cy="1080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lang="en-GB" sz="3200" b="1" i="0" kern="120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C1B51-CDD4-A4F7-DA9D-B40D1A381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177463" y="3481865"/>
            <a:ext cx="8547100" cy="7225822"/>
          </a:xfrm>
          <a:prstGeom prst="rect">
            <a:avLst/>
          </a:prstGeom>
        </p:spPr>
        <p:txBody>
          <a:bodyPr/>
          <a:lstStyle>
            <a:lvl2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  <a:defRPr/>
            </a:lvl2pPr>
          </a:lstStyle>
          <a:p>
            <a:pPr marL="12700" marR="0" lvl="1" indent="0" algn="l" defTabSz="914400" rtl="0" eaLnBrk="1" fontAlgn="auto" latinLnBrk="0" hangingPunct="1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ClrTx/>
              <a:buSzTx/>
              <a:buFontTx/>
              <a:buNone/>
              <a:tabLst>
                <a:tab pos="506730" algn="l"/>
              </a:tabLst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56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246849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BE64-74E1-AAFB-2FEC-3C7C2808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6287BF9-E319-1393-4A5E-804B9FC0B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379964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051E5-DEA9-6BF8-6F9B-EEE66AE7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300" y="754063"/>
            <a:ext cx="8439150" cy="1364400"/>
          </a:xfrm>
        </p:spPr>
        <p:txBody>
          <a:bodyPr anchor="ctr">
            <a:noAutofit/>
          </a:bodyPr>
          <a:lstStyle>
            <a:lvl1pPr>
              <a:defRPr lang="en-PT" sz="7400" b="1" i="0" kern="1200" dirty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53D5-7794-C41A-9DD6-3910C4EAA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052050" y="1628775"/>
            <a:ext cx="8672513" cy="89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1992960-9DC4-AC57-14E2-FE9C2142B8B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2713" y="2301875"/>
            <a:ext cx="8439151" cy="8253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241064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16938-309D-4211-98D7-1067DBDB0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 err="1"/>
              <a:t>Caixas</a:t>
            </a:r>
            <a:r>
              <a:rPr lang="en-GB" dirty="0"/>
              <a:t> de </a:t>
            </a:r>
            <a:r>
              <a:rPr lang="en-GB" dirty="0" err="1"/>
              <a:t>texto</a:t>
            </a:r>
            <a:endParaRPr lang="en-PT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F8E8CE-5C66-BFF0-8EBA-AFCAC710C6D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2225675"/>
            <a:ext cx="17230977" cy="4600756"/>
            <a:chOff x="2813050" y="4486266"/>
            <a:chExt cx="15308802" cy="408752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7D29E82-B7E4-1BE8-E299-86B33C4D5471}"/>
                </a:ext>
              </a:extLst>
            </p:cNvPr>
            <p:cNvSpPr/>
            <p:nvPr/>
          </p:nvSpPr>
          <p:spPr>
            <a:xfrm>
              <a:off x="2813050" y="4892675"/>
              <a:ext cx="15308802" cy="3339117"/>
            </a:xfrm>
            <a:prstGeom prst="roundRect">
              <a:avLst/>
            </a:prstGeom>
            <a:gradFill flip="none" rotWithShape="1">
              <a:gsLst>
                <a:gs pos="64000">
                  <a:srgbClr val="E4E0FD"/>
                </a:gs>
                <a:gs pos="22000">
                  <a:srgbClr val="F1EEFE"/>
                </a:gs>
                <a:gs pos="0">
                  <a:srgbClr val="FEFEFF"/>
                </a:gs>
              </a:gsLst>
              <a:lin ang="162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FA58915-BF8B-865E-2A90-E53EDFD6E0C1}"/>
                </a:ext>
              </a:extLst>
            </p:cNvPr>
            <p:cNvGrpSpPr/>
            <p:nvPr/>
          </p:nvGrpSpPr>
          <p:grpSpPr>
            <a:xfrm>
              <a:off x="3339290" y="4486266"/>
              <a:ext cx="1113010" cy="684000"/>
              <a:chOff x="3117850" y="2659357"/>
              <a:chExt cx="1113010" cy="684000"/>
            </a:xfrm>
          </p:grpSpPr>
          <p:pic>
            <p:nvPicPr>
              <p:cNvPr id="9" name="object 10">
                <a:extLst>
                  <a:ext uri="{FF2B5EF4-FFF2-40B4-BE49-F238E27FC236}">
                    <a16:creationId xmlns:a16="http://schemas.microsoft.com/office/drawing/2014/main" id="{96F4CA46-016A-4A4A-D7A9-BB0AD2137AA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10" name="object 10">
                <a:extLst>
                  <a:ext uri="{FF2B5EF4-FFF2-40B4-BE49-F238E27FC236}">
                    <a16:creationId xmlns:a16="http://schemas.microsoft.com/office/drawing/2014/main" id="{73D0768D-76BA-0C17-37C3-4306316DE19F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8D3AAAC-924D-2E08-3F08-2FBEC9E4EDC1}"/>
                </a:ext>
              </a:extLst>
            </p:cNvPr>
            <p:cNvGrpSpPr/>
            <p:nvPr/>
          </p:nvGrpSpPr>
          <p:grpSpPr>
            <a:xfrm rot="10800000">
              <a:off x="16468044" y="7889792"/>
              <a:ext cx="1113010" cy="684000"/>
              <a:chOff x="3117850" y="2659357"/>
              <a:chExt cx="1113010" cy="684000"/>
            </a:xfrm>
          </p:grpSpPr>
          <p:pic>
            <p:nvPicPr>
              <p:cNvPr id="7" name="object 10">
                <a:extLst>
                  <a:ext uri="{FF2B5EF4-FFF2-40B4-BE49-F238E27FC236}">
                    <a16:creationId xmlns:a16="http://schemas.microsoft.com/office/drawing/2014/main" id="{49008B3A-3CD4-5144-57BC-BC850EC74CB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727450" y="2659357"/>
                <a:ext cx="503410" cy="684000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AA2A24D8-7CD5-2334-B6D3-4C84B1D9CEE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17850" y="2659357"/>
                <a:ext cx="503410" cy="684000"/>
              </a:xfrm>
              <a:prstGeom prst="rect">
                <a:avLst/>
              </a:prstGeom>
            </p:spPr>
          </p:pic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623DCB-56B2-0700-16EE-D45981DA3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41450" y="6768919"/>
            <a:ext cx="17293152" cy="4448356"/>
            <a:chOff x="2432050" y="2478758"/>
            <a:chExt cx="15308802" cy="3937917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CEF03E-A728-A527-B2E8-FAC006662993}"/>
                </a:ext>
              </a:extLst>
            </p:cNvPr>
            <p:cNvSpPr/>
            <p:nvPr/>
          </p:nvSpPr>
          <p:spPr>
            <a:xfrm>
              <a:off x="2432050" y="2811758"/>
              <a:ext cx="15308802" cy="3339117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0000" rIns="540000" rtlCol="0" anchor="ctr"/>
            <a:lstStyle/>
            <a:p>
              <a:pPr algn="ctr"/>
              <a:endParaRPr lang="en-GB" sz="3200" b="1" kern="120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" name="object 16">
              <a:extLst>
                <a:ext uri="{FF2B5EF4-FFF2-40B4-BE49-F238E27FC236}">
                  <a16:creationId xmlns:a16="http://schemas.microsoft.com/office/drawing/2014/main" id="{B3CFF4FB-E36B-1EA1-B4E9-8FF0EC3C20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478758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:a16="http://schemas.microsoft.com/office/drawing/2014/main" id="{FD38801D-612D-53A9-E76A-87F170844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5751986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22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2C462808-59C4-0F22-BB9F-CCDF019BB6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3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1F273-D823-AE26-1462-3E538D7D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83DB76-D669-AFBE-4517-FAECCDB7E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2713" y="2301875"/>
            <a:ext cx="17338675" cy="8405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T" dirty="0"/>
          </a:p>
        </p:txBody>
      </p:sp>
    </p:spTree>
    <p:extLst>
      <p:ext uri="{BB962C8B-B14F-4D97-AF65-F5344CB8AC3E}">
        <p14:creationId xmlns:p14="http://schemas.microsoft.com/office/powerpoint/2010/main" val="108179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9" r:id="rId2"/>
    <p:sldLayoutId id="2147483682" r:id="rId3"/>
    <p:sldLayoutId id="2147483683" r:id="rId4"/>
    <p:sldLayoutId id="2147483684" r:id="rId5"/>
    <p:sldLayoutId id="2147483688" r:id="rId6"/>
    <p:sldLayoutId id="2147483687" r:id="rId7"/>
    <p:sldLayoutId id="2147483689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PT" sz="7400" b="1" i="0" kern="1200" dirty="0">
          <a:solidFill>
            <a:srgbClr val="251B55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lang="en-PT" sz="2800" kern="1200" spc="-10" dirty="0" smtClean="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8595B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hyperlink" Target="https://bitcoin.org/files/bitcoin-paper/bitcoin_pt.pd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515B-A057-7374-4463-2EFD066F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noProof="0" dirty="0"/>
              <a:t>Uma introdução ao Bitcoin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B419-C206-2CAA-7F36-14E774E4B75C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pt-PT" noProof="0" dirty="0"/>
              <a:t>Capítulo #6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E78AC-9731-A805-E836-E847F667B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noProof="0" dirty="0"/>
              <a:t>6.0 </a:t>
            </a:r>
            <a:r>
              <a:rPr lang="pt-PT" noProof="0" dirty="0" err="1"/>
              <a:t>Satoshi</a:t>
            </a:r>
            <a:r>
              <a:rPr lang="pt-PT" noProof="0" dirty="0"/>
              <a:t> </a:t>
            </a:r>
            <a:r>
              <a:rPr lang="pt-PT" noProof="0" dirty="0" err="1"/>
              <a:t>Nakamoto</a:t>
            </a:r>
            <a:r>
              <a:rPr lang="pt-PT" noProof="0" dirty="0"/>
              <a:t> e a criação do Bitcoin</a:t>
            </a:r>
          </a:p>
          <a:p>
            <a:r>
              <a:rPr lang="pt-PT" noProof="0" dirty="0"/>
              <a:t>6.1 Como funciona o Bitcoin?</a:t>
            </a:r>
          </a:p>
          <a:p>
            <a:pPr lvl="1"/>
            <a:r>
              <a:rPr lang="pt-PT" noProof="0" dirty="0"/>
              <a:t>6.1.1 O mecanismo de consenso </a:t>
            </a:r>
            <a:r>
              <a:rPr lang="pt-PT" noProof="0" dirty="0" err="1"/>
              <a:t>Nakamoto</a:t>
            </a:r>
            <a:endParaRPr lang="pt-PT" noProof="0" dirty="0"/>
          </a:p>
          <a:p>
            <a:pPr lvl="1"/>
            <a:r>
              <a:rPr lang="pt-PT" noProof="0" dirty="0"/>
              <a:t>6.1.2 Os intervenientes</a:t>
            </a:r>
          </a:p>
          <a:p>
            <a:r>
              <a:rPr lang="pt-PT" noProof="0" dirty="0"/>
              <a:t>6.2 O bitcoin como moeda digital forte</a:t>
            </a:r>
          </a:p>
          <a:p>
            <a:pPr lvl="1"/>
            <a:r>
              <a:rPr lang="pt-PT" noProof="0" dirty="0"/>
              <a:t>6.2.1 Introdução</a:t>
            </a:r>
          </a:p>
          <a:p>
            <a:pPr lvl="1"/>
            <a:r>
              <a:rPr lang="pt-PT" noProof="0" dirty="0"/>
              <a:t>6.2.2 Características do bitcoin</a:t>
            </a:r>
          </a:p>
          <a:p>
            <a:pPr lvl="1"/>
            <a:r>
              <a:rPr lang="pt-PT" noProof="0" dirty="0"/>
              <a:t>6.2.3 Adoção da responsabilidade pessoal</a:t>
            </a:r>
          </a:p>
        </p:txBody>
      </p:sp>
    </p:spTree>
    <p:extLst>
      <p:ext uri="{BB962C8B-B14F-4D97-AF65-F5344CB8AC3E}">
        <p14:creationId xmlns:p14="http://schemas.microsoft.com/office/powerpoint/2010/main" val="225286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EABA8-AE8B-6BEE-D822-7F7D9737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73A7-D073-8764-6DA7-76BD2F11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982664"/>
            <a:ext cx="17338675" cy="1471611"/>
          </a:xfrm>
        </p:spPr>
        <p:txBody>
          <a:bodyPr>
            <a:normAutofit fontScale="90000"/>
          </a:bodyPr>
          <a:lstStyle/>
          <a:p>
            <a:r>
              <a:rPr lang="pt-PT" noProof="0" dirty="0"/>
              <a:t>6.0 </a:t>
            </a:r>
            <a:r>
              <a:rPr lang="pt-PT" noProof="0" dirty="0" err="1"/>
              <a:t>Satoshi</a:t>
            </a:r>
            <a:r>
              <a:rPr lang="pt-PT" noProof="0" dirty="0"/>
              <a:t> </a:t>
            </a:r>
            <a:r>
              <a:rPr lang="pt-PT" noProof="0" dirty="0" err="1"/>
              <a:t>Nakamoto</a:t>
            </a:r>
            <a:r>
              <a:rPr lang="pt-PT" noProof="0" dirty="0"/>
              <a:t> e a criação do Bitcoin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220175-B2A3-3536-67F3-D18470555F83}"/>
              </a:ext>
            </a:extLst>
          </p:cNvPr>
          <p:cNvGrpSpPr>
            <a:grpSpLocks noChangeAspect="1"/>
          </p:cNvGrpSpPr>
          <p:nvPr/>
        </p:nvGrpSpPr>
        <p:grpSpPr>
          <a:xfrm>
            <a:off x="1405474" y="3618100"/>
            <a:ext cx="17293152" cy="6379975"/>
            <a:chOff x="2432050" y="2040584"/>
            <a:chExt cx="15308802" cy="564788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5526D77-5CF8-3113-5CD0-1C8AF5816254}"/>
                </a:ext>
              </a:extLst>
            </p:cNvPr>
            <p:cNvSpPr/>
            <p:nvPr/>
          </p:nvSpPr>
          <p:spPr>
            <a:xfrm>
              <a:off x="2432050" y="2478757"/>
              <a:ext cx="15308802" cy="4949760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3998" rIns="503998" rtlCol="0" anchor="ctr"/>
            <a:lstStyle/>
            <a:p>
              <a:pPr algn="ctr"/>
              <a:r>
                <a:rPr lang="pt-PT" sz="3200" b="1" kern="1200" noProof="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Muitas pessoas assumem, à partida, que as moedas eletrónicas são uma causa perdida, graças a todas as empresas que não conseguiram</a:t>
              </a:r>
              <a:br>
                <a:rPr lang="pt-PT" sz="3200" b="1" kern="1200" noProof="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3200" b="1" kern="1200" noProof="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concretizá-las, desde a década de 1990. Espero que fique claro que esses sistemas só falharam devido à sua natureza de controlo centralizado. Acho que esta é a primeira vez que experimentamos um sistema descentralizado que não depende da confiança.</a:t>
              </a:r>
            </a:p>
            <a:p>
              <a:pPr algn="ctr"/>
              <a:endParaRPr lang="pt-PT" sz="3200" b="1" kern="1200" noProof="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pt-PT" sz="3200" b="1" kern="1200" noProof="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Satoshi</a:t>
              </a:r>
              <a:r>
                <a:rPr lang="pt-PT" sz="3200" b="1" kern="1200" noProof="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pt-PT" sz="3200" b="1" kern="1200" noProof="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Nakamoto</a:t>
              </a:r>
              <a:endParaRPr lang="pt-PT" sz="3200" b="1" kern="1200" noProof="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8" name="object 16">
              <a:extLst>
                <a:ext uri="{FF2B5EF4-FFF2-40B4-BE49-F238E27FC236}">
                  <a16:creationId xmlns:a16="http://schemas.microsoft.com/office/drawing/2014/main" id="{3D35A605-9D18-B0A9-4919-54D4E80733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040584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10" name="object 17">
              <a:extLst>
                <a:ext uri="{FF2B5EF4-FFF2-40B4-BE49-F238E27FC236}">
                  <a16:creationId xmlns:a16="http://schemas.microsoft.com/office/drawing/2014/main" id="{33DDD715-BE25-D819-9204-6031D1B739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7023780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1195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B9DB3-CA6B-B927-66F2-69FD9A2B1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bitcoin&#10;&#10;AI-generated content may be incorrect.">
            <a:extLst>
              <a:ext uri="{FF2B5EF4-FFF2-40B4-BE49-F238E27FC236}">
                <a16:creationId xmlns:a16="http://schemas.microsoft.com/office/drawing/2014/main" id="{9FF27D90-089D-2A27-F790-EA3B978EF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1" b="3607"/>
          <a:stretch>
            <a:fillRect/>
          </a:stretch>
        </p:blipFill>
        <p:spPr>
          <a:xfrm>
            <a:off x="2429194" y="2225675"/>
            <a:ext cx="15245711" cy="87798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71BDE9-DF69-5E03-8791-62768C4C1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982664"/>
            <a:ext cx="17338675" cy="1471611"/>
          </a:xfrm>
        </p:spPr>
        <p:txBody>
          <a:bodyPr>
            <a:normAutofit fontScale="90000"/>
          </a:bodyPr>
          <a:lstStyle/>
          <a:p>
            <a:r>
              <a:rPr lang="pt-PT" noProof="0" dirty="0"/>
              <a:t>6.0 </a:t>
            </a:r>
            <a:r>
              <a:rPr lang="pt-PT" noProof="0" dirty="0" err="1"/>
              <a:t>Satoshi</a:t>
            </a:r>
            <a:r>
              <a:rPr lang="pt-PT" noProof="0" dirty="0"/>
              <a:t> </a:t>
            </a:r>
            <a:r>
              <a:rPr lang="pt-PT" noProof="0" dirty="0" err="1"/>
              <a:t>Nakamoto</a:t>
            </a:r>
            <a:r>
              <a:rPr lang="pt-PT" noProof="0" dirty="0"/>
              <a:t> e a criação do Bitcoin</a:t>
            </a:r>
          </a:p>
        </p:txBody>
      </p:sp>
    </p:spTree>
    <p:extLst>
      <p:ext uri="{BB962C8B-B14F-4D97-AF65-F5344CB8AC3E}">
        <p14:creationId xmlns:p14="http://schemas.microsoft.com/office/powerpoint/2010/main" val="389242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9DC9B-6BE2-CBDD-F842-7E12D968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19D21-D884-C9CE-252C-6051AD0D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982664"/>
            <a:ext cx="17338675" cy="1471611"/>
          </a:xfrm>
        </p:spPr>
        <p:txBody>
          <a:bodyPr>
            <a:normAutofit fontScale="90000"/>
          </a:bodyPr>
          <a:lstStyle/>
          <a:p>
            <a:r>
              <a:rPr lang="pt-PT" noProof="0" dirty="0"/>
              <a:t>6.0 </a:t>
            </a:r>
            <a:r>
              <a:rPr lang="pt-PT" noProof="0" dirty="0" err="1"/>
              <a:t>Satoshi</a:t>
            </a:r>
            <a:r>
              <a:rPr lang="pt-PT" noProof="0" dirty="0"/>
              <a:t> </a:t>
            </a:r>
            <a:r>
              <a:rPr lang="pt-PT" noProof="0" dirty="0" err="1"/>
              <a:t>Nakamoto</a:t>
            </a:r>
            <a:r>
              <a:rPr lang="pt-PT" noProof="0" dirty="0"/>
              <a:t> e a criação do Bitcoin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3E9223D-2385-4BC3-49FB-7C9FF46AC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3063875"/>
            <a:ext cx="17338675" cy="7643811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noProof="0" dirty="0" err="1"/>
              <a:t>Satoshi</a:t>
            </a:r>
            <a:r>
              <a:rPr lang="pt-PT" noProof="0" dirty="0"/>
              <a:t> </a:t>
            </a:r>
            <a:r>
              <a:rPr lang="pt-PT" noProof="0" dirty="0" err="1"/>
              <a:t>Nakamoto</a:t>
            </a:r>
            <a:r>
              <a:rPr lang="pt-PT" noProof="0" dirty="0"/>
              <a:t> apresentou em 2008 o </a:t>
            </a:r>
            <a:r>
              <a:rPr lang="pt-PT" noProof="0" dirty="0" err="1"/>
              <a:t>whitepaper</a:t>
            </a:r>
            <a:r>
              <a:rPr lang="pt-PT" noProof="0" dirty="0"/>
              <a:t> Bitcoin: Um Sistema de Dinheiro Eletrónico Ponto a Ponto. O objetivo era criar um dinheiro digital descentralizado, transparente e livre do controlo de governos e bancos.</a:t>
            </a:r>
          </a:p>
        </p:txBody>
      </p:sp>
      <p:pic>
        <p:nvPicPr>
          <p:cNvPr id="7" name="Picture 6" descr="A document with text on it&#10;&#10;AI-generated content may be incorrect.">
            <a:hlinkClick r:id="rId4"/>
            <a:extLst>
              <a:ext uri="{FF2B5EF4-FFF2-40B4-BE49-F238E27FC236}">
                <a16:creationId xmlns:a16="http://schemas.microsoft.com/office/drawing/2014/main" id="{B1F67D87-79F0-6CBF-72C5-14BDB690FF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141"/>
          <a:stretch>
            <a:fillRect/>
          </a:stretch>
        </p:blipFill>
        <p:spPr>
          <a:xfrm>
            <a:off x="6165850" y="6188075"/>
            <a:ext cx="7772400" cy="7239000"/>
          </a:xfrm>
          <a:prstGeom prst="rect">
            <a:avLst/>
          </a:prstGeom>
          <a:effectLst>
            <a:outerShdw blurRad="165100" sx="102000" sy="102000" algn="ctr" rotWithShape="0">
              <a:prstClr val="black">
                <a:alpha val="15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710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1FE55-8198-8BC5-DF77-9454316C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B767-27FC-DBE8-B1F2-420694E4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982664"/>
            <a:ext cx="17338675" cy="1471611"/>
          </a:xfrm>
        </p:spPr>
        <p:txBody>
          <a:bodyPr>
            <a:normAutofit fontScale="90000"/>
          </a:bodyPr>
          <a:lstStyle/>
          <a:p>
            <a:r>
              <a:rPr lang="pt-PT" noProof="0" dirty="0"/>
              <a:t>6.0 </a:t>
            </a:r>
            <a:r>
              <a:rPr lang="pt-PT" noProof="0" dirty="0" err="1"/>
              <a:t>Satoshi</a:t>
            </a:r>
            <a:r>
              <a:rPr lang="pt-PT" noProof="0" dirty="0"/>
              <a:t> </a:t>
            </a:r>
            <a:r>
              <a:rPr lang="pt-PT" noProof="0" dirty="0" err="1"/>
              <a:t>Nakamoto</a:t>
            </a:r>
            <a:r>
              <a:rPr lang="pt-PT" noProof="0" dirty="0"/>
              <a:t> e a criação do Bitcoin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6FA2A8-FC15-DCBB-A696-83E194869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3" y="3063875"/>
            <a:ext cx="10193337" cy="7643811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noProof="0" dirty="0"/>
              <a:t>A 3 janeiro de 2009, </a:t>
            </a:r>
            <a:r>
              <a:rPr lang="pt-PT" noProof="0" dirty="0" err="1"/>
              <a:t>Nakamoto</a:t>
            </a:r>
            <a:r>
              <a:rPr lang="pt-PT" noProof="0" dirty="0"/>
              <a:t> lançou o Bloco Génesis, marcando o início da rede Bitcoin. Poucos anos depois, em 2011, afastou-se do projeto, deixando-o nas mãos da comunidade.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noProof="0" dirty="0"/>
              <a:t>O Bitcoin oferece uma alternativa ao sistema fiduciário centralizado. É um sistema aberto, resistente à censura e de código livre, onde ninguém tem poder absoluto.</a:t>
            </a:r>
          </a:p>
        </p:txBody>
      </p:sp>
      <p:pic>
        <p:nvPicPr>
          <p:cNvPr id="4" name="Picture 3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57553C65-C17C-B9B9-FD77-D93C03CFAD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5914" y="3292475"/>
            <a:ext cx="6235473" cy="430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92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3231-9E46-D3CC-1626-306B74148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noProof="0" dirty="0"/>
              <a:t>6.1 Como funciona o Bitcoin?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760C1-FB3A-592C-0052-9ECD32E6A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4300" y="2073275"/>
            <a:ext cx="17340263" cy="1080000"/>
          </a:xfrm>
        </p:spPr>
        <p:txBody>
          <a:bodyPr>
            <a:normAutofit/>
          </a:bodyPr>
          <a:lstStyle/>
          <a:p>
            <a:r>
              <a:rPr lang="pt-PT" sz="4400" noProof="0" dirty="0"/>
              <a:t>6.1.1 O mecanismo de consenso </a:t>
            </a:r>
            <a:r>
              <a:rPr lang="pt-PT" sz="4400" noProof="0" dirty="0" err="1"/>
              <a:t>Nakamoto</a:t>
            </a:r>
            <a:endParaRPr lang="pt-PT" sz="4400" noProof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560AE6-0BC9-4032-55ED-81EC8DE3B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4300" y="3481865"/>
            <a:ext cx="11791950" cy="7225822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noProof="0" dirty="0"/>
              <a:t>O Bitcoin é um acordo online entre pessoas, baseado num conjunto de regras partilhadas. 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noProof="0" dirty="0"/>
              <a:t>Essas regras estão inscritas em código informático e aplicam-se a todos por igual. No mundo do Bitcoin, todos são tratados da mesma forma, independentemente do poder ou influência que tenham no sistema fiduciário.</a:t>
            </a:r>
          </a:p>
        </p:txBody>
      </p:sp>
      <p:grpSp>
        <p:nvGrpSpPr>
          <p:cNvPr id="11" name="object 10">
            <a:extLst>
              <a:ext uri="{FF2B5EF4-FFF2-40B4-BE49-F238E27FC236}">
                <a16:creationId xmlns:a16="http://schemas.microsoft.com/office/drawing/2014/main" id="{C633ECA1-51A1-09A3-7668-D2580D717EDD}"/>
              </a:ext>
            </a:extLst>
          </p:cNvPr>
          <p:cNvGrpSpPr>
            <a:grpSpLocks noChangeAspect="1"/>
          </p:cNvGrpSpPr>
          <p:nvPr/>
        </p:nvGrpSpPr>
        <p:grpSpPr>
          <a:xfrm>
            <a:off x="14547850" y="4041509"/>
            <a:ext cx="4587240" cy="6957780"/>
            <a:chOff x="6045045" y="2597330"/>
            <a:chExt cx="3749040" cy="5686425"/>
          </a:xfrm>
        </p:grpSpPr>
        <p:pic>
          <p:nvPicPr>
            <p:cNvPr id="12" name="object 11">
              <a:extLst>
                <a:ext uri="{FF2B5EF4-FFF2-40B4-BE49-F238E27FC236}">
                  <a16:creationId xmlns:a16="http://schemas.microsoft.com/office/drawing/2014/main" id="{C8761530-C9D0-D923-0C37-2B5DF112144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7304" y="4937943"/>
              <a:ext cx="2674065" cy="2674086"/>
            </a:xfrm>
            <a:prstGeom prst="rect">
              <a:avLst/>
            </a:prstGeom>
          </p:spPr>
        </p:pic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97BABA7E-FC15-6E4B-5116-34599F6FAEB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48076" y="7829311"/>
              <a:ext cx="2567660" cy="454279"/>
            </a:xfrm>
            <a:prstGeom prst="rect">
              <a:avLst/>
            </a:prstGeom>
          </p:spPr>
        </p:pic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D7D7604B-FDBE-783C-67DE-957FA504E01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7486" y="5109971"/>
              <a:ext cx="2815287" cy="2872422"/>
            </a:xfrm>
            <a:prstGeom prst="rect">
              <a:avLst/>
            </a:prstGeom>
          </p:spPr>
        </p:pic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D5C6F5FC-6C12-E830-3AEE-EE65E6F6DEF7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51354" y="2693656"/>
              <a:ext cx="3735865" cy="2088742"/>
            </a:xfrm>
            <a:prstGeom prst="rect">
              <a:avLst/>
            </a:prstGeom>
          </p:spPr>
        </p:pic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162536B4-BE3D-890E-DDBD-C0D4B3BB56AE}"/>
                </a:ext>
              </a:extLst>
            </p:cNvPr>
            <p:cNvSpPr/>
            <p:nvPr/>
          </p:nvSpPr>
          <p:spPr>
            <a:xfrm>
              <a:off x="6051395" y="2693637"/>
              <a:ext cx="728345" cy="2089150"/>
            </a:xfrm>
            <a:custGeom>
              <a:avLst/>
              <a:gdLst/>
              <a:ahLst/>
              <a:cxnLst/>
              <a:rect l="l" t="t" r="r" b="b"/>
              <a:pathLst>
                <a:path w="728345" h="2089150">
                  <a:moveTo>
                    <a:pt x="728271" y="2088721"/>
                  </a:moveTo>
                  <a:lnTo>
                    <a:pt x="183795" y="2088721"/>
                  </a:lnTo>
                  <a:lnTo>
                    <a:pt x="134936" y="2082156"/>
                  </a:lnTo>
                  <a:lnTo>
                    <a:pt x="91031" y="2063627"/>
                  </a:lnTo>
                  <a:lnTo>
                    <a:pt x="53833" y="2034888"/>
                  </a:lnTo>
                  <a:lnTo>
                    <a:pt x="25094" y="1997690"/>
                  </a:lnTo>
                  <a:lnTo>
                    <a:pt x="6565" y="1953785"/>
                  </a:lnTo>
                  <a:lnTo>
                    <a:pt x="0" y="1904926"/>
                  </a:lnTo>
                  <a:lnTo>
                    <a:pt x="0" y="183795"/>
                  </a:lnTo>
                  <a:lnTo>
                    <a:pt x="6565" y="134936"/>
                  </a:lnTo>
                  <a:lnTo>
                    <a:pt x="25094" y="91031"/>
                  </a:lnTo>
                  <a:lnTo>
                    <a:pt x="53833" y="53833"/>
                  </a:lnTo>
                  <a:lnTo>
                    <a:pt x="91031" y="25094"/>
                  </a:lnTo>
                  <a:lnTo>
                    <a:pt x="134936" y="6565"/>
                  </a:lnTo>
                  <a:lnTo>
                    <a:pt x="183795" y="0"/>
                  </a:lnTo>
                </a:path>
              </a:pathLst>
            </a:custGeom>
            <a:ln w="12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828545C6-C0C9-08B4-3F7D-3461FFDD12E4}"/>
                </a:ext>
              </a:extLst>
            </p:cNvPr>
            <p:cNvSpPr/>
            <p:nvPr/>
          </p:nvSpPr>
          <p:spPr>
            <a:xfrm>
              <a:off x="7092089" y="4782359"/>
              <a:ext cx="1850389" cy="0"/>
            </a:xfrm>
            <a:custGeom>
              <a:avLst/>
              <a:gdLst/>
              <a:ahLst/>
              <a:cxnLst/>
              <a:rect l="l" t="t" r="r" b="b"/>
              <a:pathLst>
                <a:path w="1850390">
                  <a:moveTo>
                    <a:pt x="1850090" y="0"/>
                  </a:moveTo>
                  <a:lnTo>
                    <a:pt x="0" y="0"/>
                  </a:lnTo>
                </a:path>
              </a:pathLst>
            </a:custGeom>
            <a:ln w="12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18" name="object 17">
              <a:extLst>
                <a:ext uri="{FF2B5EF4-FFF2-40B4-BE49-F238E27FC236}">
                  <a16:creationId xmlns:a16="http://schemas.microsoft.com/office/drawing/2014/main" id="{FFCDB669-A61A-1565-85A7-384781431F30}"/>
                </a:ext>
              </a:extLst>
            </p:cNvPr>
            <p:cNvSpPr/>
            <p:nvPr/>
          </p:nvSpPr>
          <p:spPr>
            <a:xfrm>
              <a:off x="6743899" y="2693639"/>
              <a:ext cx="3043555" cy="2089150"/>
            </a:xfrm>
            <a:custGeom>
              <a:avLst/>
              <a:gdLst/>
              <a:ahLst/>
              <a:cxnLst/>
              <a:rect l="l" t="t" r="r" b="b"/>
              <a:pathLst>
                <a:path w="3043554" h="2089150">
                  <a:moveTo>
                    <a:pt x="0" y="0"/>
                  </a:moveTo>
                  <a:lnTo>
                    <a:pt x="2859546" y="0"/>
                  </a:lnTo>
                  <a:lnTo>
                    <a:pt x="2908405" y="6565"/>
                  </a:lnTo>
                  <a:lnTo>
                    <a:pt x="2952310" y="25094"/>
                  </a:lnTo>
                  <a:lnTo>
                    <a:pt x="2989508" y="53833"/>
                  </a:lnTo>
                  <a:lnTo>
                    <a:pt x="3018247" y="91031"/>
                  </a:lnTo>
                  <a:lnTo>
                    <a:pt x="3036776" y="134936"/>
                  </a:lnTo>
                  <a:lnTo>
                    <a:pt x="3043341" y="183795"/>
                  </a:lnTo>
                  <a:lnTo>
                    <a:pt x="3043341" y="1904926"/>
                  </a:lnTo>
                  <a:lnTo>
                    <a:pt x="3036776" y="1953785"/>
                  </a:lnTo>
                  <a:lnTo>
                    <a:pt x="3018247" y="1997690"/>
                  </a:lnTo>
                  <a:lnTo>
                    <a:pt x="2989508" y="2034888"/>
                  </a:lnTo>
                  <a:lnTo>
                    <a:pt x="2952310" y="2063627"/>
                  </a:lnTo>
                  <a:lnTo>
                    <a:pt x="2908405" y="2082156"/>
                  </a:lnTo>
                  <a:lnTo>
                    <a:pt x="2859546" y="2088721"/>
                  </a:lnTo>
                  <a:lnTo>
                    <a:pt x="2646202" y="2088721"/>
                  </a:lnTo>
                </a:path>
              </a:pathLst>
            </a:custGeom>
            <a:ln w="1207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pic>
          <p:nvPicPr>
            <p:cNvPr id="19" name="object 18">
              <a:extLst>
                <a:ext uri="{FF2B5EF4-FFF2-40B4-BE49-F238E27FC236}">
                  <a16:creationId xmlns:a16="http://schemas.microsoft.com/office/drawing/2014/main" id="{40899D3E-32A8-1A05-8675-7A155ACE943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11892" y="2597332"/>
              <a:ext cx="141859" cy="193983"/>
            </a:xfrm>
            <a:prstGeom prst="rect">
              <a:avLst/>
            </a:prstGeom>
          </p:spPr>
        </p:pic>
        <p:pic>
          <p:nvPicPr>
            <p:cNvPr id="20" name="object 19">
              <a:extLst>
                <a:ext uri="{FF2B5EF4-FFF2-40B4-BE49-F238E27FC236}">
                  <a16:creationId xmlns:a16="http://schemas.microsoft.com/office/drawing/2014/main" id="{EE358281-081F-44BD-0BB8-EA884BE9E92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09796" y="4693303"/>
              <a:ext cx="141859" cy="193983"/>
            </a:xfrm>
            <a:prstGeom prst="rect">
              <a:avLst/>
            </a:prstGeom>
          </p:spPr>
        </p:pic>
        <p:pic>
          <p:nvPicPr>
            <p:cNvPr id="21" name="object 20">
              <a:extLst>
                <a:ext uri="{FF2B5EF4-FFF2-40B4-BE49-F238E27FC236}">
                  <a16:creationId xmlns:a16="http://schemas.microsoft.com/office/drawing/2014/main" id="{0795305A-38AC-BDD4-F359-4C5F37472FCF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40762" y="2597330"/>
              <a:ext cx="141859" cy="193889"/>
            </a:xfrm>
            <a:prstGeom prst="rect">
              <a:avLst/>
            </a:prstGeom>
          </p:spPr>
        </p:pic>
        <p:pic>
          <p:nvPicPr>
            <p:cNvPr id="22" name="object 21">
              <a:extLst>
                <a:ext uri="{FF2B5EF4-FFF2-40B4-BE49-F238E27FC236}">
                  <a16:creationId xmlns:a16="http://schemas.microsoft.com/office/drawing/2014/main" id="{A772568C-CD45-B968-8EC1-741288A009F9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80924" y="4693300"/>
              <a:ext cx="141859" cy="193889"/>
            </a:xfrm>
            <a:prstGeom prst="rect">
              <a:avLst/>
            </a:prstGeom>
          </p:spPr>
        </p:pic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E919C4A-8D64-9B11-4597-FB9882EE740F}"/>
              </a:ext>
            </a:extLst>
          </p:cNvPr>
          <p:cNvSpPr txBox="1">
            <a:spLocks/>
          </p:cNvSpPr>
          <p:nvPr/>
        </p:nvSpPr>
        <p:spPr>
          <a:xfrm>
            <a:off x="14638664" y="4716463"/>
            <a:ext cx="4397544" cy="147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125000"/>
            </a:pPr>
            <a:r>
              <a:rPr lang="pt-PT" sz="1700" b="0" spc="10" noProof="0" dirty="0">
                <a:solidFill>
                  <a:srgbClr val="241B54"/>
                </a:solidFill>
                <a:latin typeface="Open Sans"/>
                <a:cs typeface="Open Sans"/>
              </a:rPr>
              <a:t>Felizmente, quando entras no mundo Bitcoin, não precisas de compreender todos os detalhes do seu funcionamento, para poderes começar a usá-lo.</a:t>
            </a:r>
          </a:p>
        </p:txBody>
      </p:sp>
    </p:spTree>
    <p:extLst>
      <p:ext uri="{BB962C8B-B14F-4D97-AF65-F5344CB8AC3E}">
        <p14:creationId xmlns:p14="http://schemas.microsoft.com/office/powerpoint/2010/main" val="254409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9C763-76D4-F522-C9D0-B88CB3C8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9506F-D870-50F7-64E7-3205BDD03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noProof="0" dirty="0"/>
              <a:t>6.1.2 Os intervenientes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85ED6F-A567-1661-5296-2ACA7D2E24E8}"/>
              </a:ext>
            </a:extLst>
          </p:cNvPr>
          <p:cNvSpPr txBox="1"/>
          <p:nvPr/>
        </p:nvSpPr>
        <p:spPr>
          <a:xfrm>
            <a:off x="1382713" y="2420793"/>
            <a:ext cx="8352000" cy="3409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b="1" kern="1200" noProof="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Mineradores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kern="1200" noProof="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Validam transações e adicionam blocos à blockchain através de Prova de Trabalho (</a:t>
            </a:r>
            <a:r>
              <a:rPr lang="pt-PT" sz="2800" kern="1200" noProof="0" dirty="0" err="1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PoW</a:t>
            </a:r>
            <a:r>
              <a:rPr lang="pt-PT" sz="2800" kern="1200" noProof="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 Recebem bitcoin como recompensa e, mantêm a rede segura e descentralizada.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A4EF5A-C0D3-4B01-A562-8DD87FB14FF7}"/>
              </a:ext>
            </a:extLst>
          </p:cNvPr>
          <p:cNvSpPr txBox="1"/>
          <p:nvPr/>
        </p:nvSpPr>
        <p:spPr>
          <a:xfrm>
            <a:off x="10369389" y="2420793"/>
            <a:ext cx="8352000" cy="3409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b="1" kern="1200" noProof="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Nós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kern="1200" noProof="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Utilizadores comuns que mantêm uma cópia do livro-razão e validam transações. Garantem o cumprimento das regras, protegem a integridade da rede e reforçam a descentralização.</a:t>
            </a:r>
            <a:endParaRPr lang="pt-PT" sz="2800" b="1" kern="1200" noProof="0" dirty="0">
              <a:solidFill>
                <a:srgbClr val="58595B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571DA-429B-4559-B835-A229767E1795}"/>
              </a:ext>
            </a:extLst>
          </p:cNvPr>
          <p:cNvSpPr txBox="1"/>
          <p:nvPr/>
        </p:nvSpPr>
        <p:spPr>
          <a:xfrm>
            <a:off x="1382713" y="6476134"/>
            <a:ext cx="8352000" cy="4055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b="1" kern="1200" noProof="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Utilizadores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kern="1200" noProof="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Pessoas comuns que realizam transações e guardam poupanças em bitcoin. Têm controlo total sobre o seu dinheiro e podem transacionar diretamente, sem depender de bancos ou governos.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9650D8-6BDB-EBBE-FA04-C5D944BE871A}"/>
              </a:ext>
            </a:extLst>
          </p:cNvPr>
          <p:cNvSpPr txBox="1"/>
          <p:nvPr/>
        </p:nvSpPr>
        <p:spPr>
          <a:xfrm>
            <a:off x="10369389" y="6476134"/>
            <a:ext cx="8352000" cy="4055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b="1" kern="1200" noProof="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Programadores e Projetos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pt-PT" sz="2800" kern="1200" noProof="0" dirty="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Impulsionam a inovação no Bitcoin, melhorando o protocolo, corrigindo falhas e garantindo que a rede evolui de forma aberta e colaborativa. Reforçam a visão de liberdade e capacitação coletiva.</a:t>
            </a:r>
          </a:p>
        </p:txBody>
      </p:sp>
    </p:spTree>
    <p:extLst>
      <p:ext uri="{BB962C8B-B14F-4D97-AF65-F5344CB8AC3E}">
        <p14:creationId xmlns:p14="http://schemas.microsoft.com/office/powerpoint/2010/main" val="1800210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D23B-086A-56FF-94E2-9C6FAD3C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EDA0-C656-ED4D-4A9B-0B9897107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noProof="0" dirty="0"/>
              <a:t>6.2 O bitcoin como moeda digital forte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63E1E-D10C-71FB-D414-B983B3251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714" y="2759075"/>
            <a:ext cx="8440736" cy="7643811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noProof="0" dirty="0"/>
              <a:t>O bitcoin é dinheiro, não é um investimento, mas sim uma forma segura e </a:t>
            </a:r>
            <a:r>
              <a:rPr lang="pt-PT" noProof="0" dirty="0" err="1"/>
              <a:t>capacitadora</a:t>
            </a:r>
            <a:r>
              <a:rPr lang="pt-PT" noProof="0" dirty="0"/>
              <a:t> de poupar o dinheiro que te custou a ganhar.</a:t>
            </a:r>
          </a:p>
          <a:p>
            <a:pPr marL="0" indent="0">
              <a:buSzPct val="125000"/>
              <a:buNone/>
            </a:pPr>
            <a:endParaRPr lang="pt-PT" sz="1800" noProof="0" dirty="0"/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noProof="0" dirty="0"/>
              <a:t>É a “internet do dinheiro” — permite a toda a gente aderir e começar a fazer transações de valor com outros utilizadores de Bitcoin.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634A6B-DC2A-5ECB-1157-EB0D5768BC3F}"/>
              </a:ext>
            </a:extLst>
          </p:cNvPr>
          <p:cNvGrpSpPr/>
          <p:nvPr/>
        </p:nvGrpSpPr>
        <p:grpSpPr>
          <a:xfrm>
            <a:off x="10942588" y="7179652"/>
            <a:ext cx="1852662" cy="2387003"/>
            <a:chOff x="1974850" y="8285758"/>
            <a:chExt cx="1852662" cy="2387003"/>
          </a:xfrm>
        </p:grpSpPr>
        <p:sp>
          <p:nvSpPr>
            <p:cNvPr id="5" name="object 28">
              <a:extLst>
                <a:ext uri="{FF2B5EF4-FFF2-40B4-BE49-F238E27FC236}">
                  <a16:creationId xmlns:a16="http://schemas.microsoft.com/office/drawing/2014/main" id="{845E980F-22C0-AB9B-ACCE-B76A1D627675}"/>
                </a:ext>
              </a:extLst>
            </p:cNvPr>
            <p:cNvSpPr txBox="1"/>
            <p:nvPr/>
          </p:nvSpPr>
          <p:spPr>
            <a:xfrm>
              <a:off x="1974850" y="9731028"/>
              <a:ext cx="1852662" cy="941733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 algn="ctr">
                <a:lnSpc>
                  <a:spcPct val="101600"/>
                </a:lnSpc>
                <a:spcBef>
                  <a:spcPts val="95"/>
                </a:spcBef>
              </a:pPr>
              <a:r>
                <a:rPr lang="pt-PT" sz="2000" b="1" spc="-10" noProof="0" dirty="0">
                  <a:solidFill>
                    <a:srgbClr val="523183"/>
                  </a:solidFill>
                  <a:latin typeface="Open Sans"/>
                  <a:cs typeface="Open Sans"/>
                </a:rPr>
                <a:t>Pagamentos mais rápidos e baratos</a:t>
              </a:r>
              <a:endParaRPr lang="pt-PT" sz="2000" noProof="0" dirty="0">
                <a:latin typeface="Open Sans"/>
                <a:cs typeface="Open Sans"/>
              </a:endParaRPr>
            </a:p>
          </p:txBody>
        </p:sp>
        <p:grpSp>
          <p:nvGrpSpPr>
            <p:cNvPr id="6" name="object 29">
              <a:extLst>
                <a:ext uri="{FF2B5EF4-FFF2-40B4-BE49-F238E27FC236}">
                  <a16:creationId xmlns:a16="http://schemas.microsoft.com/office/drawing/2014/main" id="{471357ED-9A9D-B3BC-B160-DF958F90C610}"/>
                </a:ext>
              </a:extLst>
            </p:cNvPr>
            <p:cNvGrpSpPr/>
            <p:nvPr/>
          </p:nvGrpSpPr>
          <p:grpSpPr>
            <a:xfrm>
              <a:off x="2281738" y="8285758"/>
              <a:ext cx="1238885" cy="1238885"/>
              <a:chOff x="10360480" y="4485989"/>
              <a:chExt cx="1238885" cy="1238885"/>
            </a:xfrm>
          </p:grpSpPr>
          <p:pic>
            <p:nvPicPr>
              <p:cNvPr id="7" name="object 30">
                <a:extLst>
                  <a:ext uri="{FF2B5EF4-FFF2-40B4-BE49-F238E27FC236}">
                    <a16:creationId xmlns:a16="http://schemas.microsoft.com/office/drawing/2014/main" id="{A3E39DDE-E50A-DFDF-0B5B-A35DAA60D87B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0360480" y="4485989"/>
                <a:ext cx="1238328" cy="1238339"/>
              </a:xfrm>
              <a:prstGeom prst="rect">
                <a:avLst/>
              </a:prstGeom>
            </p:spPr>
          </p:pic>
          <p:sp>
            <p:nvSpPr>
              <p:cNvPr id="8" name="object 31">
                <a:extLst>
                  <a:ext uri="{FF2B5EF4-FFF2-40B4-BE49-F238E27FC236}">
                    <a16:creationId xmlns:a16="http://schemas.microsoft.com/office/drawing/2014/main" id="{9ADD178F-A301-9192-2C28-06BF20C51938}"/>
                  </a:ext>
                </a:extLst>
              </p:cNvPr>
              <p:cNvSpPr/>
              <p:nvPr/>
            </p:nvSpPr>
            <p:spPr>
              <a:xfrm>
                <a:off x="10618535" y="4744981"/>
                <a:ext cx="722630" cy="721360"/>
              </a:xfrm>
              <a:custGeom>
                <a:avLst/>
                <a:gdLst/>
                <a:ahLst/>
                <a:cxnLst/>
                <a:rect l="l" t="t" r="r" b="b"/>
                <a:pathLst>
                  <a:path w="722629" h="721360">
                    <a:moveTo>
                      <a:pt x="292898" y="453390"/>
                    </a:moveTo>
                    <a:lnTo>
                      <a:pt x="268421" y="453390"/>
                    </a:lnTo>
                    <a:lnTo>
                      <a:pt x="266875" y="463550"/>
                    </a:lnTo>
                    <a:lnTo>
                      <a:pt x="265755" y="473710"/>
                    </a:lnTo>
                    <a:lnTo>
                      <a:pt x="265164" y="481330"/>
                    </a:lnTo>
                    <a:lnTo>
                      <a:pt x="265065" y="482600"/>
                    </a:lnTo>
                    <a:lnTo>
                      <a:pt x="264809" y="492760"/>
                    </a:lnTo>
                    <a:lnTo>
                      <a:pt x="269331" y="538480"/>
                    </a:lnTo>
                    <a:lnTo>
                      <a:pt x="269456" y="539750"/>
                    </a:lnTo>
                    <a:lnTo>
                      <a:pt x="282785" y="581660"/>
                    </a:lnTo>
                    <a:lnTo>
                      <a:pt x="303876" y="621030"/>
                    </a:lnTo>
                    <a:lnTo>
                      <a:pt x="331808" y="655320"/>
                    </a:lnTo>
                    <a:lnTo>
                      <a:pt x="365662" y="683260"/>
                    </a:lnTo>
                    <a:lnTo>
                      <a:pt x="404518" y="703580"/>
                    </a:lnTo>
                    <a:lnTo>
                      <a:pt x="447456" y="717550"/>
                    </a:lnTo>
                    <a:lnTo>
                      <a:pt x="493556" y="721360"/>
                    </a:lnTo>
                    <a:lnTo>
                      <a:pt x="539656" y="717550"/>
                    </a:lnTo>
                    <a:lnTo>
                      <a:pt x="582593" y="703580"/>
                    </a:lnTo>
                    <a:lnTo>
                      <a:pt x="592307" y="698500"/>
                    </a:lnTo>
                    <a:lnTo>
                      <a:pt x="493556" y="698500"/>
                    </a:lnTo>
                    <a:lnTo>
                      <a:pt x="446656" y="692150"/>
                    </a:lnTo>
                    <a:lnTo>
                      <a:pt x="403604" y="676910"/>
                    </a:lnTo>
                    <a:lnTo>
                      <a:pt x="365624" y="652780"/>
                    </a:lnTo>
                    <a:lnTo>
                      <a:pt x="333938" y="621030"/>
                    </a:lnTo>
                    <a:lnTo>
                      <a:pt x="309770" y="582930"/>
                    </a:lnTo>
                    <a:lnTo>
                      <a:pt x="294343" y="539750"/>
                    </a:lnTo>
                    <a:lnTo>
                      <a:pt x="288881" y="492760"/>
                    </a:lnTo>
                    <a:lnTo>
                      <a:pt x="289183" y="482600"/>
                    </a:lnTo>
                    <a:lnTo>
                      <a:pt x="289220" y="481330"/>
                    </a:lnTo>
                    <a:lnTo>
                      <a:pt x="290219" y="469900"/>
                    </a:lnTo>
                    <a:lnTo>
                      <a:pt x="291873" y="458470"/>
                    </a:lnTo>
                    <a:lnTo>
                      <a:pt x="292898" y="453390"/>
                    </a:lnTo>
                    <a:close/>
                  </a:path>
                  <a:path w="722629" h="721360">
                    <a:moveTo>
                      <a:pt x="594022" y="288290"/>
                    </a:moveTo>
                    <a:lnTo>
                      <a:pt x="493556" y="288290"/>
                    </a:lnTo>
                    <a:lnTo>
                      <a:pt x="540484" y="293370"/>
                    </a:lnTo>
                    <a:lnTo>
                      <a:pt x="583564" y="309880"/>
                    </a:lnTo>
                    <a:lnTo>
                      <a:pt x="621567" y="334010"/>
                    </a:lnTo>
                    <a:lnTo>
                      <a:pt x="653264" y="365760"/>
                    </a:lnTo>
                    <a:lnTo>
                      <a:pt x="677426" y="403860"/>
                    </a:lnTo>
                    <a:lnTo>
                      <a:pt x="692824" y="445770"/>
                    </a:lnTo>
                    <a:lnTo>
                      <a:pt x="698230" y="492760"/>
                    </a:lnTo>
                    <a:lnTo>
                      <a:pt x="692824" y="539750"/>
                    </a:lnTo>
                    <a:lnTo>
                      <a:pt x="677426" y="582930"/>
                    </a:lnTo>
                    <a:lnTo>
                      <a:pt x="653264" y="621030"/>
                    </a:lnTo>
                    <a:lnTo>
                      <a:pt x="621567" y="652780"/>
                    </a:lnTo>
                    <a:lnTo>
                      <a:pt x="583564" y="676910"/>
                    </a:lnTo>
                    <a:lnTo>
                      <a:pt x="540484" y="692150"/>
                    </a:lnTo>
                    <a:lnTo>
                      <a:pt x="493556" y="698500"/>
                    </a:lnTo>
                    <a:lnTo>
                      <a:pt x="592307" y="698500"/>
                    </a:lnTo>
                    <a:lnTo>
                      <a:pt x="655303" y="655320"/>
                    </a:lnTo>
                    <a:lnTo>
                      <a:pt x="683236" y="621030"/>
                    </a:lnTo>
                    <a:lnTo>
                      <a:pt x="704326" y="581660"/>
                    </a:lnTo>
                    <a:lnTo>
                      <a:pt x="717655" y="539750"/>
                    </a:lnTo>
                    <a:lnTo>
                      <a:pt x="722303" y="492760"/>
                    </a:lnTo>
                    <a:lnTo>
                      <a:pt x="717655" y="447040"/>
                    </a:lnTo>
                    <a:lnTo>
                      <a:pt x="704326" y="403860"/>
                    </a:lnTo>
                    <a:lnTo>
                      <a:pt x="683236" y="365760"/>
                    </a:lnTo>
                    <a:lnTo>
                      <a:pt x="655303" y="331470"/>
                    </a:lnTo>
                    <a:lnTo>
                      <a:pt x="621449" y="303530"/>
                    </a:lnTo>
                    <a:lnTo>
                      <a:pt x="594022" y="288290"/>
                    </a:lnTo>
                    <a:close/>
                  </a:path>
                  <a:path w="722629" h="721360">
                    <a:moveTo>
                      <a:pt x="365745" y="429260"/>
                    </a:moveTo>
                    <a:lnTo>
                      <a:pt x="337644" y="429260"/>
                    </a:lnTo>
                    <a:lnTo>
                      <a:pt x="326183" y="473710"/>
                    </a:lnTo>
                    <a:lnTo>
                      <a:pt x="326592" y="514350"/>
                    </a:lnTo>
                    <a:lnTo>
                      <a:pt x="326617" y="516890"/>
                    </a:lnTo>
                    <a:lnTo>
                      <a:pt x="338068" y="558800"/>
                    </a:lnTo>
                    <a:lnTo>
                      <a:pt x="359659" y="595630"/>
                    </a:lnTo>
                    <a:lnTo>
                      <a:pt x="390511" y="627380"/>
                    </a:lnTo>
                    <a:lnTo>
                      <a:pt x="429746" y="650240"/>
                    </a:lnTo>
                    <a:lnTo>
                      <a:pt x="473561" y="661670"/>
                    </a:lnTo>
                    <a:lnTo>
                      <a:pt x="517335" y="660400"/>
                    </a:lnTo>
                    <a:lnTo>
                      <a:pt x="558970" y="648970"/>
                    </a:lnTo>
                    <a:lnTo>
                      <a:pt x="578768" y="637540"/>
                    </a:lnTo>
                    <a:lnTo>
                      <a:pt x="493556" y="637540"/>
                    </a:lnTo>
                    <a:lnTo>
                      <a:pt x="447893" y="629920"/>
                    </a:lnTo>
                    <a:lnTo>
                      <a:pt x="408235" y="609600"/>
                    </a:lnTo>
                    <a:lnTo>
                      <a:pt x="376962" y="579120"/>
                    </a:lnTo>
                    <a:lnTo>
                      <a:pt x="356454" y="538480"/>
                    </a:lnTo>
                    <a:lnTo>
                      <a:pt x="349089" y="492760"/>
                    </a:lnTo>
                    <a:lnTo>
                      <a:pt x="356480" y="447040"/>
                    </a:lnTo>
                    <a:lnTo>
                      <a:pt x="365745" y="429260"/>
                    </a:lnTo>
                    <a:close/>
                  </a:path>
                  <a:path w="722629" h="721360">
                    <a:moveTo>
                      <a:pt x="578713" y="349250"/>
                    </a:moveTo>
                    <a:lnTo>
                      <a:pt x="493556" y="349250"/>
                    </a:lnTo>
                    <a:lnTo>
                      <a:pt x="539220" y="355600"/>
                    </a:lnTo>
                    <a:lnTo>
                      <a:pt x="578880" y="377190"/>
                    </a:lnTo>
                    <a:lnTo>
                      <a:pt x="610156" y="407670"/>
                    </a:lnTo>
                    <a:lnTo>
                      <a:pt x="630667" y="447040"/>
                    </a:lnTo>
                    <a:lnTo>
                      <a:pt x="638033" y="492760"/>
                    </a:lnTo>
                    <a:lnTo>
                      <a:pt x="630667" y="538480"/>
                    </a:lnTo>
                    <a:lnTo>
                      <a:pt x="610156" y="579120"/>
                    </a:lnTo>
                    <a:lnTo>
                      <a:pt x="578880" y="609600"/>
                    </a:lnTo>
                    <a:lnTo>
                      <a:pt x="539220" y="629920"/>
                    </a:lnTo>
                    <a:lnTo>
                      <a:pt x="493556" y="637540"/>
                    </a:lnTo>
                    <a:lnTo>
                      <a:pt x="578768" y="637540"/>
                    </a:lnTo>
                    <a:lnTo>
                      <a:pt x="596366" y="627380"/>
                    </a:lnTo>
                    <a:lnTo>
                      <a:pt x="627423" y="596900"/>
                    </a:lnTo>
                    <a:lnTo>
                      <a:pt x="650043" y="557530"/>
                    </a:lnTo>
                    <a:lnTo>
                      <a:pt x="661504" y="514350"/>
                    </a:lnTo>
                    <a:lnTo>
                      <a:pt x="661293" y="492760"/>
                    </a:lnTo>
                    <a:lnTo>
                      <a:pt x="661182" y="481330"/>
                    </a:lnTo>
                    <a:lnTo>
                      <a:pt x="661070" y="469900"/>
                    </a:lnTo>
                    <a:lnTo>
                      <a:pt x="649619" y="427990"/>
                    </a:lnTo>
                    <a:lnTo>
                      <a:pt x="628029" y="391160"/>
                    </a:lnTo>
                    <a:lnTo>
                      <a:pt x="597177" y="359410"/>
                    </a:lnTo>
                    <a:lnTo>
                      <a:pt x="578713" y="349250"/>
                    </a:lnTo>
                    <a:close/>
                  </a:path>
                  <a:path w="722629" h="721360">
                    <a:moveTo>
                      <a:pt x="221960" y="0"/>
                    </a:moveTo>
                    <a:lnTo>
                      <a:pt x="177391" y="5080"/>
                    </a:lnTo>
                    <a:lnTo>
                      <a:pt x="135497" y="20320"/>
                    </a:lnTo>
                    <a:lnTo>
                      <a:pt x="97341" y="41910"/>
                    </a:lnTo>
                    <a:lnTo>
                      <a:pt x="63989" y="69850"/>
                    </a:lnTo>
                    <a:lnTo>
                      <a:pt x="36506" y="104140"/>
                    </a:lnTo>
                    <a:lnTo>
                      <a:pt x="15956" y="144780"/>
                    </a:lnTo>
                    <a:lnTo>
                      <a:pt x="3403" y="189230"/>
                    </a:lnTo>
                    <a:lnTo>
                      <a:pt x="94" y="233680"/>
                    </a:lnTo>
                    <a:lnTo>
                      <a:pt x="0" y="234950"/>
                    </a:lnTo>
                    <a:lnTo>
                      <a:pt x="5689" y="279400"/>
                    </a:lnTo>
                    <a:lnTo>
                      <a:pt x="19724" y="321310"/>
                    </a:lnTo>
                    <a:lnTo>
                      <a:pt x="41359" y="359410"/>
                    </a:lnTo>
                    <a:lnTo>
                      <a:pt x="69847" y="393700"/>
                    </a:lnTo>
                    <a:lnTo>
                      <a:pt x="104442" y="420370"/>
                    </a:lnTo>
                    <a:lnTo>
                      <a:pt x="144398" y="440690"/>
                    </a:lnTo>
                    <a:lnTo>
                      <a:pt x="188968" y="453390"/>
                    </a:lnTo>
                    <a:lnTo>
                      <a:pt x="218709" y="457200"/>
                    </a:lnTo>
                    <a:lnTo>
                      <a:pt x="238673" y="457200"/>
                    </a:lnTo>
                    <a:lnTo>
                      <a:pt x="268421" y="453390"/>
                    </a:lnTo>
                    <a:lnTo>
                      <a:pt x="292898" y="453390"/>
                    </a:lnTo>
                    <a:lnTo>
                      <a:pt x="294180" y="447040"/>
                    </a:lnTo>
                    <a:lnTo>
                      <a:pt x="316375" y="439420"/>
                    </a:lnTo>
                    <a:lnTo>
                      <a:pt x="327136" y="434340"/>
                    </a:lnTo>
                    <a:lnTo>
                      <a:pt x="329763" y="433070"/>
                    </a:lnTo>
                    <a:lnTo>
                      <a:pt x="216705" y="433070"/>
                    </a:lnTo>
                    <a:lnTo>
                      <a:pt x="210748" y="431800"/>
                    </a:lnTo>
                    <a:lnTo>
                      <a:pt x="209793" y="427990"/>
                    </a:lnTo>
                    <a:lnTo>
                      <a:pt x="184989" y="427990"/>
                    </a:lnTo>
                    <a:lnTo>
                      <a:pt x="177701" y="426720"/>
                    </a:lnTo>
                    <a:lnTo>
                      <a:pt x="163440" y="421640"/>
                    </a:lnTo>
                    <a:lnTo>
                      <a:pt x="159998" y="410210"/>
                    </a:lnTo>
                    <a:lnTo>
                      <a:pt x="134540" y="410210"/>
                    </a:lnTo>
                    <a:lnTo>
                      <a:pt x="97013" y="384810"/>
                    </a:lnTo>
                    <a:lnTo>
                      <a:pt x="66366" y="353060"/>
                    </a:lnTo>
                    <a:lnTo>
                      <a:pt x="43432" y="314960"/>
                    </a:lnTo>
                    <a:lnTo>
                      <a:pt x="29040" y="273050"/>
                    </a:lnTo>
                    <a:lnTo>
                      <a:pt x="24020" y="228600"/>
                    </a:lnTo>
                    <a:lnTo>
                      <a:pt x="24020" y="222250"/>
                    </a:lnTo>
                    <a:lnTo>
                      <a:pt x="24858" y="210820"/>
                    </a:lnTo>
                    <a:lnTo>
                      <a:pt x="66045" y="210820"/>
                    </a:lnTo>
                    <a:lnTo>
                      <a:pt x="58449" y="198120"/>
                    </a:lnTo>
                    <a:lnTo>
                      <a:pt x="56815" y="195580"/>
                    </a:lnTo>
                    <a:lnTo>
                      <a:pt x="54124" y="193040"/>
                    </a:lnTo>
                    <a:lnTo>
                      <a:pt x="28230" y="186690"/>
                    </a:lnTo>
                    <a:lnTo>
                      <a:pt x="46458" y="135890"/>
                    </a:lnTo>
                    <a:lnTo>
                      <a:pt x="77054" y="91440"/>
                    </a:lnTo>
                    <a:lnTo>
                      <a:pt x="118093" y="55880"/>
                    </a:lnTo>
                    <a:lnTo>
                      <a:pt x="167649" y="33020"/>
                    </a:lnTo>
                    <a:lnTo>
                      <a:pt x="198745" y="33020"/>
                    </a:lnTo>
                    <a:lnTo>
                      <a:pt x="193659" y="26670"/>
                    </a:lnTo>
                    <a:lnTo>
                      <a:pt x="211101" y="24130"/>
                    </a:lnTo>
                    <a:lnTo>
                      <a:pt x="327695" y="24130"/>
                    </a:lnTo>
                    <a:lnTo>
                      <a:pt x="312711" y="16510"/>
                    </a:lnTo>
                    <a:lnTo>
                      <a:pt x="268138" y="3810"/>
                    </a:lnTo>
                    <a:lnTo>
                      <a:pt x="221960" y="0"/>
                    </a:lnTo>
                    <a:close/>
                  </a:path>
                  <a:path w="722629" h="721360">
                    <a:moveTo>
                      <a:pt x="456635" y="228600"/>
                    </a:moveTo>
                    <a:lnTo>
                      <a:pt x="433359" y="228600"/>
                    </a:lnTo>
                    <a:lnTo>
                      <a:pt x="427901" y="275590"/>
                    </a:lnTo>
                    <a:lnTo>
                      <a:pt x="412476" y="318770"/>
                    </a:lnTo>
                    <a:lnTo>
                      <a:pt x="388310" y="356870"/>
                    </a:lnTo>
                    <a:lnTo>
                      <a:pt x="356624" y="388620"/>
                    </a:lnTo>
                    <a:lnTo>
                      <a:pt x="318642" y="412750"/>
                    </a:lnTo>
                    <a:lnTo>
                      <a:pt x="275588" y="427990"/>
                    </a:lnTo>
                    <a:lnTo>
                      <a:pt x="228684" y="433070"/>
                    </a:lnTo>
                    <a:lnTo>
                      <a:pt x="329763" y="433070"/>
                    </a:lnTo>
                    <a:lnTo>
                      <a:pt x="337644" y="429260"/>
                    </a:lnTo>
                    <a:lnTo>
                      <a:pt x="365745" y="429260"/>
                    </a:lnTo>
                    <a:lnTo>
                      <a:pt x="376995" y="407670"/>
                    </a:lnTo>
                    <a:lnTo>
                      <a:pt x="408262" y="377190"/>
                    </a:lnTo>
                    <a:lnTo>
                      <a:pt x="447907" y="355600"/>
                    </a:lnTo>
                    <a:lnTo>
                      <a:pt x="493556" y="349250"/>
                    </a:lnTo>
                    <a:lnTo>
                      <a:pt x="578713" y="349250"/>
                    </a:lnTo>
                    <a:lnTo>
                      <a:pt x="557941" y="337820"/>
                    </a:lnTo>
                    <a:lnTo>
                      <a:pt x="429746" y="337820"/>
                    </a:lnTo>
                    <a:lnTo>
                      <a:pt x="435097" y="326390"/>
                    </a:lnTo>
                    <a:lnTo>
                      <a:pt x="439896" y="316230"/>
                    </a:lnTo>
                    <a:lnTo>
                      <a:pt x="444137" y="304800"/>
                    </a:lnTo>
                    <a:lnTo>
                      <a:pt x="447808" y="293370"/>
                    </a:lnTo>
                    <a:lnTo>
                      <a:pt x="459116" y="292100"/>
                    </a:lnTo>
                    <a:lnTo>
                      <a:pt x="470529" y="289560"/>
                    </a:lnTo>
                    <a:lnTo>
                      <a:pt x="482018" y="288290"/>
                    </a:lnTo>
                    <a:lnTo>
                      <a:pt x="594022" y="288290"/>
                    </a:lnTo>
                    <a:lnTo>
                      <a:pt x="582593" y="281940"/>
                    </a:lnTo>
                    <a:lnTo>
                      <a:pt x="539656" y="269240"/>
                    </a:lnTo>
                    <a:lnTo>
                      <a:pt x="528131" y="267970"/>
                    </a:lnTo>
                    <a:lnTo>
                      <a:pt x="453704" y="267970"/>
                    </a:lnTo>
                    <a:lnTo>
                      <a:pt x="456446" y="231140"/>
                    </a:lnTo>
                    <a:lnTo>
                      <a:pt x="456540" y="229870"/>
                    </a:lnTo>
                    <a:lnTo>
                      <a:pt x="456635" y="228600"/>
                    </a:lnTo>
                    <a:close/>
                  </a:path>
                  <a:path w="722629" h="721360">
                    <a:moveTo>
                      <a:pt x="93547" y="130810"/>
                    </a:moveTo>
                    <a:lnTo>
                      <a:pt x="86762" y="134620"/>
                    </a:lnTo>
                    <a:lnTo>
                      <a:pt x="84699" y="140970"/>
                    </a:lnTo>
                    <a:lnTo>
                      <a:pt x="72783" y="176530"/>
                    </a:lnTo>
                    <a:lnTo>
                      <a:pt x="71799" y="179070"/>
                    </a:lnTo>
                    <a:lnTo>
                      <a:pt x="72061" y="182880"/>
                    </a:lnTo>
                    <a:lnTo>
                      <a:pt x="73506" y="185420"/>
                    </a:lnTo>
                    <a:lnTo>
                      <a:pt x="97578" y="233680"/>
                    </a:lnTo>
                    <a:lnTo>
                      <a:pt x="99337" y="237490"/>
                    </a:lnTo>
                    <a:lnTo>
                      <a:pt x="102583" y="240030"/>
                    </a:lnTo>
                    <a:lnTo>
                      <a:pt x="106374" y="240030"/>
                    </a:lnTo>
                    <a:lnTo>
                      <a:pt x="176801" y="251460"/>
                    </a:lnTo>
                    <a:lnTo>
                      <a:pt x="210392" y="269240"/>
                    </a:lnTo>
                    <a:lnTo>
                      <a:pt x="182361" y="306070"/>
                    </a:lnTo>
                    <a:lnTo>
                      <a:pt x="181659" y="307340"/>
                    </a:lnTo>
                    <a:lnTo>
                      <a:pt x="181251" y="309880"/>
                    </a:lnTo>
                    <a:lnTo>
                      <a:pt x="168854" y="358140"/>
                    </a:lnTo>
                    <a:lnTo>
                      <a:pt x="168372" y="359410"/>
                    </a:lnTo>
                    <a:lnTo>
                      <a:pt x="168372" y="361950"/>
                    </a:lnTo>
                    <a:lnTo>
                      <a:pt x="184989" y="427990"/>
                    </a:lnTo>
                    <a:lnTo>
                      <a:pt x="209793" y="427990"/>
                    </a:lnTo>
                    <a:lnTo>
                      <a:pt x="192937" y="360680"/>
                    </a:lnTo>
                    <a:lnTo>
                      <a:pt x="204004" y="317500"/>
                    </a:lnTo>
                    <a:lnTo>
                      <a:pt x="242296" y="266700"/>
                    </a:lnTo>
                    <a:lnTo>
                      <a:pt x="241197" y="259080"/>
                    </a:lnTo>
                    <a:lnTo>
                      <a:pt x="235312" y="254000"/>
                    </a:lnTo>
                    <a:lnTo>
                      <a:pt x="234726" y="254000"/>
                    </a:lnTo>
                    <a:lnTo>
                      <a:pt x="185953" y="229870"/>
                    </a:lnTo>
                    <a:lnTo>
                      <a:pt x="184853" y="228600"/>
                    </a:lnTo>
                    <a:lnTo>
                      <a:pt x="182455" y="228600"/>
                    </a:lnTo>
                    <a:lnTo>
                      <a:pt x="116363" y="217170"/>
                    </a:lnTo>
                    <a:lnTo>
                      <a:pt x="97222" y="179070"/>
                    </a:lnTo>
                    <a:lnTo>
                      <a:pt x="103840" y="160020"/>
                    </a:lnTo>
                    <a:lnTo>
                      <a:pt x="143805" y="160020"/>
                    </a:lnTo>
                    <a:lnTo>
                      <a:pt x="144216" y="158750"/>
                    </a:lnTo>
                    <a:lnTo>
                      <a:pt x="144415" y="157480"/>
                    </a:lnTo>
                    <a:lnTo>
                      <a:pt x="144415" y="139700"/>
                    </a:lnTo>
                    <a:lnTo>
                      <a:pt x="120331" y="139700"/>
                    </a:lnTo>
                    <a:lnTo>
                      <a:pt x="99871" y="133350"/>
                    </a:lnTo>
                    <a:lnTo>
                      <a:pt x="93547" y="130810"/>
                    </a:lnTo>
                    <a:close/>
                  </a:path>
                  <a:path w="722629" h="721360">
                    <a:moveTo>
                      <a:pt x="66045" y="210820"/>
                    </a:moveTo>
                    <a:lnTo>
                      <a:pt x="24858" y="210820"/>
                    </a:lnTo>
                    <a:lnTo>
                      <a:pt x="40397" y="214630"/>
                    </a:lnTo>
                    <a:lnTo>
                      <a:pt x="72176" y="267970"/>
                    </a:lnTo>
                    <a:lnTo>
                      <a:pt x="72197" y="316230"/>
                    </a:lnTo>
                    <a:lnTo>
                      <a:pt x="73453" y="318770"/>
                    </a:lnTo>
                    <a:lnTo>
                      <a:pt x="75673" y="321310"/>
                    </a:lnTo>
                    <a:lnTo>
                      <a:pt x="121661" y="367030"/>
                    </a:lnTo>
                    <a:lnTo>
                      <a:pt x="134540" y="410210"/>
                    </a:lnTo>
                    <a:lnTo>
                      <a:pt x="159998" y="410210"/>
                    </a:lnTo>
                    <a:lnTo>
                      <a:pt x="143933" y="356870"/>
                    </a:lnTo>
                    <a:lnTo>
                      <a:pt x="143315" y="355600"/>
                    </a:lnTo>
                    <a:lnTo>
                      <a:pt x="142289" y="354330"/>
                    </a:lnTo>
                    <a:lnTo>
                      <a:pt x="140928" y="351790"/>
                    </a:lnTo>
                    <a:lnTo>
                      <a:pt x="96259" y="307340"/>
                    </a:lnTo>
                    <a:lnTo>
                      <a:pt x="96259" y="262890"/>
                    </a:lnTo>
                    <a:lnTo>
                      <a:pt x="95673" y="260350"/>
                    </a:lnTo>
                    <a:lnTo>
                      <a:pt x="66045" y="210820"/>
                    </a:lnTo>
                    <a:close/>
                  </a:path>
                  <a:path w="722629" h="721360">
                    <a:moveTo>
                      <a:pt x="327695" y="24130"/>
                    </a:moveTo>
                    <a:lnTo>
                      <a:pt x="249183" y="24130"/>
                    </a:lnTo>
                    <a:lnTo>
                      <a:pt x="269424" y="27940"/>
                    </a:lnTo>
                    <a:lnTo>
                      <a:pt x="289253" y="33020"/>
                    </a:lnTo>
                    <a:lnTo>
                      <a:pt x="308514" y="39370"/>
                    </a:lnTo>
                    <a:lnTo>
                      <a:pt x="291059" y="64770"/>
                    </a:lnTo>
                    <a:lnTo>
                      <a:pt x="287698" y="69850"/>
                    </a:lnTo>
                    <a:lnTo>
                      <a:pt x="288264" y="76200"/>
                    </a:lnTo>
                    <a:lnTo>
                      <a:pt x="292379" y="80010"/>
                    </a:lnTo>
                    <a:lnTo>
                      <a:pt x="312964" y="100330"/>
                    </a:lnTo>
                    <a:lnTo>
                      <a:pt x="312964" y="123190"/>
                    </a:lnTo>
                    <a:lnTo>
                      <a:pt x="285038" y="132080"/>
                    </a:lnTo>
                    <a:lnTo>
                      <a:pt x="280159" y="134620"/>
                    </a:lnTo>
                    <a:lnTo>
                      <a:pt x="276882" y="138430"/>
                    </a:lnTo>
                    <a:lnTo>
                      <a:pt x="276861" y="194310"/>
                    </a:lnTo>
                    <a:lnTo>
                      <a:pt x="277311" y="195580"/>
                    </a:lnTo>
                    <a:lnTo>
                      <a:pt x="278170" y="198120"/>
                    </a:lnTo>
                    <a:lnTo>
                      <a:pt x="302253" y="246380"/>
                    </a:lnTo>
                    <a:lnTo>
                      <a:pt x="303363" y="247650"/>
                    </a:lnTo>
                    <a:lnTo>
                      <a:pt x="305226" y="250190"/>
                    </a:lnTo>
                    <a:lnTo>
                      <a:pt x="307551" y="251460"/>
                    </a:lnTo>
                    <a:lnTo>
                      <a:pt x="348115" y="271780"/>
                    </a:lnTo>
                    <a:lnTo>
                      <a:pt x="336534" y="364490"/>
                    </a:lnTo>
                    <a:lnTo>
                      <a:pt x="339194" y="369570"/>
                    </a:lnTo>
                    <a:lnTo>
                      <a:pt x="345435" y="372110"/>
                    </a:lnTo>
                    <a:lnTo>
                      <a:pt x="347246" y="373380"/>
                    </a:lnTo>
                    <a:lnTo>
                      <a:pt x="352283" y="373380"/>
                    </a:lnTo>
                    <a:lnTo>
                      <a:pt x="355350" y="372110"/>
                    </a:lnTo>
                    <a:lnTo>
                      <a:pt x="357633" y="369570"/>
                    </a:lnTo>
                    <a:lnTo>
                      <a:pt x="393747" y="332740"/>
                    </a:lnTo>
                    <a:lnTo>
                      <a:pt x="395318" y="331470"/>
                    </a:lnTo>
                    <a:lnTo>
                      <a:pt x="396396" y="330200"/>
                    </a:lnTo>
                    <a:lnTo>
                      <a:pt x="396878" y="327660"/>
                    </a:lnTo>
                    <a:lnTo>
                      <a:pt x="365340" y="327660"/>
                    </a:lnTo>
                    <a:lnTo>
                      <a:pt x="373685" y="260350"/>
                    </a:lnTo>
                    <a:lnTo>
                      <a:pt x="371078" y="256540"/>
                    </a:lnTo>
                    <a:lnTo>
                      <a:pt x="366544" y="254000"/>
                    </a:lnTo>
                    <a:lnTo>
                      <a:pt x="321990" y="231140"/>
                    </a:lnTo>
                    <a:lnTo>
                      <a:pt x="300923" y="189230"/>
                    </a:lnTo>
                    <a:lnTo>
                      <a:pt x="300923" y="152400"/>
                    </a:lnTo>
                    <a:lnTo>
                      <a:pt x="328859" y="143510"/>
                    </a:lnTo>
                    <a:lnTo>
                      <a:pt x="333728" y="142240"/>
                    </a:lnTo>
                    <a:lnTo>
                      <a:pt x="337005" y="137160"/>
                    </a:lnTo>
                    <a:lnTo>
                      <a:pt x="337016" y="92710"/>
                    </a:lnTo>
                    <a:lnTo>
                      <a:pt x="335770" y="90170"/>
                    </a:lnTo>
                    <a:lnTo>
                      <a:pt x="333550" y="87630"/>
                    </a:lnTo>
                    <a:lnTo>
                      <a:pt x="316577" y="71120"/>
                    </a:lnTo>
                    <a:lnTo>
                      <a:pt x="330178" y="50800"/>
                    </a:lnTo>
                    <a:lnTo>
                      <a:pt x="370790" y="50800"/>
                    </a:lnTo>
                    <a:lnTo>
                      <a:pt x="352669" y="36830"/>
                    </a:lnTo>
                    <a:lnTo>
                      <a:pt x="327695" y="24130"/>
                    </a:lnTo>
                    <a:close/>
                  </a:path>
                  <a:path w="722629" h="721360">
                    <a:moveTo>
                      <a:pt x="493844" y="325120"/>
                    </a:moveTo>
                    <a:lnTo>
                      <a:pt x="461327" y="327660"/>
                    </a:lnTo>
                    <a:lnTo>
                      <a:pt x="429746" y="337820"/>
                    </a:lnTo>
                    <a:lnTo>
                      <a:pt x="557941" y="337820"/>
                    </a:lnTo>
                    <a:lnTo>
                      <a:pt x="526361" y="327660"/>
                    </a:lnTo>
                    <a:lnTo>
                      <a:pt x="493844" y="325120"/>
                    </a:lnTo>
                    <a:close/>
                  </a:path>
                  <a:path w="722629" h="721360">
                    <a:moveTo>
                      <a:pt x="370790" y="50800"/>
                    </a:moveTo>
                    <a:lnTo>
                      <a:pt x="330178" y="50800"/>
                    </a:lnTo>
                    <a:lnTo>
                      <a:pt x="368085" y="78740"/>
                    </a:lnTo>
                    <a:lnTo>
                      <a:pt x="398264" y="114300"/>
                    </a:lnTo>
                    <a:lnTo>
                      <a:pt x="419685" y="154940"/>
                    </a:lnTo>
                    <a:lnTo>
                      <a:pt x="431317" y="200660"/>
                    </a:lnTo>
                    <a:lnTo>
                      <a:pt x="400365" y="219710"/>
                    </a:lnTo>
                    <a:lnTo>
                      <a:pt x="398365" y="222250"/>
                    </a:lnTo>
                    <a:lnTo>
                      <a:pt x="397601" y="226060"/>
                    </a:lnTo>
                    <a:lnTo>
                      <a:pt x="374366" y="318770"/>
                    </a:lnTo>
                    <a:lnTo>
                      <a:pt x="365340" y="327660"/>
                    </a:lnTo>
                    <a:lnTo>
                      <a:pt x="396878" y="327660"/>
                    </a:lnTo>
                    <a:lnTo>
                      <a:pt x="419757" y="236220"/>
                    </a:lnTo>
                    <a:lnTo>
                      <a:pt x="433359" y="228600"/>
                    </a:lnTo>
                    <a:lnTo>
                      <a:pt x="456635" y="228600"/>
                    </a:lnTo>
                    <a:lnTo>
                      <a:pt x="457108" y="222250"/>
                    </a:lnTo>
                    <a:lnTo>
                      <a:pt x="451420" y="177800"/>
                    </a:lnTo>
                    <a:lnTo>
                      <a:pt x="437386" y="135890"/>
                    </a:lnTo>
                    <a:lnTo>
                      <a:pt x="415752" y="97790"/>
                    </a:lnTo>
                    <a:lnTo>
                      <a:pt x="387264" y="63500"/>
                    </a:lnTo>
                    <a:lnTo>
                      <a:pt x="370790" y="50800"/>
                    </a:lnTo>
                    <a:close/>
                  </a:path>
                  <a:path w="722629" h="721360">
                    <a:moveTo>
                      <a:pt x="493556" y="264160"/>
                    </a:moveTo>
                    <a:lnTo>
                      <a:pt x="483543" y="264160"/>
                    </a:lnTo>
                    <a:lnTo>
                      <a:pt x="453704" y="267970"/>
                    </a:lnTo>
                    <a:lnTo>
                      <a:pt x="528131" y="267970"/>
                    </a:lnTo>
                    <a:lnTo>
                      <a:pt x="493556" y="264160"/>
                    </a:lnTo>
                    <a:close/>
                  </a:path>
                  <a:path w="722629" h="721360">
                    <a:moveTo>
                      <a:pt x="143805" y="160020"/>
                    </a:moveTo>
                    <a:lnTo>
                      <a:pt x="103840" y="160020"/>
                    </a:lnTo>
                    <a:lnTo>
                      <a:pt x="128645" y="167640"/>
                    </a:lnTo>
                    <a:lnTo>
                      <a:pt x="134959" y="170180"/>
                    </a:lnTo>
                    <a:lnTo>
                      <a:pt x="141755" y="166370"/>
                    </a:lnTo>
                    <a:lnTo>
                      <a:pt x="143805" y="160020"/>
                    </a:lnTo>
                    <a:close/>
                  </a:path>
                  <a:path w="722629" h="721360">
                    <a:moveTo>
                      <a:pt x="198745" y="33020"/>
                    </a:moveTo>
                    <a:lnTo>
                      <a:pt x="167649" y="33020"/>
                    </a:lnTo>
                    <a:lnTo>
                      <a:pt x="192570" y="63500"/>
                    </a:lnTo>
                    <a:lnTo>
                      <a:pt x="192570" y="97790"/>
                    </a:lnTo>
                    <a:lnTo>
                      <a:pt x="130446" y="107950"/>
                    </a:lnTo>
                    <a:lnTo>
                      <a:pt x="124604" y="109220"/>
                    </a:lnTo>
                    <a:lnTo>
                      <a:pt x="120321" y="114300"/>
                    </a:lnTo>
                    <a:lnTo>
                      <a:pt x="120331" y="139700"/>
                    </a:lnTo>
                    <a:lnTo>
                      <a:pt x="144415" y="139700"/>
                    </a:lnTo>
                    <a:lnTo>
                      <a:pt x="144415" y="130810"/>
                    </a:lnTo>
                    <a:lnTo>
                      <a:pt x="206538" y="119380"/>
                    </a:lnTo>
                    <a:lnTo>
                      <a:pt x="212381" y="119380"/>
                    </a:lnTo>
                    <a:lnTo>
                      <a:pt x="216664" y="114300"/>
                    </a:lnTo>
                    <a:lnTo>
                      <a:pt x="216632" y="57150"/>
                    </a:lnTo>
                    <a:lnTo>
                      <a:pt x="215700" y="54610"/>
                    </a:lnTo>
                    <a:lnTo>
                      <a:pt x="214004" y="52070"/>
                    </a:lnTo>
                    <a:lnTo>
                      <a:pt x="198745" y="33020"/>
                    </a:lnTo>
                    <a:close/>
                  </a:path>
                </a:pathLst>
              </a:custGeom>
              <a:solidFill>
                <a:srgbClr val="523183"/>
              </a:solidFill>
            </p:spPr>
            <p:txBody>
              <a:bodyPr wrap="square" lIns="0" tIns="0" rIns="0" bIns="0" rtlCol="0"/>
              <a:lstStyle/>
              <a:p>
                <a:endParaRPr lang="pt-PT" noProof="0" dirty="0"/>
              </a:p>
            </p:txBody>
          </p:sp>
          <p:pic>
            <p:nvPicPr>
              <p:cNvPr id="9" name="object 32">
                <a:extLst>
                  <a:ext uri="{FF2B5EF4-FFF2-40B4-BE49-F238E27FC236}">
                    <a16:creationId xmlns:a16="http://schemas.microsoft.com/office/drawing/2014/main" id="{E801265C-1BC6-96B2-7D3E-206D2A00DA00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618476" y="5225553"/>
                <a:ext cx="241961" cy="241961"/>
              </a:xfrm>
              <a:prstGeom prst="rect">
                <a:avLst/>
              </a:prstGeom>
            </p:spPr>
          </p:pic>
          <p:pic>
            <p:nvPicPr>
              <p:cNvPr id="10" name="object 33">
                <a:extLst>
                  <a:ext uri="{FF2B5EF4-FFF2-40B4-BE49-F238E27FC236}">
                    <a16:creationId xmlns:a16="http://schemas.microsoft.com/office/drawing/2014/main" id="{F03F8488-ECA1-C9B5-D64C-3562A2BE2231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098883" y="4742805"/>
                <a:ext cx="241961" cy="241961"/>
              </a:xfrm>
              <a:prstGeom prst="rect">
                <a:avLst/>
              </a:prstGeom>
            </p:spPr>
          </p:pic>
          <p:pic>
            <p:nvPicPr>
              <p:cNvPr id="11" name="object 34">
                <a:extLst>
                  <a:ext uri="{FF2B5EF4-FFF2-40B4-BE49-F238E27FC236}">
                    <a16:creationId xmlns:a16="http://schemas.microsoft.com/office/drawing/2014/main" id="{F9F12805-523A-052B-FB0A-3C112D53D214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039853" y="5117195"/>
                <a:ext cx="144477" cy="240788"/>
              </a:xfrm>
              <a:prstGeom prst="rect">
                <a:avLst/>
              </a:prstGeom>
            </p:spPr>
          </p:pic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5130D7F-9719-1367-4873-A1EAE7CB2055}"/>
              </a:ext>
            </a:extLst>
          </p:cNvPr>
          <p:cNvGrpSpPr/>
          <p:nvPr/>
        </p:nvGrpSpPr>
        <p:grpSpPr>
          <a:xfrm>
            <a:off x="13741563" y="7179652"/>
            <a:ext cx="1624053" cy="2107384"/>
            <a:chOff x="5480050" y="8251445"/>
            <a:chExt cx="1624053" cy="2107384"/>
          </a:xfrm>
        </p:grpSpPr>
        <p:sp>
          <p:nvSpPr>
            <p:cNvPr id="12" name="object 35">
              <a:extLst>
                <a:ext uri="{FF2B5EF4-FFF2-40B4-BE49-F238E27FC236}">
                  <a16:creationId xmlns:a16="http://schemas.microsoft.com/office/drawing/2014/main" id="{84320B98-B1A0-BB47-9AA5-414088318E4C}"/>
                </a:ext>
              </a:extLst>
            </p:cNvPr>
            <p:cNvSpPr txBox="1"/>
            <p:nvPr/>
          </p:nvSpPr>
          <p:spPr>
            <a:xfrm>
              <a:off x="5480050" y="9731028"/>
              <a:ext cx="1624053" cy="62780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 algn="ctr">
                <a:lnSpc>
                  <a:spcPct val="101600"/>
                </a:lnSpc>
                <a:spcBef>
                  <a:spcPts val="95"/>
                </a:spcBef>
              </a:pPr>
              <a:r>
                <a:rPr lang="pt-PT" sz="2000" b="1" spc="-10" noProof="0" dirty="0">
                  <a:solidFill>
                    <a:srgbClr val="523183"/>
                  </a:solidFill>
                  <a:latin typeface="Open Sans"/>
                  <a:cs typeface="Open Sans"/>
                </a:rPr>
                <a:t>Inclusão Financeira</a:t>
              </a:r>
              <a:endParaRPr lang="pt-PT" sz="2000" noProof="0" dirty="0">
                <a:latin typeface="Open Sans"/>
                <a:cs typeface="Open Sans"/>
              </a:endParaRPr>
            </a:p>
          </p:txBody>
        </p:sp>
        <p:grpSp>
          <p:nvGrpSpPr>
            <p:cNvPr id="13" name="object 36">
              <a:extLst>
                <a:ext uri="{FF2B5EF4-FFF2-40B4-BE49-F238E27FC236}">
                  <a16:creationId xmlns:a16="http://schemas.microsoft.com/office/drawing/2014/main" id="{5090C727-EF54-A64F-C8B0-EB08BA2F488E}"/>
                </a:ext>
              </a:extLst>
            </p:cNvPr>
            <p:cNvGrpSpPr/>
            <p:nvPr/>
          </p:nvGrpSpPr>
          <p:grpSpPr>
            <a:xfrm>
              <a:off x="5672918" y="8251445"/>
              <a:ext cx="1238885" cy="1238885"/>
              <a:chOff x="13433767" y="4485989"/>
              <a:chExt cx="1238885" cy="1238885"/>
            </a:xfrm>
          </p:grpSpPr>
          <p:pic>
            <p:nvPicPr>
              <p:cNvPr id="14" name="object 37">
                <a:extLst>
                  <a:ext uri="{FF2B5EF4-FFF2-40B4-BE49-F238E27FC236}">
                    <a16:creationId xmlns:a16="http://schemas.microsoft.com/office/drawing/2014/main" id="{61041560-529B-F6FF-6A47-7C96564EEBD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433767" y="4485989"/>
                <a:ext cx="1238318" cy="1238339"/>
              </a:xfrm>
              <a:prstGeom prst="rect">
                <a:avLst/>
              </a:prstGeom>
            </p:spPr>
          </p:pic>
          <p:sp>
            <p:nvSpPr>
              <p:cNvPr id="15" name="object 38">
                <a:extLst>
                  <a:ext uri="{FF2B5EF4-FFF2-40B4-BE49-F238E27FC236}">
                    <a16:creationId xmlns:a16="http://schemas.microsoft.com/office/drawing/2014/main" id="{EE37554C-C9DE-7B9E-8FD7-7916AC083F6C}"/>
                  </a:ext>
                </a:extLst>
              </p:cNvPr>
              <p:cNvSpPr/>
              <p:nvPr/>
            </p:nvSpPr>
            <p:spPr>
              <a:xfrm>
                <a:off x="13726134" y="4778381"/>
                <a:ext cx="654050" cy="654050"/>
              </a:xfrm>
              <a:custGeom>
                <a:avLst/>
                <a:gdLst/>
                <a:ahLst/>
                <a:cxnLst/>
                <a:rect l="l" t="t" r="r" b="b"/>
                <a:pathLst>
                  <a:path w="654050" h="654050">
                    <a:moveTo>
                      <a:pt x="653567" y="166255"/>
                    </a:moveTo>
                    <a:lnTo>
                      <a:pt x="647623" y="122110"/>
                    </a:lnTo>
                    <a:lnTo>
                      <a:pt x="630834" y="82410"/>
                    </a:lnTo>
                    <a:lnTo>
                      <a:pt x="619175" y="67335"/>
                    </a:lnTo>
                    <a:lnTo>
                      <a:pt x="619175" y="166255"/>
                    </a:lnTo>
                    <a:lnTo>
                      <a:pt x="612432" y="207886"/>
                    </a:lnTo>
                    <a:lnTo>
                      <a:pt x="593699" y="244081"/>
                    </a:lnTo>
                    <a:lnTo>
                      <a:pt x="565137" y="272643"/>
                    </a:lnTo>
                    <a:lnTo>
                      <a:pt x="528942" y="291388"/>
                    </a:lnTo>
                    <a:lnTo>
                      <a:pt x="487311" y="298119"/>
                    </a:lnTo>
                    <a:lnTo>
                      <a:pt x="445681" y="291388"/>
                    </a:lnTo>
                    <a:lnTo>
                      <a:pt x="409486" y="272643"/>
                    </a:lnTo>
                    <a:lnTo>
                      <a:pt x="380923" y="244081"/>
                    </a:lnTo>
                    <a:lnTo>
                      <a:pt x="362191" y="207886"/>
                    </a:lnTo>
                    <a:lnTo>
                      <a:pt x="355485" y="166560"/>
                    </a:lnTo>
                    <a:lnTo>
                      <a:pt x="355460" y="166166"/>
                    </a:lnTo>
                    <a:lnTo>
                      <a:pt x="362191" y="124625"/>
                    </a:lnTo>
                    <a:lnTo>
                      <a:pt x="380923" y="88442"/>
                    </a:lnTo>
                    <a:lnTo>
                      <a:pt x="409486" y="59880"/>
                    </a:lnTo>
                    <a:lnTo>
                      <a:pt x="445681" y="41135"/>
                    </a:lnTo>
                    <a:lnTo>
                      <a:pt x="487311" y="34404"/>
                    </a:lnTo>
                    <a:lnTo>
                      <a:pt x="528942" y="41135"/>
                    </a:lnTo>
                    <a:lnTo>
                      <a:pt x="565137" y="59880"/>
                    </a:lnTo>
                    <a:lnTo>
                      <a:pt x="593699" y="88442"/>
                    </a:lnTo>
                    <a:lnTo>
                      <a:pt x="612432" y="124625"/>
                    </a:lnTo>
                    <a:lnTo>
                      <a:pt x="619175" y="166255"/>
                    </a:lnTo>
                    <a:lnTo>
                      <a:pt x="619175" y="67335"/>
                    </a:lnTo>
                    <a:lnTo>
                      <a:pt x="604812" y="48755"/>
                    </a:lnTo>
                    <a:lnTo>
                      <a:pt x="586244" y="34404"/>
                    </a:lnTo>
                    <a:lnTo>
                      <a:pt x="571157" y="22733"/>
                    </a:lnTo>
                    <a:lnTo>
                      <a:pt x="531456" y="5956"/>
                    </a:lnTo>
                    <a:lnTo>
                      <a:pt x="487311" y="0"/>
                    </a:lnTo>
                    <a:lnTo>
                      <a:pt x="443166" y="5956"/>
                    </a:lnTo>
                    <a:lnTo>
                      <a:pt x="403466" y="22733"/>
                    </a:lnTo>
                    <a:lnTo>
                      <a:pt x="369811" y="48755"/>
                    </a:lnTo>
                    <a:lnTo>
                      <a:pt x="343789" y="82410"/>
                    </a:lnTo>
                    <a:lnTo>
                      <a:pt x="326999" y="122110"/>
                    </a:lnTo>
                    <a:lnTo>
                      <a:pt x="322846" y="152946"/>
                    </a:lnTo>
                    <a:lnTo>
                      <a:pt x="291515" y="160477"/>
                    </a:lnTo>
                    <a:lnTo>
                      <a:pt x="252501" y="183705"/>
                    </a:lnTo>
                    <a:lnTo>
                      <a:pt x="248031" y="188569"/>
                    </a:lnTo>
                    <a:lnTo>
                      <a:pt x="181889" y="128739"/>
                    </a:lnTo>
                    <a:lnTo>
                      <a:pt x="188163" y="119443"/>
                    </a:lnTo>
                    <a:lnTo>
                      <a:pt x="194932" y="86004"/>
                    </a:lnTo>
                    <a:lnTo>
                      <a:pt x="188163" y="52552"/>
                    </a:lnTo>
                    <a:lnTo>
                      <a:pt x="175907" y="34404"/>
                    </a:lnTo>
                    <a:lnTo>
                      <a:pt x="169710" y="25222"/>
                    </a:lnTo>
                    <a:lnTo>
                      <a:pt x="160528" y="19024"/>
                    </a:lnTo>
                    <a:lnTo>
                      <a:pt x="160528" y="86004"/>
                    </a:lnTo>
                    <a:lnTo>
                      <a:pt x="156476" y="106057"/>
                    </a:lnTo>
                    <a:lnTo>
                      <a:pt x="145402" y="122466"/>
                    </a:lnTo>
                    <a:lnTo>
                      <a:pt x="128993" y="133527"/>
                    </a:lnTo>
                    <a:lnTo>
                      <a:pt x="108927" y="137591"/>
                    </a:lnTo>
                    <a:lnTo>
                      <a:pt x="88861" y="133527"/>
                    </a:lnTo>
                    <a:lnTo>
                      <a:pt x="72466" y="122466"/>
                    </a:lnTo>
                    <a:lnTo>
                      <a:pt x="61391" y="106057"/>
                    </a:lnTo>
                    <a:lnTo>
                      <a:pt x="57327" y="86004"/>
                    </a:lnTo>
                    <a:lnTo>
                      <a:pt x="61391" y="65925"/>
                    </a:lnTo>
                    <a:lnTo>
                      <a:pt x="72466" y="49530"/>
                    </a:lnTo>
                    <a:lnTo>
                      <a:pt x="88861" y="38455"/>
                    </a:lnTo>
                    <a:lnTo>
                      <a:pt x="108927" y="34404"/>
                    </a:lnTo>
                    <a:lnTo>
                      <a:pt x="128993" y="38455"/>
                    </a:lnTo>
                    <a:lnTo>
                      <a:pt x="145402" y="49530"/>
                    </a:lnTo>
                    <a:lnTo>
                      <a:pt x="156476" y="65925"/>
                    </a:lnTo>
                    <a:lnTo>
                      <a:pt x="160528" y="86004"/>
                    </a:lnTo>
                    <a:lnTo>
                      <a:pt x="160528" y="19024"/>
                    </a:lnTo>
                    <a:lnTo>
                      <a:pt x="142379" y="6769"/>
                    </a:lnTo>
                    <a:lnTo>
                      <a:pt x="108927" y="0"/>
                    </a:lnTo>
                    <a:lnTo>
                      <a:pt x="75488" y="6769"/>
                    </a:lnTo>
                    <a:lnTo>
                      <a:pt x="48145" y="25222"/>
                    </a:lnTo>
                    <a:lnTo>
                      <a:pt x="29705" y="52552"/>
                    </a:lnTo>
                    <a:lnTo>
                      <a:pt x="22936" y="86004"/>
                    </a:lnTo>
                    <a:lnTo>
                      <a:pt x="29705" y="119443"/>
                    </a:lnTo>
                    <a:lnTo>
                      <a:pt x="48145" y="146773"/>
                    </a:lnTo>
                    <a:lnTo>
                      <a:pt x="75488" y="165227"/>
                    </a:lnTo>
                    <a:lnTo>
                      <a:pt x="108927" y="171996"/>
                    </a:lnTo>
                    <a:lnTo>
                      <a:pt x="142379" y="165227"/>
                    </a:lnTo>
                    <a:lnTo>
                      <a:pt x="158724" y="154190"/>
                    </a:lnTo>
                    <a:lnTo>
                      <a:pt x="224726" y="213906"/>
                    </a:lnTo>
                    <a:lnTo>
                      <a:pt x="221957" y="216916"/>
                    </a:lnTo>
                    <a:lnTo>
                      <a:pt x="202044" y="257746"/>
                    </a:lnTo>
                    <a:lnTo>
                      <a:pt x="197573" y="286651"/>
                    </a:lnTo>
                    <a:lnTo>
                      <a:pt x="134112" y="286651"/>
                    </a:lnTo>
                    <a:lnTo>
                      <a:pt x="132638" y="279336"/>
                    </a:lnTo>
                    <a:lnTo>
                      <a:pt x="129832" y="275183"/>
                    </a:lnTo>
                    <a:lnTo>
                      <a:pt x="119100" y="259283"/>
                    </a:lnTo>
                    <a:lnTo>
                      <a:pt x="103200" y="248564"/>
                    </a:lnTo>
                    <a:lnTo>
                      <a:pt x="103200" y="303860"/>
                    </a:lnTo>
                    <a:lnTo>
                      <a:pt x="100952" y="314998"/>
                    </a:lnTo>
                    <a:lnTo>
                      <a:pt x="94792" y="324116"/>
                    </a:lnTo>
                    <a:lnTo>
                      <a:pt x="85686" y="330263"/>
                    </a:lnTo>
                    <a:lnTo>
                      <a:pt x="74536" y="332511"/>
                    </a:lnTo>
                    <a:lnTo>
                      <a:pt x="63385" y="330263"/>
                    </a:lnTo>
                    <a:lnTo>
                      <a:pt x="54267" y="324116"/>
                    </a:lnTo>
                    <a:lnTo>
                      <a:pt x="48120" y="314998"/>
                    </a:lnTo>
                    <a:lnTo>
                      <a:pt x="45859" y="303860"/>
                    </a:lnTo>
                    <a:lnTo>
                      <a:pt x="48120" y="292709"/>
                    </a:lnTo>
                    <a:lnTo>
                      <a:pt x="54267" y="283591"/>
                    </a:lnTo>
                    <a:lnTo>
                      <a:pt x="63385" y="277444"/>
                    </a:lnTo>
                    <a:lnTo>
                      <a:pt x="74536" y="275183"/>
                    </a:lnTo>
                    <a:lnTo>
                      <a:pt x="85686" y="277444"/>
                    </a:lnTo>
                    <a:lnTo>
                      <a:pt x="94792" y="283591"/>
                    </a:lnTo>
                    <a:lnTo>
                      <a:pt x="100952" y="292709"/>
                    </a:lnTo>
                    <a:lnTo>
                      <a:pt x="103200" y="303860"/>
                    </a:lnTo>
                    <a:lnTo>
                      <a:pt x="103200" y="248564"/>
                    </a:lnTo>
                    <a:lnTo>
                      <a:pt x="99047" y="245757"/>
                    </a:lnTo>
                    <a:lnTo>
                      <a:pt x="74536" y="240792"/>
                    </a:lnTo>
                    <a:lnTo>
                      <a:pt x="50012" y="245757"/>
                    </a:lnTo>
                    <a:lnTo>
                      <a:pt x="29959" y="259283"/>
                    </a:lnTo>
                    <a:lnTo>
                      <a:pt x="16433" y="279336"/>
                    </a:lnTo>
                    <a:lnTo>
                      <a:pt x="11468" y="303860"/>
                    </a:lnTo>
                    <a:lnTo>
                      <a:pt x="16433" y="328371"/>
                    </a:lnTo>
                    <a:lnTo>
                      <a:pt x="29959" y="348424"/>
                    </a:lnTo>
                    <a:lnTo>
                      <a:pt x="50012" y="361950"/>
                    </a:lnTo>
                    <a:lnTo>
                      <a:pt x="74536" y="366915"/>
                    </a:lnTo>
                    <a:lnTo>
                      <a:pt x="99047" y="361950"/>
                    </a:lnTo>
                    <a:lnTo>
                      <a:pt x="119100" y="348424"/>
                    </a:lnTo>
                    <a:lnTo>
                      <a:pt x="129844" y="332511"/>
                    </a:lnTo>
                    <a:lnTo>
                      <a:pt x="132638" y="328371"/>
                    </a:lnTo>
                    <a:lnTo>
                      <a:pt x="134112" y="321056"/>
                    </a:lnTo>
                    <a:lnTo>
                      <a:pt x="197700" y="321056"/>
                    </a:lnTo>
                    <a:lnTo>
                      <a:pt x="202831" y="352729"/>
                    </a:lnTo>
                    <a:lnTo>
                      <a:pt x="224828" y="395211"/>
                    </a:lnTo>
                    <a:lnTo>
                      <a:pt x="229425" y="399821"/>
                    </a:lnTo>
                    <a:lnTo>
                      <a:pt x="183464" y="445782"/>
                    </a:lnTo>
                    <a:lnTo>
                      <a:pt x="183464" y="544639"/>
                    </a:lnTo>
                    <a:lnTo>
                      <a:pt x="177596" y="573620"/>
                    </a:lnTo>
                    <a:lnTo>
                      <a:pt x="161607" y="597319"/>
                    </a:lnTo>
                    <a:lnTo>
                      <a:pt x="137922" y="613308"/>
                    </a:lnTo>
                    <a:lnTo>
                      <a:pt x="108927" y="619175"/>
                    </a:lnTo>
                    <a:lnTo>
                      <a:pt x="79946" y="613308"/>
                    </a:lnTo>
                    <a:lnTo>
                      <a:pt x="56248" y="597319"/>
                    </a:lnTo>
                    <a:lnTo>
                      <a:pt x="40271" y="573620"/>
                    </a:lnTo>
                    <a:lnTo>
                      <a:pt x="34404" y="544639"/>
                    </a:lnTo>
                    <a:lnTo>
                      <a:pt x="40271" y="515658"/>
                    </a:lnTo>
                    <a:lnTo>
                      <a:pt x="79946" y="475970"/>
                    </a:lnTo>
                    <a:lnTo>
                      <a:pt x="137922" y="475970"/>
                    </a:lnTo>
                    <a:lnTo>
                      <a:pt x="177596" y="515658"/>
                    </a:lnTo>
                    <a:lnTo>
                      <a:pt x="183464" y="544639"/>
                    </a:lnTo>
                    <a:lnTo>
                      <a:pt x="183464" y="445782"/>
                    </a:lnTo>
                    <a:lnTo>
                      <a:pt x="171386" y="457860"/>
                    </a:lnTo>
                    <a:lnTo>
                      <a:pt x="151295" y="444284"/>
                    </a:lnTo>
                    <a:lnTo>
                      <a:pt x="108927" y="435711"/>
                    </a:lnTo>
                    <a:lnTo>
                      <a:pt x="66573" y="444284"/>
                    </a:lnTo>
                    <a:lnTo>
                      <a:pt x="31940" y="467652"/>
                    </a:lnTo>
                    <a:lnTo>
                      <a:pt x="8572" y="502285"/>
                    </a:lnTo>
                    <a:lnTo>
                      <a:pt x="0" y="544639"/>
                    </a:lnTo>
                    <a:lnTo>
                      <a:pt x="8572" y="586994"/>
                    </a:lnTo>
                    <a:lnTo>
                      <a:pt x="31940" y="621626"/>
                    </a:lnTo>
                    <a:lnTo>
                      <a:pt x="66573" y="644994"/>
                    </a:lnTo>
                    <a:lnTo>
                      <a:pt x="108927" y="653567"/>
                    </a:lnTo>
                    <a:lnTo>
                      <a:pt x="151295" y="644994"/>
                    </a:lnTo>
                    <a:lnTo>
                      <a:pt x="185915" y="621626"/>
                    </a:lnTo>
                    <a:lnTo>
                      <a:pt x="187579" y="619175"/>
                    </a:lnTo>
                    <a:lnTo>
                      <a:pt x="209283" y="586994"/>
                    </a:lnTo>
                    <a:lnTo>
                      <a:pt x="217855" y="544639"/>
                    </a:lnTo>
                    <a:lnTo>
                      <a:pt x="209283" y="502285"/>
                    </a:lnTo>
                    <a:lnTo>
                      <a:pt x="195707" y="482180"/>
                    </a:lnTo>
                    <a:lnTo>
                      <a:pt x="253746" y="424141"/>
                    </a:lnTo>
                    <a:lnTo>
                      <a:pt x="258356" y="428739"/>
                    </a:lnTo>
                    <a:lnTo>
                      <a:pt x="300837" y="450735"/>
                    </a:lnTo>
                    <a:lnTo>
                      <a:pt x="319862" y="453821"/>
                    </a:lnTo>
                    <a:lnTo>
                      <a:pt x="317246" y="483997"/>
                    </a:lnTo>
                    <a:lnTo>
                      <a:pt x="304673" y="486537"/>
                    </a:lnTo>
                    <a:lnTo>
                      <a:pt x="284619" y="500062"/>
                    </a:lnTo>
                    <a:lnTo>
                      <a:pt x="271094" y="520115"/>
                    </a:lnTo>
                    <a:lnTo>
                      <a:pt x="266128" y="544639"/>
                    </a:lnTo>
                    <a:lnTo>
                      <a:pt x="271094" y="569163"/>
                    </a:lnTo>
                    <a:lnTo>
                      <a:pt x="284619" y="589203"/>
                    </a:lnTo>
                    <a:lnTo>
                      <a:pt x="304673" y="602729"/>
                    </a:lnTo>
                    <a:lnTo>
                      <a:pt x="329196" y="607695"/>
                    </a:lnTo>
                    <a:lnTo>
                      <a:pt x="353707" y="602729"/>
                    </a:lnTo>
                    <a:lnTo>
                      <a:pt x="373761" y="589203"/>
                    </a:lnTo>
                    <a:lnTo>
                      <a:pt x="384505" y="573303"/>
                    </a:lnTo>
                    <a:lnTo>
                      <a:pt x="387299" y="569163"/>
                    </a:lnTo>
                    <a:lnTo>
                      <a:pt x="392264" y="544639"/>
                    </a:lnTo>
                    <a:lnTo>
                      <a:pt x="387299" y="520115"/>
                    </a:lnTo>
                    <a:lnTo>
                      <a:pt x="384492" y="515975"/>
                    </a:lnTo>
                    <a:lnTo>
                      <a:pt x="373761" y="500062"/>
                    </a:lnTo>
                    <a:lnTo>
                      <a:pt x="357860" y="489343"/>
                    </a:lnTo>
                    <a:lnTo>
                      <a:pt x="357860" y="544639"/>
                    </a:lnTo>
                    <a:lnTo>
                      <a:pt x="355612" y="555790"/>
                    </a:lnTo>
                    <a:lnTo>
                      <a:pt x="349453" y="564896"/>
                    </a:lnTo>
                    <a:lnTo>
                      <a:pt x="340347" y="571042"/>
                    </a:lnTo>
                    <a:lnTo>
                      <a:pt x="329196" y="573303"/>
                    </a:lnTo>
                    <a:lnTo>
                      <a:pt x="318046" y="571042"/>
                    </a:lnTo>
                    <a:lnTo>
                      <a:pt x="308927" y="564896"/>
                    </a:lnTo>
                    <a:lnTo>
                      <a:pt x="302780" y="555790"/>
                    </a:lnTo>
                    <a:lnTo>
                      <a:pt x="300520" y="544639"/>
                    </a:lnTo>
                    <a:lnTo>
                      <a:pt x="302780" y="533488"/>
                    </a:lnTo>
                    <a:lnTo>
                      <a:pt x="308927" y="524383"/>
                    </a:lnTo>
                    <a:lnTo>
                      <a:pt x="318046" y="518223"/>
                    </a:lnTo>
                    <a:lnTo>
                      <a:pt x="329196" y="515975"/>
                    </a:lnTo>
                    <a:lnTo>
                      <a:pt x="340347" y="518223"/>
                    </a:lnTo>
                    <a:lnTo>
                      <a:pt x="349453" y="524383"/>
                    </a:lnTo>
                    <a:lnTo>
                      <a:pt x="355612" y="533488"/>
                    </a:lnTo>
                    <a:lnTo>
                      <a:pt x="357860" y="544639"/>
                    </a:lnTo>
                    <a:lnTo>
                      <a:pt x="357860" y="489343"/>
                    </a:lnTo>
                    <a:lnTo>
                      <a:pt x="353707" y="486537"/>
                    </a:lnTo>
                    <a:lnTo>
                      <a:pt x="351574" y="486117"/>
                    </a:lnTo>
                    <a:lnTo>
                      <a:pt x="354025" y="458076"/>
                    </a:lnTo>
                    <a:lnTo>
                      <a:pt x="390017" y="453263"/>
                    </a:lnTo>
                    <a:lnTo>
                      <a:pt x="427050" y="437845"/>
                    </a:lnTo>
                    <a:lnTo>
                      <a:pt x="432587" y="433616"/>
                    </a:lnTo>
                    <a:lnTo>
                      <a:pt x="455307" y="461670"/>
                    </a:lnTo>
                    <a:lnTo>
                      <a:pt x="433273" y="494322"/>
                    </a:lnTo>
                    <a:lnTo>
                      <a:pt x="424256" y="538899"/>
                    </a:lnTo>
                    <a:lnTo>
                      <a:pt x="433273" y="583488"/>
                    </a:lnTo>
                    <a:lnTo>
                      <a:pt x="457873" y="619937"/>
                    </a:lnTo>
                    <a:lnTo>
                      <a:pt x="494322" y="644537"/>
                    </a:lnTo>
                    <a:lnTo>
                      <a:pt x="538911" y="653567"/>
                    </a:lnTo>
                    <a:lnTo>
                      <a:pt x="583488" y="644537"/>
                    </a:lnTo>
                    <a:lnTo>
                      <a:pt x="619950" y="619937"/>
                    </a:lnTo>
                    <a:lnTo>
                      <a:pt x="620471" y="619175"/>
                    </a:lnTo>
                    <a:lnTo>
                      <a:pt x="644537" y="583488"/>
                    </a:lnTo>
                    <a:lnTo>
                      <a:pt x="653567" y="538899"/>
                    </a:lnTo>
                    <a:lnTo>
                      <a:pt x="644537" y="494322"/>
                    </a:lnTo>
                    <a:lnTo>
                      <a:pt x="620471" y="458647"/>
                    </a:lnTo>
                    <a:lnTo>
                      <a:pt x="619950" y="457873"/>
                    </a:lnTo>
                    <a:lnTo>
                      <a:pt x="619163" y="457352"/>
                    </a:lnTo>
                    <a:lnTo>
                      <a:pt x="619163" y="538899"/>
                    </a:lnTo>
                    <a:lnTo>
                      <a:pt x="612851" y="570115"/>
                    </a:lnTo>
                    <a:lnTo>
                      <a:pt x="595630" y="595630"/>
                    </a:lnTo>
                    <a:lnTo>
                      <a:pt x="570115" y="612851"/>
                    </a:lnTo>
                    <a:lnTo>
                      <a:pt x="538911" y="619175"/>
                    </a:lnTo>
                    <a:lnTo>
                      <a:pt x="507695" y="612851"/>
                    </a:lnTo>
                    <a:lnTo>
                      <a:pt x="482180" y="595630"/>
                    </a:lnTo>
                    <a:lnTo>
                      <a:pt x="464959" y="570115"/>
                    </a:lnTo>
                    <a:lnTo>
                      <a:pt x="458647" y="538899"/>
                    </a:lnTo>
                    <a:lnTo>
                      <a:pt x="464959" y="507695"/>
                    </a:lnTo>
                    <a:lnTo>
                      <a:pt x="482180" y="482180"/>
                    </a:lnTo>
                    <a:lnTo>
                      <a:pt x="507695" y="464959"/>
                    </a:lnTo>
                    <a:lnTo>
                      <a:pt x="538911" y="458647"/>
                    </a:lnTo>
                    <a:lnTo>
                      <a:pt x="570115" y="464959"/>
                    </a:lnTo>
                    <a:lnTo>
                      <a:pt x="595630" y="482180"/>
                    </a:lnTo>
                    <a:lnTo>
                      <a:pt x="612851" y="507695"/>
                    </a:lnTo>
                    <a:lnTo>
                      <a:pt x="619163" y="538899"/>
                    </a:lnTo>
                    <a:lnTo>
                      <a:pt x="619163" y="457352"/>
                    </a:lnTo>
                    <a:lnTo>
                      <a:pt x="583488" y="433273"/>
                    </a:lnTo>
                    <a:lnTo>
                      <a:pt x="538911" y="424243"/>
                    </a:lnTo>
                    <a:lnTo>
                      <a:pt x="494322" y="433273"/>
                    </a:lnTo>
                    <a:lnTo>
                      <a:pt x="482866" y="441007"/>
                    </a:lnTo>
                    <a:lnTo>
                      <a:pt x="459740" y="412457"/>
                    </a:lnTo>
                    <a:lnTo>
                      <a:pt x="483793" y="381266"/>
                    </a:lnTo>
                    <a:lnTo>
                      <a:pt x="485978" y="374789"/>
                    </a:lnTo>
                    <a:lnTo>
                      <a:pt x="485521" y="368211"/>
                    </a:lnTo>
                    <a:lnTo>
                      <a:pt x="482638" y="362280"/>
                    </a:lnTo>
                    <a:lnTo>
                      <a:pt x="477520" y="357759"/>
                    </a:lnTo>
                    <a:lnTo>
                      <a:pt x="471068" y="355587"/>
                    </a:lnTo>
                    <a:lnTo>
                      <a:pt x="464489" y="356031"/>
                    </a:lnTo>
                    <a:lnTo>
                      <a:pt x="458546" y="358914"/>
                    </a:lnTo>
                    <a:lnTo>
                      <a:pt x="454012" y="364032"/>
                    </a:lnTo>
                    <a:lnTo>
                      <a:pt x="434682" y="389115"/>
                    </a:lnTo>
                    <a:lnTo>
                      <a:pt x="409879" y="408063"/>
                    </a:lnTo>
                    <a:lnTo>
                      <a:pt x="381063" y="420065"/>
                    </a:lnTo>
                    <a:lnTo>
                      <a:pt x="349719" y="424243"/>
                    </a:lnTo>
                    <a:lnTo>
                      <a:pt x="302895" y="414769"/>
                    </a:lnTo>
                    <a:lnTo>
                      <a:pt x="264629" y="388937"/>
                    </a:lnTo>
                    <a:lnTo>
                      <a:pt x="238798" y="350672"/>
                    </a:lnTo>
                    <a:lnTo>
                      <a:pt x="229323" y="303847"/>
                    </a:lnTo>
                    <a:lnTo>
                      <a:pt x="237858" y="259600"/>
                    </a:lnTo>
                    <a:lnTo>
                      <a:pt x="261289" y="222465"/>
                    </a:lnTo>
                    <a:lnTo>
                      <a:pt x="296329" y="196024"/>
                    </a:lnTo>
                    <a:lnTo>
                      <a:pt x="324015" y="188264"/>
                    </a:lnTo>
                    <a:lnTo>
                      <a:pt x="326999" y="210400"/>
                    </a:lnTo>
                    <a:lnTo>
                      <a:pt x="343789" y="250101"/>
                    </a:lnTo>
                    <a:lnTo>
                      <a:pt x="369811" y="283768"/>
                    </a:lnTo>
                    <a:lnTo>
                      <a:pt x="403466" y="309778"/>
                    </a:lnTo>
                    <a:lnTo>
                      <a:pt x="443166" y="326567"/>
                    </a:lnTo>
                    <a:lnTo>
                      <a:pt x="487311" y="332511"/>
                    </a:lnTo>
                    <a:lnTo>
                      <a:pt x="531456" y="326567"/>
                    </a:lnTo>
                    <a:lnTo>
                      <a:pt x="571157" y="309778"/>
                    </a:lnTo>
                    <a:lnTo>
                      <a:pt x="604812" y="283768"/>
                    </a:lnTo>
                    <a:lnTo>
                      <a:pt x="630834" y="250101"/>
                    </a:lnTo>
                    <a:lnTo>
                      <a:pt x="647623" y="210400"/>
                    </a:lnTo>
                    <a:lnTo>
                      <a:pt x="653567" y="166255"/>
                    </a:lnTo>
                    <a:close/>
                  </a:path>
                </a:pathLst>
              </a:custGeom>
              <a:solidFill>
                <a:srgbClr val="523183"/>
              </a:solidFill>
            </p:spPr>
            <p:txBody>
              <a:bodyPr wrap="square" lIns="0" tIns="0" rIns="0" bIns="0" rtlCol="0"/>
              <a:lstStyle/>
              <a:p>
                <a:endParaRPr lang="pt-PT" noProof="0" dirty="0"/>
              </a:p>
            </p:txBody>
          </p:sp>
          <p:pic>
            <p:nvPicPr>
              <p:cNvPr id="16" name="object 39">
                <a:extLst>
                  <a:ext uri="{FF2B5EF4-FFF2-40B4-BE49-F238E27FC236}">
                    <a16:creationId xmlns:a16="http://schemas.microsoft.com/office/drawing/2014/main" id="{50D0CF0B-7F8A-BB44-28B8-2AE7607D381D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4161851" y="4835702"/>
                <a:ext cx="103201" cy="217858"/>
              </a:xfrm>
              <a:prstGeom prst="rect">
                <a:avLst/>
              </a:prstGeom>
            </p:spPr>
          </p:pic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5841B39-C84D-AF07-DB8A-4AA1F8EADFFC}"/>
              </a:ext>
            </a:extLst>
          </p:cNvPr>
          <p:cNvGrpSpPr/>
          <p:nvPr/>
        </p:nvGrpSpPr>
        <p:grpSpPr>
          <a:xfrm>
            <a:off x="16311929" y="7178675"/>
            <a:ext cx="1741121" cy="2108361"/>
            <a:chOff x="8832850" y="8251445"/>
            <a:chExt cx="1741121" cy="2108361"/>
          </a:xfrm>
        </p:grpSpPr>
        <p:sp>
          <p:nvSpPr>
            <p:cNvPr id="17" name="object 40">
              <a:extLst>
                <a:ext uri="{FF2B5EF4-FFF2-40B4-BE49-F238E27FC236}">
                  <a16:creationId xmlns:a16="http://schemas.microsoft.com/office/drawing/2014/main" id="{100950BA-A9F5-FC5D-B123-0D105DE09080}"/>
                </a:ext>
              </a:extLst>
            </p:cNvPr>
            <p:cNvSpPr txBox="1"/>
            <p:nvPr/>
          </p:nvSpPr>
          <p:spPr>
            <a:xfrm>
              <a:off x="8832850" y="9732005"/>
              <a:ext cx="1741121" cy="62780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 algn="ctr">
                <a:lnSpc>
                  <a:spcPct val="101600"/>
                </a:lnSpc>
                <a:spcBef>
                  <a:spcPts val="95"/>
                </a:spcBef>
              </a:pPr>
              <a:r>
                <a:rPr lang="pt-PT" sz="2000" b="1" spc="-10" noProof="0" dirty="0">
                  <a:solidFill>
                    <a:srgbClr val="523183"/>
                  </a:solidFill>
                  <a:latin typeface="Open Sans"/>
                  <a:cs typeface="Open Sans"/>
                </a:rPr>
                <a:t>Maior Privacidade</a:t>
              </a:r>
              <a:endParaRPr lang="pt-PT" sz="2000" noProof="0" dirty="0">
                <a:latin typeface="Open Sans"/>
                <a:cs typeface="Open Sans"/>
              </a:endParaRPr>
            </a:p>
          </p:txBody>
        </p:sp>
        <p:grpSp>
          <p:nvGrpSpPr>
            <p:cNvPr id="18" name="object 41">
              <a:extLst>
                <a:ext uri="{FF2B5EF4-FFF2-40B4-BE49-F238E27FC236}">
                  <a16:creationId xmlns:a16="http://schemas.microsoft.com/office/drawing/2014/main" id="{6EA80652-64A7-DD3C-AD67-4A9E2B258E95}"/>
                </a:ext>
              </a:extLst>
            </p:cNvPr>
            <p:cNvGrpSpPr/>
            <p:nvPr/>
          </p:nvGrpSpPr>
          <p:grpSpPr>
            <a:xfrm>
              <a:off x="9084252" y="8251445"/>
              <a:ext cx="1238885" cy="1238885"/>
              <a:chOff x="16507046" y="4485989"/>
              <a:chExt cx="1238885" cy="1238885"/>
            </a:xfrm>
          </p:grpSpPr>
          <p:pic>
            <p:nvPicPr>
              <p:cNvPr id="19" name="object 42">
                <a:extLst>
                  <a:ext uri="{FF2B5EF4-FFF2-40B4-BE49-F238E27FC236}">
                    <a16:creationId xmlns:a16="http://schemas.microsoft.com/office/drawing/2014/main" id="{DD5B8340-C8A3-D685-42FB-A2147239987E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6507046" y="4485989"/>
                <a:ext cx="1238318" cy="1238339"/>
              </a:xfrm>
              <a:prstGeom prst="rect">
                <a:avLst/>
              </a:prstGeom>
            </p:spPr>
          </p:pic>
          <p:sp>
            <p:nvSpPr>
              <p:cNvPr id="20" name="object 43">
                <a:extLst>
                  <a:ext uri="{FF2B5EF4-FFF2-40B4-BE49-F238E27FC236}">
                    <a16:creationId xmlns:a16="http://schemas.microsoft.com/office/drawing/2014/main" id="{153FF825-509F-B442-23C4-A4BB021C26E5}"/>
                  </a:ext>
                </a:extLst>
              </p:cNvPr>
              <p:cNvSpPr/>
              <p:nvPr/>
            </p:nvSpPr>
            <p:spPr>
              <a:xfrm>
                <a:off x="16827703" y="4795576"/>
                <a:ext cx="597535" cy="688340"/>
              </a:xfrm>
              <a:custGeom>
                <a:avLst/>
                <a:gdLst/>
                <a:ahLst/>
                <a:cxnLst/>
                <a:rect l="l" t="t" r="r" b="b"/>
                <a:pathLst>
                  <a:path w="597534" h="688339">
                    <a:moveTo>
                      <a:pt x="479755" y="317106"/>
                    </a:moveTo>
                    <a:lnTo>
                      <a:pt x="473278" y="268947"/>
                    </a:lnTo>
                    <a:lnTo>
                      <a:pt x="454977" y="225628"/>
                    </a:lnTo>
                    <a:lnTo>
                      <a:pt x="439445" y="205524"/>
                    </a:lnTo>
                    <a:lnTo>
                      <a:pt x="439445" y="317106"/>
                    </a:lnTo>
                    <a:lnTo>
                      <a:pt x="436232" y="347116"/>
                    </a:lnTo>
                    <a:lnTo>
                      <a:pt x="427151" y="374650"/>
                    </a:lnTo>
                    <a:lnTo>
                      <a:pt x="427062" y="374916"/>
                    </a:lnTo>
                    <a:lnTo>
                      <a:pt x="412610" y="399834"/>
                    </a:lnTo>
                    <a:lnTo>
                      <a:pt x="393547" y="421195"/>
                    </a:lnTo>
                    <a:lnTo>
                      <a:pt x="388924" y="411835"/>
                    </a:lnTo>
                    <a:lnTo>
                      <a:pt x="388797" y="411594"/>
                    </a:lnTo>
                    <a:lnTo>
                      <a:pt x="364096" y="381876"/>
                    </a:lnTo>
                    <a:lnTo>
                      <a:pt x="359117" y="378053"/>
                    </a:lnTo>
                    <a:lnTo>
                      <a:pt x="359117" y="444461"/>
                    </a:lnTo>
                    <a:lnTo>
                      <a:pt x="344944" y="450316"/>
                    </a:lnTo>
                    <a:lnTo>
                      <a:pt x="330047" y="454621"/>
                    </a:lnTo>
                    <a:lnTo>
                      <a:pt x="314528" y="457288"/>
                    </a:lnTo>
                    <a:lnTo>
                      <a:pt x="298500" y="458190"/>
                    </a:lnTo>
                    <a:lnTo>
                      <a:pt x="282460" y="457288"/>
                    </a:lnTo>
                    <a:lnTo>
                      <a:pt x="266941" y="454621"/>
                    </a:lnTo>
                    <a:lnTo>
                      <a:pt x="252056" y="450316"/>
                    </a:lnTo>
                    <a:lnTo>
                      <a:pt x="237883" y="444461"/>
                    </a:lnTo>
                    <a:lnTo>
                      <a:pt x="246646" y="426250"/>
                    </a:lnTo>
                    <a:lnTo>
                      <a:pt x="251485" y="421195"/>
                    </a:lnTo>
                    <a:lnTo>
                      <a:pt x="260477" y="411835"/>
                    </a:lnTo>
                    <a:lnTo>
                      <a:pt x="278168" y="402361"/>
                    </a:lnTo>
                    <a:lnTo>
                      <a:pt x="298500" y="398957"/>
                    </a:lnTo>
                    <a:lnTo>
                      <a:pt x="318820" y="402361"/>
                    </a:lnTo>
                    <a:lnTo>
                      <a:pt x="336511" y="411835"/>
                    </a:lnTo>
                    <a:lnTo>
                      <a:pt x="350354" y="426250"/>
                    </a:lnTo>
                    <a:lnTo>
                      <a:pt x="359117" y="444461"/>
                    </a:lnTo>
                    <a:lnTo>
                      <a:pt x="359117" y="378053"/>
                    </a:lnTo>
                    <a:lnTo>
                      <a:pt x="353758" y="374650"/>
                    </a:lnTo>
                    <a:lnTo>
                      <a:pt x="362051" y="363804"/>
                    </a:lnTo>
                    <a:lnTo>
                      <a:pt x="364680" y="358648"/>
                    </a:lnTo>
                    <a:lnTo>
                      <a:pt x="368300" y="351548"/>
                    </a:lnTo>
                    <a:lnTo>
                      <a:pt x="372249" y="338124"/>
                    </a:lnTo>
                    <a:lnTo>
                      <a:pt x="373621" y="323786"/>
                    </a:lnTo>
                    <a:lnTo>
                      <a:pt x="367703" y="294563"/>
                    </a:lnTo>
                    <a:lnTo>
                      <a:pt x="363905" y="288925"/>
                    </a:lnTo>
                    <a:lnTo>
                      <a:pt x="351586" y="270662"/>
                    </a:lnTo>
                    <a:lnTo>
                      <a:pt x="333311" y="258318"/>
                    </a:lnTo>
                    <a:lnTo>
                      <a:pt x="333311" y="323786"/>
                    </a:lnTo>
                    <a:lnTo>
                      <a:pt x="330568" y="337350"/>
                    </a:lnTo>
                    <a:lnTo>
                      <a:pt x="323100" y="348424"/>
                    </a:lnTo>
                    <a:lnTo>
                      <a:pt x="312039" y="355904"/>
                    </a:lnTo>
                    <a:lnTo>
                      <a:pt x="298500" y="358648"/>
                    </a:lnTo>
                    <a:lnTo>
                      <a:pt x="284962" y="355904"/>
                    </a:lnTo>
                    <a:lnTo>
                      <a:pt x="273888" y="348424"/>
                    </a:lnTo>
                    <a:lnTo>
                      <a:pt x="266420" y="337350"/>
                    </a:lnTo>
                    <a:lnTo>
                      <a:pt x="263677" y="323786"/>
                    </a:lnTo>
                    <a:lnTo>
                      <a:pt x="266420" y="310235"/>
                    </a:lnTo>
                    <a:lnTo>
                      <a:pt x="273888" y="299148"/>
                    </a:lnTo>
                    <a:lnTo>
                      <a:pt x="284962" y="291680"/>
                    </a:lnTo>
                    <a:lnTo>
                      <a:pt x="298500" y="288925"/>
                    </a:lnTo>
                    <a:lnTo>
                      <a:pt x="312039" y="291680"/>
                    </a:lnTo>
                    <a:lnTo>
                      <a:pt x="323100" y="299148"/>
                    </a:lnTo>
                    <a:lnTo>
                      <a:pt x="330568" y="310235"/>
                    </a:lnTo>
                    <a:lnTo>
                      <a:pt x="333311" y="323786"/>
                    </a:lnTo>
                    <a:lnTo>
                      <a:pt x="333311" y="258318"/>
                    </a:lnTo>
                    <a:lnTo>
                      <a:pt x="327710" y="254533"/>
                    </a:lnTo>
                    <a:lnTo>
                      <a:pt x="298500" y="248615"/>
                    </a:lnTo>
                    <a:lnTo>
                      <a:pt x="269278" y="254533"/>
                    </a:lnTo>
                    <a:lnTo>
                      <a:pt x="245402" y="270662"/>
                    </a:lnTo>
                    <a:lnTo>
                      <a:pt x="229285" y="294563"/>
                    </a:lnTo>
                    <a:lnTo>
                      <a:pt x="223367" y="323786"/>
                    </a:lnTo>
                    <a:lnTo>
                      <a:pt x="224663" y="337350"/>
                    </a:lnTo>
                    <a:lnTo>
                      <a:pt x="224739" y="338124"/>
                    </a:lnTo>
                    <a:lnTo>
                      <a:pt x="228688" y="351548"/>
                    </a:lnTo>
                    <a:lnTo>
                      <a:pt x="234937" y="363804"/>
                    </a:lnTo>
                    <a:lnTo>
                      <a:pt x="243230" y="374650"/>
                    </a:lnTo>
                    <a:lnTo>
                      <a:pt x="237921" y="378002"/>
                    </a:lnTo>
                    <a:lnTo>
                      <a:pt x="208203" y="411594"/>
                    </a:lnTo>
                    <a:lnTo>
                      <a:pt x="203454" y="421195"/>
                    </a:lnTo>
                    <a:lnTo>
                      <a:pt x="184391" y="399834"/>
                    </a:lnTo>
                    <a:lnTo>
                      <a:pt x="169926" y="374916"/>
                    </a:lnTo>
                    <a:lnTo>
                      <a:pt x="160756" y="347116"/>
                    </a:lnTo>
                    <a:lnTo>
                      <a:pt x="157543" y="317106"/>
                    </a:lnTo>
                    <a:lnTo>
                      <a:pt x="164744" y="272567"/>
                    </a:lnTo>
                    <a:lnTo>
                      <a:pt x="184772" y="233845"/>
                    </a:lnTo>
                    <a:lnTo>
                      <a:pt x="215303" y="203276"/>
                    </a:lnTo>
                    <a:lnTo>
                      <a:pt x="253987" y="183222"/>
                    </a:lnTo>
                    <a:lnTo>
                      <a:pt x="298500" y="176022"/>
                    </a:lnTo>
                    <a:lnTo>
                      <a:pt x="343001" y="183222"/>
                    </a:lnTo>
                    <a:lnTo>
                      <a:pt x="381685" y="203276"/>
                    </a:lnTo>
                    <a:lnTo>
                      <a:pt x="412216" y="233845"/>
                    </a:lnTo>
                    <a:lnTo>
                      <a:pt x="432244" y="272567"/>
                    </a:lnTo>
                    <a:lnTo>
                      <a:pt x="439445" y="317106"/>
                    </a:lnTo>
                    <a:lnTo>
                      <a:pt x="439445" y="205524"/>
                    </a:lnTo>
                    <a:lnTo>
                      <a:pt x="426605" y="188899"/>
                    </a:lnTo>
                    <a:lnTo>
                      <a:pt x="409956" y="176022"/>
                    </a:lnTo>
                    <a:lnTo>
                      <a:pt x="389915" y="160515"/>
                    </a:lnTo>
                    <a:lnTo>
                      <a:pt x="346633" y="142201"/>
                    </a:lnTo>
                    <a:lnTo>
                      <a:pt x="298500" y="135712"/>
                    </a:lnTo>
                    <a:lnTo>
                      <a:pt x="250367" y="142201"/>
                    </a:lnTo>
                    <a:lnTo>
                      <a:pt x="207086" y="160515"/>
                    </a:lnTo>
                    <a:lnTo>
                      <a:pt x="170383" y="188899"/>
                    </a:lnTo>
                    <a:lnTo>
                      <a:pt x="142024" y="225628"/>
                    </a:lnTo>
                    <a:lnTo>
                      <a:pt x="123723" y="268947"/>
                    </a:lnTo>
                    <a:lnTo>
                      <a:pt x="117233" y="317106"/>
                    </a:lnTo>
                    <a:lnTo>
                      <a:pt x="123393" y="363804"/>
                    </a:lnTo>
                    <a:lnTo>
                      <a:pt x="141058" y="406933"/>
                    </a:lnTo>
                    <a:lnTo>
                      <a:pt x="168389" y="443268"/>
                    </a:lnTo>
                    <a:lnTo>
                      <a:pt x="203809" y="471716"/>
                    </a:lnTo>
                    <a:lnTo>
                      <a:pt x="250037" y="491921"/>
                    </a:lnTo>
                    <a:lnTo>
                      <a:pt x="298500" y="498500"/>
                    </a:lnTo>
                    <a:lnTo>
                      <a:pt x="323240" y="496824"/>
                    </a:lnTo>
                    <a:lnTo>
                      <a:pt x="369455" y="484022"/>
                    </a:lnTo>
                    <a:lnTo>
                      <a:pt x="410032" y="458190"/>
                    </a:lnTo>
                    <a:lnTo>
                      <a:pt x="445198" y="421195"/>
                    </a:lnTo>
                    <a:lnTo>
                      <a:pt x="455930" y="406933"/>
                    </a:lnTo>
                    <a:lnTo>
                      <a:pt x="473532" y="364324"/>
                    </a:lnTo>
                    <a:lnTo>
                      <a:pt x="479755" y="317106"/>
                    </a:lnTo>
                    <a:close/>
                  </a:path>
                  <a:path w="597534" h="688339">
                    <a:moveTo>
                      <a:pt x="597001" y="106743"/>
                    </a:moveTo>
                    <a:lnTo>
                      <a:pt x="556691" y="83654"/>
                    </a:lnTo>
                    <a:lnTo>
                      <a:pt x="556691" y="125679"/>
                    </a:lnTo>
                    <a:lnTo>
                      <a:pt x="556691" y="275094"/>
                    </a:lnTo>
                    <a:lnTo>
                      <a:pt x="553389" y="324789"/>
                    </a:lnTo>
                    <a:lnTo>
                      <a:pt x="543699" y="373138"/>
                    </a:lnTo>
                    <a:lnTo>
                      <a:pt x="527951" y="419531"/>
                    </a:lnTo>
                    <a:lnTo>
                      <a:pt x="506463" y="463423"/>
                    </a:lnTo>
                    <a:lnTo>
                      <a:pt x="479577" y="504215"/>
                    </a:lnTo>
                    <a:lnTo>
                      <a:pt x="447624" y="541350"/>
                    </a:lnTo>
                    <a:lnTo>
                      <a:pt x="410908" y="574255"/>
                    </a:lnTo>
                    <a:lnTo>
                      <a:pt x="369773" y="602361"/>
                    </a:lnTo>
                    <a:lnTo>
                      <a:pt x="298500" y="644410"/>
                    </a:lnTo>
                    <a:lnTo>
                      <a:pt x="227215" y="602361"/>
                    </a:lnTo>
                    <a:lnTo>
                      <a:pt x="186080" y="574255"/>
                    </a:lnTo>
                    <a:lnTo>
                      <a:pt x="149364" y="541350"/>
                    </a:lnTo>
                    <a:lnTo>
                      <a:pt x="117398" y="504215"/>
                    </a:lnTo>
                    <a:lnTo>
                      <a:pt x="90525" y="463423"/>
                    </a:lnTo>
                    <a:lnTo>
                      <a:pt x="69037" y="419531"/>
                    </a:lnTo>
                    <a:lnTo>
                      <a:pt x="53289" y="373138"/>
                    </a:lnTo>
                    <a:lnTo>
                      <a:pt x="43599" y="324789"/>
                    </a:lnTo>
                    <a:lnTo>
                      <a:pt x="40297" y="275094"/>
                    </a:lnTo>
                    <a:lnTo>
                      <a:pt x="40297" y="125679"/>
                    </a:lnTo>
                    <a:lnTo>
                      <a:pt x="78994" y="116243"/>
                    </a:lnTo>
                    <a:lnTo>
                      <a:pt x="114096" y="98247"/>
                    </a:lnTo>
                    <a:lnTo>
                      <a:pt x="144157" y="72631"/>
                    </a:lnTo>
                    <a:lnTo>
                      <a:pt x="167690" y="40309"/>
                    </a:lnTo>
                    <a:lnTo>
                      <a:pt x="429310" y="40309"/>
                    </a:lnTo>
                    <a:lnTo>
                      <a:pt x="452843" y="72631"/>
                    </a:lnTo>
                    <a:lnTo>
                      <a:pt x="482892" y="98247"/>
                    </a:lnTo>
                    <a:lnTo>
                      <a:pt x="517994" y="116243"/>
                    </a:lnTo>
                    <a:lnTo>
                      <a:pt x="556691" y="125679"/>
                    </a:lnTo>
                    <a:lnTo>
                      <a:pt x="556691" y="83654"/>
                    </a:lnTo>
                    <a:lnTo>
                      <a:pt x="540423" y="81280"/>
                    </a:lnTo>
                    <a:lnTo>
                      <a:pt x="507492" y="66205"/>
                    </a:lnTo>
                    <a:lnTo>
                      <a:pt x="480021" y="42608"/>
                    </a:lnTo>
                    <a:lnTo>
                      <a:pt x="478523" y="40309"/>
                    </a:lnTo>
                    <a:lnTo>
                      <a:pt x="459943" y="11722"/>
                    </a:lnTo>
                    <a:lnTo>
                      <a:pt x="456653" y="4572"/>
                    </a:lnTo>
                    <a:lnTo>
                      <a:pt x="449503" y="0"/>
                    </a:lnTo>
                    <a:lnTo>
                      <a:pt x="147485" y="0"/>
                    </a:lnTo>
                    <a:lnTo>
                      <a:pt x="140335" y="4572"/>
                    </a:lnTo>
                    <a:lnTo>
                      <a:pt x="137045" y="11722"/>
                    </a:lnTo>
                    <a:lnTo>
                      <a:pt x="116967" y="42608"/>
                    </a:lnTo>
                    <a:lnTo>
                      <a:pt x="89496" y="66205"/>
                    </a:lnTo>
                    <a:lnTo>
                      <a:pt x="56578" y="81280"/>
                    </a:lnTo>
                    <a:lnTo>
                      <a:pt x="20142" y="86588"/>
                    </a:lnTo>
                    <a:lnTo>
                      <a:pt x="12293" y="88163"/>
                    </a:lnTo>
                    <a:lnTo>
                      <a:pt x="5892" y="92481"/>
                    </a:lnTo>
                    <a:lnTo>
                      <a:pt x="1574" y="98894"/>
                    </a:lnTo>
                    <a:lnTo>
                      <a:pt x="0" y="106743"/>
                    </a:lnTo>
                    <a:lnTo>
                      <a:pt x="0" y="275094"/>
                    </a:lnTo>
                    <a:lnTo>
                      <a:pt x="3543" y="329539"/>
                    </a:lnTo>
                    <a:lnTo>
                      <a:pt x="14084" y="382917"/>
                    </a:lnTo>
                    <a:lnTo>
                      <a:pt x="31407" y="434479"/>
                    </a:lnTo>
                    <a:lnTo>
                      <a:pt x="55308" y="483527"/>
                    </a:lnTo>
                    <a:lnTo>
                      <a:pt x="85407" y="529043"/>
                    </a:lnTo>
                    <a:lnTo>
                      <a:pt x="121031" y="570166"/>
                    </a:lnTo>
                    <a:lnTo>
                      <a:pt x="161645" y="606361"/>
                    </a:lnTo>
                    <a:lnTo>
                      <a:pt x="206730" y="637082"/>
                    </a:lnTo>
                    <a:lnTo>
                      <a:pt x="291414" y="687031"/>
                    </a:lnTo>
                    <a:lnTo>
                      <a:pt x="294944" y="687971"/>
                    </a:lnTo>
                    <a:lnTo>
                      <a:pt x="302044" y="687971"/>
                    </a:lnTo>
                    <a:lnTo>
                      <a:pt x="305574" y="687031"/>
                    </a:lnTo>
                    <a:lnTo>
                      <a:pt x="377825" y="644410"/>
                    </a:lnTo>
                    <a:lnTo>
                      <a:pt x="390258" y="637082"/>
                    </a:lnTo>
                    <a:lnTo>
                      <a:pt x="435343" y="606361"/>
                    </a:lnTo>
                    <a:lnTo>
                      <a:pt x="475957" y="570166"/>
                    </a:lnTo>
                    <a:lnTo>
                      <a:pt x="511581" y="529043"/>
                    </a:lnTo>
                    <a:lnTo>
                      <a:pt x="541680" y="483527"/>
                    </a:lnTo>
                    <a:lnTo>
                      <a:pt x="565581" y="434479"/>
                    </a:lnTo>
                    <a:lnTo>
                      <a:pt x="582904" y="382917"/>
                    </a:lnTo>
                    <a:lnTo>
                      <a:pt x="593445" y="329539"/>
                    </a:lnTo>
                    <a:lnTo>
                      <a:pt x="597001" y="275094"/>
                    </a:lnTo>
                    <a:lnTo>
                      <a:pt x="597001" y="106743"/>
                    </a:lnTo>
                    <a:close/>
                  </a:path>
                </a:pathLst>
              </a:custGeom>
              <a:solidFill>
                <a:srgbClr val="523183"/>
              </a:solidFill>
            </p:spPr>
            <p:txBody>
              <a:bodyPr wrap="square" lIns="0" tIns="0" rIns="0" bIns="0" rtlCol="0"/>
              <a:lstStyle/>
              <a:p>
                <a:endParaRPr lang="pt-PT" noProof="0" dirty="0"/>
              </a:p>
            </p:txBody>
          </p:sp>
        </p:grpSp>
      </p:grpSp>
      <p:pic>
        <p:nvPicPr>
          <p:cNvPr id="37" name="Picture 36" descr="A screenshot of a phone&#10;&#10;AI-generated content may be incorrect.">
            <a:extLst>
              <a:ext uri="{FF2B5EF4-FFF2-40B4-BE49-F238E27FC236}">
                <a16:creationId xmlns:a16="http://schemas.microsoft.com/office/drawing/2014/main" id="{316DF47F-447D-2A54-3DE5-C4D2E497C5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5035" y="2460539"/>
            <a:ext cx="7456615" cy="358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4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93CE5-B7AD-18C0-6052-2A182EC3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E029A-A97F-20ED-7445-169CAD20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noProof="0" dirty="0"/>
              <a:t>6.2.2 Características do Bitcoin</a:t>
            </a: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ECFF8FD3-0B5B-580E-5559-79E4971D1545}"/>
              </a:ext>
            </a:extLst>
          </p:cNvPr>
          <p:cNvGrpSpPr>
            <a:grpSpLocks noChangeAspect="1"/>
          </p:cNvGrpSpPr>
          <p:nvPr/>
        </p:nvGrpSpPr>
        <p:grpSpPr>
          <a:xfrm>
            <a:off x="1382713" y="2844800"/>
            <a:ext cx="10128531" cy="7153275"/>
            <a:chOff x="4718050" y="2682875"/>
            <a:chExt cx="10668000" cy="7534275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BF6D068-5188-2151-D51A-7E4C5CE77C0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18050" y="2682875"/>
              <a:ext cx="10668000" cy="7534275"/>
              <a:chOff x="450850" y="2225675"/>
              <a:chExt cx="12192000" cy="8610600"/>
            </a:xfrm>
          </p:grpSpPr>
          <p:pic>
            <p:nvPicPr>
              <p:cNvPr id="1026" name="Picture 2" descr="珠穆朗玛峰 珠穆朗玛 喜马拉雅山 - 免费矢量图形Pixabay">
                <a:extLst>
                  <a:ext uri="{FF2B5EF4-FFF2-40B4-BE49-F238E27FC236}">
                    <a16:creationId xmlns:a16="http://schemas.microsoft.com/office/drawing/2014/main" id="{525DEEE5-183F-CC1F-E01E-1CE6CC02AC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850" y="2225675"/>
                <a:ext cx="12192000" cy="8610600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2B7B71D8-1396-EF9D-5F39-5599575C8BBF}"/>
                  </a:ext>
                </a:extLst>
              </p:cNvPr>
              <p:cNvSpPr/>
              <p:nvPr/>
            </p:nvSpPr>
            <p:spPr>
              <a:xfrm>
                <a:off x="4322374" y="4206875"/>
                <a:ext cx="8250626" cy="6500811"/>
              </a:xfrm>
              <a:custGeom>
                <a:avLst/>
                <a:gdLst>
                  <a:gd name="connsiteX0" fmla="*/ 8250626 w 8250626"/>
                  <a:gd name="connsiteY0" fmla="*/ 6234545 h 6234545"/>
                  <a:gd name="connsiteX1" fmla="*/ 7731081 w 8250626"/>
                  <a:gd name="connsiteY1" fmla="*/ 6192981 h 6234545"/>
                  <a:gd name="connsiteX2" fmla="*/ 7606390 w 8250626"/>
                  <a:gd name="connsiteY2" fmla="*/ 6151418 h 6234545"/>
                  <a:gd name="connsiteX3" fmla="*/ 7294662 w 8250626"/>
                  <a:gd name="connsiteY3" fmla="*/ 6068290 h 6234545"/>
                  <a:gd name="connsiteX4" fmla="*/ 7066062 w 8250626"/>
                  <a:gd name="connsiteY4" fmla="*/ 5985163 h 6234545"/>
                  <a:gd name="connsiteX5" fmla="*/ 6941371 w 8250626"/>
                  <a:gd name="connsiteY5" fmla="*/ 5943600 h 6234545"/>
                  <a:gd name="connsiteX6" fmla="*/ 6754335 w 8250626"/>
                  <a:gd name="connsiteY6" fmla="*/ 5902036 h 6234545"/>
                  <a:gd name="connsiteX7" fmla="*/ 6504953 w 8250626"/>
                  <a:gd name="connsiteY7" fmla="*/ 5860472 h 6234545"/>
                  <a:gd name="connsiteX8" fmla="*/ 6359481 w 8250626"/>
                  <a:gd name="connsiteY8" fmla="*/ 5818909 h 6234545"/>
                  <a:gd name="connsiteX9" fmla="*/ 6297135 w 8250626"/>
                  <a:gd name="connsiteY9" fmla="*/ 5798127 h 6234545"/>
                  <a:gd name="connsiteX10" fmla="*/ 6151662 w 8250626"/>
                  <a:gd name="connsiteY10" fmla="*/ 5756563 h 6234545"/>
                  <a:gd name="connsiteX11" fmla="*/ 6089317 w 8250626"/>
                  <a:gd name="connsiteY11" fmla="*/ 5715000 h 6234545"/>
                  <a:gd name="connsiteX12" fmla="*/ 5964626 w 8250626"/>
                  <a:gd name="connsiteY12" fmla="*/ 5673436 h 6234545"/>
                  <a:gd name="connsiteX13" fmla="*/ 5798371 w 8250626"/>
                  <a:gd name="connsiteY13" fmla="*/ 5590309 h 6234545"/>
                  <a:gd name="connsiteX14" fmla="*/ 5715244 w 8250626"/>
                  <a:gd name="connsiteY14" fmla="*/ 5548745 h 6234545"/>
                  <a:gd name="connsiteX15" fmla="*/ 5632117 w 8250626"/>
                  <a:gd name="connsiteY15" fmla="*/ 5507181 h 6234545"/>
                  <a:gd name="connsiteX16" fmla="*/ 5486644 w 8250626"/>
                  <a:gd name="connsiteY16" fmla="*/ 5403272 h 6234545"/>
                  <a:gd name="connsiteX17" fmla="*/ 5445081 w 8250626"/>
                  <a:gd name="connsiteY17" fmla="*/ 5340927 h 6234545"/>
                  <a:gd name="connsiteX18" fmla="*/ 5382735 w 8250626"/>
                  <a:gd name="connsiteY18" fmla="*/ 5278581 h 6234545"/>
                  <a:gd name="connsiteX19" fmla="*/ 5341171 w 8250626"/>
                  <a:gd name="connsiteY19" fmla="*/ 5216236 h 6234545"/>
                  <a:gd name="connsiteX20" fmla="*/ 5278826 w 8250626"/>
                  <a:gd name="connsiteY20" fmla="*/ 5195454 h 6234545"/>
                  <a:gd name="connsiteX21" fmla="*/ 5216481 w 8250626"/>
                  <a:gd name="connsiteY21" fmla="*/ 5133109 h 6234545"/>
                  <a:gd name="connsiteX22" fmla="*/ 5154135 w 8250626"/>
                  <a:gd name="connsiteY22" fmla="*/ 5091545 h 6234545"/>
                  <a:gd name="connsiteX23" fmla="*/ 5112571 w 8250626"/>
                  <a:gd name="connsiteY23" fmla="*/ 5029200 h 6234545"/>
                  <a:gd name="connsiteX24" fmla="*/ 5050226 w 8250626"/>
                  <a:gd name="connsiteY24" fmla="*/ 5008418 h 6234545"/>
                  <a:gd name="connsiteX25" fmla="*/ 4987881 w 8250626"/>
                  <a:gd name="connsiteY25" fmla="*/ 4966854 h 6234545"/>
                  <a:gd name="connsiteX26" fmla="*/ 4821626 w 8250626"/>
                  <a:gd name="connsiteY26" fmla="*/ 4925290 h 6234545"/>
                  <a:gd name="connsiteX27" fmla="*/ 4759281 w 8250626"/>
                  <a:gd name="connsiteY27" fmla="*/ 4883727 h 6234545"/>
                  <a:gd name="connsiteX28" fmla="*/ 4634590 w 8250626"/>
                  <a:gd name="connsiteY28" fmla="*/ 4842163 h 6234545"/>
                  <a:gd name="connsiteX29" fmla="*/ 4572244 w 8250626"/>
                  <a:gd name="connsiteY29" fmla="*/ 4800600 h 6234545"/>
                  <a:gd name="connsiteX30" fmla="*/ 4447553 w 8250626"/>
                  <a:gd name="connsiteY30" fmla="*/ 4759036 h 6234545"/>
                  <a:gd name="connsiteX31" fmla="*/ 4385208 w 8250626"/>
                  <a:gd name="connsiteY31" fmla="*/ 4738254 h 6234545"/>
                  <a:gd name="connsiteX32" fmla="*/ 4260517 w 8250626"/>
                  <a:gd name="connsiteY32" fmla="*/ 4696690 h 6234545"/>
                  <a:gd name="connsiteX33" fmla="*/ 4198171 w 8250626"/>
                  <a:gd name="connsiteY33" fmla="*/ 4675909 h 6234545"/>
                  <a:gd name="connsiteX34" fmla="*/ 3512371 w 8250626"/>
                  <a:gd name="connsiteY34" fmla="*/ 4696690 h 6234545"/>
                  <a:gd name="connsiteX35" fmla="*/ 3366899 w 8250626"/>
                  <a:gd name="connsiteY35" fmla="*/ 4738254 h 6234545"/>
                  <a:gd name="connsiteX36" fmla="*/ 3138299 w 8250626"/>
                  <a:gd name="connsiteY36" fmla="*/ 4759036 h 6234545"/>
                  <a:gd name="connsiteX37" fmla="*/ 2307026 w 8250626"/>
                  <a:gd name="connsiteY37" fmla="*/ 4738254 h 6234545"/>
                  <a:gd name="connsiteX38" fmla="*/ 2119990 w 8250626"/>
                  <a:gd name="connsiteY38" fmla="*/ 4717472 h 6234545"/>
                  <a:gd name="connsiteX39" fmla="*/ 1891390 w 8250626"/>
                  <a:gd name="connsiteY39" fmla="*/ 4696690 h 6234545"/>
                  <a:gd name="connsiteX40" fmla="*/ 1704353 w 8250626"/>
                  <a:gd name="connsiteY40" fmla="*/ 4655127 h 6234545"/>
                  <a:gd name="connsiteX41" fmla="*/ 1642008 w 8250626"/>
                  <a:gd name="connsiteY41" fmla="*/ 4634345 h 6234545"/>
                  <a:gd name="connsiteX42" fmla="*/ 1558881 w 8250626"/>
                  <a:gd name="connsiteY42" fmla="*/ 4592781 h 6234545"/>
                  <a:gd name="connsiteX43" fmla="*/ 1434190 w 8250626"/>
                  <a:gd name="connsiteY43" fmla="*/ 4447309 h 6234545"/>
                  <a:gd name="connsiteX44" fmla="*/ 1288717 w 8250626"/>
                  <a:gd name="connsiteY44" fmla="*/ 4301836 h 6234545"/>
                  <a:gd name="connsiteX45" fmla="*/ 1164026 w 8250626"/>
                  <a:gd name="connsiteY45" fmla="*/ 4218709 h 6234545"/>
                  <a:gd name="connsiteX46" fmla="*/ 1080899 w 8250626"/>
                  <a:gd name="connsiteY46" fmla="*/ 4052454 h 6234545"/>
                  <a:gd name="connsiteX47" fmla="*/ 1018553 w 8250626"/>
                  <a:gd name="connsiteY47" fmla="*/ 3906981 h 6234545"/>
                  <a:gd name="connsiteX48" fmla="*/ 956208 w 8250626"/>
                  <a:gd name="connsiteY48" fmla="*/ 3844636 h 6234545"/>
                  <a:gd name="connsiteX49" fmla="*/ 914644 w 8250626"/>
                  <a:gd name="connsiteY49" fmla="*/ 3782290 h 6234545"/>
                  <a:gd name="connsiteX50" fmla="*/ 852299 w 8250626"/>
                  <a:gd name="connsiteY50" fmla="*/ 3740727 h 6234545"/>
                  <a:gd name="connsiteX51" fmla="*/ 748390 w 8250626"/>
                  <a:gd name="connsiteY51" fmla="*/ 3616036 h 6234545"/>
                  <a:gd name="connsiteX52" fmla="*/ 623699 w 8250626"/>
                  <a:gd name="connsiteY52" fmla="*/ 3512127 h 6234545"/>
                  <a:gd name="connsiteX53" fmla="*/ 499008 w 8250626"/>
                  <a:gd name="connsiteY53" fmla="*/ 3387436 h 6234545"/>
                  <a:gd name="connsiteX54" fmla="*/ 436662 w 8250626"/>
                  <a:gd name="connsiteY54" fmla="*/ 3325090 h 6234545"/>
                  <a:gd name="connsiteX55" fmla="*/ 374317 w 8250626"/>
                  <a:gd name="connsiteY55" fmla="*/ 3283527 h 6234545"/>
                  <a:gd name="connsiteX56" fmla="*/ 270408 w 8250626"/>
                  <a:gd name="connsiteY56" fmla="*/ 3179618 h 6234545"/>
                  <a:gd name="connsiteX57" fmla="*/ 208062 w 8250626"/>
                  <a:gd name="connsiteY57" fmla="*/ 3117272 h 6234545"/>
                  <a:gd name="connsiteX58" fmla="*/ 83371 w 8250626"/>
                  <a:gd name="connsiteY58" fmla="*/ 3054927 h 6234545"/>
                  <a:gd name="connsiteX59" fmla="*/ 21026 w 8250626"/>
                  <a:gd name="connsiteY59" fmla="*/ 3013363 h 6234545"/>
                  <a:gd name="connsiteX60" fmla="*/ 41808 w 8250626"/>
                  <a:gd name="connsiteY60" fmla="*/ 2763981 h 6234545"/>
                  <a:gd name="connsiteX61" fmla="*/ 62590 w 8250626"/>
                  <a:gd name="connsiteY61" fmla="*/ 2660072 h 6234545"/>
                  <a:gd name="connsiteX62" fmla="*/ 145717 w 8250626"/>
                  <a:gd name="connsiteY62" fmla="*/ 2473036 h 6234545"/>
                  <a:gd name="connsiteX63" fmla="*/ 270408 w 8250626"/>
                  <a:gd name="connsiteY63" fmla="*/ 2348345 h 6234545"/>
                  <a:gd name="connsiteX64" fmla="*/ 353535 w 8250626"/>
                  <a:gd name="connsiteY64" fmla="*/ 2223654 h 6234545"/>
                  <a:gd name="connsiteX65" fmla="*/ 457444 w 8250626"/>
                  <a:gd name="connsiteY65" fmla="*/ 2098963 h 6234545"/>
                  <a:gd name="connsiteX66" fmla="*/ 665262 w 8250626"/>
                  <a:gd name="connsiteY66" fmla="*/ 1974272 h 6234545"/>
                  <a:gd name="connsiteX67" fmla="*/ 727608 w 8250626"/>
                  <a:gd name="connsiteY67" fmla="*/ 1953490 h 6234545"/>
                  <a:gd name="connsiteX68" fmla="*/ 852299 w 8250626"/>
                  <a:gd name="connsiteY68" fmla="*/ 1849581 h 6234545"/>
                  <a:gd name="connsiteX69" fmla="*/ 914644 w 8250626"/>
                  <a:gd name="connsiteY69" fmla="*/ 1808018 h 6234545"/>
                  <a:gd name="connsiteX70" fmla="*/ 1101681 w 8250626"/>
                  <a:gd name="connsiteY70" fmla="*/ 1600200 h 6234545"/>
                  <a:gd name="connsiteX71" fmla="*/ 1164026 w 8250626"/>
                  <a:gd name="connsiteY71" fmla="*/ 1558636 h 6234545"/>
                  <a:gd name="connsiteX72" fmla="*/ 1226371 w 8250626"/>
                  <a:gd name="connsiteY72" fmla="*/ 1496290 h 6234545"/>
                  <a:gd name="connsiteX73" fmla="*/ 1434190 w 8250626"/>
                  <a:gd name="connsiteY73" fmla="*/ 1350818 h 6234545"/>
                  <a:gd name="connsiteX74" fmla="*/ 1558881 w 8250626"/>
                  <a:gd name="connsiteY74" fmla="*/ 1288472 h 6234545"/>
                  <a:gd name="connsiteX75" fmla="*/ 1683571 w 8250626"/>
                  <a:gd name="connsiteY75" fmla="*/ 1122218 h 6234545"/>
                  <a:gd name="connsiteX76" fmla="*/ 1725135 w 8250626"/>
                  <a:gd name="connsiteY76" fmla="*/ 1059872 h 6234545"/>
                  <a:gd name="connsiteX77" fmla="*/ 1787481 w 8250626"/>
                  <a:gd name="connsiteY77" fmla="*/ 997527 h 6234545"/>
                  <a:gd name="connsiteX78" fmla="*/ 1912171 w 8250626"/>
                  <a:gd name="connsiteY78" fmla="*/ 789709 h 6234545"/>
                  <a:gd name="connsiteX79" fmla="*/ 1953735 w 8250626"/>
                  <a:gd name="connsiteY79" fmla="*/ 727363 h 6234545"/>
                  <a:gd name="connsiteX80" fmla="*/ 1995299 w 8250626"/>
                  <a:gd name="connsiteY80" fmla="*/ 644236 h 6234545"/>
                  <a:gd name="connsiteX81" fmla="*/ 2078426 w 8250626"/>
                  <a:gd name="connsiteY81" fmla="*/ 519545 h 6234545"/>
                  <a:gd name="connsiteX82" fmla="*/ 2099208 w 8250626"/>
                  <a:gd name="connsiteY82" fmla="*/ 457200 h 6234545"/>
                  <a:gd name="connsiteX83" fmla="*/ 2140771 w 8250626"/>
                  <a:gd name="connsiteY83" fmla="*/ 394854 h 6234545"/>
                  <a:gd name="connsiteX84" fmla="*/ 2182335 w 8250626"/>
                  <a:gd name="connsiteY84" fmla="*/ 270163 h 6234545"/>
                  <a:gd name="connsiteX85" fmla="*/ 2161553 w 8250626"/>
                  <a:gd name="connsiteY85" fmla="*/ 62345 h 6234545"/>
                  <a:gd name="connsiteX86" fmla="*/ 2119990 w 8250626"/>
                  <a:gd name="connsiteY86" fmla="*/ 0 h 6234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8250626" h="6234545">
                    <a:moveTo>
                      <a:pt x="8250626" y="6234545"/>
                    </a:moveTo>
                    <a:cubicBezTo>
                      <a:pt x="8150054" y="6229252"/>
                      <a:pt x="7878243" y="6229771"/>
                      <a:pt x="7731081" y="6192981"/>
                    </a:cubicBezTo>
                    <a:cubicBezTo>
                      <a:pt x="7688577" y="6182355"/>
                      <a:pt x="7648516" y="6163454"/>
                      <a:pt x="7606390" y="6151418"/>
                    </a:cubicBezTo>
                    <a:cubicBezTo>
                      <a:pt x="7268528" y="6054887"/>
                      <a:pt x="7603369" y="6163276"/>
                      <a:pt x="7294662" y="6068290"/>
                    </a:cubicBezTo>
                    <a:cubicBezTo>
                      <a:pt x="7097549" y="6007640"/>
                      <a:pt x="7242181" y="6049206"/>
                      <a:pt x="7066062" y="5985163"/>
                    </a:cubicBezTo>
                    <a:cubicBezTo>
                      <a:pt x="7024888" y="5970191"/>
                      <a:pt x="6983875" y="5954226"/>
                      <a:pt x="6941371" y="5943600"/>
                    </a:cubicBezTo>
                    <a:cubicBezTo>
                      <a:pt x="6858110" y="5922785"/>
                      <a:pt x="6844038" y="5917866"/>
                      <a:pt x="6754335" y="5902036"/>
                    </a:cubicBezTo>
                    <a:lnTo>
                      <a:pt x="6504953" y="5860472"/>
                    </a:lnTo>
                    <a:cubicBezTo>
                      <a:pt x="6355477" y="5810646"/>
                      <a:pt x="6542136" y="5871095"/>
                      <a:pt x="6359481" y="5818909"/>
                    </a:cubicBezTo>
                    <a:cubicBezTo>
                      <a:pt x="6338418" y="5812891"/>
                      <a:pt x="6318198" y="5804145"/>
                      <a:pt x="6297135" y="5798127"/>
                    </a:cubicBezTo>
                    <a:cubicBezTo>
                      <a:pt x="6266062" y="5789249"/>
                      <a:pt x="6184880" y="5773172"/>
                      <a:pt x="6151662" y="5756563"/>
                    </a:cubicBezTo>
                    <a:cubicBezTo>
                      <a:pt x="6129322" y="5745393"/>
                      <a:pt x="6112141" y="5725144"/>
                      <a:pt x="6089317" y="5715000"/>
                    </a:cubicBezTo>
                    <a:cubicBezTo>
                      <a:pt x="6049281" y="5697206"/>
                      <a:pt x="6003813" y="5693029"/>
                      <a:pt x="5964626" y="5673436"/>
                    </a:cubicBezTo>
                    <a:lnTo>
                      <a:pt x="5798371" y="5590309"/>
                    </a:lnTo>
                    <a:lnTo>
                      <a:pt x="5715244" y="5548745"/>
                    </a:lnTo>
                    <a:cubicBezTo>
                      <a:pt x="5687535" y="5534890"/>
                      <a:pt x="5657894" y="5524365"/>
                      <a:pt x="5632117" y="5507181"/>
                    </a:cubicBezTo>
                    <a:cubicBezTo>
                      <a:pt x="5596712" y="5483578"/>
                      <a:pt x="5512427" y="5429055"/>
                      <a:pt x="5486644" y="5403272"/>
                    </a:cubicBezTo>
                    <a:cubicBezTo>
                      <a:pt x="5468983" y="5385611"/>
                      <a:pt x="5461070" y="5360114"/>
                      <a:pt x="5445081" y="5340927"/>
                    </a:cubicBezTo>
                    <a:cubicBezTo>
                      <a:pt x="5426266" y="5318349"/>
                      <a:pt x="5401550" y="5301159"/>
                      <a:pt x="5382735" y="5278581"/>
                    </a:cubicBezTo>
                    <a:cubicBezTo>
                      <a:pt x="5366745" y="5259394"/>
                      <a:pt x="5360674" y="5231839"/>
                      <a:pt x="5341171" y="5216236"/>
                    </a:cubicBezTo>
                    <a:cubicBezTo>
                      <a:pt x="5324065" y="5202552"/>
                      <a:pt x="5299608" y="5202381"/>
                      <a:pt x="5278826" y="5195454"/>
                    </a:cubicBezTo>
                    <a:cubicBezTo>
                      <a:pt x="5258044" y="5174672"/>
                      <a:pt x="5239059" y="5151924"/>
                      <a:pt x="5216481" y="5133109"/>
                    </a:cubicBezTo>
                    <a:cubicBezTo>
                      <a:pt x="5197293" y="5117119"/>
                      <a:pt x="5171796" y="5109206"/>
                      <a:pt x="5154135" y="5091545"/>
                    </a:cubicBezTo>
                    <a:cubicBezTo>
                      <a:pt x="5136474" y="5073884"/>
                      <a:pt x="5132074" y="5044803"/>
                      <a:pt x="5112571" y="5029200"/>
                    </a:cubicBezTo>
                    <a:cubicBezTo>
                      <a:pt x="5095465" y="5015516"/>
                      <a:pt x="5069819" y="5018215"/>
                      <a:pt x="5050226" y="5008418"/>
                    </a:cubicBezTo>
                    <a:cubicBezTo>
                      <a:pt x="5027886" y="4997248"/>
                      <a:pt x="5011354" y="4975390"/>
                      <a:pt x="4987881" y="4966854"/>
                    </a:cubicBezTo>
                    <a:cubicBezTo>
                      <a:pt x="4934196" y="4947332"/>
                      <a:pt x="4821626" y="4925290"/>
                      <a:pt x="4821626" y="4925290"/>
                    </a:cubicBezTo>
                    <a:cubicBezTo>
                      <a:pt x="4800844" y="4911436"/>
                      <a:pt x="4782105" y="4893871"/>
                      <a:pt x="4759281" y="4883727"/>
                    </a:cubicBezTo>
                    <a:cubicBezTo>
                      <a:pt x="4719245" y="4865933"/>
                      <a:pt x="4671044" y="4866465"/>
                      <a:pt x="4634590" y="4842163"/>
                    </a:cubicBezTo>
                    <a:cubicBezTo>
                      <a:pt x="4613808" y="4828309"/>
                      <a:pt x="4595068" y="4810744"/>
                      <a:pt x="4572244" y="4800600"/>
                    </a:cubicBezTo>
                    <a:cubicBezTo>
                      <a:pt x="4532208" y="4782806"/>
                      <a:pt x="4489117" y="4772891"/>
                      <a:pt x="4447553" y="4759036"/>
                    </a:cubicBezTo>
                    <a:lnTo>
                      <a:pt x="4385208" y="4738254"/>
                    </a:lnTo>
                    <a:lnTo>
                      <a:pt x="4260517" y="4696690"/>
                    </a:lnTo>
                    <a:lnTo>
                      <a:pt x="4198171" y="4675909"/>
                    </a:lnTo>
                    <a:cubicBezTo>
                      <a:pt x="3969571" y="4682836"/>
                      <a:pt x="3740743" y="4684346"/>
                      <a:pt x="3512371" y="4696690"/>
                    </a:cubicBezTo>
                    <a:cubicBezTo>
                      <a:pt x="3388171" y="4703403"/>
                      <a:pt x="3471542" y="4723305"/>
                      <a:pt x="3366899" y="4738254"/>
                    </a:cubicBezTo>
                    <a:cubicBezTo>
                      <a:pt x="3291154" y="4749075"/>
                      <a:pt x="3214499" y="4752109"/>
                      <a:pt x="3138299" y="4759036"/>
                    </a:cubicBezTo>
                    <a:lnTo>
                      <a:pt x="2307026" y="4738254"/>
                    </a:lnTo>
                    <a:cubicBezTo>
                      <a:pt x="2244349" y="4735696"/>
                      <a:pt x="2182408" y="4723714"/>
                      <a:pt x="2119990" y="4717472"/>
                    </a:cubicBezTo>
                    <a:lnTo>
                      <a:pt x="1891390" y="4696690"/>
                    </a:lnTo>
                    <a:cubicBezTo>
                      <a:pt x="1819962" y="4682405"/>
                      <a:pt x="1772837" y="4674694"/>
                      <a:pt x="1704353" y="4655127"/>
                    </a:cubicBezTo>
                    <a:cubicBezTo>
                      <a:pt x="1683290" y="4649109"/>
                      <a:pt x="1662143" y="4642974"/>
                      <a:pt x="1642008" y="4634345"/>
                    </a:cubicBezTo>
                    <a:cubicBezTo>
                      <a:pt x="1613533" y="4622141"/>
                      <a:pt x="1584090" y="4610788"/>
                      <a:pt x="1558881" y="4592781"/>
                    </a:cubicBezTo>
                    <a:cubicBezTo>
                      <a:pt x="1495309" y="4547373"/>
                      <a:pt x="1486750" y="4505125"/>
                      <a:pt x="1434190" y="4447309"/>
                    </a:cubicBezTo>
                    <a:cubicBezTo>
                      <a:pt x="1388060" y="4396566"/>
                      <a:pt x="1345776" y="4339875"/>
                      <a:pt x="1288717" y="4301836"/>
                    </a:cubicBezTo>
                    <a:lnTo>
                      <a:pt x="1164026" y="4218709"/>
                    </a:lnTo>
                    <a:cubicBezTo>
                      <a:pt x="1117163" y="4078121"/>
                      <a:pt x="1179052" y="4248761"/>
                      <a:pt x="1080899" y="4052454"/>
                    </a:cubicBezTo>
                    <a:cubicBezTo>
                      <a:pt x="1035674" y="3962005"/>
                      <a:pt x="1090626" y="4007884"/>
                      <a:pt x="1018553" y="3906981"/>
                    </a:cubicBezTo>
                    <a:cubicBezTo>
                      <a:pt x="1001471" y="3883066"/>
                      <a:pt x="975023" y="3867214"/>
                      <a:pt x="956208" y="3844636"/>
                    </a:cubicBezTo>
                    <a:cubicBezTo>
                      <a:pt x="940218" y="3825448"/>
                      <a:pt x="932305" y="3799951"/>
                      <a:pt x="914644" y="3782290"/>
                    </a:cubicBezTo>
                    <a:cubicBezTo>
                      <a:pt x="896983" y="3764629"/>
                      <a:pt x="871486" y="3756716"/>
                      <a:pt x="852299" y="3740727"/>
                    </a:cubicBezTo>
                    <a:cubicBezTo>
                      <a:pt x="752946" y="3657933"/>
                      <a:pt x="822696" y="3705204"/>
                      <a:pt x="748390" y="3616036"/>
                    </a:cubicBezTo>
                    <a:cubicBezTo>
                      <a:pt x="646860" y="3494199"/>
                      <a:pt x="728789" y="3605540"/>
                      <a:pt x="623699" y="3512127"/>
                    </a:cubicBezTo>
                    <a:cubicBezTo>
                      <a:pt x="579766" y="3473076"/>
                      <a:pt x="540572" y="3429000"/>
                      <a:pt x="499008" y="3387436"/>
                    </a:cubicBezTo>
                    <a:cubicBezTo>
                      <a:pt x="478226" y="3366654"/>
                      <a:pt x="461116" y="3341393"/>
                      <a:pt x="436662" y="3325090"/>
                    </a:cubicBezTo>
                    <a:lnTo>
                      <a:pt x="374317" y="3283527"/>
                    </a:lnTo>
                    <a:cubicBezTo>
                      <a:pt x="298116" y="3169225"/>
                      <a:pt x="374317" y="3266209"/>
                      <a:pt x="270408" y="3179618"/>
                    </a:cubicBezTo>
                    <a:cubicBezTo>
                      <a:pt x="247830" y="3160803"/>
                      <a:pt x="230640" y="3136087"/>
                      <a:pt x="208062" y="3117272"/>
                    </a:cubicBezTo>
                    <a:cubicBezTo>
                      <a:pt x="154348" y="3072510"/>
                      <a:pt x="145855" y="3075755"/>
                      <a:pt x="83371" y="3054927"/>
                    </a:cubicBezTo>
                    <a:cubicBezTo>
                      <a:pt x="62589" y="3041072"/>
                      <a:pt x="34880" y="3034145"/>
                      <a:pt x="21026" y="3013363"/>
                    </a:cubicBezTo>
                    <a:cubicBezTo>
                      <a:pt x="-30662" y="2935830"/>
                      <a:pt x="27420" y="2835919"/>
                      <a:pt x="41808" y="2763981"/>
                    </a:cubicBezTo>
                    <a:cubicBezTo>
                      <a:pt x="48735" y="2729345"/>
                      <a:pt x="53296" y="2694150"/>
                      <a:pt x="62590" y="2660072"/>
                    </a:cubicBezTo>
                    <a:cubicBezTo>
                      <a:pt x="82033" y="2588781"/>
                      <a:pt x="96963" y="2527884"/>
                      <a:pt x="145717" y="2473036"/>
                    </a:cubicBezTo>
                    <a:cubicBezTo>
                      <a:pt x="184768" y="2429103"/>
                      <a:pt x="237803" y="2397253"/>
                      <a:pt x="270408" y="2348345"/>
                    </a:cubicBezTo>
                    <a:lnTo>
                      <a:pt x="353535" y="2223654"/>
                    </a:lnTo>
                    <a:cubicBezTo>
                      <a:pt x="390478" y="2168239"/>
                      <a:pt x="402059" y="2142041"/>
                      <a:pt x="457444" y="2098963"/>
                    </a:cubicBezTo>
                    <a:cubicBezTo>
                      <a:pt x="517878" y="2051958"/>
                      <a:pt x="593292" y="2005117"/>
                      <a:pt x="665262" y="1974272"/>
                    </a:cubicBezTo>
                    <a:cubicBezTo>
                      <a:pt x="685397" y="1965643"/>
                      <a:pt x="708015" y="1963287"/>
                      <a:pt x="727608" y="1953490"/>
                    </a:cubicBezTo>
                    <a:cubicBezTo>
                      <a:pt x="805004" y="1914792"/>
                      <a:pt x="783357" y="1907033"/>
                      <a:pt x="852299" y="1849581"/>
                    </a:cubicBezTo>
                    <a:cubicBezTo>
                      <a:pt x="871486" y="1833592"/>
                      <a:pt x="893862" y="1821872"/>
                      <a:pt x="914644" y="1808018"/>
                    </a:cubicBezTo>
                    <a:cubicBezTo>
                      <a:pt x="970482" y="1724262"/>
                      <a:pt x="1003798" y="1665457"/>
                      <a:pt x="1101681" y="1600200"/>
                    </a:cubicBezTo>
                    <a:cubicBezTo>
                      <a:pt x="1122463" y="1586345"/>
                      <a:pt x="1144839" y="1574626"/>
                      <a:pt x="1164026" y="1558636"/>
                    </a:cubicBezTo>
                    <a:cubicBezTo>
                      <a:pt x="1186604" y="1539821"/>
                      <a:pt x="1204056" y="1515417"/>
                      <a:pt x="1226371" y="1496290"/>
                    </a:cubicBezTo>
                    <a:cubicBezTo>
                      <a:pt x="1280218" y="1450136"/>
                      <a:pt x="1380545" y="1386582"/>
                      <a:pt x="1434190" y="1350818"/>
                    </a:cubicBezTo>
                    <a:cubicBezTo>
                      <a:pt x="1514764" y="1297102"/>
                      <a:pt x="1472838" y="1317153"/>
                      <a:pt x="1558881" y="1288472"/>
                    </a:cubicBezTo>
                    <a:cubicBezTo>
                      <a:pt x="1652843" y="1147527"/>
                      <a:pt x="1535480" y="1319674"/>
                      <a:pt x="1683571" y="1122218"/>
                    </a:cubicBezTo>
                    <a:cubicBezTo>
                      <a:pt x="1698557" y="1102237"/>
                      <a:pt x="1709145" y="1079060"/>
                      <a:pt x="1725135" y="1059872"/>
                    </a:cubicBezTo>
                    <a:cubicBezTo>
                      <a:pt x="1743950" y="1037294"/>
                      <a:pt x="1769437" y="1020726"/>
                      <a:pt x="1787481" y="997527"/>
                    </a:cubicBezTo>
                    <a:cubicBezTo>
                      <a:pt x="1896979" y="856745"/>
                      <a:pt x="1842571" y="911509"/>
                      <a:pt x="1912171" y="789709"/>
                    </a:cubicBezTo>
                    <a:cubicBezTo>
                      <a:pt x="1924563" y="768023"/>
                      <a:pt x="1941343" y="749049"/>
                      <a:pt x="1953735" y="727363"/>
                    </a:cubicBezTo>
                    <a:cubicBezTo>
                      <a:pt x="1969105" y="700465"/>
                      <a:pt x="1979360" y="670801"/>
                      <a:pt x="1995299" y="644236"/>
                    </a:cubicBezTo>
                    <a:cubicBezTo>
                      <a:pt x="2021000" y="601401"/>
                      <a:pt x="2062629" y="566935"/>
                      <a:pt x="2078426" y="519545"/>
                    </a:cubicBezTo>
                    <a:cubicBezTo>
                      <a:pt x="2085353" y="498763"/>
                      <a:pt x="2089411" y="476793"/>
                      <a:pt x="2099208" y="457200"/>
                    </a:cubicBezTo>
                    <a:cubicBezTo>
                      <a:pt x="2110378" y="434860"/>
                      <a:pt x="2130627" y="417678"/>
                      <a:pt x="2140771" y="394854"/>
                    </a:cubicBezTo>
                    <a:cubicBezTo>
                      <a:pt x="2158565" y="354818"/>
                      <a:pt x="2182335" y="270163"/>
                      <a:pt x="2182335" y="270163"/>
                    </a:cubicBezTo>
                    <a:cubicBezTo>
                      <a:pt x="2175408" y="200890"/>
                      <a:pt x="2177207" y="130180"/>
                      <a:pt x="2161553" y="62345"/>
                    </a:cubicBezTo>
                    <a:cubicBezTo>
                      <a:pt x="2155937" y="38008"/>
                      <a:pt x="2119990" y="0"/>
                      <a:pt x="2119990" y="0"/>
                    </a:cubicBezTo>
                  </a:path>
                </a:pathLst>
              </a:custGeom>
              <a:noFill/>
              <a:ln w="57150">
                <a:solidFill>
                  <a:srgbClr val="FF9415"/>
                </a:solidFill>
                <a:prstDash val="lgDash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PT" noProof="0" dirty="0"/>
              </a:p>
            </p:txBody>
          </p:sp>
          <p:pic>
            <p:nvPicPr>
              <p:cNvPr id="44" name="Graphic 43" descr="Flag with solid fill">
                <a:extLst>
                  <a:ext uri="{FF2B5EF4-FFF2-40B4-BE49-F238E27FC236}">
                    <a16:creationId xmlns:a16="http://schemas.microsoft.com/office/drawing/2014/main" id="{7E595B3C-2EB6-031F-FC67-0FAF59CB66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245364" y="8234589"/>
                <a:ext cx="826971" cy="826971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46" name="Graphic 45" descr="Flag with solid fill">
                <a:extLst>
                  <a:ext uri="{FF2B5EF4-FFF2-40B4-BE49-F238E27FC236}">
                    <a16:creationId xmlns:a16="http://schemas.microsoft.com/office/drawing/2014/main" id="{68DC9E6D-86D0-1CCC-64D3-0E4F3C11B9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285593" y="3400646"/>
                <a:ext cx="828000" cy="828000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2" name="Graphic 51" descr="Flag with solid fill">
                <a:extLst>
                  <a:ext uri="{FF2B5EF4-FFF2-40B4-BE49-F238E27FC236}">
                    <a16:creationId xmlns:a16="http://schemas.microsoft.com/office/drawing/2014/main" id="{57FE21E1-FB6D-A664-E671-98650161A8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21521211">
                <a:off x="3996882" y="6066500"/>
                <a:ext cx="799200" cy="799198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pic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F63A6BE-0E66-92CF-7BCB-EA73116D5266}"/>
                </a:ext>
              </a:extLst>
            </p:cNvPr>
            <p:cNvSpPr txBox="1"/>
            <p:nvPr/>
          </p:nvSpPr>
          <p:spPr>
            <a:xfrm>
              <a:off x="8910511" y="3190732"/>
              <a:ext cx="2686954" cy="430887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pt-PT" sz="2200" b="1" kern="1200" noProof="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Unidade de Conta</a:t>
              </a: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ABA28D5A-BBA7-016D-BEE7-8DA8F8D3C401}"/>
                </a:ext>
              </a:extLst>
            </p:cNvPr>
            <p:cNvSpPr txBox="1"/>
            <p:nvPr/>
          </p:nvSpPr>
          <p:spPr>
            <a:xfrm>
              <a:off x="10052050" y="8931275"/>
              <a:ext cx="2530629" cy="430887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>
              <a:defPPr>
                <a:defRPr kern="0"/>
              </a:defPPr>
              <a:lvl1pPr>
                <a:defRPr sz="2200" b="1" kern="12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pt-PT" noProof="0" dirty="0"/>
                <a:t>Reserva de Valor</a:t>
              </a: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9665F53A-41FC-2103-DAAD-D8B6FBE128C8}"/>
                </a:ext>
              </a:extLst>
            </p:cNvPr>
            <p:cNvSpPr txBox="1"/>
            <p:nvPr/>
          </p:nvSpPr>
          <p:spPr>
            <a:xfrm>
              <a:off x="5710384" y="6117318"/>
              <a:ext cx="2131866" cy="430887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>
              <a:defPPr>
                <a:defRPr kern="0"/>
              </a:defPPr>
              <a:lvl1pPr>
                <a:defRPr sz="2200" b="1" kern="12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r>
                <a:rPr lang="pt-PT" noProof="0" dirty="0"/>
                <a:t>Meio de Troca</a:t>
              </a:r>
            </a:p>
          </p:txBody>
        </p:sp>
        <p:pic>
          <p:nvPicPr>
            <p:cNvPr id="1032" name="Picture 8" descr="Bitcoin Logo, symbol, meaning, history, PNG, brand">
              <a:extLst>
                <a:ext uri="{FF2B5EF4-FFF2-40B4-BE49-F238E27FC236}">
                  <a16:creationId xmlns:a16="http://schemas.microsoft.com/office/drawing/2014/main" id="{A07F2AD6-2F60-092E-F5B7-0A2C2E564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6171" y="6781800"/>
              <a:ext cx="1518249" cy="854075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33" name="Content Placeholder 2">
            <a:extLst>
              <a:ext uri="{FF2B5EF4-FFF2-40B4-BE49-F238E27FC236}">
                <a16:creationId xmlns:a16="http://schemas.microsoft.com/office/drawing/2014/main" id="{E22F3FF2-2D76-3FB5-2267-70F91495F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8050" y="3455224"/>
            <a:ext cx="6500266" cy="5932425"/>
          </a:xfrm>
        </p:spPr>
        <p:txBody>
          <a:bodyPr>
            <a:normAutofit/>
          </a:bodyPr>
          <a:lstStyle/>
          <a:p>
            <a:pPr marL="0" indent="0">
              <a:buSzPct val="125000"/>
              <a:buNone/>
            </a:pPr>
            <a:r>
              <a:rPr lang="pt-PT" noProof="0" dirty="0"/>
              <a:t>O Bitcoin está a escalar o seu ciclo evolutivo como dinheiro forte — já é visto como proteção contra a inflação e começa a ser usado no comércio global, avançando gradualmente para um papel central no sistema financeiro mundial.</a:t>
            </a:r>
          </a:p>
        </p:txBody>
      </p:sp>
    </p:spTree>
    <p:extLst>
      <p:ext uri="{BB962C8B-B14F-4D97-AF65-F5344CB8AC3E}">
        <p14:creationId xmlns:p14="http://schemas.microsoft.com/office/powerpoint/2010/main" val="2612633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5EFFC-73FD-A6C7-696F-9713E40E4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97DDF-483A-9B41-957A-F5B0D9FA4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noProof="0" dirty="0"/>
              <a:t>6.2.2 Características do Bitcoin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85C4B4-FA80-8443-27C6-EB1948B57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823782"/>
              </p:ext>
            </p:extLst>
          </p:nvPr>
        </p:nvGraphicFramePr>
        <p:xfrm>
          <a:off x="2092480" y="2301875"/>
          <a:ext cx="15919140" cy="804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780301192"/>
                    </a:ext>
                  </a:extLst>
                </a:gridCol>
                <a:gridCol w="3626380">
                  <a:extLst>
                    <a:ext uri="{9D8B030D-6E8A-4147-A177-3AD203B41FA5}">
                      <a16:colId xmlns:a16="http://schemas.microsoft.com/office/drawing/2014/main" val="3181723853"/>
                    </a:ext>
                  </a:extLst>
                </a:gridCol>
                <a:gridCol w="3626380">
                  <a:extLst>
                    <a:ext uri="{9D8B030D-6E8A-4147-A177-3AD203B41FA5}">
                      <a16:colId xmlns:a16="http://schemas.microsoft.com/office/drawing/2014/main" val="2483208336"/>
                    </a:ext>
                  </a:extLst>
                </a:gridCol>
                <a:gridCol w="3626380">
                  <a:extLst>
                    <a:ext uri="{9D8B030D-6E8A-4147-A177-3AD203B41FA5}">
                      <a16:colId xmlns:a16="http://schemas.microsoft.com/office/drawing/2014/main" val="1914920593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300" b="1" noProof="0" dirty="0">
                          <a:solidFill>
                            <a:srgbClr val="251B55"/>
                          </a:solidFill>
                        </a:rPr>
                        <a:t>Propriedades do dinheiro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1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Ouro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1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Moeda Fiduciária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1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Bitcoin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743708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Durabilidade </a:t>
                      </a:r>
                    </a:p>
                  </a:txBody>
                  <a:tcPr marR="27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210943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Portabilidade </a:t>
                      </a:r>
                    </a:p>
                  </a:txBody>
                  <a:tcPr marR="27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655428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Divisibilidade </a:t>
                      </a:r>
                    </a:p>
                  </a:txBody>
                  <a:tcPr marR="27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429846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Fungibilidade </a:t>
                      </a:r>
                    </a:p>
                  </a:txBody>
                  <a:tcPr marR="27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594087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Escassez </a:t>
                      </a:r>
                    </a:p>
                  </a:txBody>
                  <a:tcPr marR="27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959371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Verificável</a:t>
                      </a: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</a:p>
                  </a:txBody>
                  <a:tcPr marR="27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131631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Bem estabelecido</a:t>
                      </a:r>
                    </a:p>
                  </a:txBody>
                  <a:tcPr marR="27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4439846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Resistente à censura </a:t>
                      </a:r>
                    </a:p>
                  </a:txBody>
                  <a:tcPr marR="27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944453"/>
                  </a:ext>
                </a:extLst>
              </a:tr>
              <a:tr h="77400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Inteligente / </a:t>
                      </a:r>
                      <a:r>
                        <a:rPr lang="pt-PT" sz="3000" b="0" kern="1200" noProof="0" dirty="0" err="1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Programável</a:t>
                      </a:r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</a:p>
                  </a:txBody>
                  <a:tcPr marR="270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🟡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3000" b="0" kern="1200" noProof="0" dirty="0">
                          <a:solidFill>
                            <a:srgbClr val="58595B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🟢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456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8F9A83-A780-DE72-C418-F5A6B0A7B548}"/>
              </a:ext>
            </a:extLst>
          </p:cNvPr>
          <p:cNvSpPr txBox="1"/>
          <p:nvPr/>
        </p:nvSpPr>
        <p:spPr>
          <a:xfrm>
            <a:off x="11825620" y="107388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PT" kern="1200" noProof="0" dirty="0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Fonte: "Bitcoin </a:t>
            </a:r>
            <a:r>
              <a:rPr lang="pt-PT" kern="1200" noProof="0" dirty="0" err="1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</a:t>
            </a:r>
            <a:r>
              <a:rPr lang="pt-PT" kern="1200" noProof="0" dirty="0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Gold </a:t>
            </a:r>
            <a:r>
              <a:rPr lang="pt-PT" kern="1200" noProof="0" dirty="0" err="1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vs</a:t>
            </a:r>
            <a:r>
              <a:rPr lang="pt-PT" kern="1200" noProof="0" dirty="0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US </a:t>
            </a:r>
            <a:r>
              <a:rPr lang="pt-PT" kern="1200" noProof="0" dirty="0" err="1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Dollar</a:t>
            </a:r>
            <a:r>
              <a:rPr lang="pt-PT" kern="1200" noProof="0" dirty="0">
                <a:solidFill>
                  <a:schemeClr val="bg1">
                    <a:lumMod val="8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" Bitcoin Magazine</a:t>
            </a:r>
          </a:p>
        </p:txBody>
      </p:sp>
    </p:spTree>
    <p:extLst>
      <p:ext uri="{BB962C8B-B14F-4D97-AF65-F5344CB8AC3E}">
        <p14:creationId xmlns:p14="http://schemas.microsoft.com/office/powerpoint/2010/main" val="1642765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8CF9D-0832-170E-37E8-72E5CEB7F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DCC1EF2A-635D-DDCD-90CB-C3B217492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</p:spPr>
        <p:txBody>
          <a:bodyPr>
            <a:noAutofit/>
          </a:bodyPr>
          <a:lstStyle/>
          <a:p>
            <a:r>
              <a:rPr lang="pt-PT" sz="6500" noProof="0" dirty="0"/>
              <a:t>6.2.3 Adoção da responsabilidade pessoal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7A4959D-0600-629A-41C6-B63AC07086B2}"/>
              </a:ext>
            </a:extLst>
          </p:cNvPr>
          <p:cNvGrpSpPr>
            <a:grpSpLocks noChangeAspect="1"/>
          </p:cNvGrpSpPr>
          <p:nvPr/>
        </p:nvGrpSpPr>
        <p:grpSpPr>
          <a:xfrm>
            <a:off x="1405474" y="3521075"/>
            <a:ext cx="17293152" cy="5606822"/>
            <a:chOff x="2432050" y="2040584"/>
            <a:chExt cx="15308802" cy="4963452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6528E0B-9DD9-DA99-4C9C-06C8A80F6D0C}"/>
                </a:ext>
              </a:extLst>
            </p:cNvPr>
            <p:cNvSpPr/>
            <p:nvPr/>
          </p:nvSpPr>
          <p:spPr>
            <a:xfrm>
              <a:off x="2432050" y="2478757"/>
              <a:ext cx="15308802" cy="4197869"/>
            </a:xfrm>
            <a:prstGeom prst="roundRect">
              <a:avLst/>
            </a:prstGeom>
            <a:gradFill flip="none" rotWithShape="1">
              <a:gsLst>
                <a:gs pos="7000">
                  <a:srgbClr val="161346"/>
                </a:gs>
                <a:gs pos="69000">
                  <a:srgbClr val="392569"/>
                </a:gs>
                <a:gs pos="99000">
                  <a:srgbClr val="653B93"/>
                </a:gs>
              </a:gsLst>
              <a:lin ang="10800000" scaled="1"/>
              <a:tileRect/>
            </a:gradFill>
            <a:ln w="12700">
              <a:solidFill>
                <a:srgbClr val="61399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3998" rIns="503998" rtlCol="0" anchor="ctr"/>
            <a:lstStyle/>
            <a:p>
              <a:pPr algn="ctr"/>
              <a:r>
                <a:rPr lang="pt-PT" sz="3200" b="1" kern="1200" noProof="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 resultado é um sistema distribuído sem um ponto de falha único.</a:t>
              </a:r>
              <a:br>
                <a:rPr lang="pt-PT" sz="3200" b="1" kern="1200" noProof="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3200" b="1" kern="1200" noProof="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Os utilizadores detêm as chaves criptográficas do seu próprio dinheiro e fazem transações diretamente entre si, com a ajuda da rede P2P</a:t>
              </a:r>
              <a:br>
                <a:rPr lang="pt-PT" sz="3200" b="1" kern="1200" noProof="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pt-PT" sz="3200" b="1" kern="1200" noProof="0" dirty="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(ponto a ponto), para verificar se existem gastos duplos.</a:t>
              </a:r>
            </a:p>
            <a:p>
              <a:pPr algn="ctr"/>
              <a:endParaRPr lang="pt-PT" sz="3200" b="1" kern="1200" noProof="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algn="ctr"/>
              <a:r>
                <a:rPr lang="pt-PT" sz="3200" b="1" kern="1200" noProof="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Satoshi</a:t>
              </a:r>
              <a:r>
                <a:rPr lang="pt-PT" sz="3200" b="1" kern="1200" noProof="0" dirty="0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pt-PT" sz="3200" b="1" kern="1200" noProof="0" dirty="0" err="1">
                  <a:solidFill>
                    <a:srgbClr val="FBB040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Nakamoto</a:t>
              </a:r>
              <a:endParaRPr lang="pt-PT" sz="3200" b="1" kern="1200" noProof="0" dirty="0">
                <a:solidFill>
                  <a:srgbClr val="FBB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6" name="object 16">
              <a:extLst>
                <a:ext uri="{FF2B5EF4-FFF2-40B4-BE49-F238E27FC236}">
                  <a16:creationId xmlns:a16="http://schemas.microsoft.com/office/drawing/2014/main" id="{63DCD1DA-1F9A-27E2-35BA-CBF8EDAA4B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9250" y="2040584"/>
              <a:ext cx="1082250" cy="666000"/>
            </a:xfrm>
            <a:custGeom>
              <a:avLst/>
              <a:gdLst/>
              <a:ahLst/>
              <a:cxnLst/>
              <a:rect l="l" t="t" r="r" b="b"/>
              <a:pathLst>
                <a:path w="487044" h="299720">
                  <a:moveTo>
                    <a:pt x="220649" y="109423"/>
                  </a:moveTo>
                  <a:lnTo>
                    <a:pt x="211632" y="66548"/>
                  </a:lnTo>
                  <a:lnTo>
                    <a:pt x="187693" y="31673"/>
                  </a:lnTo>
                  <a:lnTo>
                    <a:pt x="152438" y="8318"/>
                  </a:lnTo>
                  <a:lnTo>
                    <a:pt x="109423" y="0"/>
                  </a:lnTo>
                  <a:lnTo>
                    <a:pt x="66548" y="9017"/>
                  </a:lnTo>
                  <a:lnTo>
                    <a:pt x="31673" y="32956"/>
                  </a:lnTo>
                  <a:lnTo>
                    <a:pt x="8318" y="68224"/>
                  </a:lnTo>
                  <a:lnTo>
                    <a:pt x="0" y="111239"/>
                  </a:lnTo>
                  <a:lnTo>
                    <a:pt x="368" y="119291"/>
                  </a:lnTo>
                  <a:lnTo>
                    <a:pt x="15646" y="178536"/>
                  </a:lnTo>
                  <a:lnTo>
                    <a:pt x="36449" y="220433"/>
                  </a:lnTo>
                  <a:lnTo>
                    <a:pt x="70332" y="261975"/>
                  </a:lnTo>
                  <a:lnTo>
                    <a:pt x="120472" y="297065"/>
                  </a:lnTo>
                  <a:lnTo>
                    <a:pt x="127469" y="299237"/>
                  </a:lnTo>
                  <a:lnTo>
                    <a:pt x="134632" y="299059"/>
                  </a:lnTo>
                  <a:lnTo>
                    <a:pt x="144462" y="255079"/>
                  </a:lnTo>
                  <a:lnTo>
                    <a:pt x="139217" y="243890"/>
                  </a:lnTo>
                  <a:lnTo>
                    <a:pt x="135013" y="231495"/>
                  </a:lnTo>
                  <a:lnTo>
                    <a:pt x="132664" y="218376"/>
                  </a:lnTo>
                  <a:lnTo>
                    <a:pt x="167817" y="204495"/>
                  </a:lnTo>
                  <a:lnTo>
                    <a:pt x="195783" y="180086"/>
                  </a:lnTo>
                  <a:lnTo>
                    <a:pt x="214198" y="147586"/>
                  </a:lnTo>
                  <a:lnTo>
                    <a:pt x="220649" y="109423"/>
                  </a:lnTo>
                  <a:close/>
                </a:path>
                <a:path w="487044" h="299720">
                  <a:moveTo>
                    <a:pt x="486829" y="110324"/>
                  </a:moveTo>
                  <a:lnTo>
                    <a:pt x="478167" y="67386"/>
                  </a:lnTo>
                  <a:lnTo>
                    <a:pt x="454520" y="32308"/>
                  </a:lnTo>
                  <a:lnTo>
                    <a:pt x="419455" y="8661"/>
                  </a:lnTo>
                  <a:lnTo>
                    <a:pt x="376516" y="0"/>
                  </a:lnTo>
                  <a:lnTo>
                    <a:pt x="333565" y="8661"/>
                  </a:lnTo>
                  <a:lnTo>
                    <a:pt x="298488" y="32308"/>
                  </a:lnTo>
                  <a:lnTo>
                    <a:pt x="274853" y="67386"/>
                  </a:lnTo>
                  <a:lnTo>
                    <a:pt x="266179" y="110324"/>
                  </a:lnTo>
                  <a:lnTo>
                    <a:pt x="266471" y="118376"/>
                  </a:lnTo>
                  <a:lnTo>
                    <a:pt x="281266" y="177749"/>
                  </a:lnTo>
                  <a:lnTo>
                    <a:pt x="301726" y="219811"/>
                  </a:lnTo>
                  <a:lnTo>
                    <a:pt x="335267" y="261632"/>
                  </a:lnTo>
                  <a:lnTo>
                    <a:pt x="385114" y="297141"/>
                  </a:lnTo>
                  <a:lnTo>
                    <a:pt x="392112" y="299364"/>
                  </a:lnTo>
                  <a:lnTo>
                    <a:pt x="399275" y="299250"/>
                  </a:lnTo>
                  <a:lnTo>
                    <a:pt x="409460" y="255346"/>
                  </a:lnTo>
                  <a:lnTo>
                    <a:pt x="404304" y="244119"/>
                  </a:lnTo>
                  <a:lnTo>
                    <a:pt x="400215" y="231698"/>
                  </a:lnTo>
                  <a:lnTo>
                    <a:pt x="397967" y="218567"/>
                  </a:lnTo>
                  <a:lnTo>
                    <a:pt x="433222" y="204965"/>
                  </a:lnTo>
                  <a:lnTo>
                    <a:pt x="461391" y="180797"/>
                  </a:lnTo>
                  <a:lnTo>
                    <a:pt x="480072" y="148437"/>
                  </a:lnTo>
                  <a:lnTo>
                    <a:pt x="486829" y="110324"/>
                  </a:lnTo>
                  <a:close/>
                </a:path>
              </a:pathLst>
            </a:custGeom>
            <a:solidFill>
              <a:srgbClr val="251B5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  <p:sp>
          <p:nvSpPr>
            <p:cNvPr id="7" name="object 17">
              <a:extLst>
                <a:ext uri="{FF2B5EF4-FFF2-40B4-BE49-F238E27FC236}">
                  <a16:creationId xmlns:a16="http://schemas.microsoft.com/office/drawing/2014/main" id="{1B69EE0C-4F04-E0EC-F953-CD595C029E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148050" y="6339347"/>
              <a:ext cx="1080119" cy="664689"/>
            </a:xfrm>
            <a:custGeom>
              <a:avLst/>
              <a:gdLst/>
              <a:ahLst/>
              <a:cxnLst/>
              <a:rect l="l" t="t" r="r" b="b"/>
              <a:pathLst>
                <a:path w="487045" h="299720">
                  <a:moveTo>
                    <a:pt x="220649" y="110337"/>
                  </a:moveTo>
                  <a:lnTo>
                    <a:pt x="211988" y="67398"/>
                  </a:lnTo>
                  <a:lnTo>
                    <a:pt x="188341" y="32321"/>
                  </a:lnTo>
                  <a:lnTo>
                    <a:pt x="153263" y="8674"/>
                  </a:lnTo>
                  <a:lnTo>
                    <a:pt x="110324" y="0"/>
                  </a:lnTo>
                  <a:lnTo>
                    <a:pt x="67373" y="8674"/>
                  </a:lnTo>
                  <a:lnTo>
                    <a:pt x="32308" y="32321"/>
                  </a:lnTo>
                  <a:lnTo>
                    <a:pt x="8674" y="67398"/>
                  </a:lnTo>
                  <a:lnTo>
                    <a:pt x="0" y="110337"/>
                  </a:lnTo>
                  <a:lnTo>
                    <a:pt x="6769" y="148450"/>
                  </a:lnTo>
                  <a:lnTo>
                    <a:pt x="25438" y="180797"/>
                  </a:lnTo>
                  <a:lnTo>
                    <a:pt x="53619" y="204978"/>
                  </a:lnTo>
                  <a:lnTo>
                    <a:pt x="88861" y="218579"/>
                  </a:lnTo>
                  <a:lnTo>
                    <a:pt x="86626" y="231711"/>
                  </a:lnTo>
                  <a:lnTo>
                    <a:pt x="82524" y="244119"/>
                  </a:lnTo>
                  <a:lnTo>
                    <a:pt x="77368" y="255358"/>
                  </a:lnTo>
                  <a:lnTo>
                    <a:pt x="71970" y="264934"/>
                  </a:lnTo>
                  <a:lnTo>
                    <a:pt x="69164" y="271881"/>
                  </a:lnTo>
                  <a:lnTo>
                    <a:pt x="94729" y="299377"/>
                  </a:lnTo>
                  <a:lnTo>
                    <a:pt x="101714" y="297141"/>
                  </a:lnTo>
                  <a:lnTo>
                    <a:pt x="151561" y="261645"/>
                  </a:lnTo>
                  <a:lnTo>
                    <a:pt x="185102" y="219824"/>
                  </a:lnTo>
                  <a:lnTo>
                    <a:pt x="205562" y="177761"/>
                  </a:lnTo>
                  <a:lnTo>
                    <a:pt x="218084" y="133997"/>
                  </a:lnTo>
                  <a:lnTo>
                    <a:pt x="220357" y="118389"/>
                  </a:lnTo>
                  <a:lnTo>
                    <a:pt x="220649" y="110337"/>
                  </a:lnTo>
                  <a:close/>
                </a:path>
                <a:path w="487045" h="299720">
                  <a:moveTo>
                    <a:pt x="486829" y="111239"/>
                  </a:moveTo>
                  <a:lnTo>
                    <a:pt x="478510" y="68224"/>
                  </a:lnTo>
                  <a:lnTo>
                    <a:pt x="455155" y="32969"/>
                  </a:lnTo>
                  <a:lnTo>
                    <a:pt x="420281" y="9029"/>
                  </a:lnTo>
                  <a:lnTo>
                    <a:pt x="377418" y="12"/>
                  </a:lnTo>
                  <a:lnTo>
                    <a:pt x="334403" y="8331"/>
                  </a:lnTo>
                  <a:lnTo>
                    <a:pt x="299135" y="31686"/>
                  </a:lnTo>
                  <a:lnTo>
                    <a:pt x="275209" y="66560"/>
                  </a:lnTo>
                  <a:lnTo>
                    <a:pt x="266179" y="109435"/>
                  </a:lnTo>
                  <a:lnTo>
                    <a:pt x="272630" y="147599"/>
                  </a:lnTo>
                  <a:lnTo>
                    <a:pt x="291045" y="180098"/>
                  </a:lnTo>
                  <a:lnTo>
                    <a:pt x="319024" y="204508"/>
                  </a:lnTo>
                  <a:lnTo>
                    <a:pt x="354164" y="218376"/>
                  </a:lnTo>
                  <a:lnTo>
                    <a:pt x="351815" y="231508"/>
                  </a:lnTo>
                  <a:lnTo>
                    <a:pt x="347611" y="243890"/>
                  </a:lnTo>
                  <a:lnTo>
                    <a:pt x="342366" y="255092"/>
                  </a:lnTo>
                  <a:lnTo>
                    <a:pt x="336880" y="264617"/>
                  </a:lnTo>
                  <a:lnTo>
                    <a:pt x="334010" y="271538"/>
                  </a:lnTo>
                  <a:lnTo>
                    <a:pt x="359359" y="299237"/>
                  </a:lnTo>
                  <a:lnTo>
                    <a:pt x="366369" y="297065"/>
                  </a:lnTo>
                  <a:lnTo>
                    <a:pt x="416509" y="261975"/>
                  </a:lnTo>
                  <a:lnTo>
                    <a:pt x="450392" y="220446"/>
                  </a:lnTo>
                  <a:lnTo>
                    <a:pt x="471182" y="178549"/>
                  </a:lnTo>
                  <a:lnTo>
                    <a:pt x="484073" y="134886"/>
                  </a:lnTo>
                  <a:lnTo>
                    <a:pt x="486473" y="119291"/>
                  </a:lnTo>
                  <a:lnTo>
                    <a:pt x="486829" y="111239"/>
                  </a:lnTo>
                  <a:close/>
                </a:path>
              </a:pathLst>
            </a:custGeom>
            <a:solidFill>
              <a:srgbClr val="673C95"/>
            </a:solidFill>
          </p:spPr>
          <p:txBody>
            <a:bodyPr wrap="square" lIns="0" tIns="0" rIns="0" bIns="0" rtlCol="0"/>
            <a:lstStyle/>
            <a:p>
              <a:endParaRPr lang="pt-PT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550954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20F1-CBEB-E613-829F-ECD511AD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6D37A2E-C42C-07B9-C464-267A096DE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252" y="2921714"/>
            <a:ext cx="11589598" cy="7225822"/>
          </a:xfrm>
        </p:spPr>
        <p:txBody>
          <a:bodyPr>
            <a:normAutofit/>
          </a:bodyPr>
          <a:lstStyle/>
          <a:p>
            <a:pPr marL="592138" indent="-592138">
              <a:buSzPct val="125000"/>
              <a:buBlip>
                <a:blip r:embed="rId3"/>
              </a:buBlip>
            </a:pPr>
            <a:r>
              <a:rPr lang="pt-PT" noProof="0" dirty="0"/>
              <a:t>No sistema fiduciário, governos e bancos controlam as regras e os cidadãos apenas seguem essas instituições.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noProof="0" dirty="0"/>
              <a:t>Este modelo criou limitações e dependência, especialmente para famílias com menos recursos.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noProof="0" dirty="0"/>
              <a:t>O Bitcoin substitui governantes por regras matemáticas, oferecendo liberdade e autonomia financeira.</a:t>
            </a:r>
          </a:p>
          <a:p>
            <a:pPr marL="592138" indent="-592138">
              <a:buSzPct val="125000"/>
              <a:buBlip>
                <a:blip r:embed="rId3"/>
              </a:buBlip>
            </a:pPr>
            <a:r>
              <a:rPr lang="pt-PT" noProof="0" dirty="0"/>
              <a:t>Com o Bitcoin, tu és o teu próprio banco — Tens controlo total, mas também responsabilidade total</a:t>
            </a:r>
            <a:br>
              <a:rPr lang="pt-PT" noProof="0" dirty="0"/>
            </a:br>
            <a:r>
              <a:rPr lang="pt-PT" noProof="0" dirty="0"/>
              <a:t>(perda das chaves = perda dos fundos).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9B3899E-25FB-25FF-AE00-CF35E0E00F00}"/>
              </a:ext>
            </a:extLst>
          </p:cNvPr>
          <p:cNvSpPr txBox="1">
            <a:spLocks/>
          </p:cNvSpPr>
          <p:nvPr/>
        </p:nvSpPr>
        <p:spPr>
          <a:xfrm>
            <a:off x="15035215" y="5708650"/>
            <a:ext cx="4397544" cy="1471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3200" b="1" i="0" kern="1200" dirty="0" smtClean="0">
                <a:solidFill>
                  <a:srgbClr val="251B5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PT" sz="2000" b="1" kern="1200" spc="-1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rgbClr val="58595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ct val="125000"/>
            </a:pPr>
            <a:r>
              <a:rPr lang="pt-PT" sz="2400" spc="10" noProof="0" dirty="0">
                <a:solidFill>
                  <a:srgbClr val="241B54"/>
                </a:solidFill>
                <a:latin typeface="Open Sans"/>
                <a:cs typeface="Open Sans"/>
              </a:rPr>
              <a:t>Aprender a usar e proteger o Bitcoin é essencial para garantir segurança e independência!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818F9E5-0E72-CF49-E9AA-DF4A0BA06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13" y="601664"/>
            <a:ext cx="17338675" cy="1471611"/>
          </a:xfrm>
        </p:spPr>
        <p:txBody>
          <a:bodyPr>
            <a:noAutofit/>
          </a:bodyPr>
          <a:lstStyle/>
          <a:p>
            <a:r>
              <a:rPr lang="pt-PT" sz="6500" noProof="0" dirty="0"/>
              <a:t>6.2.3 Adoção da responsabilidade pessoal</a:t>
            </a:r>
          </a:p>
        </p:txBody>
      </p:sp>
      <p:pic>
        <p:nvPicPr>
          <p:cNvPr id="9" name="object 11">
            <a:extLst>
              <a:ext uri="{FF2B5EF4-FFF2-40B4-BE49-F238E27FC236}">
                <a16:creationId xmlns:a16="http://schemas.microsoft.com/office/drawing/2014/main" id="{2BFC2192-4B1A-A638-7BC2-3E36ED2480CE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328650" y="7628152"/>
            <a:ext cx="3905337" cy="368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77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a yellow sun and black text&#10;&#10;AI-generated content may be incorrect.">
            <a:extLst>
              <a:ext uri="{FF2B5EF4-FFF2-40B4-BE49-F238E27FC236}">
                <a16:creationId xmlns:a16="http://schemas.microsoft.com/office/drawing/2014/main" id="{5C804049-FBAA-4F11-AD08-1A3A749D7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50" y="3582035"/>
            <a:ext cx="7772400" cy="41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7846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1661</TotalTime>
  <Words>823</Words>
  <Application>Microsoft Macintosh PowerPoint</Application>
  <PresentationFormat>Custom</PresentationFormat>
  <Paragraphs>111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Open Sans</vt:lpstr>
      <vt:lpstr>Open Sans Light</vt:lpstr>
      <vt:lpstr>Ubuntu Light</vt:lpstr>
      <vt:lpstr>1_Custom Design</vt:lpstr>
      <vt:lpstr>Uma introdução ao Bitcoin</vt:lpstr>
      <vt:lpstr>6.0 Satoshi Nakamoto e a criação do Bitcoin</vt:lpstr>
      <vt:lpstr>6.0 Satoshi Nakamoto e a criação do Bitcoin</vt:lpstr>
      <vt:lpstr>6.0 Satoshi Nakamoto e a criação do Bitcoin</vt:lpstr>
      <vt:lpstr>6.0 Satoshi Nakamoto e a criação do Bitcoin</vt:lpstr>
      <vt:lpstr>6.1 Como funciona o Bitcoin?</vt:lpstr>
      <vt:lpstr>6.1.2 Os intervenientes</vt:lpstr>
      <vt:lpstr>6.2 O bitcoin como moeda digital forte</vt:lpstr>
      <vt:lpstr>6.2.2 Características do Bitcoin</vt:lpstr>
      <vt:lpstr>6.2.2 Características do Bitcoin</vt:lpstr>
      <vt:lpstr>6.2.3 Adoção da responsabilidade pessoal</vt:lpstr>
      <vt:lpstr>6.2.3 Adoção da responsabilidade pessoal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Source</dc:title>
  <dc:creator>z2020</dc:creator>
  <cp:lastModifiedBy>INES RAMALHETE SALVADO PAZ LOURO</cp:lastModifiedBy>
  <cp:revision>174</cp:revision>
  <cp:lastPrinted>2025-10-26T08:09:18Z</cp:lastPrinted>
  <dcterms:created xsi:type="dcterms:W3CDTF">2024-11-12T03:26:48Z</dcterms:created>
  <dcterms:modified xsi:type="dcterms:W3CDTF">2025-11-01T11:50:20Z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2024-11-12T00:00:00Z</vt:filetime>
  </property>
  <property fmtid="{D5CDD505-2E9C-101B-9397-08002B2CF9AE}" pid="3" name="Creator">
    <vt:lpwstr>Adobe Illustrator 29.0 (Windows)</vt:lpwstr>
  </property>
  <property fmtid="{D5CDD505-2E9C-101B-9397-08002B2CF9AE}" pid="4" name="LastSaved">
    <vt:filetime>2024-11-12T00:00:00Z</vt:filetime>
  </property>
  <property fmtid="{D5CDD505-2E9C-101B-9397-08002B2CF9AE}" pid="5" name="Producer">
    <vt:lpwstr>Adobe PDF library 17.00</vt:lpwstr>
  </property>
</Properties>
</file>