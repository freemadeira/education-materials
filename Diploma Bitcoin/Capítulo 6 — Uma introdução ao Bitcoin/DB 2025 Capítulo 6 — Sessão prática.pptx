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8" r:id="rId1"/>
  </p:sldMasterIdLst>
  <p:notesMasterIdLst>
    <p:notesMasterId r:id="rId11"/>
  </p:notesMasterIdLst>
  <p:sldIdLst>
    <p:sldId id="260" r:id="rId2"/>
    <p:sldId id="274" r:id="rId3"/>
    <p:sldId id="280" r:id="rId4"/>
    <p:sldId id="281" r:id="rId5"/>
    <p:sldId id="282" r:id="rId6"/>
    <p:sldId id="283" r:id="rId7"/>
    <p:sldId id="278" r:id="rId8"/>
    <p:sldId id="269" r:id="rId9"/>
    <p:sldId id="268" r:id="rId10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39138"/>
    <a:srgbClr val="53AEDE"/>
    <a:srgbClr val="FBB040"/>
    <a:srgbClr val="8C2830"/>
    <a:srgbClr val="CCBBE9"/>
    <a:srgbClr val="FF9415"/>
    <a:srgbClr val="58595B"/>
    <a:srgbClr val="E4E0FD"/>
    <a:srgbClr val="392569"/>
    <a:srgbClr val="1613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16"/>
    <p:restoredTop sz="93444"/>
  </p:normalViewPr>
  <p:slideViewPr>
    <p:cSldViewPr>
      <p:cViewPr varScale="1">
        <p:scale>
          <a:sx n="59" d="100"/>
          <a:sy n="59" d="100"/>
        </p:scale>
        <p:origin x="1576" y="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806190-753F-B441-B6BD-4CD1B6C676A4}" type="datetimeFigureOut">
              <a:rPr lang="en-PT" smtClean="0"/>
              <a:t>01/11/2025</a:t>
            </a:fld>
            <a:endParaRPr lang="en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2BDFA0-B2CB-F643-A7D4-44C1F02A8DE8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007679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7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740793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3">
            <a:extLst>
              <a:ext uri="{FF2B5EF4-FFF2-40B4-BE49-F238E27FC236}">
                <a16:creationId xmlns:a16="http://schemas.microsoft.com/office/drawing/2014/main" id="{8989FBFA-0A59-F895-70E1-7D2A78E89463}"/>
              </a:ext>
            </a:extLst>
          </p:cNvPr>
          <p:cNvSpPr txBox="1"/>
          <p:nvPr userDrawn="1"/>
        </p:nvSpPr>
        <p:spPr>
          <a:xfrm>
            <a:off x="15919450" y="10284003"/>
            <a:ext cx="2790723" cy="414857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algn="r">
              <a:spcBef>
                <a:spcPts val="595"/>
              </a:spcBef>
            </a:pPr>
            <a:r>
              <a:rPr lang="pt-PT" sz="2200" b="1" i="1" dirty="0">
                <a:solidFill>
                  <a:srgbClr val="FFFFFF"/>
                </a:solidFill>
                <a:latin typeface="Open Sans"/>
                <a:cs typeface="Open Sans"/>
              </a:rPr>
              <a:t>2025</a:t>
            </a:r>
            <a:endParaRPr sz="1650" dirty="0">
              <a:latin typeface="Open Sans Light"/>
              <a:cs typeface="Open Sans Light"/>
            </a:endParaRPr>
          </a:p>
        </p:txBody>
      </p:sp>
      <p:pic>
        <p:nvPicPr>
          <p:cNvPr id="11" name="object 4">
            <a:extLst>
              <a:ext uri="{FF2B5EF4-FFF2-40B4-BE49-F238E27FC236}">
                <a16:creationId xmlns:a16="http://schemas.microsoft.com/office/drawing/2014/main" id="{614F2C05-B827-E769-869E-A3BF56A914E1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7461636" y="9540875"/>
            <a:ext cx="1273721" cy="678795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B713F4C0-5C97-2B8D-A32C-F48226619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9548" y="1642219"/>
            <a:ext cx="17338675" cy="1463700"/>
          </a:xfrm>
        </p:spPr>
        <p:txBody>
          <a:bodyPr anchor="t">
            <a:normAutofit/>
          </a:bodyPr>
          <a:lstStyle>
            <a:lvl1pPr>
              <a:defRPr lang="en-PT" sz="7400" b="1" i="0" kern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2E312E16-9584-D7B3-7B88-21458C9FBADE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1383517" y="601663"/>
            <a:ext cx="17313491" cy="9762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lang="en-PT" sz="5800" b="0" i="0" dirty="0">
                <a:solidFill>
                  <a:schemeClr val="bg1"/>
                </a:solidFill>
                <a:latin typeface="Ubuntu Light"/>
                <a:ea typeface="+mj-ea"/>
                <a:cs typeface="Ubuntu Ligh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PT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5B12DCEC-016D-97EA-5E80-9A1084974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2" y="3368675"/>
            <a:ext cx="17338675" cy="73390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 sz="3200">
                <a:solidFill>
                  <a:schemeClr val="bg1"/>
                </a:solidFill>
              </a:defRPr>
            </a:lvl2pPr>
            <a:lvl3pPr marL="914400" indent="0">
              <a:buNone/>
              <a:defRPr sz="28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227383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1F7DA-DD75-4AF1-99D3-BACF7C5CA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3013" y="1851025"/>
            <a:ext cx="15078075" cy="3937000"/>
          </a:xfrm>
        </p:spPr>
        <p:txBody>
          <a:bodyPr anchor="b">
            <a:normAutofit/>
          </a:bodyPr>
          <a:lstStyle>
            <a:lvl1pPr algn="ctr">
              <a:defRPr lang="en-PT" sz="7400" b="1" i="0" kern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8F8D16-9FCF-612A-CB90-38F6CEA146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3013" y="5940425"/>
            <a:ext cx="15078075" cy="27305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lang="en-PT" sz="5800" b="0" i="0" kern="1200" spc="-25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778572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A4A01-9D54-73A9-7F54-31626191B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601664"/>
            <a:ext cx="17338675" cy="1472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02D9D-896F-FB87-A8A7-DC5D858D4F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3" y="2301875"/>
            <a:ext cx="8593137" cy="8405811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DC2BF4-CC5D-4E9E-838E-93C00EABBF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28250" y="2301875"/>
            <a:ext cx="8593138" cy="8405811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6066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BF709-FAF1-2507-082C-24B92C7BE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300" y="601663"/>
            <a:ext cx="17340263" cy="1472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PT"/>
            </a:lvl1pPr>
          </a:lstStyle>
          <a:p>
            <a:pPr lvl="0"/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E7870-07E7-9960-2FD7-CC65D9768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4300" y="2237964"/>
            <a:ext cx="8505825" cy="1080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lang="en-GB" sz="3200" b="1" i="0" kern="1200" dirty="0" smtClean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3CD55D-ADCF-8B08-2444-3E6F436EAB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84300" y="3481865"/>
            <a:ext cx="8505825" cy="7225822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B58E6B-9046-4406-1246-9D0D85EB35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177463" y="2237964"/>
            <a:ext cx="8547100" cy="1080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lang="en-GB" sz="3200" b="1" i="0" kern="1200" smtClean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4C1B51-CDD4-A4F7-DA9D-B40D1A3813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177463" y="3481865"/>
            <a:ext cx="8547100" cy="7225822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66560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CBE64-74E1-AAFB-2FEC-3C7C28084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246849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CBE64-74E1-AAFB-2FEC-3C7C28084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86287BF9-E319-1393-4A5E-804B9FC0B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3" y="2301875"/>
            <a:ext cx="17338675" cy="8405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799640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051E5-DEA9-6BF8-6F9B-EEE66AE7C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300" y="754063"/>
            <a:ext cx="8439150" cy="1364400"/>
          </a:xfrm>
        </p:spPr>
        <p:txBody>
          <a:bodyPr anchor="ctr">
            <a:noAutofit/>
          </a:bodyPr>
          <a:lstStyle>
            <a:lvl1pPr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7653D5-7794-C41A-9DD6-3910C4EAAF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052050" y="1628775"/>
            <a:ext cx="8672513" cy="89265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T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31992960-9DC4-AC57-14E2-FE9C2142B8B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82713" y="2301875"/>
            <a:ext cx="8439151" cy="8253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2410645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16938-309D-4211-98D7-1067DBDB07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 err="1"/>
              <a:t>Caixas</a:t>
            </a:r>
            <a:r>
              <a:rPr lang="en-GB" dirty="0"/>
              <a:t> de </a:t>
            </a:r>
            <a:r>
              <a:rPr lang="en-GB" dirty="0" err="1"/>
              <a:t>texto</a:t>
            </a:r>
            <a:endParaRPr lang="en-PT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F8E8CE-5C66-BFF0-8EBA-AFCAC710C6D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441450" y="2225675"/>
            <a:ext cx="17230977" cy="4600756"/>
            <a:chOff x="2813050" y="4486266"/>
            <a:chExt cx="15308802" cy="4087526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07D29E82-B7E4-1BE8-E299-86B33C4D5471}"/>
                </a:ext>
              </a:extLst>
            </p:cNvPr>
            <p:cNvSpPr/>
            <p:nvPr/>
          </p:nvSpPr>
          <p:spPr>
            <a:xfrm>
              <a:off x="2813050" y="4892675"/>
              <a:ext cx="15308802" cy="3339117"/>
            </a:xfrm>
            <a:prstGeom prst="roundRect">
              <a:avLst/>
            </a:prstGeom>
            <a:gradFill flip="none" rotWithShape="1">
              <a:gsLst>
                <a:gs pos="64000">
                  <a:srgbClr val="E4E0FD"/>
                </a:gs>
                <a:gs pos="22000">
                  <a:srgbClr val="F1EEFE"/>
                </a:gs>
                <a:gs pos="0">
                  <a:srgbClr val="FEFEFF"/>
                </a:gs>
              </a:gsLst>
              <a:lin ang="16200000" scaled="1"/>
              <a:tileRect/>
            </a:gradFill>
            <a:ln w="12700">
              <a:solidFill>
                <a:srgbClr val="6139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0" rIns="540000" rtlCol="0" anchor="ctr"/>
            <a:lstStyle/>
            <a:p>
              <a:pPr algn="ctr"/>
              <a:endParaRPr lang="en-GB" sz="3200" b="1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FA58915-BF8B-865E-2A90-E53EDFD6E0C1}"/>
                </a:ext>
              </a:extLst>
            </p:cNvPr>
            <p:cNvGrpSpPr/>
            <p:nvPr/>
          </p:nvGrpSpPr>
          <p:grpSpPr>
            <a:xfrm>
              <a:off x="3339290" y="4486266"/>
              <a:ext cx="1113010" cy="684000"/>
              <a:chOff x="3117850" y="2659357"/>
              <a:chExt cx="1113010" cy="684000"/>
            </a:xfrm>
          </p:grpSpPr>
          <p:pic>
            <p:nvPicPr>
              <p:cNvPr id="9" name="object 10">
                <a:extLst>
                  <a:ext uri="{FF2B5EF4-FFF2-40B4-BE49-F238E27FC236}">
                    <a16:creationId xmlns:a16="http://schemas.microsoft.com/office/drawing/2014/main" id="{96F4CA46-016A-4A4A-D7A9-BB0AD2137AAD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727450" y="2659357"/>
                <a:ext cx="503410" cy="684000"/>
              </a:xfrm>
              <a:prstGeom prst="rect">
                <a:avLst/>
              </a:prstGeom>
            </p:spPr>
          </p:pic>
          <p:pic>
            <p:nvPicPr>
              <p:cNvPr id="10" name="object 10">
                <a:extLst>
                  <a:ext uri="{FF2B5EF4-FFF2-40B4-BE49-F238E27FC236}">
                    <a16:creationId xmlns:a16="http://schemas.microsoft.com/office/drawing/2014/main" id="{73D0768D-76BA-0C17-37C3-4306316DE19F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117850" y="2659357"/>
                <a:ext cx="503410" cy="684000"/>
              </a:xfrm>
              <a:prstGeom prst="rect">
                <a:avLst/>
              </a:prstGeom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8D3AAAC-924D-2E08-3F08-2FBEC9E4EDC1}"/>
                </a:ext>
              </a:extLst>
            </p:cNvPr>
            <p:cNvGrpSpPr/>
            <p:nvPr/>
          </p:nvGrpSpPr>
          <p:grpSpPr>
            <a:xfrm rot="10800000">
              <a:off x="16468044" y="7889792"/>
              <a:ext cx="1113010" cy="684000"/>
              <a:chOff x="3117850" y="2659357"/>
              <a:chExt cx="1113010" cy="684000"/>
            </a:xfrm>
          </p:grpSpPr>
          <p:pic>
            <p:nvPicPr>
              <p:cNvPr id="7" name="object 10">
                <a:extLst>
                  <a:ext uri="{FF2B5EF4-FFF2-40B4-BE49-F238E27FC236}">
                    <a16:creationId xmlns:a16="http://schemas.microsoft.com/office/drawing/2014/main" id="{49008B3A-3CD4-5144-57BC-BC850EC74CB5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727450" y="2659357"/>
                <a:ext cx="503410" cy="684000"/>
              </a:xfrm>
              <a:prstGeom prst="rect">
                <a:avLst/>
              </a:prstGeom>
            </p:spPr>
          </p:pic>
          <p:pic>
            <p:nvPicPr>
              <p:cNvPr id="8" name="object 10">
                <a:extLst>
                  <a:ext uri="{FF2B5EF4-FFF2-40B4-BE49-F238E27FC236}">
                    <a16:creationId xmlns:a16="http://schemas.microsoft.com/office/drawing/2014/main" id="{AA2A24D8-7CD5-2334-B6D3-4C84B1D9CEE4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117850" y="2659357"/>
                <a:ext cx="503410" cy="684000"/>
              </a:xfrm>
              <a:prstGeom prst="rect">
                <a:avLst/>
              </a:prstGeom>
            </p:spPr>
          </p:pic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5623DCB-56B2-0700-16EE-D45981DA30F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441450" y="6768919"/>
            <a:ext cx="17293152" cy="4448356"/>
            <a:chOff x="2432050" y="2478758"/>
            <a:chExt cx="15308802" cy="3937917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F0CEF03E-A728-A527-B2E8-FAC006662993}"/>
                </a:ext>
              </a:extLst>
            </p:cNvPr>
            <p:cNvSpPr/>
            <p:nvPr/>
          </p:nvSpPr>
          <p:spPr>
            <a:xfrm>
              <a:off x="2432050" y="2811758"/>
              <a:ext cx="15308802" cy="3339117"/>
            </a:xfrm>
            <a:prstGeom prst="roundRect">
              <a:avLst/>
            </a:prstGeom>
            <a:gradFill flip="none" rotWithShape="1">
              <a:gsLst>
                <a:gs pos="7000">
                  <a:srgbClr val="161346"/>
                </a:gs>
                <a:gs pos="69000">
                  <a:srgbClr val="392569"/>
                </a:gs>
                <a:gs pos="99000">
                  <a:srgbClr val="653B93"/>
                </a:gs>
              </a:gsLst>
              <a:lin ang="10800000" scaled="1"/>
              <a:tileRect/>
            </a:gradFill>
            <a:ln w="12700">
              <a:solidFill>
                <a:srgbClr val="6139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0" rIns="540000" rtlCol="0" anchor="ctr"/>
            <a:lstStyle/>
            <a:p>
              <a:pPr algn="ctr"/>
              <a:endParaRPr lang="en-GB" sz="3200" b="1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3" name="object 16">
              <a:extLst>
                <a:ext uri="{FF2B5EF4-FFF2-40B4-BE49-F238E27FC236}">
                  <a16:creationId xmlns:a16="http://schemas.microsoft.com/office/drawing/2014/main" id="{B3CFF4FB-E36B-1EA1-B4E9-8FF0EC3C20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89250" y="2478758"/>
              <a:ext cx="1082250" cy="666000"/>
            </a:xfrm>
            <a:custGeom>
              <a:avLst/>
              <a:gdLst/>
              <a:ahLst/>
              <a:cxnLst/>
              <a:rect l="l" t="t" r="r" b="b"/>
              <a:pathLst>
                <a:path w="487044" h="299720">
                  <a:moveTo>
                    <a:pt x="220649" y="109423"/>
                  </a:moveTo>
                  <a:lnTo>
                    <a:pt x="211632" y="66548"/>
                  </a:lnTo>
                  <a:lnTo>
                    <a:pt x="187693" y="31673"/>
                  </a:lnTo>
                  <a:lnTo>
                    <a:pt x="152438" y="8318"/>
                  </a:lnTo>
                  <a:lnTo>
                    <a:pt x="109423" y="0"/>
                  </a:lnTo>
                  <a:lnTo>
                    <a:pt x="66548" y="9017"/>
                  </a:lnTo>
                  <a:lnTo>
                    <a:pt x="31673" y="32956"/>
                  </a:lnTo>
                  <a:lnTo>
                    <a:pt x="8318" y="68224"/>
                  </a:lnTo>
                  <a:lnTo>
                    <a:pt x="0" y="111239"/>
                  </a:lnTo>
                  <a:lnTo>
                    <a:pt x="368" y="119291"/>
                  </a:lnTo>
                  <a:lnTo>
                    <a:pt x="15646" y="178536"/>
                  </a:lnTo>
                  <a:lnTo>
                    <a:pt x="36449" y="220433"/>
                  </a:lnTo>
                  <a:lnTo>
                    <a:pt x="70332" y="261975"/>
                  </a:lnTo>
                  <a:lnTo>
                    <a:pt x="120472" y="297065"/>
                  </a:lnTo>
                  <a:lnTo>
                    <a:pt x="127469" y="299237"/>
                  </a:lnTo>
                  <a:lnTo>
                    <a:pt x="134632" y="299059"/>
                  </a:lnTo>
                  <a:lnTo>
                    <a:pt x="144462" y="255079"/>
                  </a:lnTo>
                  <a:lnTo>
                    <a:pt x="139217" y="243890"/>
                  </a:lnTo>
                  <a:lnTo>
                    <a:pt x="135013" y="231495"/>
                  </a:lnTo>
                  <a:lnTo>
                    <a:pt x="132664" y="218376"/>
                  </a:lnTo>
                  <a:lnTo>
                    <a:pt x="167817" y="204495"/>
                  </a:lnTo>
                  <a:lnTo>
                    <a:pt x="195783" y="180086"/>
                  </a:lnTo>
                  <a:lnTo>
                    <a:pt x="214198" y="147586"/>
                  </a:lnTo>
                  <a:lnTo>
                    <a:pt x="220649" y="109423"/>
                  </a:lnTo>
                  <a:close/>
                </a:path>
                <a:path w="487044" h="299720">
                  <a:moveTo>
                    <a:pt x="486829" y="110324"/>
                  </a:moveTo>
                  <a:lnTo>
                    <a:pt x="478167" y="67386"/>
                  </a:lnTo>
                  <a:lnTo>
                    <a:pt x="454520" y="32308"/>
                  </a:lnTo>
                  <a:lnTo>
                    <a:pt x="419455" y="8661"/>
                  </a:lnTo>
                  <a:lnTo>
                    <a:pt x="376516" y="0"/>
                  </a:lnTo>
                  <a:lnTo>
                    <a:pt x="333565" y="8661"/>
                  </a:lnTo>
                  <a:lnTo>
                    <a:pt x="298488" y="32308"/>
                  </a:lnTo>
                  <a:lnTo>
                    <a:pt x="274853" y="67386"/>
                  </a:lnTo>
                  <a:lnTo>
                    <a:pt x="266179" y="110324"/>
                  </a:lnTo>
                  <a:lnTo>
                    <a:pt x="266471" y="118376"/>
                  </a:lnTo>
                  <a:lnTo>
                    <a:pt x="281266" y="177749"/>
                  </a:lnTo>
                  <a:lnTo>
                    <a:pt x="301726" y="219811"/>
                  </a:lnTo>
                  <a:lnTo>
                    <a:pt x="335267" y="261632"/>
                  </a:lnTo>
                  <a:lnTo>
                    <a:pt x="385114" y="297141"/>
                  </a:lnTo>
                  <a:lnTo>
                    <a:pt x="392112" y="299364"/>
                  </a:lnTo>
                  <a:lnTo>
                    <a:pt x="399275" y="299250"/>
                  </a:lnTo>
                  <a:lnTo>
                    <a:pt x="409460" y="255346"/>
                  </a:lnTo>
                  <a:lnTo>
                    <a:pt x="404304" y="244119"/>
                  </a:lnTo>
                  <a:lnTo>
                    <a:pt x="400215" y="231698"/>
                  </a:lnTo>
                  <a:lnTo>
                    <a:pt x="397967" y="218567"/>
                  </a:lnTo>
                  <a:lnTo>
                    <a:pt x="433222" y="204965"/>
                  </a:lnTo>
                  <a:lnTo>
                    <a:pt x="461391" y="180797"/>
                  </a:lnTo>
                  <a:lnTo>
                    <a:pt x="480072" y="148437"/>
                  </a:lnTo>
                  <a:lnTo>
                    <a:pt x="486829" y="110324"/>
                  </a:lnTo>
                  <a:close/>
                </a:path>
              </a:pathLst>
            </a:custGeom>
            <a:solidFill>
              <a:srgbClr val="251B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7">
              <a:extLst>
                <a:ext uri="{FF2B5EF4-FFF2-40B4-BE49-F238E27FC236}">
                  <a16:creationId xmlns:a16="http://schemas.microsoft.com/office/drawing/2014/main" id="{FD38801D-612D-53A9-E76A-87F1708446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148050" y="5751986"/>
              <a:ext cx="1080119" cy="664689"/>
            </a:xfrm>
            <a:custGeom>
              <a:avLst/>
              <a:gdLst/>
              <a:ahLst/>
              <a:cxnLst/>
              <a:rect l="l" t="t" r="r" b="b"/>
              <a:pathLst>
                <a:path w="487045" h="299720">
                  <a:moveTo>
                    <a:pt x="220649" y="110337"/>
                  </a:moveTo>
                  <a:lnTo>
                    <a:pt x="211988" y="67398"/>
                  </a:lnTo>
                  <a:lnTo>
                    <a:pt x="188341" y="32321"/>
                  </a:lnTo>
                  <a:lnTo>
                    <a:pt x="153263" y="8674"/>
                  </a:lnTo>
                  <a:lnTo>
                    <a:pt x="110324" y="0"/>
                  </a:lnTo>
                  <a:lnTo>
                    <a:pt x="67373" y="8674"/>
                  </a:lnTo>
                  <a:lnTo>
                    <a:pt x="32308" y="32321"/>
                  </a:lnTo>
                  <a:lnTo>
                    <a:pt x="8674" y="67398"/>
                  </a:lnTo>
                  <a:lnTo>
                    <a:pt x="0" y="110337"/>
                  </a:lnTo>
                  <a:lnTo>
                    <a:pt x="6769" y="148450"/>
                  </a:lnTo>
                  <a:lnTo>
                    <a:pt x="25438" y="180797"/>
                  </a:lnTo>
                  <a:lnTo>
                    <a:pt x="53619" y="204978"/>
                  </a:lnTo>
                  <a:lnTo>
                    <a:pt x="88861" y="218579"/>
                  </a:lnTo>
                  <a:lnTo>
                    <a:pt x="86626" y="231711"/>
                  </a:lnTo>
                  <a:lnTo>
                    <a:pt x="82524" y="244119"/>
                  </a:lnTo>
                  <a:lnTo>
                    <a:pt x="77368" y="255358"/>
                  </a:lnTo>
                  <a:lnTo>
                    <a:pt x="71970" y="264934"/>
                  </a:lnTo>
                  <a:lnTo>
                    <a:pt x="69164" y="271881"/>
                  </a:lnTo>
                  <a:lnTo>
                    <a:pt x="94729" y="299377"/>
                  </a:lnTo>
                  <a:lnTo>
                    <a:pt x="101714" y="297141"/>
                  </a:lnTo>
                  <a:lnTo>
                    <a:pt x="151561" y="261645"/>
                  </a:lnTo>
                  <a:lnTo>
                    <a:pt x="185102" y="219824"/>
                  </a:lnTo>
                  <a:lnTo>
                    <a:pt x="205562" y="177761"/>
                  </a:lnTo>
                  <a:lnTo>
                    <a:pt x="218084" y="133997"/>
                  </a:lnTo>
                  <a:lnTo>
                    <a:pt x="220357" y="118389"/>
                  </a:lnTo>
                  <a:lnTo>
                    <a:pt x="220649" y="110337"/>
                  </a:lnTo>
                  <a:close/>
                </a:path>
                <a:path w="487045" h="299720">
                  <a:moveTo>
                    <a:pt x="486829" y="111239"/>
                  </a:moveTo>
                  <a:lnTo>
                    <a:pt x="478510" y="68224"/>
                  </a:lnTo>
                  <a:lnTo>
                    <a:pt x="455155" y="32969"/>
                  </a:lnTo>
                  <a:lnTo>
                    <a:pt x="420281" y="9029"/>
                  </a:lnTo>
                  <a:lnTo>
                    <a:pt x="377418" y="12"/>
                  </a:lnTo>
                  <a:lnTo>
                    <a:pt x="334403" y="8331"/>
                  </a:lnTo>
                  <a:lnTo>
                    <a:pt x="299135" y="31686"/>
                  </a:lnTo>
                  <a:lnTo>
                    <a:pt x="275209" y="66560"/>
                  </a:lnTo>
                  <a:lnTo>
                    <a:pt x="266179" y="109435"/>
                  </a:lnTo>
                  <a:lnTo>
                    <a:pt x="272630" y="147599"/>
                  </a:lnTo>
                  <a:lnTo>
                    <a:pt x="291045" y="180098"/>
                  </a:lnTo>
                  <a:lnTo>
                    <a:pt x="319024" y="204508"/>
                  </a:lnTo>
                  <a:lnTo>
                    <a:pt x="354164" y="218376"/>
                  </a:lnTo>
                  <a:lnTo>
                    <a:pt x="351815" y="231508"/>
                  </a:lnTo>
                  <a:lnTo>
                    <a:pt x="347611" y="243890"/>
                  </a:lnTo>
                  <a:lnTo>
                    <a:pt x="342366" y="255092"/>
                  </a:lnTo>
                  <a:lnTo>
                    <a:pt x="336880" y="264617"/>
                  </a:lnTo>
                  <a:lnTo>
                    <a:pt x="334010" y="271538"/>
                  </a:lnTo>
                  <a:lnTo>
                    <a:pt x="359359" y="299237"/>
                  </a:lnTo>
                  <a:lnTo>
                    <a:pt x="366369" y="297065"/>
                  </a:lnTo>
                  <a:lnTo>
                    <a:pt x="416509" y="261975"/>
                  </a:lnTo>
                  <a:lnTo>
                    <a:pt x="450392" y="220446"/>
                  </a:lnTo>
                  <a:lnTo>
                    <a:pt x="471182" y="178549"/>
                  </a:lnTo>
                  <a:lnTo>
                    <a:pt x="484073" y="134886"/>
                  </a:lnTo>
                  <a:lnTo>
                    <a:pt x="486473" y="119291"/>
                  </a:lnTo>
                  <a:lnTo>
                    <a:pt x="486829" y="111239"/>
                  </a:lnTo>
                  <a:close/>
                </a:path>
              </a:pathLst>
            </a:custGeom>
            <a:solidFill>
              <a:srgbClr val="673C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42223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with a yellow sun and black text&#10;&#10;AI-generated content may be incorrect.">
            <a:extLst>
              <a:ext uri="{FF2B5EF4-FFF2-40B4-BE49-F238E27FC236}">
                <a16:creationId xmlns:a16="http://schemas.microsoft.com/office/drawing/2014/main" id="{2C462808-59C4-0F22-BB9F-CCDF019BB6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850" y="3582035"/>
            <a:ext cx="7772400" cy="414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833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úvid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CE3253F-773F-42FB-EB13-8F960268D436}"/>
              </a:ext>
            </a:extLst>
          </p:cNvPr>
          <p:cNvSpPr txBox="1">
            <a:spLocks/>
          </p:cNvSpPr>
          <p:nvPr userDrawn="1"/>
        </p:nvSpPr>
        <p:spPr>
          <a:xfrm>
            <a:off x="1382713" y="4918870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 err="1"/>
              <a:t>Esclarecimento</a:t>
            </a:r>
            <a:r>
              <a:rPr lang="en-GB" dirty="0"/>
              <a:t> de </a:t>
            </a:r>
            <a:r>
              <a:rPr lang="en-GB" dirty="0" err="1"/>
              <a:t>dúvidas</a:t>
            </a:r>
            <a:endParaRPr lang="en-GB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D50785F-F9BE-8C2E-1CC4-AC143A747D6E}"/>
              </a:ext>
            </a:extLst>
          </p:cNvPr>
          <p:cNvGrpSpPr/>
          <p:nvPr userDrawn="1"/>
        </p:nvGrpSpPr>
        <p:grpSpPr>
          <a:xfrm>
            <a:off x="1382713" y="7788275"/>
            <a:ext cx="2819364" cy="3498604"/>
            <a:chOff x="10661650" y="7173860"/>
            <a:chExt cx="2819364" cy="3498604"/>
          </a:xfrm>
        </p:grpSpPr>
        <p:pic>
          <p:nvPicPr>
            <p:cNvPr id="2052" name="Picture 4" descr="Thinking Bubble, Thought, Creative Free PNG">
              <a:extLst>
                <a:ext uri="{FF2B5EF4-FFF2-40B4-BE49-F238E27FC236}">
                  <a16:creationId xmlns:a16="http://schemas.microsoft.com/office/drawing/2014/main" id="{6C240295-4B5D-5F2D-2499-C58A304CF1F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463873">
              <a:off x="12338014" y="7173860"/>
              <a:ext cx="1143000" cy="12095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object 49">
              <a:extLst>
                <a:ext uri="{FF2B5EF4-FFF2-40B4-BE49-F238E27FC236}">
                  <a16:creationId xmlns:a16="http://schemas.microsoft.com/office/drawing/2014/main" id="{3BF697C5-C66F-8CDC-DA2C-04341361A8CF}"/>
                </a:ext>
              </a:extLst>
            </p:cNvPr>
            <p:cNvPicPr/>
            <p:nvPr userDrawn="1"/>
          </p:nvPicPr>
          <p:blipFill>
            <a:blip r:embed="rId3" cstate="print"/>
            <a:stretch>
              <a:fillRect/>
            </a:stretch>
          </p:blipFill>
          <p:spPr>
            <a:xfrm>
              <a:off x="10661650" y="8093075"/>
              <a:ext cx="2134792" cy="2579389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5D1189C-F066-647C-9B72-285F8BC82E36}"/>
                </a:ext>
              </a:extLst>
            </p:cNvPr>
            <p:cNvSpPr txBox="1"/>
            <p:nvPr userDrawn="1"/>
          </p:nvSpPr>
          <p:spPr>
            <a:xfrm>
              <a:off x="12719050" y="7323634"/>
              <a:ext cx="4572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4000" b="1" i="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49551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1F273-D823-AE26-1462-3E538D7D8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601664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83DB76-D669-AFBE-4517-FAECCDB7E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2713" y="2301875"/>
            <a:ext cx="17338675" cy="8405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108179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9" r:id="rId2"/>
    <p:sldLayoutId id="2147483682" r:id="rId3"/>
    <p:sldLayoutId id="2147483683" r:id="rId4"/>
    <p:sldLayoutId id="2147483684" r:id="rId5"/>
    <p:sldLayoutId id="2147483688" r:id="rId6"/>
    <p:sldLayoutId id="2147483687" r:id="rId7"/>
    <p:sldLayoutId id="2147483689" r:id="rId8"/>
    <p:sldLayoutId id="2147483690" r:id="rId9"/>
    <p:sldLayoutId id="214748369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PT" sz="7400" b="1" i="0" kern="1200" dirty="0">
          <a:solidFill>
            <a:srgbClr val="251B55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lang="en-PT" sz="2800" kern="1200" spc="-10" dirty="0" smtClean="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9515B-A057-7374-4463-2EFD066FD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dirty="0"/>
              <a:t>Uma introdução ao Bitcoin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3B419-C206-2CAA-7F36-14E774E4B75C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pt-PT" dirty="0"/>
              <a:t>Capítulo #6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6E78AC-9731-A805-E836-E847F667B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PT" dirty="0"/>
              <a:t>Atividade: Quem controla as contas? — Centralização vs. Descentralização</a:t>
            </a:r>
          </a:p>
          <a:p>
            <a:r>
              <a:rPr lang="pt-PT" dirty="0"/>
              <a:t>Exercício de turma: Será o bitcoin uma moeda forte?</a:t>
            </a:r>
          </a:p>
        </p:txBody>
      </p:sp>
    </p:spTree>
    <p:extLst>
      <p:ext uri="{BB962C8B-B14F-4D97-AF65-F5344CB8AC3E}">
        <p14:creationId xmlns:p14="http://schemas.microsoft.com/office/powerpoint/2010/main" val="2252863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73360-0F0B-A1FF-0964-1D5538F73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F4DD5-1457-85DE-B359-A6CE2DF84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dirty="0"/>
              <a:t>Atividade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15B16CD-C406-FE09-D620-7D15C553E0BB}"/>
              </a:ext>
            </a:extLst>
          </p:cNvPr>
          <p:cNvSpPr txBox="1">
            <a:spLocks/>
          </p:cNvSpPr>
          <p:nvPr/>
        </p:nvSpPr>
        <p:spPr>
          <a:xfrm>
            <a:off x="1441450" y="2225675"/>
            <a:ext cx="17338675" cy="8405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PT" sz="2800" kern="1200" spc="-10" dirty="0" smtClean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200"/>
              </a:spcAft>
              <a:buNone/>
            </a:pPr>
            <a:r>
              <a:rPr lang="en-GB" sz="3000" b="1" dirty="0" err="1"/>
              <a:t>Quem</a:t>
            </a:r>
            <a:r>
              <a:rPr lang="en-GB" sz="3000" b="1" dirty="0"/>
              <a:t> </a:t>
            </a:r>
            <a:r>
              <a:rPr lang="en-GB" sz="3000" b="1" dirty="0" err="1"/>
              <a:t>controla</a:t>
            </a:r>
            <a:r>
              <a:rPr lang="en-GB" sz="3000" b="1" dirty="0"/>
              <a:t> as </a:t>
            </a:r>
            <a:r>
              <a:rPr lang="en-GB" sz="3000" b="1" dirty="0" err="1"/>
              <a:t>contas</a:t>
            </a:r>
            <a:r>
              <a:rPr lang="en-GB" sz="3000" b="1" dirty="0"/>
              <a:t>? — </a:t>
            </a:r>
            <a:r>
              <a:rPr lang="en-GB" sz="3000" b="1" dirty="0" err="1"/>
              <a:t>Centralização</a:t>
            </a:r>
            <a:r>
              <a:rPr lang="en-GB" sz="3000" b="1" dirty="0"/>
              <a:t> vs. </a:t>
            </a:r>
            <a:r>
              <a:rPr lang="en-GB" sz="3000" b="1" dirty="0" err="1"/>
              <a:t>Descentralização</a:t>
            </a:r>
            <a:endParaRPr lang="en-GB" sz="3000" b="1" dirty="0"/>
          </a:p>
          <a:p>
            <a:pPr marL="0" indent="0">
              <a:spcAft>
                <a:spcPts val="1200"/>
              </a:spcAft>
              <a:buNone/>
            </a:pPr>
            <a:r>
              <a:rPr lang="pt-PT" sz="3000" b="1" dirty="0"/>
              <a:t>Objetivo: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pt-PT" sz="3000" dirty="0"/>
              <a:t>Perceber como um sistema centralizado pode criar desigualdades, falta de transparência e vulnerabilidades por depender de um único ponto de controlo, e como um sistema descentralizado — como o Bitcoin— procura resolver esses problemas.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pt-PT" sz="3000" b="1" dirty="0"/>
              <a:t>Participantes: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D10B69F-D68F-FB41-3C82-3381AE1BE681}"/>
              </a:ext>
            </a:extLst>
          </p:cNvPr>
          <p:cNvGrpSpPr/>
          <p:nvPr/>
        </p:nvGrpSpPr>
        <p:grpSpPr>
          <a:xfrm>
            <a:off x="5044757" y="7876960"/>
            <a:ext cx="2693986" cy="2194339"/>
            <a:chOff x="5403850" y="6264275"/>
            <a:chExt cx="2693986" cy="2194339"/>
          </a:xfrm>
        </p:grpSpPr>
        <p:pic>
          <p:nvPicPr>
            <p:cNvPr id="4" name="Graphic 3" descr="Bank with solid fill">
              <a:extLst>
                <a:ext uri="{FF2B5EF4-FFF2-40B4-BE49-F238E27FC236}">
                  <a16:creationId xmlns:a16="http://schemas.microsoft.com/office/drawing/2014/main" id="{740F08D9-01BE-6C62-852A-FABBA02D2C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940843" y="6264275"/>
              <a:ext cx="1620000" cy="1620000"/>
            </a:xfrm>
            <a:prstGeom prst="rect">
              <a:avLst/>
            </a:prstGeom>
          </p:spPr>
        </p:pic>
        <p:sp>
          <p:nvSpPr>
            <p:cNvPr id="5" name="object 157">
              <a:extLst>
                <a:ext uri="{FF2B5EF4-FFF2-40B4-BE49-F238E27FC236}">
                  <a16:creationId xmlns:a16="http://schemas.microsoft.com/office/drawing/2014/main" id="{E1373CFE-E5E2-94F3-962C-91DC1B2F748E}"/>
                </a:ext>
              </a:extLst>
            </p:cNvPr>
            <p:cNvSpPr txBox="1"/>
            <p:nvPr/>
          </p:nvSpPr>
          <p:spPr>
            <a:xfrm>
              <a:off x="5403850" y="8134166"/>
              <a:ext cx="2693986" cy="324448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30"/>
                </a:spcBef>
              </a:pPr>
              <a:r>
                <a:rPr lang="pt-PT" sz="2000" spc="10" dirty="0">
                  <a:solidFill>
                    <a:srgbClr val="57585B"/>
                  </a:solidFill>
                  <a:latin typeface="Open Sans"/>
                  <a:cs typeface="Open Sans"/>
                </a:rPr>
                <a:t>Banco Central</a:t>
              </a:r>
              <a:endParaRPr lang="pt-PT" sz="2000" dirty="0">
                <a:solidFill>
                  <a:srgbClr val="EB8B29"/>
                </a:solidFill>
                <a:latin typeface="Open Sans"/>
                <a:cs typeface="Open San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0222647-1495-6C7F-3CE0-3B95CD343FEE}"/>
              </a:ext>
            </a:extLst>
          </p:cNvPr>
          <p:cNvGrpSpPr/>
          <p:nvPr/>
        </p:nvGrpSpPr>
        <p:grpSpPr>
          <a:xfrm>
            <a:off x="8705057" y="7885296"/>
            <a:ext cx="2693986" cy="2186003"/>
            <a:chOff x="1719264" y="6264275"/>
            <a:chExt cx="2693986" cy="2186003"/>
          </a:xfrm>
        </p:grpSpPr>
        <p:pic>
          <p:nvPicPr>
            <p:cNvPr id="8" name="Graphic 7" descr="Man with solid fill">
              <a:extLst>
                <a:ext uri="{FF2B5EF4-FFF2-40B4-BE49-F238E27FC236}">
                  <a16:creationId xmlns:a16="http://schemas.microsoft.com/office/drawing/2014/main" id="{1B7D9F2F-2A39-4D8E-EE8B-ED3AEF094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56257" y="6264275"/>
              <a:ext cx="1620000" cy="1620000"/>
            </a:xfrm>
            <a:prstGeom prst="rect">
              <a:avLst/>
            </a:prstGeom>
          </p:spPr>
        </p:pic>
        <p:sp>
          <p:nvSpPr>
            <p:cNvPr id="9" name="object 157">
              <a:extLst>
                <a:ext uri="{FF2B5EF4-FFF2-40B4-BE49-F238E27FC236}">
                  <a16:creationId xmlns:a16="http://schemas.microsoft.com/office/drawing/2014/main" id="{72A8C2D7-6100-5D28-15E7-DDA97EFD7749}"/>
                </a:ext>
              </a:extLst>
            </p:cNvPr>
            <p:cNvSpPr txBox="1"/>
            <p:nvPr/>
          </p:nvSpPr>
          <p:spPr>
            <a:xfrm>
              <a:off x="1719264" y="8125830"/>
              <a:ext cx="2693986" cy="324448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30"/>
                </a:spcBef>
              </a:pPr>
              <a:r>
                <a:rPr lang="pt-PT" sz="2000" dirty="0">
                  <a:solidFill>
                    <a:srgbClr val="58595B"/>
                  </a:solidFill>
                  <a:latin typeface="Open Sans"/>
                  <a:cs typeface="Open Sans"/>
                </a:rPr>
                <a:t>Trabalhador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8EF4902-CAD5-9C46-030F-777190F7CD34}"/>
              </a:ext>
            </a:extLst>
          </p:cNvPr>
          <p:cNvGrpSpPr/>
          <p:nvPr/>
        </p:nvGrpSpPr>
        <p:grpSpPr>
          <a:xfrm>
            <a:off x="1384457" y="7885296"/>
            <a:ext cx="2693986" cy="2493779"/>
            <a:chOff x="1382712" y="6196411"/>
            <a:chExt cx="2693986" cy="2493779"/>
          </a:xfrm>
        </p:grpSpPr>
        <p:sp>
          <p:nvSpPr>
            <p:cNvPr id="11" name="object 157">
              <a:extLst>
                <a:ext uri="{FF2B5EF4-FFF2-40B4-BE49-F238E27FC236}">
                  <a16:creationId xmlns:a16="http://schemas.microsoft.com/office/drawing/2014/main" id="{CD549B90-928A-4CB0-EEDB-8204DDDADAE7}"/>
                </a:ext>
              </a:extLst>
            </p:cNvPr>
            <p:cNvSpPr txBox="1"/>
            <p:nvPr/>
          </p:nvSpPr>
          <p:spPr>
            <a:xfrm>
              <a:off x="1382712" y="8057966"/>
              <a:ext cx="2693986" cy="632224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30"/>
                </a:spcBef>
              </a:pPr>
              <a:r>
                <a:rPr lang="pt-PT" sz="2000" spc="10" dirty="0">
                  <a:solidFill>
                    <a:srgbClr val="57585B"/>
                  </a:solidFill>
                  <a:latin typeface="Open Sans"/>
                  <a:cs typeface="Open Sans"/>
                </a:rPr>
                <a:t>Pequena empresa local</a:t>
              </a:r>
              <a:endParaRPr lang="pt-PT" sz="2000" b="1" dirty="0">
                <a:solidFill>
                  <a:srgbClr val="EB8B29"/>
                </a:solidFill>
                <a:latin typeface="Open Sans"/>
                <a:cs typeface="Open Sans"/>
              </a:endParaRPr>
            </a:p>
          </p:txBody>
        </p:sp>
        <p:pic>
          <p:nvPicPr>
            <p:cNvPr id="12" name="Graphic 11" descr="Store with solid fill">
              <a:extLst>
                <a:ext uri="{FF2B5EF4-FFF2-40B4-BE49-F238E27FC236}">
                  <a16:creationId xmlns:a16="http://schemas.microsoft.com/office/drawing/2014/main" id="{7109A48B-763F-4241-B08B-A709624799F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919705" y="6196411"/>
              <a:ext cx="1620000" cy="1620000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17D46C5-B4D0-4076-ABDD-CF41D2FDE799}"/>
              </a:ext>
            </a:extLst>
          </p:cNvPr>
          <p:cNvGrpSpPr/>
          <p:nvPr/>
        </p:nvGrpSpPr>
        <p:grpSpPr>
          <a:xfrm>
            <a:off x="16025657" y="7885296"/>
            <a:ext cx="2693986" cy="2493779"/>
            <a:chOff x="16023912" y="6196411"/>
            <a:chExt cx="2693986" cy="2493779"/>
          </a:xfrm>
        </p:grpSpPr>
        <p:sp>
          <p:nvSpPr>
            <p:cNvPr id="14" name="object 157">
              <a:extLst>
                <a:ext uri="{FF2B5EF4-FFF2-40B4-BE49-F238E27FC236}">
                  <a16:creationId xmlns:a16="http://schemas.microsoft.com/office/drawing/2014/main" id="{439E0E2C-C37D-00E1-C3CF-E22931245376}"/>
                </a:ext>
              </a:extLst>
            </p:cNvPr>
            <p:cNvSpPr txBox="1"/>
            <p:nvPr/>
          </p:nvSpPr>
          <p:spPr>
            <a:xfrm>
              <a:off x="16023912" y="8057966"/>
              <a:ext cx="2693986" cy="632224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30"/>
                </a:spcBef>
              </a:pPr>
              <a:r>
                <a:rPr lang="pt-PT" sz="2000" dirty="0">
                  <a:solidFill>
                    <a:srgbClr val="58595B"/>
                  </a:solidFill>
                  <a:latin typeface="Open Sans"/>
                  <a:cs typeface="Open Sans"/>
                </a:rPr>
                <a:t>Empresa multinacional</a:t>
              </a:r>
            </a:p>
          </p:txBody>
        </p:sp>
        <p:pic>
          <p:nvPicPr>
            <p:cNvPr id="15" name="Graphic 14" descr="Building outline">
              <a:extLst>
                <a:ext uri="{FF2B5EF4-FFF2-40B4-BE49-F238E27FC236}">
                  <a16:creationId xmlns:a16="http://schemas.microsoft.com/office/drawing/2014/main" id="{071C5579-B199-A308-7DA6-091F8B8022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6564395" y="6196411"/>
              <a:ext cx="1620000" cy="1620000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BE8A3D2-3260-A748-A414-43378BDD4BAF}"/>
              </a:ext>
            </a:extLst>
          </p:cNvPr>
          <p:cNvGrpSpPr/>
          <p:nvPr/>
        </p:nvGrpSpPr>
        <p:grpSpPr>
          <a:xfrm>
            <a:off x="12365357" y="7885296"/>
            <a:ext cx="2693986" cy="2186003"/>
            <a:chOff x="13095672" y="6196411"/>
            <a:chExt cx="2693986" cy="2186003"/>
          </a:xfrm>
        </p:grpSpPr>
        <p:sp>
          <p:nvSpPr>
            <p:cNvPr id="17" name="object 157">
              <a:extLst>
                <a:ext uri="{FF2B5EF4-FFF2-40B4-BE49-F238E27FC236}">
                  <a16:creationId xmlns:a16="http://schemas.microsoft.com/office/drawing/2014/main" id="{6681EB65-F6BF-2BAE-F458-E3A1684AE12E}"/>
                </a:ext>
              </a:extLst>
            </p:cNvPr>
            <p:cNvSpPr txBox="1"/>
            <p:nvPr/>
          </p:nvSpPr>
          <p:spPr>
            <a:xfrm>
              <a:off x="13095672" y="8057966"/>
              <a:ext cx="2693986" cy="324448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30"/>
                </a:spcBef>
              </a:pPr>
              <a:r>
                <a:rPr lang="pt-PT" sz="2000" dirty="0">
                  <a:solidFill>
                    <a:srgbClr val="58595B"/>
                  </a:solidFill>
                  <a:latin typeface="Open Sans"/>
                  <a:cs typeface="Open Sans"/>
                </a:rPr>
                <a:t>ONG</a:t>
              </a:r>
            </a:p>
          </p:txBody>
        </p:sp>
        <p:pic>
          <p:nvPicPr>
            <p:cNvPr id="18" name="Graphic 17" descr="Users with solid fill">
              <a:extLst>
                <a:ext uri="{FF2B5EF4-FFF2-40B4-BE49-F238E27FC236}">
                  <a16:creationId xmlns:a16="http://schemas.microsoft.com/office/drawing/2014/main" id="{737E44B0-5853-C527-30C3-A3874C668E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3636155" y="6196411"/>
              <a:ext cx="1620000" cy="162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9007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F7751-C6A3-91B5-8923-3D7C4022F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A837D-3314-8CCD-43C5-D90B7A8BE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dirty="0"/>
              <a:t>Atividade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2924DE2-7B62-0A98-D31E-87AF58D859E4}"/>
              </a:ext>
            </a:extLst>
          </p:cNvPr>
          <p:cNvSpPr txBox="1">
            <a:spLocks/>
          </p:cNvSpPr>
          <p:nvPr/>
        </p:nvSpPr>
        <p:spPr>
          <a:xfrm>
            <a:off x="1441450" y="2225676"/>
            <a:ext cx="17338675" cy="84820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PT" sz="2800" kern="1200" spc="-10" dirty="0" smtClean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200"/>
              </a:spcAft>
              <a:buNone/>
            </a:pPr>
            <a:r>
              <a:rPr lang="pt-PT" sz="3000" b="1" dirty="0"/>
              <a:t>Ronda 1 — Sistema Centralizado: </a:t>
            </a:r>
            <a:r>
              <a:rPr lang="pt-PT" sz="3000" dirty="0"/>
              <a:t>O banco central é quem mantém registo das contas.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pt-PT" sz="3000" b="1" dirty="0"/>
              <a:t>Transações:</a:t>
            </a:r>
            <a:endParaRPr lang="pt-PT" sz="3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E3B462-659E-607D-CE31-5C9DD6CDC26C}"/>
              </a:ext>
            </a:extLst>
          </p:cNvPr>
          <p:cNvSpPr txBox="1"/>
          <p:nvPr/>
        </p:nvSpPr>
        <p:spPr>
          <a:xfrm>
            <a:off x="1423018" y="4054475"/>
            <a:ext cx="9391032" cy="6763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 algn="l" rtl="0">
              <a:lnSpc>
                <a:spcPct val="140000"/>
              </a:lnSpc>
              <a:buFont typeface="+mj-lt"/>
              <a:buAutoNum type="arabicPeriod"/>
            </a:pP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 </a:t>
            </a:r>
            <a:r>
              <a:rPr lang="pt-PT" sz="3000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Banco Central </a:t>
            </a: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tem 2000 unidades monetárias.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75217E-D81A-F03D-FDF8-EC9680617919}"/>
              </a:ext>
            </a:extLst>
          </p:cNvPr>
          <p:cNvSpPr txBox="1"/>
          <p:nvPr/>
        </p:nvSpPr>
        <p:spPr>
          <a:xfrm>
            <a:off x="1441450" y="4978336"/>
            <a:ext cx="10739158" cy="6763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 algn="l" rtl="0">
              <a:lnSpc>
                <a:spcPct val="140000"/>
              </a:lnSpc>
              <a:buFont typeface="+mj-lt"/>
              <a:buAutoNum type="arabicPeriod" startAt="2"/>
            </a:pP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 </a:t>
            </a:r>
            <a:r>
              <a:rPr lang="pt-PT" sz="3000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Banco Central </a:t>
            </a: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distribui 200 unidades a cada entidade.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2B5DAC-A56F-6F25-D6CC-144473FB7930}"/>
              </a:ext>
            </a:extLst>
          </p:cNvPr>
          <p:cNvSpPr txBox="1"/>
          <p:nvPr/>
        </p:nvSpPr>
        <p:spPr>
          <a:xfrm>
            <a:off x="1423018" y="5902197"/>
            <a:ext cx="15729947" cy="6763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 algn="l" rtl="0">
              <a:lnSpc>
                <a:spcPct val="140000"/>
              </a:lnSpc>
              <a:buFont typeface="+mj-lt"/>
              <a:buAutoNum type="arabicPeriod" startAt="3"/>
            </a:pP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</a:t>
            </a:r>
            <a:r>
              <a:rPr lang="pt-PT" sz="3000" kern="1200" dirty="0">
                <a:solidFill>
                  <a:srgbClr val="53AED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pequena empresa local </a:t>
            </a: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paga 100 unidades ao </a:t>
            </a:r>
            <a:r>
              <a:rPr lang="pt-PT" sz="3000" kern="1200" dirty="0">
                <a:solidFill>
                  <a:srgbClr val="8C283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trabalhador</a:t>
            </a: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por serviços prestados.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510463-B985-F184-F53F-3AAEFC12C860}"/>
              </a:ext>
            </a:extLst>
          </p:cNvPr>
          <p:cNvSpPr txBox="1"/>
          <p:nvPr/>
        </p:nvSpPr>
        <p:spPr>
          <a:xfrm>
            <a:off x="1445107" y="6826058"/>
            <a:ext cx="12900006" cy="6763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 algn="l" rtl="0">
              <a:lnSpc>
                <a:spcPct val="140000"/>
              </a:lnSpc>
              <a:buFont typeface="+mj-lt"/>
              <a:buAutoNum type="arabicPeriod" startAt="4"/>
            </a:pP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 </a:t>
            </a:r>
            <a:r>
              <a:rPr lang="pt-PT" sz="3000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Banco Central </a:t>
            </a: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decide conceder um apoio de 500 unidades à </a:t>
            </a:r>
            <a:r>
              <a:rPr lang="pt-PT" sz="3000" kern="1200" dirty="0">
                <a:solidFill>
                  <a:srgbClr val="CCBBE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ONG</a:t>
            </a: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F6B3EA-2972-788C-2936-40AFDB40DDE8}"/>
              </a:ext>
            </a:extLst>
          </p:cNvPr>
          <p:cNvSpPr txBox="1"/>
          <p:nvPr/>
        </p:nvSpPr>
        <p:spPr>
          <a:xfrm>
            <a:off x="1445987" y="7766603"/>
            <a:ext cx="17216664" cy="1322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l" rtl="0">
              <a:lnSpc>
                <a:spcPct val="140000"/>
              </a:lnSpc>
              <a:buFont typeface="+mj-lt"/>
              <a:buAutoNum type="arabicPeriod" startAt="5"/>
            </a:pP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</a:t>
            </a:r>
            <a:r>
              <a:rPr lang="pt-PT" sz="3000" kern="1200" dirty="0">
                <a:solidFill>
                  <a:srgbClr val="73913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empresa multinacional </a:t>
            </a: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tem de pagar 600 unidades de indemnizações, mas não tem saldo suficiente.	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913B1B-2D3F-3258-C2E6-D8C5072C822E}"/>
              </a:ext>
            </a:extLst>
          </p:cNvPr>
          <p:cNvSpPr txBox="1"/>
          <p:nvPr/>
        </p:nvSpPr>
        <p:spPr>
          <a:xfrm>
            <a:off x="1423018" y="9309373"/>
            <a:ext cx="17216664" cy="1322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l" rtl="0">
              <a:lnSpc>
                <a:spcPct val="140000"/>
              </a:lnSpc>
              <a:buFont typeface="+mj-lt"/>
              <a:buAutoNum type="arabicPeriod" startAt="6"/>
            </a:pP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 </a:t>
            </a:r>
            <a:r>
              <a:rPr lang="pt-PT" sz="3000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Banco Central </a:t>
            </a: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cria 600 unidades novas e empresta-as à </a:t>
            </a:r>
            <a:r>
              <a:rPr lang="pt-PT" sz="3000" kern="1200" dirty="0">
                <a:solidFill>
                  <a:srgbClr val="73913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empresa multinacional</a:t>
            </a: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por considerar que a mesma é “estratégica para a economia”.</a:t>
            </a:r>
          </a:p>
        </p:txBody>
      </p:sp>
    </p:spTree>
    <p:extLst>
      <p:ext uri="{BB962C8B-B14F-4D97-AF65-F5344CB8AC3E}">
        <p14:creationId xmlns:p14="http://schemas.microsoft.com/office/powerpoint/2010/main" val="2415004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0" grpId="0"/>
      <p:bldP spid="11" grpId="0"/>
      <p:bldP spid="12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42C0D-F863-6F08-3A03-1D8D2AC41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FC3DC-2DFF-6ACA-39FA-5A1A75D3A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dirty="0"/>
              <a:t>Atividade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AF9E09-37A3-9B73-0D29-DE1B93A37636}"/>
              </a:ext>
            </a:extLst>
          </p:cNvPr>
          <p:cNvSpPr txBox="1">
            <a:spLocks/>
          </p:cNvSpPr>
          <p:nvPr/>
        </p:nvSpPr>
        <p:spPr>
          <a:xfrm>
            <a:off x="1441450" y="2225676"/>
            <a:ext cx="17338675" cy="84820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PT" sz="2800" kern="1200" spc="-10" dirty="0" smtClean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200"/>
              </a:spcAft>
              <a:buNone/>
            </a:pPr>
            <a:r>
              <a:rPr lang="pt-PT" sz="3000" b="1" dirty="0"/>
              <a:t>Ronda 2 — Sistema Descentralizado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pt-PT" sz="3000" dirty="0"/>
              <a:t>Todos participam como nós da rede (como computadores que validam transações). Cada um mantém o seu próprio livro-razão e acompanha cada passo.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pt-PT" sz="3000" b="1" dirty="0"/>
              <a:t>Regras de consenso:</a:t>
            </a:r>
          </a:p>
          <a:p>
            <a:pPr marL="592138" indent="-592138">
              <a:lnSpc>
                <a:spcPct val="160000"/>
              </a:lnSpc>
              <a:spcAft>
                <a:spcPts val="1200"/>
              </a:spcAft>
              <a:buSzPct val="125000"/>
              <a:buBlip>
                <a:blip r:embed="rId2"/>
              </a:buBlip>
            </a:pPr>
            <a:r>
              <a:rPr lang="pt-PT" sz="3000" dirty="0"/>
              <a:t>Todas as transações têm de ser transparentes — anunciadas a todos os participantes.</a:t>
            </a:r>
          </a:p>
          <a:p>
            <a:pPr marL="592138" indent="-592138">
              <a:lnSpc>
                <a:spcPct val="160000"/>
              </a:lnSpc>
              <a:spcAft>
                <a:spcPts val="1200"/>
              </a:spcAft>
              <a:buSzPct val="125000"/>
              <a:buBlip>
                <a:blip r:embed="rId2"/>
              </a:buBlip>
            </a:pPr>
            <a:r>
              <a:rPr lang="pt-PT" sz="3000" dirty="0"/>
              <a:t>Nenhum participante pode gastar mais do que tem.</a:t>
            </a:r>
          </a:p>
          <a:p>
            <a:pPr marL="592138" indent="-592138">
              <a:lnSpc>
                <a:spcPct val="160000"/>
              </a:lnSpc>
              <a:spcAft>
                <a:spcPts val="1200"/>
              </a:spcAft>
              <a:buSzPct val="125000"/>
              <a:buBlip>
                <a:blip r:embed="rId2"/>
              </a:buBlip>
            </a:pPr>
            <a:r>
              <a:rPr lang="pt-PT" sz="3000" dirty="0"/>
              <a:t>Só são válidas transações que envolvem transferências de saldo existente (não é permitido criar dinheiro novo).</a:t>
            </a:r>
          </a:p>
        </p:txBody>
      </p:sp>
    </p:spTree>
    <p:extLst>
      <p:ext uri="{BB962C8B-B14F-4D97-AF65-F5344CB8AC3E}">
        <p14:creationId xmlns:p14="http://schemas.microsoft.com/office/powerpoint/2010/main" val="4243668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ABC54-6165-2428-A6D4-732195ED1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B55A8-1B4D-D40B-4FC6-3FAED8001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dirty="0"/>
              <a:t>Atividade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863A5FB-7E8A-DAFF-24E3-F5D03CE2327B}"/>
              </a:ext>
            </a:extLst>
          </p:cNvPr>
          <p:cNvSpPr txBox="1">
            <a:spLocks/>
          </p:cNvSpPr>
          <p:nvPr/>
        </p:nvSpPr>
        <p:spPr>
          <a:xfrm>
            <a:off x="1441450" y="2225676"/>
            <a:ext cx="17338675" cy="84820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PT" sz="2800" kern="1200" spc="-10" dirty="0" smtClean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200"/>
              </a:spcAft>
              <a:buNone/>
            </a:pPr>
            <a:r>
              <a:rPr lang="pt-PT" sz="3000" b="1" dirty="0"/>
              <a:t>Transações:</a:t>
            </a:r>
            <a:endParaRPr lang="pt-PT" sz="3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F27B30-A8EE-7E18-C867-9492305EC855}"/>
              </a:ext>
            </a:extLst>
          </p:cNvPr>
          <p:cNvSpPr txBox="1"/>
          <p:nvPr/>
        </p:nvSpPr>
        <p:spPr>
          <a:xfrm>
            <a:off x="1441450" y="3216275"/>
            <a:ext cx="10714793" cy="6763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 algn="l" rtl="0">
              <a:lnSpc>
                <a:spcPct val="140000"/>
              </a:lnSpc>
              <a:buFont typeface="+mj-lt"/>
              <a:buAutoNum type="arabicPeriod"/>
            </a:pP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Cada participante tem um saldo inicial de 200 unidades.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F09AAE-7A45-32C3-A4A0-CEDB52E03CE9}"/>
              </a:ext>
            </a:extLst>
          </p:cNvPr>
          <p:cNvSpPr txBox="1"/>
          <p:nvPr/>
        </p:nvSpPr>
        <p:spPr>
          <a:xfrm>
            <a:off x="1441450" y="4190092"/>
            <a:ext cx="15729947" cy="6763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 algn="l" rtl="0">
              <a:lnSpc>
                <a:spcPct val="140000"/>
              </a:lnSpc>
              <a:buFont typeface="+mj-lt"/>
              <a:buAutoNum type="arabicPeriod" startAt="2"/>
            </a:pP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</a:t>
            </a:r>
            <a:r>
              <a:rPr lang="pt-PT" sz="3000" kern="1200" dirty="0">
                <a:solidFill>
                  <a:srgbClr val="53AED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pequena empresa local </a:t>
            </a: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paga 100 unidades ao </a:t>
            </a:r>
            <a:r>
              <a:rPr lang="pt-PT" sz="3000" kern="1200" dirty="0">
                <a:solidFill>
                  <a:srgbClr val="8C283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trabalhador</a:t>
            </a: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por serviços prestados.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887BBF-A2AF-26C3-80C1-462EDD3E2D08}"/>
              </a:ext>
            </a:extLst>
          </p:cNvPr>
          <p:cNvSpPr txBox="1"/>
          <p:nvPr/>
        </p:nvSpPr>
        <p:spPr>
          <a:xfrm>
            <a:off x="1445986" y="5163909"/>
            <a:ext cx="12534522" cy="6763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 algn="l" rtl="0">
              <a:lnSpc>
                <a:spcPct val="140000"/>
              </a:lnSpc>
              <a:buFont typeface="+mj-lt"/>
              <a:buAutoNum type="arabicPeriod" startAt="3"/>
            </a:pP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</a:t>
            </a:r>
            <a:r>
              <a:rPr lang="pt-PT" sz="3000" kern="1200" dirty="0">
                <a:solidFill>
                  <a:srgbClr val="73913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empresa multinacional </a:t>
            </a: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faz uma doação de 150 unidades à </a:t>
            </a:r>
            <a:r>
              <a:rPr lang="pt-PT" sz="3000" kern="1200" dirty="0">
                <a:solidFill>
                  <a:srgbClr val="CCBBE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ONG</a:t>
            </a: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086496-1B13-86EC-B646-F83CFD0142D9}"/>
              </a:ext>
            </a:extLst>
          </p:cNvPr>
          <p:cNvSpPr txBox="1"/>
          <p:nvPr/>
        </p:nvSpPr>
        <p:spPr>
          <a:xfrm>
            <a:off x="1441450" y="6120944"/>
            <a:ext cx="14880997" cy="6763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 algn="l" rtl="0">
              <a:lnSpc>
                <a:spcPct val="140000"/>
              </a:lnSpc>
              <a:buFont typeface="+mj-lt"/>
              <a:buAutoNum type="arabicPeriod" startAt="4"/>
            </a:pP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 </a:t>
            </a:r>
            <a:r>
              <a:rPr lang="pt-PT" sz="3000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Banco Central </a:t>
            </a: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propõe criar 300 unidades novas para se financiar a si próprio.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C21221-6F1E-8688-BE09-8E077C68C954}"/>
              </a:ext>
            </a:extLst>
          </p:cNvPr>
          <p:cNvSpPr txBox="1"/>
          <p:nvPr/>
        </p:nvSpPr>
        <p:spPr>
          <a:xfrm>
            <a:off x="1445986" y="7077979"/>
            <a:ext cx="12866984" cy="6763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 algn="l" rtl="0">
              <a:lnSpc>
                <a:spcPct val="140000"/>
              </a:lnSpc>
              <a:buFont typeface="+mj-lt"/>
              <a:buAutoNum type="arabicPeriod" startAt="5"/>
            </a:pP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 </a:t>
            </a:r>
            <a:r>
              <a:rPr lang="pt-PT" sz="3000" kern="1200" dirty="0">
                <a:solidFill>
                  <a:srgbClr val="8C283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trabalhador</a:t>
            </a: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transfere 50 unidades à </a:t>
            </a:r>
            <a:r>
              <a:rPr lang="pt-PT" sz="3000" kern="1200" dirty="0">
                <a:solidFill>
                  <a:srgbClr val="CCBBE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ONG</a:t>
            </a: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como donativo pessoal.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614A3C-7C26-54DF-D632-F0176017AAA8}"/>
              </a:ext>
            </a:extLst>
          </p:cNvPr>
          <p:cNvSpPr txBox="1"/>
          <p:nvPr/>
        </p:nvSpPr>
        <p:spPr>
          <a:xfrm>
            <a:off x="1441450" y="8051796"/>
            <a:ext cx="17338675" cy="1322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l" rtl="0">
              <a:lnSpc>
                <a:spcPct val="140000"/>
              </a:lnSpc>
              <a:buFont typeface="+mj-lt"/>
              <a:buAutoNum type="arabicPeriod" startAt="6"/>
            </a:pP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</a:t>
            </a:r>
            <a:r>
              <a:rPr lang="pt-PT" sz="3000" kern="1200" dirty="0">
                <a:solidFill>
                  <a:srgbClr val="73913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empresa multinacional </a:t>
            </a: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tenta transferir 400 unidades para o </a:t>
            </a:r>
            <a:r>
              <a:rPr lang="pt-PT" sz="3000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Banco Central</a:t>
            </a: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mas só tem 250 disponíveis.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475833-8069-C183-9EAB-527D2E4D7FCB}"/>
              </a:ext>
            </a:extLst>
          </p:cNvPr>
          <p:cNvSpPr txBox="1"/>
          <p:nvPr/>
        </p:nvSpPr>
        <p:spPr>
          <a:xfrm>
            <a:off x="1441450" y="9694507"/>
            <a:ext cx="17338675" cy="676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l" rtl="0">
              <a:lnSpc>
                <a:spcPct val="140000"/>
              </a:lnSpc>
              <a:buFont typeface="+mj-lt"/>
              <a:buAutoNum type="arabicPeriod" startAt="7"/>
            </a:pP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</a:t>
            </a:r>
            <a:r>
              <a:rPr lang="pt-PT" sz="3000" kern="1200" dirty="0">
                <a:solidFill>
                  <a:srgbClr val="53AED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pequena empresa local</a:t>
            </a: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paga 50 unidades à </a:t>
            </a:r>
            <a:r>
              <a:rPr lang="pt-PT" sz="3000" kern="1200" dirty="0">
                <a:solidFill>
                  <a:srgbClr val="73913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empresa multinacional </a:t>
            </a:r>
            <a:r>
              <a:rPr lang="pt-PT" sz="30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 matérias-primas.</a:t>
            </a:r>
          </a:p>
        </p:txBody>
      </p:sp>
    </p:spTree>
    <p:extLst>
      <p:ext uri="{BB962C8B-B14F-4D97-AF65-F5344CB8AC3E}">
        <p14:creationId xmlns:p14="http://schemas.microsoft.com/office/powerpoint/2010/main" val="61993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  <p:bldP spid="9" grpId="0"/>
      <p:bldP spid="10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C015B-2CDD-BAAD-5F68-2D19CB29B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37C77-BFBB-CBA0-75ED-DE1D2EEAE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dirty="0"/>
              <a:t>Atividade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A1CDC07-B61A-E0B7-EBD4-BB3D19D637FB}"/>
              </a:ext>
            </a:extLst>
          </p:cNvPr>
          <p:cNvSpPr txBox="1">
            <a:spLocks/>
          </p:cNvSpPr>
          <p:nvPr/>
        </p:nvSpPr>
        <p:spPr>
          <a:xfrm>
            <a:off x="1441450" y="2225676"/>
            <a:ext cx="17338675" cy="84820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PT" sz="2800" kern="1200" spc="-10" dirty="0" smtClean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70000"/>
              </a:lnSpc>
              <a:spcAft>
                <a:spcPts val="1200"/>
              </a:spcAft>
              <a:buSzPct val="125000"/>
              <a:buNone/>
            </a:pPr>
            <a:r>
              <a:rPr lang="pt-PT" sz="2800" b="1" dirty="0"/>
              <a:t>Após a realização da atividade, responde às seguintes questões:</a:t>
            </a:r>
            <a:endParaRPr lang="en-GB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F4A137-26C0-CF93-B4DC-0B0DFB956CF7}"/>
              </a:ext>
            </a:extLst>
          </p:cNvPr>
          <p:cNvSpPr txBox="1"/>
          <p:nvPr/>
        </p:nvSpPr>
        <p:spPr>
          <a:xfrm>
            <a:off x="1441450" y="3216275"/>
            <a:ext cx="17338675" cy="1316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92138" indent="-592138" algn="l" rtl="0">
              <a:lnSpc>
                <a:spcPct val="150000"/>
              </a:lnSpc>
              <a:spcBef>
                <a:spcPts val="1000"/>
              </a:spcBef>
              <a:buSzPct val="125000"/>
              <a:buBlip>
                <a:blip r:embed="rId2"/>
              </a:buBlip>
            </a:pPr>
            <a:r>
              <a:rPr lang="pt-PT" sz="28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Porque é que um único erro ou decisão incorreta pode causar mais impacto num sistema centralizado?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B9BF46-1B02-416D-F4DF-AB40A543DEFC}"/>
              </a:ext>
            </a:extLst>
          </p:cNvPr>
          <p:cNvSpPr txBox="1"/>
          <p:nvPr/>
        </p:nvSpPr>
        <p:spPr>
          <a:xfrm>
            <a:off x="1441449" y="4853205"/>
            <a:ext cx="17338675" cy="669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92138" indent="-592138" algn="l" rtl="0">
              <a:lnSpc>
                <a:spcPct val="150000"/>
              </a:lnSpc>
              <a:spcBef>
                <a:spcPts val="1000"/>
              </a:spcBef>
              <a:buSzPct val="125000"/>
              <a:buBlip>
                <a:blip r:embed="rId2"/>
              </a:buBlip>
            </a:pPr>
            <a:r>
              <a:rPr lang="pt-PT" sz="28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 sistema descentralizado, quem é que tem o poder de decisão?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26C3E3-2124-069A-5417-CE14453079EE}"/>
              </a:ext>
            </a:extLst>
          </p:cNvPr>
          <p:cNvSpPr txBox="1"/>
          <p:nvPr/>
        </p:nvSpPr>
        <p:spPr>
          <a:xfrm>
            <a:off x="1441448" y="5839366"/>
            <a:ext cx="17338675" cy="669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92138" indent="-592138" algn="l" rtl="0">
              <a:lnSpc>
                <a:spcPct val="150000"/>
              </a:lnSpc>
              <a:spcBef>
                <a:spcPts val="1000"/>
              </a:spcBef>
              <a:buSzPct val="125000"/>
              <a:buBlip>
                <a:blip r:embed="rId2"/>
              </a:buBlip>
            </a:pPr>
            <a:r>
              <a:rPr lang="pt-PT" sz="28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É possível haver confiança sem autoridade central? Como?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38C92F-A0D5-17EC-582D-18974CC589C3}"/>
              </a:ext>
            </a:extLst>
          </p:cNvPr>
          <p:cNvSpPr txBox="1"/>
          <p:nvPr/>
        </p:nvSpPr>
        <p:spPr>
          <a:xfrm>
            <a:off x="1456869" y="6825002"/>
            <a:ext cx="17338675" cy="669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92138" indent="-592138" algn="l" rtl="0">
              <a:lnSpc>
                <a:spcPct val="150000"/>
              </a:lnSpc>
              <a:spcBef>
                <a:spcPts val="1000"/>
              </a:spcBef>
              <a:buSzPct val="125000"/>
              <a:buBlip>
                <a:blip r:embed="rId2"/>
              </a:buBlip>
            </a:pPr>
            <a:r>
              <a:rPr lang="pt-PT" sz="28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Que tipo de problemas poderiam surgir se alguns participantes decidissem ignorar as regras?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C6D244-7BFA-C1F2-23E5-017B9843EDED}"/>
              </a:ext>
            </a:extLst>
          </p:cNvPr>
          <p:cNvSpPr txBox="1"/>
          <p:nvPr/>
        </p:nvSpPr>
        <p:spPr>
          <a:xfrm>
            <a:off x="1456869" y="7753040"/>
            <a:ext cx="17338675" cy="669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92138" indent="-592138" algn="l" rtl="0">
              <a:lnSpc>
                <a:spcPct val="150000"/>
              </a:lnSpc>
              <a:spcBef>
                <a:spcPts val="1000"/>
              </a:spcBef>
              <a:buSzPct val="125000"/>
              <a:buBlip>
                <a:blip r:embed="rId2"/>
              </a:buBlip>
            </a:pPr>
            <a:r>
              <a:rPr lang="pt-PT" sz="28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Que exemplos do dia-a-dia conhecem de poder centralizado (financeiro, digital, político)?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506B51-C61D-4A4D-CBF9-49BC10AC480F}"/>
              </a:ext>
            </a:extLst>
          </p:cNvPr>
          <p:cNvSpPr txBox="1"/>
          <p:nvPr/>
        </p:nvSpPr>
        <p:spPr>
          <a:xfrm>
            <a:off x="1441452" y="8748806"/>
            <a:ext cx="17338675" cy="669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92138" indent="-592138" algn="l" rtl="0">
              <a:lnSpc>
                <a:spcPct val="150000"/>
              </a:lnSpc>
              <a:spcBef>
                <a:spcPts val="1000"/>
              </a:spcBef>
              <a:buSzPct val="125000"/>
              <a:buBlip>
                <a:blip r:embed="rId2"/>
              </a:buBlip>
            </a:pPr>
            <a:r>
              <a:rPr lang="pt-PT" sz="28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Há situações em que um sistema centralizado é preferível? Quais?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EF8284-95D4-EDFA-C192-F91586C44B50}"/>
              </a:ext>
            </a:extLst>
          </p:cNvPr>
          <p:cNvSpPr txBox="1"/>
          <p:nvPr/>
        </p:nvSpPr>
        <p:spPr>
          <a:xfrm>
            <a:off x="1428748" y="9676844"/>
            <a:ext cx="17338675" cy="669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92138" indent="-592138" algn="l" rtl="0">
              <a:lnSpc>
                <a:spcPct val="150000"/>
              </a:lnSpc>
              <a:spcBef>
                <a:spcPts val="1000"/>
              </a:spcBef>
              <a:buSzPct val="125000"/>
              <a:buBlip>
                <a:blip r:embed="rId2"/>
              </a:buBlip>
            </a:pPr>
            <a:r>
              <a:rPr lang="pt-PT" sz="28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 pudessem desenhar o vosso próprio sistema económico, seria centralizado ou descentralizado?</a:t>
            </a:r>
          </a:p>
        </p:txBody>
      </p:sp>
    </p:spTree>
    <p:extLst>
      <p:ext uri="{BB962C8B-B14F-4D97-AF65-F5344CB8AC3E}">
        <p14:creationId xmlns:p14="http://schemas.microsoft.com/office/powerpoint/2010/main" val="2138372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7" grpId="0"/>
      <p:bldP spid="8" grpId="0"/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893F1-0CCA-872B-EB08-0F4059C53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dirty="0"/>
              <a:t>Exercício de turma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1253C28-BE68-AD4A-37E7-2E370D62B5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8841143"/>
              </p:ext>
            </p:extLst>
          </p:nvPr>
        </p:nvGraphicFramePr>
        <p:xfrm>
          <a:off x="1382714" y="4430675"/>
          <a:ext cx="17338674" cy="57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5687">
                  <a:extLst>
                    <a:ext uri="{9D8B030D-6E8A-4147-A177-3AD203B41FA5}">
                      <a16:colId xmlns:a16="http://schemas.microsoft.com/office/drawing/2014/main" val="2636362406"/>
                    </a:ext>
                  </a:extLst>
                </a:gridCol>
                <a:gridCol w="2075849">
                  <a:extLst>
                    <a:ext uri="{9D8B030D-6E8A-4147-A177-3AD203B41FA5}">
                      <a16:colId xmlns:a16="http://schemas.microsoft.com/office/drawing/2014/main" val="1945194789"/>
                    </a:ext>
                  </a:extLst>
                </a:gridCol>
                <a:gridCol w="10117138">
                  <a:extLst>
                    <a:ext uri="{9D8B030D-6E8A-4147-A177-3AD203B41FA5}">
                      <a16:colId xmlns:a16="http://schemas.microsoft.com/office/drawing/2014/main" val="1512056031"/>
                    </a:ext>
                  </a:extLst>
                </a:gridCol>
              </a:tblGrid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pt-PT" sz="2000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Características do bom dinheiro</a:t>
                      </a:r>
                    </a:p>
                  </a:txBody>
                  <a:tcPr anchor="ctr">
                    <a:solidFill>
                      <a:srgbClr val="3925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000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Bitcoin</a:t>
                      </a:r>
                    </a:p>
                  </a:txBody>
                  <a:tcPr anchor="ctr">
                    <a:solidFill>
                      <a:srgbClr val="3925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000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Porquê?</a:t>
                      </a:r>
                    </a:p>
                  </a:txBody>
                  <a:tcPr anchor="ctr">
                    <a:solidFill>
                      <a:srgbClr val="3925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546372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pt-PT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Durável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PT" sz="2000" dirty="0">
                        <a:solidFill>
                          <a:srgbClr val="58595B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PT" sz="2000" dirty="0">
                        <a:solidFill>
                          <a:srgbClr val="58595B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3328340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pt-PT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Portátil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PT" sz="2000" dirty="0">
                        <a:solidFill>
                          <a:srgbClr val="58595B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PT" sz="2000" dirty="0">
                        <a:solidFill>
                          <a:srgbClr val="58595B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8896824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pt-PT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Fungível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PT" sz="2000" dirty="0">
                        <a:solidFill>
                          <a:srgbClr val="58595B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PT" sz="2000" dirty="0">
                        <a:solidFill>
                          <a:srgbClr val="58595B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4091999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pt-PT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Aceite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PT" sz="2000" dirty="0">
                        <a:solidFill>
                          <a:srgbClr val="58595B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PT" sz="2000" dirty="0">
                        <a:solidFill>
                          <a:srgbClr val="58595B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575081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pt-PT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Escasso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PT" sz="2000" dirty="0">
                        <a:solidFill>
                          <a:srgbClr val="58595B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PT" sz="2000" dirty="0">
                        <a:solidFill>
                          <a:srgbClr val="58595B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0942151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pt-PT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Divisível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PT" sz="2000" dirty="0">
                        <a:solidFill>
                          <a:srgbClr val="58595B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PT" sz="2000" dirty="0">
                        <a:solidFill>
                          <a:srgbClr val="58595B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14881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D37E31-C5CF-4CC6-5E9C-475A14E21F82}"/>
              </a:ext>
            </a:extLst>
          </p:cNvPr>
          <p:cNvSpPr txBox="1">
            <a:spLocks/>
          </p:cNvSpPr>
          <p:nvPr/>
        </p:nvSpPr>
        <p:spPr>
          <a:xfrm>
            <a:off x="1382712" y="2301876"/>
            <a:ext cx="17352000" cy="20574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PT" sz="2800" kern="1200" spc="-10" dirty="0" smtClean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125000"/>
              <a:buNone/>
            </a:pPr>
            <a:r>
              <a:rPr lang="pt-PT" dirty="0"/>
              <a:t>Para avaliar a capacidade do Bitcoin em satisfazer os requisitos específicos do dinheiro, atribui uma classificação de 1 a 5 a cada característica, justificando o motivo de cada avaliação.</a:t>
            </a:r>
          </a:p>
        </p:txBody>
      </p:sp>
    </p:spTree>
    <p:extLst>
      <p:ext uri="{BB962C8B-B14F-4D97-AF65-F5344CB8AC3E}">
        <p14:creationId xmlns:p14="http://schemas.microsoft.com/office/powerpoint/2010/main" val="2877179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7218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with a yellow sun and black text&#10;&#10;AI-generated content may be incorrect.">
            <a:extLst>
              <a:ext uri="{FF2B5EF4-FFF2-40B4-BE49-F238E27FC236}">
                <a16:creationId xmlns:a16="http://schemas.microsoft.com/office/drawing/2014/main" id="{5C804049-FBAA-4F11-AD08-1A3A749D7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850" y="3582035"/>
            <a:ext cx="7772400" cy="414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178460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1860</TotalTime>
  <Words>525</Words>
  <Application>Microsoft Macintosh PowerPoint</Application>
  <PresentationFormat>Custom</PresentationFormat>
  <Paragraphs>60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Open Sans</vt:lpstr>
      <vt:lpstr>Open Sans Light</vt:lpstr>
      <vt:lpstr>Ubuntu Light</vt:lpstr>
      <vt:lpstr>1_Custom Design</vt:lpstr>
      <vt:lpstr>Uma introdução ao Bitcoin</vt:lpstr>
      <vt:lpstr>Atividade</vt:lpstr>
      <vt:lpstr>Atividade</vt:lpstr>
      <vt:lpstr>Atividade</vt:lpstr>
      <vt:lpstr>Atividade</vt:lpstr>
      <vt:lpstr>Atividade</vt:lpstr>
      <vt:lpstr>Exercício de turma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Source</dc:title>
  <dc:creator>z2020</dc:creator>
  <cp:lastModifiedBy>INES RAMALHETE SALVADO PAZ LOURO</cp:lastModifiedBy>
  <cp:revision>154</cp:revision>
  <dcterms:created xsi:type="dcterms:W3CDTF">2024-11-12T03:26:48Z</dcterms:created>
  <dcterms:modified xsi:type="dcterms:W3CDTF">2025-11-01T11:54:41Z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2024-11-12T00:00:00Z</vt:filetime>
  </property>
  <property fmtid="{D5CDD505-2E9C-101B-9397-08002B2CF9AE}" pid="3" name="Creator">
    <vt:lpwstr>Adobe Illustrator 29.0 (Windows)</vt:lpwstr>
  </property>
  <property fmtid="{D5CDD505-2E9C-101B-9397-08002B2CF9AE}" pid="4" name="LastSaved">
    <vt:filetime>2024-11-12T00:00:00Z</vt:filetime>
  </property>
  <property fmtid="{D5CDD505-2E9C-101B-9397-08002B2CF9AE}" pid="5" name="Producer">
    <vt:lpwstr>Adobe PDF library 17.00</vt:lpwstr>
  </property>
</Properties>
</file>