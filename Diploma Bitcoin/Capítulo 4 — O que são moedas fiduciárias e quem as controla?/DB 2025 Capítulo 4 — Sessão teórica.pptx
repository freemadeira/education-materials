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6"/>
  </p:notesMasterIdLst>
  <p:sldIdLst>
    <p:sldId id="260" r:id="rId2"/>
    <p:sldId id="265" r:id="rId3"/>
    <p:sldId id="291" r:id="rId4"/>
    <p:sldId id="292" r:id="rId5"/>
    <p:sldId id="280" r:id="rId6"/>
    <p:sldId id="294" r:id="rId7"/>
    <p:sldId id="295" r:id="rId8"/>
    <p:sldId id="297" r:id="rId9"/>
    <p:sldId id="298" r:id="rId10"/>
    <p:sldId id="277" r:id="rId11"/>
    <p:sldId id="299" r:id="rId12"/>
    <p:sldId id="307" r:id="rId13"/>
    <p:sldId id="306" r:id="rId14"/>
    <p:sldId id="268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95B"/>
    <a:srgbClr val="FFFFFF"/>
    <a:srgbClr val="EB8B29"/>
    <a:srgbClr val="FF9300"/>
    <a:srgbClr val="FBB040"/>
    <a:srgbClr val="FCBC5E"/>
    <a:srgbClr val="F6F6F6"/>
    <a:srgbClr val="FEE7C6"/>
    <a:srgbClr val="FDDFB3"/>
    <a:srgbClr val="FDD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56"/>
    <p:restoredTop sz="75513"/>
  </p:normalViewPr>
  <p:slideViewPr>
    <p:cSldViewPr>
      <p:cViewPr varScale="1">
        <p:scale>
          <a:sx n="49" d="100"/>
          <a:sy n="49" d="100"/>
        </p:scale>
        <p:origin x="21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11/10/2025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34389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0EA7-420F-5F78-CD9E-446F9FE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1986-C451-67B5-D4BE-4FE866893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3760-BFD9-5EB4-E463-3717A177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4256-1EFC-BC17-DE54-D31B95DE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6947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92186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388E9-5534-D2E6-2397-A08D212D2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CF142-F397-7878-6623-188A8DDFA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FD3E1-E9C2-0A28-54F2-2C97D5583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71F05-23E6-B8C4-0113-4BBA1E35E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4203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34185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95202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906675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12020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300A-D535-6E97-0312-1EBD33AF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566FE-67BE-DC88-1555-5D6E6962E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57DF1-7413-2EDA-FEEA-0D67D99B8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B8BDF-FEA6-77B3-6E76-98E858604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98140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AB5BD-D79F-577D-20DE-EF9A3261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BF1F5-DD02-C37C-278F-4F9E9F96C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74558-BC0E-9122-C2C3-00307BAEC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234A-F9D2-9971-48E4-49DF74B08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43320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4669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73259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O que são moedas fiduciárias e quem as controla?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673475"/>
            <a:ext cx="17338675" cy="7034212"/>
          </a:xfrm>
        </p:spPr>
        <p:txBody>
          <a:bodyPr/>
          <a:lstStyle/>
          <a:p>
            <a:r>
              <a:rPr lang="pt-PT" dirty="0"/>
              <a:t>4.0 Introdução</a:t>
            </a:r>
          </a:p>
          <a:p>
            <a:r>
              <a:rPr lang="pt-PT" dirty="0"/>
              <a:t>4.1 História resumida do dinheiro fiduciário</a:t>
            </a:r>
          </a:p>
          <a:p>
            <a:r>
              <a:rPr lang="pt-PT" dirty="0"/>
              <a:t>4.2 O sistema fiduciário</a:t>
            </a:r>
          </a:p>
          <a:p>
            <a:r>
              <a:rPr lang="pt-PT" dirty="0"/>
              <a:t>	4.2.1 Um sistema monetário obrigatório</a:t>
            </a:r>
          </a:p>
          <a:p>
            <a:r>
              <a:rPr lang="pt-PT" dirty="0"/>
              <a:t>	4.2.2 Reservas mínimas obrigatórias: um sistema sustentado pela dívida</a:t>
            </a:r>
          </a:p>
          <a:p>
            <a:r>
              <a:rPr lang="pt-PT" dirty="0"/>
              <a:t>	4.2.3 Quem controla o sistema fiduciário e que benefícios têm?</a:t>
            </a:r>
          </a:p>
          <a:p>
            <a:r>
              <a:rPr lang="pt-PT" dirty="0"/>
              <a:t>4.3 Moedas digitais do banco central: O futuro do dinheiro fiduciário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BA8-AE8B-6BEE-D822-7F7D973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73A7-D073-8764-6DA7-76BD2F11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4.0 Introdução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7DA14C0-334F-40D5-BAC9-792044CDF97B}"/>
              </a:ext>
            </a:extLst>
          </p:cNvPr>
          <p:cNvGrpSpPr>
            <a:grpSpLocks noChangeAspect="1"/>
          </p:cNvGrpSpPr>
          <p:nvPr/>
        </p:nvGrpSpPr>
        <p:grpSpPr>
          <a:xfrm>
            <a:off x="1405474" y="4130675"/>
            <a:ext cx="17293152" cy="4027446"/>
            <a:chOff x="2432050" y="1838216"/>
            <a:chExt cx="15308802" cy="3565307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1697139B-5F2B-2288-E8D9-3EDF30DEE878}"/>
                </a:ext>
              </a:extLst>
            </p:cNvPr>
            <p:cNvSpPr/>
            <p:nvPr/>
          </p:nvSpPr>
          <p:spPr>
            <a:xfrm>
              <a:off x="2432050" y="2242953"/>
              <a:ext cx="15308802" cy="2765704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história da humanidade é a história da desvalorização do dinheiro.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Milton </a:t>
              </a: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Friedman</a:t>
              </a:r>
              <a:endParaRPr lang="pt-PT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4" name="object 16">
              <a:extLst>
                <a:ext uri="{FF2B5EF4-FFF2-40B4-BE49-F238E27FC236}">
                  <a16:creationId xmlns:a16="http://schemas.microsoft.com/office/drawing/2014/main" id="{BAABFBD3-C50F-0D2E-4FE3-E31B923ED5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1838216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85" name="object 17">
              <a:extLst>
                <a:ext uri="{FF2B5EF4-FFF2-40B4-BE49-F238E27FC236}">
                  <a16:creationId xmlns:a16="http://schemas.microsoft.com/office/drawing/2014/main" id="{5D8384A9-7ABD-543A-4E54-45444558C9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4738834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CA4B-2AAD-B4E2-662D-4A525BB1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340AE1A-9922-CE65-2585-F34361C0E8A5}"/>
              </a:ext>
            </a:extLst>
          </p:cNvPr>
          <p:cNvGrpSpPr/>
          <p:nvPr/>
        </p:nvGrpSpPr>
        <p:grpSpPr>
          <a:xfrm>
            <a:off x="1458307" y="2682875"/>
            <a:ext cx="18194943" cy="8022409"/>
            <a:chOff x="1382107" y="2432866"/>
            <a:chExt cx="18194943" cy="8022409"/>
          </a:xfrm>
        </p:grpSpPr>
        <p:sp>
          <p:nvSpPr>
            <p:cNvPr id="35" name="Content Placeholder 5">
              <a:extLst>
                <a:ext uri="{FF2B5EF4-FFF2-40B4-BE49-F238E27FC236}">
                  <a16:creationId xmlns:a16="http://schemas.microsoft.com/office/drawing/2014/main" id="{2FEB0E48-112D-A712-4B2A-31C5803576A0}"/>
                </a:ext>
              </a:extLst>
            </p:cNvPr>
            <p:cNvSpPr txBox="1">
              <a:spLocks/>
            </p:cNvSpPr>
            <p:nvPr/>
          </p:nvSpPr>
          <p:spPr>
            <a:xfrm>
              <a:off x="1402957" y="7366904"/>
              <a:ext cx="2988000" cy="936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7000"/>
                </a:prstClr>
              </a:innerShdw>
            </a:effectLst>
          </p:spPr>
          <p:txBody>
            <a:bodyPr vert="horz" wrap="square" lIns="144000" tIns="251999" rIns="108000" bIns="251999" rtlCol="0">
              <a:noAutofit/>
            </a:bodyPr>
            <a:lstStyle>
              <a:defPPr>
                <a:defRPr kern="0"/>
              </a:defPPr>
              <a:lvl1pPr marL="0" indent="0" algn="ctr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PT" sz="2100" dirty="0"/>
                <a:t>Padrão Ouro</a:t>
              </a:r>
            </a:p>
          </p:txBody>
        </p:sp>
        <p:sp>
          <p:nvSpPr>
            <p:cNvPr id="36" name="Content Placeholder 5">
              <a:extLst>
                <a:ext uri="{FF2B5EF4-FFF2-40B4-BE49-F238E27FC236}">
                  <a16:creationId xmlns:a16="http://schemas.microsoft.com/office/drawing/2014/main" id="{9D30E37F-C036-1C33-D2C9-C522640C1288}"/>
                </a:ext>
              </a:extLst>
            </p:cNvPr>
            <p:cNvSpPr txBox="1">
              <a:spLocks/>
            </p:cNvSpPr>
            <p:nvPr/>
          </p:nvSpPr>
          <p:spPr>
            <a:xfrm>
              <a:off x="3680923" y="3224866"/>
              <a:ext cx="3168000" cy="1800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7000"/>
                </a:prstClr>
              </a:innerShdw>
            </a:effectLst>
          </p:spPr>
          <p:txBody>
            <a:bodyPr vert="horz" wrap="square" lIns="144000" tIns="251999" rIns="108000" bIns="251999" rtlCol="0">
              <a:noAutofit/>
            </a:bodyPr>
            <a:lstStyle>
              <a:defPPr>
                <a:defRPr kern="0"/>
              </a:defPPr>
              <a:lvl1pPr marL="0" indent="0" algn="ctr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PT" sz="2100" dirty="0"/>
                <a:t>Criação de um banco central chamado Reserva Federal</a:t>
              </a:r>
            </a:p>
          </p:txBody>
        </p:sp>
        <p:sp>
          <p:nvSpPr>
            <p:cNvPr id="37" name="Content Placeholder 5">
              <a:extLst>
                <a:ext uri="{FF2B5EF4-FFF2-40B4-BE49-F238E27FC236}">
                  <a16:creationId xmlns:a16="http://schemas.microsoft.com/office/drawing/2014/main" id="{9CD44F95-7055-0CF4-5E52-654A0619648E}"/>
                </a:ext>
              </a:extLst>
            </p:cNvPr>
            <p:cNvSpPr txBox="1">
              <a:spLocks/>
            </p:cNvSpPr>
            <p:nvPr/>
          </p:nvSpPr>
          <p:spPr>
            <a:xfrm>
              <a:off x="5484243" y="7363999"/>
              <a:ext cx="4356000" cy="2664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7000"/>
                </a:prstClr>
              </a:innerShdw>
            </a:effectLst>
          </p:spPr>
          <p:txBody>
            <a:bodyPr vert="horz" wrap="square" lIns="144000" tIns="251999" rIns="108000" bIns="251999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lang="en-PT"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0000"/>
                </a:lnSpc>
                <a:buNone/>
              </a:pPr>
              <a:r>
                <a:rPr lang="pt-PT" sz="2100" dirty="0"/>
                <a:t>Decreto Presidencial 6102. Todos os cidadãos foram obrigados a entregar o seu ouro a uma taxa de câmbio de 20,67 dólares americanos por onça.</a:t>
              </a:r>
            </a:p>
          </p:txBody>
        </p:sp>
        <p:sp>
          <p:nvSpPr>
            <p:cNvPr id="38" name="Content Placeholder 5">
              <a:extLst>
                <a:ext uri="{FF2B5EF4-FFF2-40B4-BE49-F238E27FC236}">
                  <a16:creationId xmlns:a16="http://schemas.microsoft.com/office/drawing/2014/main" id="{F61E2F4D-5806-B26D-D2DB-935283F46073}"/>
                </a:ext>
              </a:extLst>
            </p:cNvPr>
            <p:cNvSpPr txBox="1">
              <a:spLocks/>
            </p:cNvSpPr>
            <p:nvPr/>
          </p:nvSpPr>
          <p:spPr>
            <a:xfrm>
              <a:off x="7891443" y="2432866"/>
              <a:ext cx="4320000" cy="2592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7000"/>
                </a:prstClr>
              </a:innerShdw>
            </a:effectLst>
          </p:spPr>
          <p:txBody>
            <a:bodyPr vert="horz" wrap="square" lIns="144000" tIns="251999" rIns="108000" bIns="251999" rtlCol="0">
              <a:noAutofit/>
            </a:bodyPr>
            <a:lstStyle>
              <a:defPPr>
                <a:defRPr kern="0"/>
              </a:defPPr>
              <a:lvl1pPr marL="0" indent="0" algn="ctr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PT" sz="2100" dirty="0"/>
                <a:t>Lei da reserva de ouro. Permitiu voltar a trocar dólares por ouro. A taxa de câmbio era agora 35 dólares por onça de ouro — uma desvalorização de 40%.</a:t>
              </a:r>
            </a:p>
          </p:txBody>
        </p:sp>
        <p:sp>
          <p:nvSpPr>
            <p:cNvPr id="39" name="Content Placeholder 5">
              <a:extLst>
                <a:ext uri="{FF2B5EF4-FFF2-40B4-BE49-F238E27FC236}">
                  <a16:creationId xmlns:a16="http://schemas.microsoft.com/office/drawing/2014/main" id="{C0A83EEA-0526-8A36-0A5A-D03D7536ABAB}"/>
                </a:ext>
              </a:extLst>
            </p:cNvPr>
            <p:cNvSpPr txBox="1">
              <a:spLocks/>
            </p:cNvSpPr>
            <p:nvPr/>
          </p:nvSpPr>
          <p:spPr>
            <a:xfrm>
              <a:off x="10385941" y="7359275"/>
              <a:ext cx="3924000" cy="2232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7000"/>
                </a:prstClr>
              </a:innerShdw>
            </a:effectLst>
          </p:spPr>
          <p:txBody>
            <a:bodyPr vert="horz" wrap="square" lIns="144000" tIns="251999" rIns="108000" bIns="251999" rtlCol="0">
              <a:noAutofit/>
            </a:bodyPr>
            <a:lstStyle>
              <a:defPPr>
                <a:defRPr kern="0"/>
              </a:defPPr>
              <a:lvl1pPr marL="0" indent="0" algn="ctr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PT" sz="2100" dirty="0"/>
                <a:t>Acordo de </a:t>
              </a:r>
              <a:r>
                <a:rPr lang="pt-PT" sz="2100" dirty="0" err="1"/>
                <a:t>Bretton</a:t>
              </a:r>
              <a:r>
                <a:rPr lang="pt-PT" sz="2100" dirty="0"/>
                <a:t> </a:t>
              </a:r>
              <a:r>
                <a:rPr lang="pt-PT" sz="2100" dirty="0" err="1"/>
                <a:t>Woods</a:t>
              </a:r>
              <a:r>
                <a:rPr lang="pt-PT" sz="2100" dirty="0"/>
                <a:t>.</a:t>
              </a:r>
              <a:br>
                <a:rPr lang="pt-PT" sz="2100" dirty="0"/>
              </a:br>
              <a:r>
                <a:rPr lang="pt-PT" sz="2100" dirty="0"/>
                <a:t>O dólar americano tornou-se a moeda de reserva mundial dominante</a:t>
              </a:r>
            </a:p>
          </p:txBody>
        </p:sp>
        <p:sp>
          <p:nvSpPr>
            <p:cNvPr id="40" name="Content Placeholder 5">
              <a:extLst>
                <a:ext uri="{FF2B5EF4-FFF2-40B4-BE49-F238E27FC236}">
                  <a16:creationId xmlns:a16="http://schemas.microsoft.com/office/drawing/2014/main" id="{9BE54B43-C92F-4A4E-FD35-78E5D699F72D}"/>
                </a:ext>
              </a:extLst>
            </p:cNvPr>
            <p:cNvSpPr txBox="1">
              <a:spLocks/>
            </p:cNvSpPr>
            <p:nvPr/>
          </p:nvSpPr>
          <p:spPr>
            <a:xfrm>
              <a:off x="12659025" y="2792866"/>
              <a:ext cx="4320000" cy="2232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7000"/>
                </a:prstClr>
              </a:innerShdw>
            </a:effectLst>
          </p:spPr>
          <p:txBody>
            <a:bodyPr vert="horz" wrap="square" lIns="144000" tIns="251999" rIns="108000" bIns="251999" rtlCol="0">
              <a:noAutofit/>
            </a:bodyPr>
            <a:lstStyle>
              <a:defPPr>
                <a:defRPr kern="0"/>
              </a:defPPr>
              <a:lvl1pPr marL="0" indent="0" algn="ctr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PT" sz="2100" dirty="0"/>
                <a:t>O Choque Nixon, que deu origem ao sistema fiduciário, ao acabar com a conversibilidade do dólar americano em ouro.</a:t>
              </a:r>
            </a:p>
          </p:txBody>
        </p:sp>
        <p:sp>
          <p:nvSpPr>
            <p:cNvPr id="41" name="Content Placeholder 5">
              <a:extLst>
                <a:ext uri="{FF2B5EF4-FFF2-40B4-BE49-F238E27FC236}">
                  <a16:creationId xmlns:a16="http://schemas.microsoft.com/office/drawing/2014/main" id="{AC19B234-163A-C79B-FA42-665F676B2BB9}"/>
                </a:ext>
              </a:extLst>
            </p:cNvPr>
            <p:cNvSpPr txBox="1">
              <a:spLocks/>
            </p:cNvSpPr>
            <p:nvPr/>
          </p:nvSpPr>
          <p:spPr>
            <a:xfrm>
              <a:off x="14861050" y="7359275"/>
              <a:ext cx="4716000" cy="3096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7000"/>
                </a:prstClr>
              </a:innerShdw>
            </a:effectLst>
          </p:spPr>
          <p:txBody>
            <a:bodyPr vert="horz" wrap="square" lIns="144000" tIns="251999" rIns="108000" bIns="251999" rtlCol="0">
              <a:noAutofit/>
            </a:bodyPr>
            <a:lstStyle>
              <a:defPPr>
                <a:defRPr kern="0"/>
              </a:defPPr>
              <a:lvl1pPr marL="0" indent="0" algn="ctr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PT" sz="2100" dirty="0"/>
                <a:t>O valor do ouro era 35 USD por onça em 1970, e aumentou para 870 USD por onça até 1980, o que causou uma desvalorização do dinheiro das pessoas em 96%, num período de apenas 10 anos.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641E641-EB26-89A5-32DB-5668845DE553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V="1">
              <a:off x="2896957" y="6735403"/>
              <a:ext cx="0" cy="631501"/>
            </a:xfrm>
            <a:prstGeom prst="line">
              <a:avLst/>
            </a:prstGeom>
            <a:ln>
              <a:solidFill>
                <a:srgbClr val="F6F6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226A7F3-260B-33D2-5BAD-AB54022D07D4}"/>
                </a:ext>
              </a:extLst>
            </p:cNvPr>
            <p:cNvCxnSpPr/>
            <p:nvPr/>
          </p:nvCxnSpPr>
          <p:spPr>
            <a:xfrm flipV="1">
              <a:off x="7656834" y="6735403"/>
              <a:ext cx="5411" cy="631501"/>
            </a:xfrm>
            <a:prstGeom prst="line">
              <a:avLst/>
            </a:prstGeom>
            <a:ln>
              <a:solidFill>
                <a:srgbClr val="F6F6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999D5FB-100D-7A7E-4845-3A3DF66726AA}"/>
                </a:ext>
              </a:extLst>
            </p:cNvPr>
            <p:cNvCxnSpPr/>
            <p:nvPr/>
          </p:nvCxnSpPr>
          <p:spPr>
            <a:xfrm flipV="1">
              <a:off x="17220261" y="6727774"/>
              <a:ext cx="5411" cy="631501"/>
            </a:xfrm>
            <a:prstGeom prst="line">
              <a:avLst/>
            </a:prstGeom>
            <a:ln>
              <a:solidFill>
                <a:srgbClr val="F6F6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F375382-50DB-FABA-A68E-E8BC6E59DE4B}"/>
                </a:ext>
              </a:extLst>
            </p:cNvPr>
            <p:cNvCxnSpPr/>
            <p:nvPr/>
          </p:nvCxnSpPr>
          <p:spPr>
            <a:xfrm flipV="1">
              <a:off x="14819025" y="5027942"/>
              <a:ext cx="5411" cy="631501"/>
            </a:xfrm>
            <a:prstGeom prst="line">
              <a:avLst/>
            </a:prstGeom>
            <a:ln>
              <a:solidFill>
                <a:srgbClr val="F6F6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2159013-002C-548F-ADE3-4EECCA27D3C8}"/>
                </a:ext>
              </a:extLst>
            </p:cNvPr>
            <p:cNvCxnSpPr/>
            <p:nvPr/>
          </p:nvCxnSpPr>
          <p:spPr>
            <a:xfrm flipV="1">
              <a:off x="10089191" y="5027941"/>
              <a:ext cx="5411" cy="631501"/>
            </a:xfrm>
            <a:prstGeom prst="line">
              <a:avLst/>
            </a:prstGeom>
            <a:ln>
              <a:solidFill>
                <a:srgbClr val="F6F6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4DDD09D-7E3B-AFC3-1513-8CEDDE27B27B}"/>
                </a:ext>
              </a:extLst>
            </p:cNvPr>
            <p:cNvCxnSpPr/>
            <p:nvPr/>
          </p:nvCxnSpPr>
          <p:spPr>
            <a:xfrm flipV="1">
              <a:off x="5264923" y="5027940"/>
              <a:ext cx="5411" cy="631501"/>
            </a:xfrm>
            <a:prstGeom prst="line">
              <a:avLst/>
            </a:prstGeom>
            <a:ln>
              <a:solidFill>
                <a:srgbClr val="F6F6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335F182-67DD-39DE-E2A8-2D82BFA02015}"/>
                </a:ext>
              </a:extLst>
            </p:cNvPr>
            <p:cNvCxnSpPr/>
            <p:nvPr/>
          </p:nvCxnSpPr>
          <p:spPr>
            <a:xfrm flipV="1">
              <a:off x="12347941" y="6735403"/>
              <a:ext cx="5411" cy="631501"/>
            </a:xfrm>
            <a:prstGeom prst="line">
              <a:avLst/>
            </a:prstGeom>
            <a:ln>
              <a:solidFill>
                <a:srgbClr val="F6F6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B532B19-44AB-E901-DF8F-152780F8A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107" y="5659443"/>
              <a:ext cx="3003464" cy="1073055"/>
            </a:xfrm>
            <a:custGeom>
              <a:avLst/>
              <a:gdLst>
                <a:gd name="T0" fmla="*/ 0 w 929"/>
                <a:gd name="T1" fmla="*/ 0 h 365"/>
                <a:gd name="T2" fmla="*/ 747 w 929"/>
                <a:gd name="T3" fmla="*/ 0 h 365"/>
                <a:gd name="T4" fmla="*/ 929 w 929"/>
                <a:gd name="T5" fmla="*/ 182 h 365"/>
                <a:gd name="T6" fmla="*/ 747 w 929"/>
                <a:gd name="T7" fmla="*/ 365 h 365"/>
                <a:gd name="T8" fmla="*/ 0 w 929"/>
                <a:gd name="T9" fmla="*/ 365 h 365"/>
                <a:gd name="T10" fmla="*/ 0 w 929"/>
                <a:gd name="T11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9" h="365">
                  <a:moveTo>
                    <a:pt x="0" y="0"/>
                  </a:moveTo>
                  <a:lnTo>
                    <a:pt x="747" y="0"/>
                  </a:lnTo>
                  <a:lnTo>
                    <a:pt x="929" y="182"/>
                  </a:lnTo>
                  <a:lnTo>
                    <a:pt x="747" y="365"/>
                  </a:lnTo>
                  <a:lnTo>
                    <a:pt x="0" y="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40"/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PT" sz="2400" b="1" noProof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1815-1933</a:t>
              </a: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9987D512-822E-CB7C-85F2-46504C720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310" y="5659443"/>
              <a:ext cx="3003464" cy="1073055"/>
            </a:xfrm>
            <a:custGeom>
              <a:avLst/>
              <a:gdLst>
                <a:gd name="T0" fmla="*/ 0 w 923"/>
                <a:gd name="T1" fmla="*/ 0 h 365"/>
                <a:gd name="T2" fmla="*/ 741 w 923"/>
                <a:gd name="T3" fmla="*/ 0 h 365"/>
                <a:gd name="T4" fmla="*/ 923 w 923"/>
                <a:gd name="T5" fmla="*/ 182 h 365"/>
                <a:gd name="T6" fmla="*/ 741 w 923"/>
                <a:gd name="T7" fmla="*/ 365 h 365"/>
                <a:gd name="T8" fmla="*/ 0 w 923"/>
                <a:gd name="T9" fmla="*/ 365 h 365"/>
                <a:gd name="T10" fmla="*/ 182 w 923"/>
                <a:gd name="T11" fmla="*/ 182 h 365"/>
                <a:gd name="T12" fmla="*/ 0 w 923"/>
                <a:gd name="T13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365">
                  <a:moveTo>
                    <a:pt x="0" y="0"/>
                  </a:moveTo>
                  <a:lnTo>
                    <a:pt x="741" y="0"/>
                  </a:lnTo>
                  <a:lnTo>
                    <a:pt x="923" y="182"/>
                  </a:lnTo>
                  <a:lnTo>
                    <a:pt x="741" y="365"/>
                  </a:lnTo>
                  <a:lnTo>
                    <a:pt x="0" y="365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40">
                <a:alpha val="94902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PT" sz="2400" b="1" noProof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1913</a:t>
              </a:r>
            </a:p>
          </p:txBody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7FBB9248-B072-DAED-2CF7-7E828E26F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0511" y="5659443"/>
              <a:ext cx="3003464" cy="1073055"/>
            </a:xfrm>
            <a:custGeom>
              <a:avLst/>
              <a:gdLst>
                <a:gd name="T0" fmla="*/ 0 w 923"/>
                <a:gd name="T1" fmla="*/ 0 h 365"/>
                <a:gd name="T2" fmla="*/ 741 w 923"/>
                <a:gd name="T3" fmla="*/ 0 h 365"/>
                <a:gd name="T4" fmla="*/ 923 w 923"/>
                <a:gd name="T5" fmla="*/ 182 h 365"/>
                <a:gd name="T6" fmla="*/ 741 w 923"/>
                <a:gd name="T7" fmla="*/ 365 h 365"/>
                <a:gd name="T8" fmla="*/ 0 w 923"/>
                <a:gd name="T9" fmla="*/ 365 h 365"/>
                <a:gd name="T10" fmla="*/ 182 w 923"/>
                <a:gd name="T11" fmla="*/ 182 h 365"/>
                <a:gd name="T12" fmla="*/ 0 w 923"/>
                <a:gd name="T13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365">
                  <a:moveTo>
                    <a:pt x="0" y="0"/>
                  </a:moveTo>
                  <a:lnTo>
                    <a:pt x="741" y="0"/>
                  </a:lnTo>
                  <a:lnTo>
                    <a:pt x="923" y="182"/>
                  </a:lnTo>
                  <a:lnTo>
                    <a:pt x="741" y="365"/>
                  </a:lnTo>
                  <a:lnTo>
                    <a:pt x="0" y="365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40">
                <a:alpha val="89804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PT" sz="2400" b="1" noProof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1933</a:t>
              </a:r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7B6E264D-2645-E0A3-910B-B76806E74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9711" y="5659443"/>
              <a:ext cx="3003464" cy="1073055"/>
            </a:xfrm>
            <a:custGeom>
              <a:avLst/>
              <a:gdLst>
                <a:gd name="T0" fmla="*/ 0 w 930"/>
                <a:gd name="T1" fmla="*/ 0 h 365"/>
                <a:gd name="T2" fmla="*/ 747 w 930"/>
                <a:gd name="T3" fmla="*/ 0 h 365"/>
                <a:gd name="T4" fmla="*/ 930 w 930"/>
                <a:gd name="T5" fmla="*/ 182 h 365"/>
                <a:gd name="T6" fmla="*/ 747 w 930"/>
                <a:gd name="T7" fmla="*/ 365 h 365"/>
                <a:gd name="T8" fmla="*/ 0 w 930"/>
                <a:gd name="T9" fmla="*/ 365 h 365"/>
                <a:gd name="T10" fmla="*/ 182 w 930"/>
                <a:gd name="T11" fmla="*/ 182 h 365"/>
                <a:gd name="T12" fmla="*/ 0 w 930"/>
                <a:gd name="T13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0" h="365">
                  <a:moveTo>
                    <a:pt x="0" y="0"/>
                  </a:moveTo>
                  <a:lnTo>
                    <a:pt x="747" y="0"/>
                  </a:lnTo>
                  <a:lnTo>
                    <a:pt x="930" y="182"/>
                  </a:lnTo>
                  <a:lnTo>
                    <a:pt x="747" y="365"/>
                  </a:lnTo>
                  <a:lnTo>
                    <a:pt x="0" y="365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40">
                <a:alpha val="85098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PT" sz="2400" b="1" noProof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1934</a:t>
              </a:r>
            </a:p>
          </p:txBody>
        </p:sp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97C97D42-7D61-FAA4-C092-FA392205A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8914" y="5659443"/>
              <a:ext cx="3003464" cy="1073055"/>
            </a:xfrm>
            <a:custGeom>
              <a:avLst/>
              <a:gdLst>
                <a:gd name="T0" fmla="*/ 0 w 923"/>
                <a:gd name="T1" fmla="*/ 0 h 365"/>
                <a:gd name="T2" fmla="*/ 741 w 923"/>
                <a:gd name="T3" fmla="*/ 0 h 365"/>
                <a:gd name="T4" fmla="*/ 923 w 923"/>
                <a:gd name="T5" fmla="*/ 182 h 365"/>
                <a:gd name="T6" fmla="*/ 741 w 923"/>
                <a:gd name="T7" fmla="*/ 365 h 365"/>
                <a:gd name="T8" fmla="*/ 0 w 923"/>
                <a:gd name="T9" fmla="*/ 365 h 365"/>
                <a:gd name="T10" fmla="*/ 182 w 923"/>
                <a:gd name="T11" fmla="*/ 182 h 365"/>
                <a:gd name="T12" fmla="*/ 0 w 923"/>
                <a:gd name="T13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365">
                  <a:moveTo>
                    <a:pt x="0" y="0"/>
                  </a:moveTo>
                  <a:lnTo>
                    <a:pt x="741" y="0"/>
                  </a:lnTo>
                  <a:lnTo>
                    <a:pt x="923" y="182"/>
                  </a:lnTo>
                  <a:lnTo>
                    <a:pt x="741" y="365"/>
                  </a:lnTo>
                  <a:lnTo>
                    <a:pt x="0" y="365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40">
                <a:alpha val="80000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PT" sz="2400" b="1" noProof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1944</a:t>
              </a:r>
            </a:p>
          </p:txBody>
        </p:sp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FD937C30-BC5E-2719-4AA5-34AAFE2F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8117" y="5659443"/>
              <a:ext cx="3003464" cy="1073055"/>
            </a:xfrm>
            <a:custGeom>
              <a:avLst/>
              <a:gdLst>
                <a:gd name="T0" fmla="*/ 0 w 923"/>
                <a:gd name="T1" fmla="*/ 0 h 365"/>
                <a:gd name="T2" fmla="*/ 741 w 923"/>
                <a:gd name="T3" fmla="*/ 0 h 365"/>
                <a:gd name="T4" fmla="*/ 923 w 923"/>
                <a:gd name="T5" fmla="*/ 182 h 365"/>
                <a:gd name="T6" fmla="*/ 741 w 923"/>
                <a:gd name="T7" fmla="*/ 365 h 365"/>
                <a:gd name="T8" fmla="*/ 0 w 923"/>
                <a:gd name="T9" fmla="*/ 365 h 365"/>
                <a:gd name="T10" fmla="*/ 182 w 923"/>
                <a:gd name="T11" fmla="*/ 182 h 365"/>
                <a:gd name="T12" fmla="*/ 0 w 923"/>
                <a:gd name="T13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365">
                  <a:moveTo>
                    <a:pt x="0" y="0"/>
                  </a:moveTo>
                  <a:lnTo>
                    <a:pt x="741" y="0"/>
                  </a:lnTo>
                  <a:lnTo>
                    <a:pt x="923" y="182"/>
                  </a:lnTo>
                  <a:lnTo>
                    <a:pt x="741" y="365"/>
                  </a:lnTo>
                  <a:lnTo>
                    <a:pt x="0" y="365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40">
                <a:alpha val="74902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PT" sz="2400" b="1" noProof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1971</a:t>
              </a:r>
            </a:p>
          </p:txBody>
        </p:sp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DF465F58-8ABC-7E5B-6487-1BEF904F4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7318" y="5659443"/>
              <a:ext cx="3003464" cy="1073055"/>
            </a:xfrm>
            <a:custGeom>
              <a:avLst/>
              <a:gdLst>
                <a:gd name="T0" fmla="*/ 0 w 929"/>
                <a:gd name="T1" fmla="*/ 0 h 365"/>
                <a:gd name="T2" fmla="*/ 747 w 929"/>
                <a:gd name="T3" fmla="*/ 0 h 365"/>
                <a:gd name="T4" fmla="*/ 929 w 929"/>
                <a:gd name="T5" fmla="*/ 182 h 365"/>
                <a:gd name="T6" fmla="*/ 747 w 929"/>
                <a:gd name="T7" fmla="*/ 365 h 365"/>
                <a:gd name="T8" fmla="*/ 0 w 929"/>
                <a:gd name="T9" fmla="*/ 365 h 365"/>
                <a:gd name="T10" fmla="*/ 182 w 929"/>
                <a:gd name="T11" fmla="*/ 182 h 365"/>
                <a:gd name="T12" fmla="*/ 0 w 929"/>
                <a:gd name="T13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9" h="365">
                  <a:moveTo>
                    <a:pt x="0" y="0"/>
                  </a:moveTo>
                  <a:lnTo>
                    <a:pt x="747" y="0"/>
                  </a:lnTo>
                  <a:lnTo>
                    <a:pt x="929" y="182"/>
                  </a:lnTo>
                  <a:lnTo>
                    <a:pt x="747" y="365"/>
                  </a:lnTo>
                  <a:lnTo>
                    <a:pt x="0" y="365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40">
                <a:alpha val="69804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PT" sz="2400" b="1" noProof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1980</a:t>
              </a: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F626AD2F-F58E-C7F0-5D46-A361BDD41A1A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4.1 História resumida do dinheiro fiduciário</a:t>
            </a:r>
          </a:p>
        </p:txBody>
      </p:sp>
    </p:spTree>
    <p:extLst>
      <p:ext uri="{BB962C8B-B14F-4D97-AF65-F5344CB8AC3E}">
        <p14:creationId xmlns:p14="http://schemas.microsoft.com/office/powerpoint/2010/main" val="42612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5DA8D-3AC5-86A7-1803-EDF0ED65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C2EA-3449-FC63-FC88-24451CF0B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4.2 O sistema fiduciário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A273327-2DA8-3FA4-6F30-06BBEC90166D}"/>
              </a:ext>
            </a:extLst>
          </p:cNvPr>
          <p:cNvGrpSpPr>
            <a:grpSpLocks noChangeAspect="1"/>
          </p:cNvGrpSpPr>
          <p:nvPr/>
        </p:nvGrpSpPr>
        <p:grpSpPr>
          <a:xfrm>
            <a:off x="1405474" y="3749675"/>
            <a:ext cx="17293152" cy="5334000"/>
            <a:chOff x="2432050" y="1838216"/>
            <a:chExt cx="15308802" cy="4721936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89FDDEB9-69DC-B11C-7875-6D74DF0FE9DF}"/>
                </a:ext>
              </a:extLst>
            </p:cNvPr>
            <p:cNvSpPr/>
            <p:nvPr/>
          </p:nvSpPr>
          <p:spPr>
            <a:xfrm>
              <a:off x="2432050" y="2242952"/>
              <a:ext cx="15308802" cy="3979919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 problema fundamental das moedas convencionais é o nível de confiança necessário para que funcionem. Temos de acreditar que o banco central não vai desvalorizar a moeda, embora a história das moedas fiduciárias esteja repleta de abusos dessa mesma confiança.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 err="1">
                  <a:solidFill>
                    <a:srgbClr val="FCBC5E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Satoshi</a:t>
              </a:r>
              <a:r>
                <a:rPr lang="pt-PT" sz="3200" b="1" kern="1200" dirty="0">
                  <a:solidFill>
                    <a:srgbClr val="FCBC5E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pt-PT" sz="3200" b="1" kern="1200" dirty="0" err="1">
                  <a:solidFill>
                    <a:srgbClr val="FCBC5E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Nakamoto</a:t>
              </a:r>
              <a:endParaRPr lang="pt-PT" sz="3200" b="1" kern="1200" dirty="0">
                <a:solidFill>
                  <a:srgbClr val="FCBC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4" name="object 16">
              <a:extLst>
                <a:ext uri="{FF2B5EF4-FFF2-40B4-BE49-F238E27FC236}">
                  <a16:creationId xmlns:a16="http://schemas.microsoft.com/office/drawing/2014/main" id="{A441B1ED-0A83-6263-26EB-0A38A67E82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1838216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85" name="object 17">
              <a:extLst>
                <a:ext uri="{FF2B5EF4-FFF2-40B4-BE49-F238E27FC236}">
                  <a16:creationId xmlns:a16="http://schemas.microsoft.com/office/drawing/2014/main" id="{C36FB8F4-F350-F146-45A3-9794313736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895463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63991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CF94-D573-0DD4-5070-0090E636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98D7-481A-ACBA-95EE-29FE5579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4.2.1 Um sistema monetário obrigatório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A5C30D-3770-ED2B-37CE-C6F1EC231A91}"/>
              </a:ext>
            </a:extLst>
          </p:cNvPr>
          <p:cNvSpPr/>
          <p:nvPr/>
        </p:nvSpPr>
        <p:spPr>
          <a:xfrm>
            <a:off x="1382713" y="2530475"/>
            <a:ext cx="15603537" cy="14724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Uma </a:t>
            </a:r>
            <a:r>
              <a:rPr lang="pt-PT" sz="3200" b="1" dirty="0">
                <a:solidFill>
                  <a:srgbClr val="FBB040"/>
                </a:solidFill>
              </a:rPr>
              <a:t>lei de curso legal </a:t>
            </a:r>
            <a:r>
              <a:rPr lang="pt-PT" sz="3200" dirty="0">
                <a:solidFill>
                  <a:srgbClr val="58595B"/>
                </a:solidFill>
              </a:rPr>
              <a:t>obriga todos os cidadãos a aceitar uma determinada moeda.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A550944-D528-5E9E-975A-9332C45C1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9989101" cy="84058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Ao contrário do dinheiro que é conversível em bens tangíveis como o ouro, o dinheiro fiduciário não tem essa capacidade.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O valor do dinheiro fiduciário baseia-se na crença de que pode ser trocado por bens e serviços e na ilusão de que irá reter o seu valor ao longo do tempo.</a:t>
            </a:r>
          </a:p>
        </p:txBody>
      </p:sp>
      <p:pic>
        <p:nvPicPr>
          <p:cNvPr id="1026" name="Picture 2" descr="What is fiat money? - Electra Protocol">
            <a:extLst>
              <a:ext uri="{FF2B5EF4-FFF2-40B4-BE49-F238E27FC236}">
                <a16:creationId xmlns:a16="http://schemas.microsoft.com/office/drawing/2014/main" id="{314E7625-D445-16C7-6892-75273A2D0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3724" y="5711033"/>
            <a:ext cx="6087663" cy="40584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04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0654-E619-444C-8355-44C272A6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4.2.1 Um sistema monetário obrigatório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7D9F7-D233-74D4-5CBD-7BCC6F8F2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Vantagens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4A1E3-F0D9-E8D0-D808-853CFB6500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Facilidade de utilização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Custos e riscos mais baixos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DF199-B5CC-19ED-AB02-3EEEC0390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dirty="0"/>
              <a:t>Desvantagens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5657C-188E-6706-0BCB-69E418CABC3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Risco de inflação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Controlo e manipulação centralizados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Riscos associados à contraparte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Potencial de abuso</a:t>
            </a:r>
          </a:p>
        </p:txBody>
      </p:sp>
      <p:pic>
        <p:nvPicPr>
          <p:cNvPr id="2052" name="Picture 4" descr="mano participación dinero dolares 21008084 PNG">
            <a:extLst>
              <a:ext uri="{FF2B5EF4-FFF2-40B4-BE49-F238E27FC236}">
                <a16:creationId xmlns:a16="http://schemas.microsoft.com/office/drawing/2014/main" id="{241D817D-CFA7-AB77-A56A-B593C1616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5638800"/>
            <a:ext cx="8505825" cy="56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2AE9C8D-64C2-AF7D-0146-3C7FC9567656}"/>
              </a:ext>
            </a:extLst>
          </p:cNvPr>
          <p:cNvGrpSpPr>
            <a:grpSpLocks noChangeAspect="1"/>
          </p:cNvGrpSpPr>
          <p:nvPr/>
        </p:nvGrpSpPr>
        <p:grpSpPr>
          <a:xfrm>
            <a:off x="14319250" y="6999841"/>
            <a:ext cx="4038600" cy="4522234"/>
            <a:chOff x="12566650" y="7788275"/>
            <a:chExt cx="3120598" cy="3494299"/>
          </a:xfrm>
        </p:grpSpPr>
        <p:pic>
          <p:nvPicPr>
            <p:cNvPr id="2054" name="Picture 6" descr="Empresário manipulando homem com dinheiro e corda controle manipulação ...">
              <a:extLst>
                <a:ext uri="{FF2B5EF4-FFF2-40B4-BE49-F238E27FC236}">
                  <a16:creationId xmlns:a16="http://schemas.microsoft.com/office/drawing/2014/main" id="{9FBC3B12-BA3B-C55D-E859-DA70A773B2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00" t="9293" r="11881" b="9111"/>
            <a:stretch>
              <a:fillRect/>
            </a:stretch>
          </p:blipFill>
          <p:spPr bwMode="auto">
            <a:xfrm>
              <a:off x="12566650" y="7788275"/>
              <a:ext cx="3120598" cy="3362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Empresário manipulando homem com dinheiro e corda controle manipulação ...">
              <a:extLst>
                <a:ext uri="{FF2B5EF4-FFF2-40B4-BE49-F238E27FC236}">
                  <a16:creationId xmlns:a16="http://schemas.microsoft.com/office/drawing/2014/main" id="{EE6707EE-EAD8-9CB7-97A3-8383688EC8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00" t="79554" r="49119" b="11202"/>
            <a:stretch>
              <a:fillRect/>
            </a:stretch>
          </p:blipFill>
          <p:spPr bwMode="auto">
            <a:xfrm>
              <a:off x="12566650" y="10901574"/>
              <a:ext cx="160020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2450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C911662-4B08-DDB3-4BFB-CEC297CDB4C4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4.2.2 Reservas mínimas obrigatórias: sistema sustentado pela dívida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18E15FA-C699-4F24-2D2A-F2BE6CD51787}"/>
              </a:ext>
            </a:extLst>
          </p:cNvPr>
          <p:cNvGrpSpPr/>
          <p:nvPr/>
        </p:nvGrpSpPr>
        <p:grpSpPr>
          <a:xfrm>
            <a:off x="1382713" y="3597275"/>
            <a:ext cx="6432994" cy="6214565"/>
            <a:chOff x="1233549" y="3322047"/>
            <a:chExt cx="6432994" cy="62145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80554B1-9CFF-EC3B-691B-EBEEBE9DCC9B}"/>
                </a:ext>
              </a:extLst>
            </p:cNvPr>
            <p:cNvGrpSpPr/>
            <p:nvPr/>
          </p:nvGrpSpPr>
          <p:grpSpPr>
            <a:xfrm>
              <a:off x="1233549" y="3470857"/>
              <a:ext cx="1017113" cy="1190875"/>
              <a:chOff x="6514346" y="2693278"/>
              <a:chExt cx="1017113" cy="1190875"/>
            </a:xfrm>
          </p:grpSpPr>
          <p:pic>
            <p:nvPicPr>
              <p:cNvPr id="8" name="object 11">
                <a:extLst>
                  <a:ext uri="{FF2B5EF4-FFF2-40B4-BE49-F238E27FC236}">
                    <a16:creationId xmlns:a16="http://schemas.microsoft.com/office/drawing/2014/main" id="{62C2D9E0-EECC-3C13-2E67-7E9F1ED4C0C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818714" y="3294936"/>
                <a:ext cx="712745" cy="589217"/>
              </a:xfrm>
              <a:prstGeom prst="rect">
                <a:avLst/>
              </a:prstGeom>
            </p:spPr>
          </p:pic>
          <p:pic>
            <p:nvPicPr>
              <p:cNvPr id="9" name="object 12">
                <a:extLst>
                  <a:ext uri="{FF2B5EF4-FFF2-40B4-BE49-F238E27FC236}">
                    <a16:creationId xmlns:a16="http://schemas.microsoft.com/office/drawing/2014/main" id="{07C8E664-3C84-66C4-6761-64FF9CECF4C5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514346" y="2765287"/>
                <a:ext cx="227532" cy="369444"/>
              </a:xfrm>
              <a:prstGeom prst="rect">
                <a:avLst/>
              </a:prstGeom>
            </p:spPr>
          </p:pic>
          <p:pic>
            <p:nvPicPr>
              <p:cNvPr id="10" name="object 13">
                <a:extLst>
                  <a:ext uri="{FF2B5EF4-FFF2-40B4-BE49-F238E27FC236}">
                    <a16:creationId xmlns:a16="http://schemas.microsoft.com/office/drawing/2014/main" id="{90CE0D36-10EF-469F-3189-9EB3CC0F349B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813258" y="2693278"/>
                <a:ext cx="663917" cy="554392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0530EC1-CE0A-4859-4F3C-E0FA6AA9F664}"/>
                </a:ext>
              </a:extLst>
            </p:cNvPr>
            <p:cNvGrpSpPr/>
            <p:nvPr/>
          </p:nvGrpSpPr>
          <p:grpSpPr>
            <a:xfrm>
              <a:off x="5662899" y="5599197"/>
              <a:ext cx="1147964" cy="1152295"/>
              <a:chOff x="9661926" y="3742037"/>
              <a:chExt cx="1147964" cy="1152295"/>
            </a:xfrm>
          </p:grpSpPr>
          <p:pic>
            <p:nvPicPr>
              <p:cNvPr id="11" name="object 9">
                <a:extLst>
                  <a:ext uri="{FF2B5EF4-FFF2-40B4-BE49-F238E27FC236}">
                    <a16:creationId xmlns:a16="http://schemas.microsoft.com/office/drawing/2014/main" id="{C88D2F79-8F74-C775-0E75-4CE181734599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661926" y="3989470"/>
                <a:ext cx="1147964" cy="904862"/>
              </a:xfrm>
              <a:prstGeom prst="rect">
                <a:avLst/>
              </a:prstGeom>
            </p:spPr>
          </p:pic>
          <p:pic>
            <p:nvPicPr>
              <p:cNvPr id="12" name="object 10">
                <a:extLst>
                  <a:ext uri="{FF2B5EF4-FFF2-40B4-BE49-F238E27FC236}">
                    <a16:creationId xmlns:a16="http://schemas.microsoft.com/office/drawing/2014/main" id="{7FA876C7-B107-0450-B049-69D080B4BF3A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159598" y="3742037"/>
                <a:ext cx="332960" cy="180251"/>
              </a:xfrm>
              <a:prstGeom prst="rect">
                <a:avLst/>
              </a:prstGeom>
            </p:spPr>
          </p:pic>
        </p:grpSp>
        <p:grpSp>
          <p:nvGrpSpPr>
            <p:cNvPr id="13" name="object 6">
              <a:extLst>
                <a:ext uri="{FF2B5EF4-FFF2-40B4-BE49-F238E27FC236}">
                  <a16:creationId xmlns:a16="http://schemas.microsoft.com/office/drawing/2014/main" id="{EB7A4801-4841-23DD-37F9-2FA27F832FF0}"/>
                </a:ext>
              </a:extLst>
            </p:cNvPr>
            <p:cNvGrpSpPr/>
            <p:nvPr/>
          </p:nvGrpSpPr>
          <p:grpSpPr>
            <a:xfrm>
              <a:off x="1415156" y="8175010"/>
              <a:ext cx="898525" cy="1226185"/>
              <a:chOff x="6753228" y="5455750"/>
              <a:chExt cx="898525" cy="1226185"/>
            </a:xfrm>
          </p:grpSpPr>
          <p:pic>
            <p:nvPicPr>
              <p:cNvPr id="14" name="object 7">
                <a:extLst>
                  <a:ext uri="{FF2B5EF4-FFF2-40B4-BE49-F238E27FC236}">
                    <a16:creationId xmlns:a16="http://schemas.microsoft.com/office/drawing/2014/main" id="{D770764C-1B60-4E4F-04B4-3D10ABAD14D8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21677" y="5455750"/>
                <a:ext cx="530127" cy="344310"/>
              </a:xfrm>
              <a:prstGeom prst="rect">
                <a:avLst/>
              </a:prstGeom>
            </p:spPr>
          </p:pic>
          <p:pic>
            <p:nvPicPr>
              <p:cNvPr id="15" name="object 8">
                <a:extLst>
                  <a:ext uri="{FF2B5EF4-FFF2-40B4-BE49-F238E27FC236}">
                    <a16:creationId xmlns:a16="http://schemas.microsoft.com/office/drawing/2014/main" id="{6C8D7AD5-D0A0-D08A-5A39-3D79170BA479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753228" y="5829854"/>
                <a:ext cx="898201" cy="851994"/>
              </a:xfrm>
              <a:prstGeom prst="rect">
                <a:avLst/>
              </a:prstGeom>
            </p:spPr>
          </p:pic>
        </p:grpSp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2BF8188A-84D4-E7BA-E563-A22323E159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6450" y="4913675"/>
              <a:ext cx="378228" cy="360000"/>
            </a:xfrm>
            <a:custGeom>
              <a:avLst/>
              <a:gdLst/>
              <a:ahLst/>
              <a:cxnLst/>
              <a:rect l="l" t="t" r="r" b="b"/>
              <a:pathLst>
                <a:path w="263525" h="250825">
                  <a:moveTo>
                    <a:pt x="263007" y="0"/>
                  </a:moveTo>
                  <a:lnTo>
                    <a:pt x="0" y="0"/>
                  </a:lnTo>
                  <a:lnTo>
                    <a:pt x="131524" y="250254"/>
                  </a:lnTo>
                  <a:lnTo>
                    <a:pt x="263007" y="0"/>
                  </a:lnTo>
                  <a:close/>
                </a:path>
              </a:pathLst>
            </a:custGeom>
            <a:solidFill>
              <a:srgbClr val="F9AB3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50BB4E-637D-502E-44C2-C481F7343B73}"/>
                </a:ext>
              </a:extLst>
            </p:cNvPr>
            <p:cNvSpPr txBox="1"/>
            <p:nvPr/>
          </p:nvSpPr>
          <p:spPr>
            <a:xfrm>
              <a:off x="2448290" y="3322047"/>
              <a:ext cx="5088096" cy="1317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pt-PT" sz="21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Bancos pedem dinheiro emprestado aos depositantes a uma taxa de juro</a:t>
              </a:r>
              <a:br>
                <a:rPr lang="pt-PT" sz="21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21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(digamos 5%)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E8664B-4894-B641-A1AE-339ABDA3AB07}"/>
                </a:ext>
              </a:extLst>
            </p:cNvPr>
            <p:cNvSpPr txBox="1"/>
            <p:nvPr/>
          </p:nvSpPr>
          <p:spPr>
            <a:xfrm>
              <a:off x="1365250" y="5448453"/>
              <a:ext cx="4323769" cy="1317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pt-PT" sz="21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Emprestam esse dinheiro aos mutuários a uma taxa de juro mais alta</a:t>
              </a:r>
              <a:r>
                <a:rPr lang="pt-PT" sz="21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(digamos 9%)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F11833-37A8-7636-779B-BAE9E61D08AC}"/>
                </a:ext>
              </a:extLst>
            </p:cNvPr>
            <p:cNvSpPr txBox="1"/>
            <p:nvPr/>
          </p:nvSpPr>
          <p:spPr>
            <a:xfrm>
              <a:off x="2800722" y="7799342"/>
              <a:ext cx="4865821" cy="1737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pt-PT" sz="21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Os bancos pagam juros com base nos juros recebidos pelos empréstimos </a:t>
              </a:r>
              <a:r>
                <a:rPr lang="pt-PT" sz="21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(9% - 5% = 4%) </a:t>
              </a:r>
              <a:r>
                <a:rPr lang="pt-PT" sz="21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 mantêm o restante como seu lucro</a:t>
              </a:r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C1D904CC-5A68-2989-878E-4BB4F05C12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33271" y="7102475"/>
              <a:ext cx="378228" cy="360000"/>
            </a:xfrm>
            <a:custGeom>
              <a:avLst/>
              <a:gdLst/>
              <a:ahLst/>
              <a:cxnLst/>
              <a:rect l="l" t="t" r="r" b="b"/>
              <a:pathLst>
                <a:path w="263525" h="250825">
                  <a:moveTo>
                    <a:pt x="263007" y="0"/>
                  </a:moveTo>
                  <a:lnTo>
                    <a:pt x="0" y="0"/>
                  </a:lnTo>
                  <a:lnTo>
                    <a:pt x="131524" y="250254"/>
                  </a:lnTo>
                  <a:lnTo>
                    <a:pt x="263007" y="0"/>
                  </a:lnTo>
                  <a:close/>
                </a:path>
              </a:pathLst>
            </a:custGeom>
            <a:solidFill>
              <a:srgbClr val="F9AB3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CEE93B28-619A-A944-1224-3C69722B2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13850" y="3229453"/>
            <a:ext cx="9490301" cy="7225822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SzPct val="125000"/>
              <a:buNone/>
            </a:pPr>
            <a:r>
              <a:rPr lang="pt-PT" sz="2400" dirty="0"/>
              <a:t>Outros rendimentos dos bancos: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10"/>
              </a:buBlip>
            </a:pPr>
            <a:r>
              <a:rPr lang="pt-PT" sz="2400" dirty="0"/>
              <a:t>Juros sobre os empréstimos que concedem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10"/>
              </a:buBlip>
            </a:pPr>
            <a:r>
              <a:rPr lang="pt-PT" sz="2400" dirty="0"/>
              <a:t>Taxas cobradas por serviços como a utilização de caixas multibanco e manutenções de contas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10"/>
              </a:buBlip>
            </a:pPr>
            <a:r>
              <a:rPr lang="pt-PT" sz="2400" dirty="0"/>
              <a:t>Rendimentos provenientes de investimentos como a compra e venda de títulos ou investimentos imobiliários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10"/>
              </a:buBlip>
            </a:pPr>
            <a:r>
              <a:rPr lang="pt-PT" sz="2400" dirty="0"/>
              <a:t>Retenção de uma percentagem dos empréstimos em reserva e utilização do resto em investimentos ou empréstimos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10"/>
              </a:buBlip>
            </a:pPr>
            <a:r>
              <a:rPr lang="pt-PT" sz="2400" dirty="0"/>
              <a:t>Juros pagos sobre depósitos e taxas cobradas em contas à ordem e contas poupança</a:t>
            </a:r>
          </a:p>
        </p:txBody>
      </p:sp>
    </p:spTree>
    <p:extLst>
      <p:ext uri="{BB962C8B-B14F-4D97-AF65-F5344CB8AC3E}">
        <p14:creationId xmlns:p14="http://schemas.microsoft.com/office/powerpoint/2010/main" val="178356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F311-B643-59A6-2304-9848F6FD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 descr="Bank outline">
            <a:extLst>
              <a:ext uri="{FF2B5EF4-FFF2-40B4-BE49-F238E27FC236}">
                <a16:creationId xmlns:a16="http://schemas.microsoft.com/office/drawing/2014/main" id="{E6EF9FBE-3E5C-0C2D-37D7-C5DC49F79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6650" y="5883275"/>
            <a:ext cx="1695256" cy="169525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473ED00-9AF1-22F6-A66F-AA185C518BD4}"/>
              </a:ext>
            </a:extLst>
          </p:cNvPr>
          <p:cNvSpPr txBox="1"/>
          <p:nvPr/>
        </p:nvSpPr>
        <p:spPr>
          <a:xfrm>
            <a:off x="12715848" y="2864774"/>
            <a:ext cx="6062539" cy="1695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bancos retêm uma fração dos depósitos (reserva mínima) e emprestam o restante.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D4C609-E6A2-BBC8-44FF-25E3D9981024}"/>
              </a:ext>
            </a:extLst>
          </p:cNvPr>
          <p:cNvSpPr txBox="1"/>
          <p:nvPr/>
        </p:nvSpPr>
        <p:spPr>
          <a:xfrm>
            <a:off x="12715848" y="5057228"/>
            <a:ext cx="6062539" cy="224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sistema monetário é sustentado pela dívida, pois os bancos criam mais dinheiro com cada empréstimo, aumentando a massa monetária.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C7B0CA-D2A6-DB5D-0076-6A9D17478A79}"/>
              </a:ext>
            </a:extLst>
          </p:cNvPr>
          <p:cNvSpPr txBox="1"/>
          <p:nvPr/>
        </p:nvSpPr>
        <p:spPr>
          <a:xfrm>
            <a:off x="12658987" y="7803679"/>
            <a:ext cx="6062400" cy="280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 marL="19050" algn="l">
              <a:lnSpc>
                <a:spcPct val="150000"/>
              </a:lnSpc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b="1" dirty="0"/>
              <a:t> 03. </a:t>
            </a:r>
            <a:r>
              <a:rPr lang="pt-PT" dirty="0"/>
              <a:t>A continuidade das reservas mínimas obrigatórias eleva a dívida total e contribui para a inflação. Este sistema depende de um ciclo contínuo de criação de dinheiro.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422F7A-D0F1-7F15-804F-56DAD8B7443D}"/>
              </a:ext>
            </a:extLst>
          </p:cNvPr>
          <p:cNvSpPr txBox="1"/>
          <p:nvPr/>
        </p:nvSpPr>
        <p:spPr>
          <a:xfrm>
            <a:off x="1094050" y="8033007"/>
            <a:ext cx="6062400" cy="280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os bancos emprestarem mais dinheiro do que o que têm reservado  e todos os depositantes retirarem o seu dinheiro ao mesmo tempo, os bancos podem falir.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5FA168-AC3E-085F-5399-66175AB592A3}"/>
              </a:ext>
            </a:extLst>
          </p:cNvPr>
          <p:cNvSpPr txBox="1"/>
          <p:nvPr/>
        </p:nvSpPr>
        <p:spPr>
          <a:xfrm>
            <a:off x="1094807" y="4894893"/>
            <a:ext cx="6062400" cy="280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banco central intervém como mutuante de último recurso, readquirindo ativos ou injetando dinheiro diretamente nas contas dos bancos, para evitar insolvências. 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DFA9CD0D-940B-23C3-C0EC-EF0B744BC658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4.2.2 Reservas mínimas obrigatórias: sistema sustentado pela dívida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539800-8B37-F7FF-CC5D-22493BB88C95}"/>
              </a:ext>
            </a:extLst>
          </p:cNvPr>
          <p:cNvGrpSpPr>
            <a:grpSpLocks noChangeAspect="1"/>
          </p:cNvGrpSpPr>
          <p:nvPr/>
        </p:nvGrpSpPr>
        <p:grpSpPr>
          <a:xfrm>
            <a:off x="7039278" y="3712410"/>
            <a:ext cx="5130000" cy="5673537"/>
            <a:chOff x="3907928" y="1009096"/>
            <a:chExt cx="4376144" cy="483980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F6C02343-585E-AB65-1DC2-BC651FF7A11F}"/>
                </a:ext>
              </a:extLst>
            </p:cNvPr>
            <p:cNvSpPr/>
            <p:nvPr/>
          </p:nvSpPr>
          <p:spPr>
            <a:xfrm>
              <a:off x="4658921" y="4406177"/>
              <a:ext cx="2096755" cy="1442727"/>
            </a:xfrm>
            <a:custGeom>
              <a:avLst/>
              <a:gdLst>
                <a:gd name="connsiteX0" fmla="*/ 61750 w 262298"/>
                <a:gd name="connsiteY0" fmla="*/ 29622 h 180481"/>
                <a:gd name="connsiteX1" fmla="*/ 57600 w 262298"/>
                <a:gd name="connsiteY1" fmla="*/ 25473 h 180481"/>
                <a:gd name="connsiteX2" fmla="*/ 57600 w 262298"/>
                <a:gd name="connsiteY2" fmla="*/ 2997 h 180481"/>
                <a:gd name="connsiteX3" fmla="*/ 57485 w 262298"/>
                <a:gd name="connsiteY3" fmla="*/ 2075 h 180481"/>
                <a:gd name="connsiteX4" fmla="*/ 55180 w 262298"/>
                <a:gd name="connsiteY4" fmla="*/ 0 h 180481"/>
                <a:gd name="connsiteX5" fmla="*/ 54834 w 262298"/>
                <a:gd name="connsiteY5" fmla="*/ 0 h 180481"/>
                <a:gd name="connsiteX6" fmla="*/ 54488 w 262298"/>
                <a:gd name="connsiteY6" fmla="*/ 0 h 180481"/>
                <a:gd name="connsiteX7" fmla="*/ 54258 w 262298"/>
                <a:gd name="connsiteY7" fmla="*/ 0 h 180481"/>
                <a:gd name="connsiteX8" fmla="*/ 54143 w 262298"/>
                <a:gd name="connsiteY8" fmla="*/ 0 h 180481"/>
                <a:gd name="connsiteX9" fmla="*/ 53797 w 262298"/>
                <a:gd name="connsiteY9" fmla="*/ 0 h 180481"/>
                <a:gd name="connsiteX10" fmla="*/ 53797 w 262298"/>
                <a:gd name="connsiteY10" fmla="*/ 0 h 180481"/>
                <a:gd name="connsiteX11" fmla="*/ 53451 w 262298"/>
                <a:gd name="connsiteY11" fmla="*/ 0 h 180481"/>
                <a:gd name="connsiteX12" fmla="*/ 53336 w 262298"/>
                <a:gd name="connsiteY12" fmla="*/ 0 h 180481"/>
                <a:gd name="connsiteX13" fmla="*/ 53105 w 262298"/>
                <a:gd name="connsiteY13" fmla="*/ 115 h 180481"/>
                <a:gd name="connsiteX14" fmla="*/ 52990 w 262298"/>
                <a:gd name="connsiteY14" fmla="*/ 115 h 180481"/>
                <a:gd name="connsiteX15" fmla="*/ 52759 w 262298"/>
                <a:gd name="connsiteY15" fmla="*/ 231 h 180481"/>
                <a:gd name="connsiteX16" fmla="*/ 52644 w 262298"/>
                <a:gd name="connsiteY16" fmla="*/ 346 h 180481"/>
                <a:gd name="connsiteX17" fmla="*/ 52414 w 262298"/>
                <a:gd name="connsiteY17" fmla="*/ 576 h 180481"/>
                <a:gd name="connsiteX18" fmla="*/ 52298 w 262298"/>
                <a:gd name="connsiteY18" fmla="*/ 692 h 180481"/>
                <a:gd name="connsiteX19" fmla="*/ 51953 w 262298"/>
                <a:gd name="connsiteY19" fmla="*/ 1153 h 180481"/>
                <a:gd name="connsiteX20" fmla="*/ 432 w 262298"/>
                <a:gd name="connsiteY20" fmla="*/ 88405 h 180481"/>
                <a:gd name="connsiteX21" fmla="*/ 432 w 262298"/>
                <a:gd name="connsiteY21" fmla="*/ 91632 h 180481"/>
                <a:gd name="connsiteX22" fmla="*/ 36623 w 262298"/>
                <a:gd name="connsiteY22" fmla="*/ 152951 h 180481"/>
                <a:gd name="connsiteX23" fmla="*/ 36623 w 262298"/>
                <a:gd name="connsiteY23" fmla="*/ 152951 h 180481"/>
                <a:gd name="connsiteX24" fmla="*/ 51953 w 262298"/>
                <a:gd name="connsiteY24" fmla="*/ 178884 h 180481"/>
                <a:gd name="connsiteX25" fmla="*/ 55526 w 262298"/>
                <a:gd name="connsiteY25" fmla="*/ 180383 h 180481"/>
                <a:gd name="connsiteX26" fmla="*/ 57831 w 262298"/>
                <a:gd name="connsiteY26" fmla="*/ 177271 h 180481"/>
                <a:gd name="connsiteX27" fmla="*/ 57831 w 262298"/>
                <a:gd name="connsiteY27" fmla="*/ 155025 h 180481"/>
                <a:gd name="connsiteX28" fmla="*/ 61980 w 262298"/>
                <a:gd name="connsiteY28" fmla="*/ 150876 h 180481"/>
                <a:gd name="connsiteX29" fmla="*/ 262299 w 262298"/>
                <a:gd name="connsiteY29" fmla="*/ 150876 h 180481"/>
                <a:gd name="connsiteX30" fmla="*/ 229796 w 262298"/>
                <a:gd name="connsiteY30" fmla="*/ 95781 h 180481"/>
                <a:gd name="connsiteX31" fmla="*/ 228413 w 262298"/>
                <a:gd name="connsiteY31" fmla="*/ 92208 h 180481"/>
                <a:gd name="connsiteX32" fmla="*/ 229796 w 262298"/>
                <a:gd name="connsiteY32" fmla="*/ 84140 h 180481"/>
                <a:gd name="connsiteX33" fmla="*/ 258611 w 262298"/>
                <a:gd name="connsiteY33" fmla="*/ 35385 h 180481"/>
                <a:gd name="connsiteX34" fmla="*/ 262299 w 262298"/>
                <a:gd name="connsiteY34" fmla="*/ 29161 h 180481"/>
                <a:gd name="connsiteX35" fmla="*/ 61980 w 262298"/>
                <a:gd name="connsiteY35" fmla="*/ 29161 h 18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62298" h="180481">
                  <a:moveTo>
                    <a:pt x="61750" y="29622"/>
                  </a:moveTo>
                  <a:cubicBezTo>
                    <a:pt x="59444" y="29622"/>
                    <a:pt x="57600" y="27778"/>
                    <a:pt x="57600" y="25473"/>
                  </a:cubicBezTo>
                  <a:lnTo>
                    <a:pt x="57600" y="2997"/>
                  </a:lnTo>
                  <a:cubicBezTo>
                    <a:pt x="57600" y="2651"/>
                    <a:pt x="57600" y="2305"/>
                    <a:pt x="57485" y="2075"/>
                  </a:cubicBezTo>
                  <a:cubicBezTo>
                    <a:pt x="57139" y="807"/>
                    <a:pt x="56102" y="231"/>
                    <a:pt x="55180" y="0"/>
                  </a:cubicBezTo>
                  <a:cubicBezTo>
                    <a:pt x="55065" y="0"/>
                    <a:pt x="54949" y="0"/>
                    <a:pt x="54834" y="0"/>
                  </a:cubicBezTo>
                  <a:cubicBezTo>
                    <a:pt x="54834" y="0"/>
                    <a:pt x="54604" y="0"/>
                    <a:pt x="54488" y="0"/>
                  </a:cubicBezTo>
                  <a:cubicBezTo>
                    <a:pt x="54488" y="0"/>
                    <a:pt x="54373" y="0"/>
                    <a:pt x="54258" y="0"/>
                  </a:cubicBezTo>
                  <a:cubicBezTo>
                    <a:pt x="54258" y="0"/>
                    <a:pt x="54258" y="0"/>
                    <a:pt x="54143" y="0"/>
                  </a:cubicBezTo>
                  <a:cubicBezTo>
                    <a:pt x="54143" y="0"/>
                    <a:pt x="53912" y="0"/>
                    <a:pt x="53797" y="0"/>
                  </a:cubicBezTo>
                  <a:cubicBezTo>
                    <a:pt x="53797" y="0"/>
                    <a:pt x="53797" y="0"/>
                    <a:pt x="53797" y="0"/>
                  </a:cubicBezTo>
                  <a:cubicBezTo>
                    <a:pt x="53681" y="0"/>
                    <a:pt x="53566" y="0"/>
                    <a:pt x="53451" y="0"/>
                  </a:cubicBezTo>
                  <a:cubicBezTo>
                    <a:pt x="53451" y="0"/>
                    <a:pt x="53451" y="0"/>
                    <a:pt x="53336" y="0"/>
                  </a:cubicBezTo>
                  <a:cubicBezTo>
                    <a:pt x="53336" y="0"/>
                    <a:pt x="53221" y="0"/>
                    <a:pt x="53105" y="115"/>
                  </a:cubicBezTo>
                  <a:cubicBezTo>
                    <a:pt x="53105" y="115"/>
                    <a:pt x="53105" y="115"/>
                    <a:pt x="52990" y="115"/>
                  </a:cubicBezTo>
                  <a:cubicBezTo>
                    <a:pt x="52990" y="115"/>
                    <a:pt x="52875" y="115"/>
                    <a:pt x="52759" y="231"/>
                  </a:cubicBezTo>
                  <a:cubicBezTo>
                    <a:pt x="52759" y="231"/>
                    <a:pt x="52759" y="231"/>
                    <a:pt x="52644" y="346"/>
                  </a:cubicBezTo>
                  <a:cubicBezTo>
                    <a:pt x="52644" y="346"/>
                    <a:pt x="52529" y="461"/>
                    <a:pt x="52414" y="576"/>
                  </a:cubicBezTo>
                  <a:cubicBezTo>
                    <a:pt x="52414" y="576"/>
                    <a:pt x="52414" y="576"/>
                    <a:pt x="52298" y="692"/>
                  </a:cubicBezTo>
                  <a:cubicBezTo>
                    <a:pt x="52183" y="807"/>
                    <a:pt x="52068" y="1037"/>
                    <a:pt x="51953" y="1153"/>
                  </a:cubicBezTo>
                  <a:lnTo>
                    <a:pt x="432" y="88405"/>
                  </a:lnTo>
                  <a:cubicBezTo>
                    <a:pt x="-144" y="89442"/>
                    <a:pt x="-144" y="90595"/>
                    <a:pt x="432" y="91632"/>
                  </a:cubicBezTo>
                  <a:lnTo>
                    <a:pt x="36623" y="152951"/>
                  </a:lnTo>
                  <a:cubicBezTo>
                    <a:pt x="36623" y="152951"/>
                    <a:pt x="36623" y="152951"/>
                    <a:pt x="36623" y="152951"/>
                  </a:cubicBezTo>
                  <a:lnTo>
                    <a:pt x="51953" y="178884"/>
                  </a:lnTo>
                  <a:cubicBezTo>
                    <a:pt x="53105" y="180844"/>
                    <a:pt x="54949" y="180498"/>
                    <a:pt x="55526" y="180383"/>
                  </a:cubicBezTo>
                  <a:cubicBezTo>
                    <a:pt x="56102" y="180267"/>
                    <a:pt x="57831" y="179576"/>
                    <a:pt x="57831" y="177271"/>
                  </a:cubicBezTo>
                  <a:lnTo>
                    <a:pt x="57831" y="155025"/>
                  </a:lnTo>
                  <a:cubicBezTo>
                    <a:pt x="57831" y="152720"/>
                    <a:pt x="59675" y="150876"/>
                    <a:pt x="61980" y="150876"/>
                  </a:cubicBezTo>
                  <a:lnTo>
                    <a:pt x="262299" y="150876"/>
                  </a:lnTo>
                  <a:lnTo>
                    <a:pt x="229796" y="95781"/>
                  </a:lnTo>
                  <a:cubicBezTo>
                    <a:pt x="229104" y="94629"/>
                    <a:pt x="228644" y="93476"/>
                    <a:pt x="228413" y="92208"/>
                  </a:cubicBezTo>
                  <a:cubicBezTo>
                    <a:pt x="227837" y="89558"/>
                    <a:pt x="228413" y="86676"/>
                    <a:pt x="229796" y="84140"/>
                  </a:cubicBezTo>
                  <a:lnTo>
                    <a:pt x="258611" y="35385"/>
                  </a:lnTo>
                  <a:lnTo>
                    <a:pt x="262299" y="29161"/>
                  </a:lnTo>
                  <a:lnTo>
                    <a:pt x="61980" y="2916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E5EC158-E860-E9EF-EE39-08EF0BC304DF}"/>
                </a:ext>
              </a:extLst>
            </p:cNvPr>
            <p:cNvSpPr/>
            <p:nvPr/>
          </p:nvSpPr>
          <p:spPr>
            <a:xfrm>
              <a:off x="6553568" y="3878235"/>
              <a:ext cx="1500298" cy="1970669"/>
            </a:xfrm>
            <a:custGeom>
              <a:avLst/>
              <a:gdLst>
                <a:gd name="connsiteX0" fmla="*/ 120258 w 187683"/>
                <a:gd name="connsiteY0" fmla="*/ 32964 h 246525"/>
                <a:gd name="connsiteX1" fmla="*/ 65279 w 187683"/>
                <a:gd name="connsiteY1" fmla="*/ 576 h 246525"/>
                <a:gd name="connsiteX2" fmla="*/ 65279 w 187683"/>
                <a:gd name="connsiteY2" fmla="*/ 91517 h 246525"/>
                <a:gd name="connsiteX3" fmla="*/ 61130 w 187683"/>
                <a:gd name="connsiteY3" fmla="*/ 95666 h 246525"/>
                <a:gd name="connsiteX4" fmla="*/ 61130 w 187683"/>
                <a:gd name="connsiteY4" fmla="*/ 95666 h 246525"/>
                <a:gd name="connsiteX5" fmla="*/ 56981 w 187683"/>
                <a:gd name="connsiteY5" fmla="*/ 91517 h 246525"/>
                <a:gd name="connsiteX6" fmla="*/ 56981 w 187683"/>
                <a:gd name="connsiteY6" fmla="*/ 69156 h 246525"/>
                <a:gd name="connsiteX7" fmla="*/ 54676 w 187683"/>
                <a:gd name="connsiteY7" fmla="*/ 66044 h 246525"/>
                <a:gd name="connsiteX8" fmla="*/ 54560 w 187683"/>
                <a:gd name="connsiteY8" fmla="*/ 66044 h 246525"/>
                <a:gd name="connsiteX9" fmla="*/ 54560 w 187683"/>
                <a:gd name="connsiteY9" fmla="*/ 66044 h 246525"/>
                <a:gd name="connsiteX10" fmla="*/ 54445 w 187683"/>
                <a:gd name="connsiteY10" fmla="*/ 66044 h 246525"/>
                <a:gd name="connsiteX11" fmla="*/ 54445 w 187683"/>
                <a:gd name="connsiteY11" fmla="*/ 66044 h 246525"/>
                <a:gd name="connsiteX12" fmla="*/ 53984 w 187683"/>
                <a:gd name="connsiteY12" fmla="*/ 66044 h 246525"/>
                <a:gd name="connsiteX13" fmla="*/ 53984 w 187683"/>
                <a:gd name="connsiteY13" fmla="*/ 66044 h 246525"/>
                <a:gd name="connsiteX14" fmla="*/ 53753 w 187683"/>
                <a:gd name="connsiteY14" fmla="*/ 66044 h 246525"/>
                <a:gd name="connsiteX15" fmla="*/ 53753 w 187683"/>
                <a:gd name="connsiteY15" fmla="*/ 66044 h 246525"/>
                <a:gd name="connsiteX16" fmla="*/ 53177 w 187683"/>
                <a:gd name="connsiteY16" fmla="*/ 66159 h 246525"/>
                <a:gd name="connsiteX17" fmla="*/ 53177 w 187683"/>
                <a:gd name="connsiteY17" fmla="*/ 66159 h 246525"/>
                <a:gd name="connsiteX18" fmla="*/ 52947 w 187683"/>
                <a:gd name="connsiteY18" fmla="*/ 66159 h 246525"/>
                <a:gd name="connsiteX19" fmla="*/ 52947 w 187683"/>
                <a:gd name="connsiteY19" fmla="*/ 66159 h 246525"/>
                <a:gd name="connsiteX20" fmla="*/ 52370 w 187683"/>
                <a:gd name="connsiteY20" fmla="*/ 66620 h 246525"/>
                <a:gd name="connsiteX21" fmla="*/ 52370 w 187683"/>
                <a:gd name="connsiteY21" fmla="*/ 66620 h 246525"/>
                <a:gd name="connsiteX22" fmla="*/ 52140 w 187683"/>
                <a:gd name="connsiteY22" fmla="*/ 66851 h 246525"/>
                <a:gd name="connsiteX23" fmla="*/ 52140 w 187683"/>
                <a:gd name="connsiteY23" fmla="*/ 66851 h 246525"/>
                <a:gd name="connsiteX24" fmla="*/ 51909 w 187683"/>
                <a:gd name="connsiteY24" fmla="*/ 67197 h 246525"/>
                <a:gd name="connsiteX25" fmla="*/ 389 w 187683"/>
                <a:gd name="connsiteY25" fmla="*/ 154449 h 246525"/>
                <a:gd name="connsiteX26" fmla="*/ 43 w 187683"/>
                <a:gd name="connsiteY26" fmla="*/ 156639 h 246525"/>
                <a:gd name="connsiteX27" fmla="*/ 389 w 187683"/>
                <a:gd name="connsiteY27" fmla="*/ 157676 h 246525"/>
                <a:gd name="connsiteX28" fmla="*/ 36465 w 187683"/>
                <a:gd name="connsiteY28" fmla="*/ 218880 h 246525"/>
                <a:gd name="connsiteX29" fmla="*/ 36465 w 187683"/>
                <a:gd name="connsiteY29" fmla="*/ 218880 h 246525"/>
                <a:gd name="connsiteX30" fmla="*/ 51794 w 187683"/>
                <a:gd name="connsiteY30" fmla="*/ 244929 h 246525"/>
                <a:gd name="connsiteX31" fmla="*/ 55367 w 187683"/>
                <a:gd name="connsiteY31" fmla="*/ 246427 h 246525"/>
                <a:gd name="connsiteX32" fmla="*/ 57672 w 187683"/>
                <a:gd name="connsiteY32" fmla="*/ 243315 h 246525"/>
                <a:gd name="connsiteX33" fmla="*/ 57672 w 187683"/>
                <a:gd name="connsiteY33" fmla="*/ 220954 h 246525"/>
                <a:gd name="connsiteX34" fmla="*/ 61822 w 187683"/>
                <a:gd name="connsiteY34" fmla="*/ 216805 h 246525"/>
                <a:gd name="connsiteX35" fmla="*/ 126827 w 187683"/>
                <a:gd name="connsiteY35" fmla="*/ 216805 h 246525"/>
                <a:gd name="connsiteX36" fmla="*/ 187684 w 187683"/>
                <a:gd name="connsiteY36" fmla="*/ 155947 h 246525"/>
                <a:gd name="connsiteX37" fmla="*/ 187684 w 187683"/>
                <a:gd name="connsiteY37" fmla="*/ 0 h 246525"/>
                <a:gd name="connsiteX38" fmla="*/ 132475 w 187683"/>
                <a:gd name="connsiteY38" fmla="*/ 32503 h 246525"/>
                <a:gd name="connsiteX39" fmla="*/ 120949 w 187683"/>
                <a:gd name="connsiteY39" fmla="*/ 32503 h 24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7683" h="246525">
                  <a:moveTo>
                    <a:pt x="120258" y="32964"/>
                  </a:moveTo>
                  <a:lnTo>
                    <a:pt x="65279" y="576"/>
                  </a:lnTo>
                  <a:lnTo>
                    <a:pt x="65279" y="91517"/>
                  </a:lnTo>
                  <a:cubicBezTo>
                    <a:pt x="65279" y="93822"/>
                    <a:pt x="63435" y="95666"/>
                    <a:pt x="61130" y="95666"/>
                  </a:cubicBezTo>
                  <a:lnTo>
                    <a:pt x="61130" y="95666"/>
                  </a:lnTo>
                  <a:cubicBezTo>
                    <a:pt x="58825" y="95666"/>
                    <a:pt x="56981" y="93822"/>
                    <a:pt x="56981" y="91517"/>
                  </a:cubicBezTo>
                  <a:lnTo>
                    <a:pt x="56981" y="69156"/>
                  </a:lnTo>
                  <a:cubicBezTo>
                    <a:pt x="56981" y="66851"/>
                    <a:pt x="55137" y="66275"/>
                    <a:pt x="54676" y="66044"/>
                  </a:cubicBezTo>
                  <a:cubicBezTo>
                    <a:pt x="54676" y="66044"/>
                    <a:pt x="54676" y="66044"/>
                    <a:pt x="54560" y="66044"/>
                  </a:cubicBezTo>
                  <a:cubicBezTo>
                    <a:pt x="54560" y="66044"/>
                    <a:pt x="54560" y="66044"/>
                    <a:pt x="54560" y="66044"/>
                  </a:cubicBezTo>
                  <a:cubicBezTo>
                    <a:pt x="54560" y="66044"/>
                    <a:pt x="54560" y="66044"/>
                    <a:pt x="54445" y="66044"/>
                  </a:cubicBezTo>
                  <a:cubicBezTo>
                    <a:pt x="54330" y="66044"/>
                    <a:pt x="54445" y="66044"/>
                    <a:pt x="54445" y="66044"/>
                  </a:cubicBezTo>
                  <a:cubicBezTo>
                    <a:pt x="54330" y="66044"/>
                    <a:pt x="54099" y="66044"/>
                    <a:pt x="53984" y="66044"/>
                  </a:cubicBezTo>
                  <a:cubicBezTo>
                    <a:pt x="53984" y="66044"/>
                    <a:pt x="53984" y="66044"/>
                    <a:pt x="53984" y="66044"/>
                  </a:cubicBezTo>
                  <a:cubicBezTo>
                    <a:pt x="53984" y="66044"/>
                    <a:pt x="53869" y="66044"/>
                    <a:pt x="53753" y="66044"/>
                  </a:cubicBezTo>
                  <a:cubicBezTo>
                    <a:pt x="53753" y="66044"/>
                    <a:pt x="53753" y="66044"/>
                    <a:pt x="53753" y="66044"/>
                  </a:cubicBezTo>
                  <a:cubicBezTo>
                    <a:pt x="53523" y="66044"/>
                    <a:pt x="53293" y="66044"/>
                    <a:pt x="53177" y="66159"/>
                  </a:cubicBezTo>
                  <a:cubicBezTo>
                    <a:pt x="53177" y="66159"/>
                    <a:pt x="53177" y="66159"/>
                    <a:pt x="53177" y="66159"/>
                  </a:cubicBezTo>
                  <a:cubicBezTo>
                    <a:pt x="53177" y="66159"/>
                    <a:pt x="53062" y="66159"/>
                    <a:pt x="52947" y="66159"/>
                  </a:cubicBezTo>
                  <a:cubicBezTo>
                    <a:pt x="52947" y="66159"/>
                    <a:pt x="52947" y="66159"/>
                    <a:pt x="52947" y="66159"/>
                  </a:cubicBezTo>
                  <a:cubicBezTo>
                    <a:pt x="52716" y="66159"/>
                    <a:pt x="52486" y="66390"/>
                    <a:pt x="52370" y="66620"/>
                  </a:cubicBezTo>
                  <a:cubicBezTo>
                    <a:pt x="52370" y="66620"/>
                    <a:pt x="52370" y="66620"/>
                    <a:pt x="52370" y="66620"/>
                  </a:cubicBezTo>
                  <a:cubicBezTo>
                    <a:pt x="52370" y="66620"/>
                    <a:pt x="52255" y="66736"/>
                    <a:pt x="52140" y="66851"/>
                  </a:cubicBezTo>
                  <a:cubicBezTo>
                    <a:pt x="52140" y="66851"/>
                    <a:pt x="52140" y="66851"/>
                    <a:pt x="52140" y="66851"/>
                  </a:cubicBezTo>
                  <a:cubicBezTo>
                    <a:pt x="52140" y="66966"/>
                    <a:pt x="51909" y="67082"/>
                    <a:pt x="51909" y="67197"/>
                  </a:cubicBezTo>
                  <a:lnTo>
                    <a:pt x="389" y="154449"/>
                  </a:lnTo>
                  <a:cubicBezTo>
                    <a:pt x="43" y="155141"/>
                    <a:pt x="-72" y="155832"/>
                    <a:pt x="43" y="156639"/>
                  </a:cubicBezTo>
                  <a:cubicBezTo>
                    <a:pt x="43" y="156985"/>
                    <a:pt x="274" y="157331"/>
                    <a:pt x="389" y="157676"/>
                  </a:cubicBezTo>
                  <a:lnTo>
                    <a:pt x="36465" y="218880"/>
                  </a:lnTo>
                  <a:lnTo>
                    <a:pt x="36465" y="218880"/>
                  </a:lnTo>
                  <a:lnTo>
                    <a:pt x="51794" y="244929"/>
                  </a:lnTo>
                  <a:cubicBezTo>
                    <a:pt x="52947" y="246888"/>
                    <a:pt x="54791" y="246542"/>
                    <a:pt x="55367" y="246427"/>
                  </a:cubicBezTo>
                  <a:cubicBezTo>
                    <a:pt x="55944" y="246312"/>
                    <a:pt x="57672" y="245620"/>
                    <a:pt x="57672" y="243315"/>
                  </a:cubicBezTo>
                  <a:lnTo>
                    <a:pt x="57672" y="220954"/>
                  </a:lnTo>
                  <a:cubicBezTo>
                    <a:pt x="57672" y="218649"/>
                    <a:pt x="59516" y="216805"/>
                    <a:pt x="61822" y="216805"/>
                  </a:cubicBezTo>
                  <a:lnTo>
                    <a:pt x="126827" y="216805"/>
                  </a:lnTo>
                  <a:cubicBezTo>
                    <a:pt x="160367" y="216805"/>
                    <a:pt x="187684" y="189488"/>
                    <a:pt x="187684" y="155947"/>
                  </a:cubicBezTo>
                  <a:lnTo>
                    <a:pt x="187684" y="0"/>
                  </a:lnTo>
                  <a:lnTo>
                    <a:pt x="132475" y="32503"/>
                  </a:lnTo>
                  <a:cubicBezTo>
                    <a:pt x="128902" y="34578"/>
                    <a:pt x="124522" y="34578"/>
                    <a:pt x="120949" y="32503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A2A9AF3-72B3-C0CE-E292-1DEF6DE34E2C}"/>
                </a:ext>
              </a:extLst>
            </p:cNvPr>
            <p:cNvSpPr/>
            <p:nvPr/>
          </p:nvSpPr>
          <p:spPr>
            <a:xfrm>
              <a:off x="3907928" y="3158650"/>
              <a:ext cx="1446244" cy="2459130"/>
            </a:xfrm>
            <a:custGeom>
              <a:avLst/>
              <a:gdLst>
                <a:gd name="connsiteX0" fmla="*/ 151317 w 180921"/>
                <a:gd name="connsiteY0" fmla="*/ 61780 h 307630"/>
                <a:gd name="connsiteX1" fmla="*/ 155466 w 180921"/>
                <a:gd name="connsiteY1" fmla="*/ 57630 h 307630"/>
                <a:gd name="connsiteX2" fmla="*/ 177711 w 180921"/>
                <a:gd name="connsiteY2" fmla="*/ 57630 h 307630"/>
                <a:gd name="connsiteX3" fmla="*/ 180823 w 180921"/>
                <a:gd name="connsiteY3" fmla="*/ 55325 h 307630"/>
                <a:gd name="connsiteX4" fmla="*/ 179325 w 180921"/>
                <a:gd name="connsiteY4" fmla="*/ 51752 h 307630"/>
                <a:gd name="connsiteX5" fmla="*/ 92074 w 180921"/>
                <a:gd name="connsiteY5" fmla="*/ 231 h 307630"/>
                <a:gd name="connsiteX6" fmla="*/ 91498 w 180921"/>
                <a:gd name="connsiteY6" fmla="*/ 0 h 307630"/>
                <a:gd name="connsiteX7" fmla="*/ 91268 w 180921"/>
                <a:gd name="connsiteY7" fmla="*/ 0 h 307630"/>
                <a:gd name="connsiteX8" fmla="*/ 91268 w 180921"/>
                <a:gd name="connsiteY8" fmla="*/ 0 h 307630"/>
                <a:gd name="connsiteX9" fmla="*/ 90461 w 180921"/>
                <a:gd name="connsiteY9" fmla="*/ 0 h 307630"/>
                <a:gd name="connsiteX10" fmla="*/ 88847 w 180921"/>
                <a:gd name="connsiteY10" fmla="*/ 461 h 307630"/>
                <a:gd name="connsiteX11" fmla="*/ 28567 w 180921"/>
                <a:gd name="connsiteY11" fmla="*/ 36077 h 307630"/>
                <a:gd name="connsiteX12" fmla="*/ 27760 w 180921"/>
                <a:gd name="connsiteY12" fmla="*/ 36538 h 307630"/>
                <a:gd name="connsiteX13" fmla="*/ 27760 w 180921"/>
                <a:gd name="connsiteY13" fmla="*/ 36538 h 307630"/>
                <a:gd name="connsiteX14" fmla="*/ 1597 w 180921"/>
                <a:gd name="connsiteY14" fmla="*/ 51983 h 307630"/>
                <a:gd name="connsiteX15" fmla="*/ 98 w 180921"/>
                <a:gd name="connsiteY15" fmla="*/ 55556 h 307630"/>
                <a:gd name="connsiteX16" fmla="*/ 3210 w 180921"/>
                <a:gd name="connsiteY16" fmla="*/ 57861 h 307630"/>
                <a:gd name="connsiteX17" fmla="*/ 25686 w 180921"/>
                <a:gd name="connsiteY17" fmla="*/ 57861 h 307630"/>
                <a:gd name="connsiteX18" fmla="*/ 29835 w 180921"/>
                <a:gd name="connsiteY18" fmla="*/ 62010 h 307630"/>
                <a:gd name="connsiteX19" fmla="*/ 29835 w 180921"/>
                <a:gd name="connsiteY19" fmla="*/ 246773 h 307630"/>
                <a:gd name="connsiteX20" fmla="*/ 90691 w 180921"/>
                <a:gd name="connsiteY20" fmla="*/ 307630 h 307630"/>
                <a:gd name="connsiteX21" fmla="*/ 119852 w 180921"/>
                <a:gd name="connsiteY21" fmla="*/ 307630 h 307630"/>
                <a:gd name="connsiteX22" fmla="*/ 87349 w 180921"/>
                <a:gd name="connsiteY22" fmla="*/ 252421 h 307630"/>
                <a:gd name="connsiteX23" fmla="*/ 86196 w 180921"/>
                <a:gd name="connsiteY23" fmla="*/ 249654 h 307630"/>
                <a:gd name="connsiteX24" fmla="*/ 87349 w 180921"/>
                <a:gd name="connsiteY24" fmla="*/ 240894 h 307630"/>
                <a:gd name="connsiteX25" fmla="*/ 138869 w 180921"/>
                <a:gd name="connsiteY25" fmla="*/ 153642 h 307630"/>
                <a:gd name="connsiteX26" fmla="*/ 150049 w 180921"/>
                <a:gd name="connsiteY26" fmla="*/ 148110 h 307630"/>
                <a:gd name="connsiteX27" fmla="*/ 150856 w 180921"/>
                <a:gd name="connsiteY27" fmla="*/ 148225 h 307630"/>
                <a:gd name="connsiteX28" fmla="*/ 151087 w 180921"/>
                <a:gd name="connsiteY28" fmla="*/ 148225 h 307630"/>
                <a:gd name="connsiteX29" fmla="*/ 151548 w 180921"/>
                <a:gd name="connsiteY29" fmla="*/ 148225 h 307630"/>
                <a:gd name="connsiteX30" fmla="*/ 151548 w 180921"/>
                <a:gd name="connsiteY30" fmla="*/ 61895 h 30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0921" h="307630">
                  <a:moveTo>
                    <a:pt x="151317" y="61780"/>
                  </a:moveTo>
                  <a:cubicBezTo>
                    <a:pt x="151317" y="59475"/>
                    <a:pt x="153161" y="57630"/>
                    <a:pt x="155466" y="57630"/>
                  </a:cubicBezTo>
                  <a:lnTo>
                    <a:pt x="177711" y="57630"/>
                  </a:lnTo>
                  <a:cubicBezTo>
                    <a:pt x="180016" y="57630"/>
                    <a:pt x="180593" y="55786"/>
                    <a:pt x="180823" y="55325"/>
                  </a:cubicBezTo>
                  <a:cubicBezTo>
                    <a:pt x="180939" y="54749"/>
                    <a:pt x="181284" y="52905"/>
                    <a:pt x="179325" y="51752"/>
                  </a:cubicBezTo>
                  <a:lnTo>
                    <a:pt x="92074" y="231"/>
                  </a:lnTo>
                  <a:cubicBezTo>
                    <a:pt x="91844" y="231"/>
                    <a:pt x="91729" y="0"/>
                    <a:pt x="91498" y="0"/>
                  </a:cubicBezTo>
                  <a:cubicBezTo>
                    <a:pt x="91498" y="0"/>
                    <a:pt x="91383" y="0"/>
                    <a:pt x="91268" y="0"/>
                  </a:cubicBezTo>
                  <a:cubicBezTo>
                    <a:pt x="91268" y="0"/>
                    <a:pt x="91268" y="0"/>
                    <a:pt x="91268" y="0"/>
                  </a:cubicBezTo>
                  <a:cubicBezTo>
                    <a:pt x="91037" y="0"/>
                    <a:pt x="90691" y="0"/>
                    <a:pt x="90461" y="0"/>
                  </a:cubicBezTo>
                  <a:cubicBezTo>
                    <a:pt x="89885" y="0"/>
                    <a:pt x="89308" y="115"/>
                    <a:pt x="88847" y="461"/>
                  </a:cubicBezTo>
                  <a:lnTo>
                    <a:pt x="28567" y="36077"/>
                  </a:lnTo>
                  <a:lnTo>
                    <a:pt x="27760" y="36538"/>
                  </a:lnTo>
                  <a:lnTo>
                    <a:pt x="27760" y="36538"/>
                  </a:lnTo>
                  <a:lnTo>
                    <a:pt x="1597" y="51983"/>
                  </a:lnTo>
                  <a:cubicBezTo>
                    <a:pt x="-363" y="53135"/>
                    <a:pt x="-17" y="54979"/>
                    <a:pt x="98" y="55556"/>
                  </a:cubicBezTo>
                  <a:cubicBezTo>
                    <a:pt x="214" y="56132"/>
                    <a:pt x="905" y="57861"/>
                    <a:pt x="3210" y="57861"/>
                  </a:cubicBezTo>
                  <a:lnTo>
                    <a:pt x="25686" y="57861"/>
                  </a:lnTo>
                  <a:cubicBezTo>
                    <a:pt x="27991" y="57861"/>
                    <a:pt x="29835" y="59705"/>
                    <a:pt x="29835" y="62010"/>
                  </a:cubicBezTo>
                  <a:lnTo>
                    <a:pt x="29835" y="246773"/>
                  </a:lnTo>
                  <a:cubicBezTo>
                    <a:pt x="29835" y="280314"/>
                    <a:pt x="57151" y="307630"/>
                    <a:pt x="90691" y="307630"/>
                  </a:cubicBezTo>
                  <a:lnTo>
                    <a:pt x="119852" y="307630"/>
                  </a:lnTo>
                  <a:lnTo>
                    <a:pt x="87349" y="252421"/>
                  </a:lnTo>
                  <a:cubicBezTo>
                    <a:pt x="86772" y="251499"/>
                    <a:pt x="86427" y="250576"/>
                    <a:pt x="86196" y="249654"/>
                  </a:cubicBezTo>
                  <a:cubicBezTo>
                    <a:pt x="85389" y="246773"/>
                    <a:pt x="85851" y="243546"/>
                    <a:pt x="87349" y="240894"/>
                  </a:cubicBezTo>
                  <a:lnTo>
                    <a:pt x="138869" y="153642"/>
                  </a:lnTo>
                  <a:cubicBezTo>
                    <a:pt x="141175" y="149608"/>
                    <a:pt x="145554" y="147533"/>
                    <a:pt x="150049" y="148110"/>
                  </a:cubicBezTo>
                  <a:cubicBezTo>
                    <a:pt x="150280" y="148110"/>
                    <a:pt x="150626" y="148110"/>
                    <a:pt x="150856" y="148225"/>
                  </a:cubicBezTo>
                  <a:cubicBezTo>
                    <a:pt x="150856" y="148225"/>
                    <a:pt x="150971" y="148225"/>
                    <a:pt x="151087" y="148225"/>
                  </a:cubicBezTo>
                  <a:cubicBezTo>
                    <a:pt x="151202" y="148225"/>
                    <a:pt x="151432" y="148225"/>
                    <a:pt x="151548" y="148225"/>
                  </a:cubicBezTo>
                  <a:lnTo>
                    <a:pt x="151548" y="61895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8FFAFC0-CA60-1E08-63DF-CF9697F91E5B}"/>
                </a:ext>
              </a:extLst>
            </p:cNvPr>
            <p:cNvSpPr/>
            <p:nvPr/>
          </p:nvSpPr>
          <p:spPr>
            <a:xfrm>
              <a:off x="6649734" y="2048401"/>
              <a:ext cx="1634338" cy="2041750"/>
            </a:xfrm>
            <a:custGeom>
              <a:avLst/>
              <a:gdLst>
                <a:gd name="connsiteX0" fmla="*/ 53365 w 204451"/>
                <a:gd name="connsiteY0" fmla="*/ 141425 h 255417"/>
                <a:gd name="connsiteX1" fmla="*/ 53365 w 204451"/>
                <a:gd name="connsiteY1" fmla="*/ 193407 h 255417"/>
                <a:gd name="connsiteX2" fmla="*/ 49215 w 204451"/>
                <a:gd name="connsiteY2" fmla="*/ 197557 h 255417"/>
                <a:gd name="connsiteX3" fmla="*/ 26740 w 204451"/>
                <a:gd name="connsiteY3" fmla="*/ 197557 h 255417"/>
                <a:gd name="connsiteX4" fmla="*/ 23628 w 204451"/>
                <a:gd name="connsiteY4" fmla="*/ 199862 h 255417"/>
                <a:gd name="connsiteX5" fmla="*/ 25126 w 204451"/>
                <a:gd name="connsiteY5" fmla="*/ 203435 h 255417"/>
                <a:gd name="connsiteX6" fmla="*/ 112377 w 204451"/>
                <a:gd name="connsiteY6" fmla="*/ 254956 h 255417"/>
                <a:gd name="connsiteX7" fmla="*/ 114797 w 204451"/>
                <a:gd name="connsiteY7" fmla="*/ 255302 h 255417"/>
                <a:gd name="connsiteX8" fmla="*/ 115604 w 204451"/>
                <a:gd name="connsiteY8" fmla="*/ 254956 h 255417"/>
                <a:gd name="connsiteX9" fmla="*/ 176921 w 204451"/>
                <a:gd name="connsiteY9" fmla="*/ 218765 h 255417"/>
                <a:gd name="connsiteX10" fmla="*/ 176921 w 204451"/>
                <a:gd name="connsiteY10" fmla="*/ 218765 h 255417"/>
                <a:gd name="connsiteX11" fmla="*/ 202854 w 204451"/>
                <a:gd name="connsiteY11" fmla="*/ 203435 h 255417"/>
                <a:gd name="connsiteX12" fmla="*/ 204353 w 204451"/>
                <a:gd name="connsiteY12" fmla="*/ 199862 h 255417"/>
                <a:gd name="connsiteX13" fmla="*/ 201241 w 204451"/>
                <a:gd name="connsiteY13" fmla="*/ 197557 h 255417"/>
                <a:gd name="connsiteX14" fmla="*/ 178996 w 204451"/>
                <a:gd name="connsiteY14" fmla="*/ 197557 h 255417"/>
                <a:gd name="connsiteX15" fmla="*/ 176115 w 204451"/>
                <a:gd name="connsiteY15" fmla="*/ 196404 h 255417"/>
                <a:gd name="connsiteX16" fmla="*/ 174962 w 204451"/>
                <a:gd name="connsiteY16" fmla="*/ 193522 h 255417"/>
                <a:gd name="connsiteX17" fmla="*/ 174962 w 204451"/>
                <a:gd name="connsiteY17" fmla="*/ 114684 h 255417"/>
                <a:gd name="connsiteX18" fmla="*/ 157097 w 204451"/>
                <a:gd name="connsiteY18" fmla="*/ 71692 h 255417"/>
                <a:gd name="connsiteX19" fmla="*/ 85406 w 204451"/>
                <a:gd name="connsiteY19" fmla="*/ 0 h 255417"/>
                <a:gd name="connsiteX20" fmla="*/ 69270 w 204451"/>
                <a:gd name="connsiteY20" fmla="*/ 62587 h 255417"/>
                <a:gd name="connsiteX21" fmla="*/ 61087 w 204451"/>
                <a:gd name="connsiteY21" fmla="*/ 70770 h 255417"/>
                <a:gd name="connsiteX22" fmla="*/ 0 w 204451"/>
                <a:gd name="connsiteY22" fmla="*/ 86561 h 255417"/>
                <a:gd name="connsiteX23" fmla="*/ 52097 w 204451"/>
                <a:gd name="connsiteY23" fmla="*/ 138658 h 255417"/>
                <a:gd name="connsiteX24" fmla="*/ 53249 w 204451"/>
                <a:gd name="connsiteY24" fmla="*/ 141540 h 255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4451" h="255417">
                  <a:moveTo>
                    <a:pt x="53365" y="141425"/>
                  </a:moveTo>
                  <a:lnTo>
                    <a:pt x="53365" y="193407"/>
                  </a:lnTo>
                  <a:cubicBezTo>
                    <a:pt x="53365" y="195712"/>
                    <a:pt x="51520" y="197557"/>
                    <a:pt x="49215" y="197557"/>
                  </a:cubicBezTo>
                  <a:lnTo>
                    <a:pt x="26740" y="197557"/>
                  </a:lnTo>
                  <a:cubicBezTo>
                    <a:pt x="24435" y="197557"/>
                    <a:pt x="23858" y="199401"/>
                    <a:pt x="23628" y="199862"/>
                  </a:cubicBezTo>
                  <a:cubicBezTo>
                    <a:pt x="23513" y="200438"/>
                    <a:pt x="23167" y="202282"/>
                    <a:pt x="25126" y="203435"/>
                  </a:cubicBezTo>
                  <a:lnTo>
                    <a:pt x="112377" y="254956"/>
                  </a:lnTo>
                  <a:cubicBezTo>
                    <a:pt x="113068" y="255417"/>
                    <a:pt x="113991" y="255533"/>
                    <a:pt x="114797" y="255302"/>
                  </a:cubicBezTo>
                  <a:cubicBezTo>
                    <a:pt x="115028" y="255302"/>
                    <a:pt x="115374" y="255072"/>
                    <a:pt x="115604" y="254956"/>
                  </a:cubicBezTo>
                  <a:lnTo>
                    <a:pt x="176921" y="218765"/>
                  </a:lnTo>
                  <a:cubicBezTo>
                    <a:pt x="176921" y="218765"/>
                    <a:pt x="176921" y="218765"/>
                    <a:pt x="176921" y="218765"/>
                  </a:cubicBezTo>
                  <a:lnTo>
                    <a:pt x="202854" y="203435"/>
                  </a:lnTo>
                  <a:cubicBezTo>
                    <a:pt x="204814" y="202282"/>
                    <a:pt x="204468" y="200438"/>
                    <a:pt x="204353" y="199862"/>
                  </a:cubicBezTo>
                  <a:cubicBezTo>
                    <a:pt x="204238" y="199285"/>
                    <a:pt x="203546" y="197557"/>
                    <a:pt x="201241" y="197557"/>
                  </a:cubicBezTo>
                  <a:lnTo>
                    <a:pt x="178996" y="197557"/>
                  </a:lnTo>
                  <a:cubicBezTo>
                    <a:pt x="177959" y="197557"/>
                    <a:pt x="176921" y="197095"/>
                    <a:pt x="176115" y="196404"/>
                  </a:cubicBezTo>
                  <a:cubicBezTo>
                    <a:pt x="175308" y="195712"/>
                    <a:pt x="174962" y="194560"/>
                    <a:pt x="174962" y="193522"/>
                  </a:cubicBezTo>
                  <a:lnTo>
                    <a:pt x="174962" y="114684"/>
                  </a:lnTo>
                  <a:cubicBezTo>
                    <a:pt x="174962" y="98433"/>
                    <a:pt x="168623" y="83218"/>
                    <a:pt x="157097" y="71692"/>
                  </a:cubicBezTo>
                  <a:lnTo>
                    <a:pt x="85406" y="0"/>
                  </a:lnTo>
                  <a:lnTo>
                    <a:pt x="69270" y="62587"/>
                  </a:lnTo>
                  <a:cubicBezTo>
                    <a:pt x="68233" y="66621"/>
                    <a:pt x="65121" y="69733"/>
                    <a:pt x="61087" y="70770"/>
                  </a:cubicBezTo>
                  <a:lnTo>
                    <a:pt x="0" y="86561"/>
                  </a:lnTo>
                  <a:lnTo>
                    <a:pt x="52097" y="138658"/>
                  </a:lnTo>
                  <a:cubicBezTo>
                    <a:pt x="52904" y="139465"/>
                    <a:pt x="53249" y="140503"/>
                    <a:pt x="53249" y="14154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D31CCA5-6FCA-02B1-9541-64967179A700}"/>
                </a:ext>
              </a:extLst>
            </p:cNvPr>
            <p:cNvSpPr/>
            <p:nvPr/>
          </p:nvSpPr>
          <p:spPr>
            <a:xfrm>
              <a:off x="4141818" y="1790353"/>
              <a:ext cx="1656729" cy="1573753"/>
            </a:xfrm>
            <a:custGeom>
              <a:avLst/>
              <a:gdLst>
                <a:gd name="connsiteX0" fmla="*/ 66965 w 207252"/>
                <a:gd name="connsiteY0" fmla="*/ 164369 h 196872"/>
                <a:gd name="connsiteX1" fmla="*/ 122058 w 207252"/>
                <a:gd name="connsiteY1" fmla="*/ 196872 h 196872"/>
                <a:gd name="connsiteX2" fmla="*/ 122058 w 207252"/>
                <a:gd name="connsiteY2" fmla="*/ 173705 h 196872"/>
                <a:gd name="connsiteX3" fmla="*/ 123211 w 207252"/>
                <a:gd name="connsiteY3" fmla="*/ 170824 h 196872"/>
                <a:gd name="connsiteX4" fmla="*/ 180495 w 207252"/>
                <a:gd name="connsiteY4" fmla="*/ 113539 h 196872"/>
                <a:gd name="connsiteX5" fmla="*/ 181878 w 207252"/>
                <a:gd name="connsiteY5" fmla="*/ 112617 h 196872"/>
                <a:gd name="connsiteX6" fmla="*/ 183376 w 207252"/>
                <a:gd name="connsiteY6" fmla="*/ 112271 h 196872"/>
                <a:gd name="connsiteX7" fmla="*/ 186257 w 207252"/>
                <a:gd name="connsiteY7" fmla="*/ 113424 h 196872"/>
                <a:gd name="connsiteX8" fmla="*/ 201932 w 207252"/>
                <a:gd name="connsiteY8" fmla="*/ 129099 h 196872"/>
                <a:gd name="connsiteX9" fmla="*/ 203085 w 207252"/>
                <a:gd name="connsiteY9" fmla="*/ 129906 h 196872"/>
                <a:gd name="connsiteX10" fmla="*/ 203892 w 207252"/>
                <a:gd name="connsiteY10" fmla="*/ 130021 h 196872"/>
                <a:gd name="connsiteX11" fmla="*/ 205621 w 207252"/>
                <a:gd name="connsiteY11" fmla="*/ 129560 h 196872"/>
                <a:gd name="connsiteX12" fmla="*/ 207119 w 207252"/>
                <a:gd name="connsiteY12" fmla="*/ 127716 h 196872"/>
                <a:gd name="connsiteX13" fmla="*/ 207119 w 207252"/>
                <a:gd name="connsiteY13" fmla="*/ 125987 h 196872"/>
                <a:gd name="connsiteX14" fmla="*/ 199627 w 207252"/>
                <a:gd name="connsiteY14" fmla="*/ 96942 h 196872"/>
                <a:gd name="connsiteX15" fmla="*/ 199627 w 207252"/>
                <a:gd name="connsiteY15" fmla="*/ 96942 h 196872"/>
                <a:gd name="connsiteX16" fmla="*/ 181762 w 207252"/>
                <a:gd name="connsiteY16" fmla="*/ 27785 h 196872"/>
                <a:gd name="connsiteX17" fmla="*/ 179457 w 207252"/>
                <a:gd name="connsiteY17" fmla="*/ 25480 h 196872"/>
                <a:gd name="connsiteX18" fmla="*/ 81257 w 207252"/>
                <a:gd name="connsiteY18" fmla="*/ 123 h 196872"/>
                <a:gd name="connsiteX19" fmla="*/ 77684 w 207252"/>
                <a:gd name="connsiteY19" fmla="*/ 1621 h 196872"/>
                <a:gd name="connsiteX20" fmla="*/ 78145 w 207252"/>
                <a:gd name="connsiteY20" fmla="*/ 5425 h 196872"/>
                <a:gd name="connsiteX21" fmla="*/ 94166 w 207252"/>
                <a:gd name="connsiteY21" fmla="*/ 21446 h 196872"/>
                <a:gd name="connsiteX22" fmla="*/ 94166 w 207252"/>
                <a:gd name="connsiteY22" fmla="*/ 27209 h 196872"/>
                <a:gd name="connsiteX23" fmla="*/ 17865 w 207252"/>
                <a:gd name="connsiteY23" fmla="*/ 103511 h 196872"/>
                <a:gd name="connsiteX24" fmla="*/ 0 w 207252"/>
                <a:gd name="connsiteY24" fmla="*/ 146504 h 196872"/>
                <a:gd name="connsiteX25" fmla="*/ 0 w 207252"/>
                <a:gd name="connsiteY25" fmla="*/ 196527 h 196872"/>
                <a:gd name="connsiteX26" fmla="*/ 54978 w 207252"/>
                <a:gd name="connsiteY26" fmla="*/ 164138 h 196872"/>
                <a:gd name="connsiteX27" fmla="*/ 66504 w 207252"/>
                <a:gd name="connsiteY27" fmla="*/ 164138 h 196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7252" h="196872">
                  <a:moveTo>
                    <a:pt x="66965" y="164369"/>
                  </a:moveTo>
                  <a:lnTo>
                    <a:pt x="122058" y="196872"/>
                  </a:lnTo>
                  <a:lnTo>
                    <a:pt x="122058" y="173705"/>
                  </a:lnTo>
                  <a:cubicBezTo>
                    <a:pt x="122058" y="172668"/>
                    <a:pt x="122520" y="171630"/>
                    <a:pt x="123211" y="170824"/>
                  </a:cubicBezTo>
                  <a:lnTo>
                    <a:pt x="180495" y="113539"/>
                  </a:lnTo>
                  <a:cubicBezTo>
                    <a:pt x="180840" y="113193"/>
                    <a:pt x="181301" y="112848"/>
                    <a:pt x="181878" y="112617"/>
                  </a:cubicBezTo>
                  <a:cubicBezTo>
                    <a:pt x="182338" y="112386"/>
                    <a:pt x="182915" y="112271"/>
                    <a:pt x="183376" y="112271"/>
                  </a:cubicBezTo>
                  <a:cubicBezTo>
                    <a:pt x="184413" y="112271"/>
                    <a:pt x="185450" y="112617"/>
                    <a:pt x="186257" y="113424"/>
                  </a:cubicBezTo>
                  <a:lnTo>
                    <a:pt x="201932" y="129099"/>
                  </a:lnTo>
                  <a:cubicBezTo>
                    <a:pt x="202278" y="129445"/>
                    <a:pt x="202739" y="129791"/>
                    <a:pt x="203085" y="129906"/>
                  </a:cubicBezTo>
                  <a:cubicBezTo>
                    <a:pt x="203431" y="129906"/>
                    <a:pt x="203661" y="130021"/>
                    <a:pt x="203892" y="130021"/>
                  </a:cubicBezTo>
                  <a:cubicBezTo>
                    <a:pt x="204699" y="130021"/>
                    <a:pt x="205390" y="129676"/>
                    <a:pt x="205621" y="129560"/>
                  </a:cubicBezTo>
                  <a:cubicBezTo>
                    <a:pt x="205966" y="129330"/>
                    <a:pt x="206773" y="128754"/>
                    <a:pt x="207119" y="127716"/>
                  </a:cubicBezTo>
                  <a:cubicBezTo>
                    <a:pt x="207234" y="127255"/>
                    <a:pt x="207349" y="126679"/>
                    <a:pt x="207119" y="125987"/>
                  </a:cubicBezTo>
                  <a:lnTo>
                    <a:pt x="199627" y="96942"/>
                  </a:lnTo>
                  <a:cubicBezTo>
                    <a:pt x="199627" y="96942"/>
                    <a:pt x="199627" y="96942"/>
                    <a:pt x="199627" y="96942"/>
                  </a:cubicBezTo>
                  <a:lnTo>
                    <a:pt x="181762" y="27785"/>
                  </a:lnTo>
                  <a:cubicBezTo>
                    <a:pt x="181416" y="26633"/>
                    <a:pt x="180610" y="25826"/>
                    <a:pt x="179457" y="25480"/>
                  </a:cubicBezTo>
                  <a:lnTo>
                    <a:pt x="81257" y="123"/>
                  </a:lnTo>
                  <a:cubicBezTo>
                    <a:pt x="79067" y="-453"/>
                    <a:pt x="78030" y="1160"/>
                    <a:pt x="77684" y="1621"/>
                  </a:cubicBezTo>
                  <a:cubicBezTo>
                    <a:pt x="77453" y="2082"/>
                    <a:pt x="76647" y="3811"/>
                    <a:pt x="78145" y="5425"/>
                  </a:cubicBezTo>
                  <a:lnTo>
                    <a:pt x="94166" y="21446"/>
                  </a:lnTo>
                  <a:cubicBezTo>
                    <a:pt x="95780" y="23060"/>
                    <a:pt x="95780" y="25595"/>
                    <a:pt x="94166" y="27209"/>
                  </a:cubicBezTo>
                  <a:lnTo>
                    <a:pt x="17865" y="103511"/>
                  </a:lnTo>
                  <a:cubicBezTo>
                    <a:pt x="6339" y="115037"/>
                    <a:pt x="0" y="130252"/>
                    <a:pt x="0" y="146504"/>
                  </a:cubicBezTo>
                  <a:lnTo>
                    <a:pt x="0" y="196527"/>
                  </a:lnTo>
                  <a:lnTo>
                    <a:pt x="54978" y="164138"/>
                  </a:lnTo>
                  <a:cubicBezTo>
                    <a:pt x="58551" y="162064"/>
                    <a:pt x="62931" y="162064"/>
                    <a:pt x="66504" y="164138"/>
                  </a:cubicBezTo>
                  <a:close/>
                </a:path>
              </a:pathLst>
            </a:custGeom>
            <a:solidFill>
              <a:schemeClr val="accent1">
                <a:lumMod val="10000"/>
              </a:schemeClr>
            </a:solidFill>
            <a:ln w="1152" cap="flat">
              <a:solidFill>
                <a:schemeClr val="accent1">
                  <a:lumMod val="1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0E75778-15F3-B53F-6A72-CF19B392A866}"/>
                </a:ext>
              </a:extLst>
            </p:cNvPr>
            <p:cNvSpPr/>
            <p:nvPr/>
          </p:nvSpPr>
          <p:spPr>
            <a:xfrm>
              <a:off x="5105550" y="1009096"/>
              <a:ext cx="2240779" cy="1743286"/>
            </a:xfrm>
            <a:custGeom>
              <a:avLst/>
              <a:gdLst>
                <a:gd name="connsiteX0" fmla="*/ 121136 w 280315"/>
                <a:gd name="connsiteY0" fmla="*/ 150069 h 218080"/>
                <a:gd name="connsiteX1" fmla="*/ 124018 w 280315"/>
                <a:gd name="connsiteY1" fmla="*/ 148917 h 218080"/>
                <a:gd name="connsiteX2" fmla="*/ 126899 w 280315"/>
                <a:gd name="connsiteY2" fmla="*/ 150069 h 218080"/>
                <a:gd name="connsiteX3" fmla="*/ 167470 w 280315"/>
                <a:gd name="connsiteY3" fmla="*/ 190641 h 218080"/>
                <a:gd name="connsiteX4" fmla="*/ 168623 w 280315"/>
                <a:gd name="connsiteY4" fmla="*/ 193522 h 218080"/>
                <a:gd name="connsiteX5" fmla="*/ 168623 w 280315"/>
                <a:gd name="connsiteY5" fmla="*/ 194329 h 218080"/>
                <a:gd name="connsiteX6" fmla="*/ 167470 w 280315"/>
                <a:gd name="connsiteY6" fmla="*/ 196404 h 218080"/>
                <a:gd name="connsiteX7" fmla="*/ 151219 w 280315"/>
                <a:gd name="connsiteY7" fmla="*/ 212656 h 218080"/>
                <a:gd name="connsiteX8" fmla="*/ 150758 w 280315"/>
                <a:gd name="connsiteY8" fmla="*/ 216459 h 218080"/>
                <a:gd name="connsiteX9" fmla="*/ 154331 w 280315"/>
                <a:gd name="connsiteY9" fmla="*/ 217958 h 218080"/>
                <a:gd name="connsiteX10" fmla="*/ 252531 w 280315"/>
                <a:gd name="connsiteY10" fmla="*/ 192600 h 218080"/>
                <a:gd name="connsiteX11" fmla="*/ 254836 w 280315"/>
                <a:gd name="connsiteY11" fmla="*/ 190295 h 218080"/>
                <a:gd name="connsiteX12" fmla="*/ 272816 w 280315"/>
                <a:gd name="connsiteY12" fmla="*/ 120678 h 218080"/>
                <a:gd name="connsiteX13" fmla="*/ 272816 w 280315"/>
                <a:gd name="connsiteY13" fmla="*/ 120678 h 218080"/>
                <a:gd name="connsiteX14" fmla="*/ 280193 w 280315"/>
                <a:gd name="connsiteY14" fmla="*/ 92093 h 218080"/>
                <a:gd name="connsiteX15" fmla="*/ 278694 w 280315"/>
                <a:gd name="connsiteY15" fmla="*/ 88520 h 218080"/>
                <a:gd name="connsiteX16" fmla="*/ 274891 w 280315"/>
                <a:gd name="connsiteY16" fmla="*/ 88981 h 218080"/>
                <a:gd name="connsiteX17" fmla="*/ 259561 w 280315"/>
                <a:gd name="connsiteY17" fmla="*/ 104311 h 218080"/>
                <a:gd name="connsiteX18" fmla="*/ 256680 w 280315"/>
                <a:gd name="connsiteY18" fmla="*/ 105463 h 218080"/>
                <a:gd name="connsiteX19" fmla="*/ 253799 w 280315"/>
                <a:gd name="connsiteY19" fmla="*/ 104311 h 218080"/>
                <a:gd name="connsiteX20" fmla="*/ 167355 w 280315"/>
                <a:gd name="connsiteY20" fmla="*/ 17865 h 218080"/>
                <a:gd name="connsiteX21" fmla="*/ 124364 w 280315"/>
                <a:gd name="connsiteY21" fmla="*/ 0 h 218080"/>
                <a:gd name="connsiteX22" fmla="*/ 81372 w 280315"/>
                <a:gd name="connsiteY22" fmla="*/ 17865 h 218080"/>
                <a:gd name="connsiteX23" fmla="*/ 0 w 280315"/>
                <a:gd name="connsiteY23" fmla="*/ 99239 h 218080"/>
                <a:gd name="connsiteX24" fmla="*/ 61548 w 280315"/>
                <a:gd name="connsiteY24" fmla="*/ 115145 h 218080"/>
                <a:gd name="connsiteX25" fmla="*/ 69731 w 280315"/>
                <a:gd name="connsiteY25" fmla="*/ 123329 h 218080"/>
                <a:gd name="connsiteX26" fmla="*/ 85752 w 280315"/>
                <a:gd name="connsiteY26" fmla="*/ 185569 h 218080"/>
                <a:gd name="connsiteX27" fmla="*/ 121482 w 280315"/>
                <a:gd name="connsiteY27" fmla="*/ 149839 h 218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80315" h="218080">
                  <a:moveTo>
                    <a:pt x="121136" y="150069"/>
                  </a:moveTo>
                  <a:cubicBezTo>
                    <a:pt x="121943" y="149262"/>
                    <a:pt x="122980" y="148917"/>
                    <a:pt x="124018" y="148917"/>
                  </a:cubicBezTo>
                  <a:cubicBezTo>
                    <a:pt x="125055" y="148917"/>
                    <a:pt x="126092" y="149262"/>
                    <a:pt x="126899" y="150069"/>
                  </a:cubicBezTo>
                  <a:lnTo>
                    <a:pt x="167470" y="190641"/>
                  </a:lnTo>
                  <a:cubicBezTo>
                    <a:pt x="168277" y="191448"/>
                    <a:pt x="168623" y="192485"/>
                    <a:pt x="168623" y="193522"/>
                  </a:cubicBezTo>
                  <a:cubicBezTo>
                    <a:pt x="168623" y="194560"/>
                    <a:pt x="168623" y="194099"/>
                    <a:pt x="168623" y="194329"/>
                  </a:cubicBezTo>
                  <a:cubicBezTo>
                    <a:pt x="168507" y="195136"/>
                    <a:pt x="168046" y="195828"/>
                    <a:pt x="167470" y="196404"/>
                  </a:cubicBezTo>
                  <a:lnTo>
                    <a:pt x="151219" y="212656"/>
                  </a:lnTo>
                  <a:cubicBezTo>
                    <a:pt x="149605" y="214269"/>
                    <a:pt x="150412" y="215998"/>
                    <a:pt x="150758" y="216459"/>
                  </a:cubicBezTo>
                  <a:cubicBezTo>
                    <a:pt x="150988" y="216920"/>
                    <a:pt x="152141" y="218534"/>
                    <a:pt x="154331" y="217958"/>
                  </a:cubicBezTo>
                  <a:lnTo>
                    <a:pt x="252531" y="192600"/>
                  </a:lnTo>
                  <a:cubicBezTo>
                    <a:pt x="253683" y="192254"/>
                    <a:pt x="254490" y="191448"/>
                    <a:pt x="254836" y="190295"/>
                  </a:cubicBezTo>
                  <a:lnTo>
                    <a:pt x="272816" y="120678"/>
                  </a:lnTo>
                  <a:cubicBezTo>
                    <a:pt x="272816" y="120678"/>
                    <a:pt x="272816" y="120678"/>
                    <a:pt x="272816" y="120678"/>
                  </a:cubicBezTo>
                  <a:lnTo>
                    <a:pt x="280193" y="92093"/>
                  </a:lnTo>
                  <a:cubicBezTo>
                    <a:pt x="280769" y="89903"/>
                    <a:pt x="279155" y="88866"/>
                    <a:pt x="278694" y="88520"/>
                  </a:cubicBezTo>
                  <a:cubicBezTo>
                    <a:pt x="278233" y="88174"/>
                    <a:pt x="276504" y="87483"/>
                    <a:pt x="274891" y="88981"/>
                  </a:cubicBezTo>
                  <a:lnTo>
                    <a:pt x="259561" y="104311"/>
                  </a:lnTo>
                  <a:cubicBezTo>
                    <a:pt x="258755" y="105118"/>
                    <a:pt x="257717" y="105463"/>
                    <a:pt x="256680" y="105463"/>
                  </a:cubicBezTo>
                  <a:cubicBezTo>
                    <a:pt x="255643" y="105463"/>
                    <a:pt x="254605" y="105002"/>
                    <a:pt x="253799" y="104311"/>
                  </a:cubicBezTo>
                  <a:lnTo>
                    <a:pt x="167355" y="17865"/>
                  </a:lnTo>
                  <a:cubicBezTo>
                    <a:pt x="155829" y="6339"/>
                    <a:pt x="140615" y="0"/>
                    <a:pt x="124364" y="0"/>
                  </a:cubicBezTo>
                  <a:cubicBezTo>
                    <a:pt x="108112" y="0"/>
                    <a:pt x="92898" y="6339"/>
                    <a:pt x="81372" y="17865"/>
                  </a:cubicBezTo>
                  <a:lnTo>
                    <a:pt x="0" y="99239"/>
                  </a:lnTo>
                  <a:lnTo>
                    <a:pt x="61548" y="115145"/>
                  </a:lnTo>
                  <a:cubicBezTo>
                    <a:pt x="65582" y="116183"/>
                    <a:pt x="68694" y="119295"/>
                    <a:pt x="69731" y="123329"/>
                  </a:cubicBezTo>
                  <a:lnTo>
                    <a:pt x="85752" y="185569"/>
                  </a:lnTo>
                  <a:lnTo>
                    <a:pt x="121482" y="149839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11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sz="135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F40D98-08FD-5629-CE88-2D2C5385CD85}"/>
                </a:ext>
              </a:extLst>
            </p:cNvPr>
            <p:cNvSpPr txBox="1"/>
            <p:nvPr/>
          </p:nvSpPr>
          <p:spPr>
            <a:xfrm>
              <a:off x="6489435" y="2131584"/>
              <a:ext cx="687796" cy="31505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652EA3-AE0D-740D-737A-6E1E885776A6}"/>
                </a:ext>
              </a:extLst>
            </p:cNvPr>
            <p:cNvSpPr txBox="1"/>
            <p:nvPr/>
          </p:nvSpPr>
          <p:spPr>
            <a:xfrm>
              <a:off x="7216427" y="3545802"/>
              <a:ext cx="687796" cy="31505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75000"/>
                    </a:schemeClr>
                  </a:solidFill>
                </a:rPr>
                <a:t>02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4E4042-A248-2BBE-59D6-092D20F7F0B7}"/>
                </a:ext>
              </a:extLst>
            </p:cNvPr>
            <p:cNvSpPr txBox="1"/>
            <p:nvPr/>
          </p:nvSpPr>
          <p:spPr>
            <a:xfrm>
              <a:off x="6618611" y="4970012"/>
              <a:ext cx="687796" cy="31505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50000"/>
                    </a:schemeClr>
                  </a:solidFill>
                </a:rPr>
                <a:t>03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3E97C4-23C7-7F49-C05C-1605F039378C}"/>
                </a:ext>
              </a:extLst>
            </p:cNvPr>
            <p:cNvSpPr txBox="1"/>
            <p:nvPr/>
          </p:nvSpPr>
          <p:spPr>
            <a:xfrm>
              <a:off x="4670973" y="4970012"/>
              <a:ext cx="687796" cy="31505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04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2716409-8546-DCBC-1AB8-E9A4455E6845}"/>
                </a:ext>
              </a:extLst>
            </p:cNvPr>
            <p:cNvSpPr txBox="1"/>
            <p:nvPr/>
          </p:nvSpPr>
          <p:spPr>
            <a:xfrm>
              <a:off x="4286435" y="3370241"/>
              <a:ext cx="687796" cy="31505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05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007160-3D12-3189-AF11-06FF73D3B70A}"/>
                </a:ext>
              </a:extLst>
            </p:cNvPr>
            <p:cNvSpPr txBox="1"/>
            <p:nvPr/>
          </p:nvSpPr>
          <p:spPr>
            <a:xfrm>
              <a:off x="4984039" y="2106100"/>
              <a:ext cx="687796" cy="31505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pt-PT" b="1" noProof="1">
                  <a:solidFill>
                    <a:schemeClr val="accent1">
                      <a:lumMod val="75000"/>
                    </a:schemeClr>
                  </a:solidFill>
                </a:rPr>
                <a:t>06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579DD74-DDF7-B4A8-BF8B-ECEB7D61586D}"/>
              </a:ext>
            </a:extLst>
          </p:cNvPr>
          <p:cNvSpPr txBox="1"/>
          <p:nvPr/>
        </p:nvSpPr>
        <p:spPr>
          <a:xfrm>
            <a:off x="1094050" y="2864774"/>
            <a:ext cx="6062400" cy="1695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" algn="l">
              <a:lnSpc>
                <a:spcPct val="150000"/>
              </a:lnSpc>
            </a:pPr>
            <a:r>
              <a:rPr lang="pt-PT" sz="24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06. </a:t>
            </a:r>
            <a:r>
              <a:rPr lang="pt-PT" sz="24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sistema gera ciclos de expansão e recessão devido à injeção constante de dinheiro.</a:t>
            </a:r>
          </a:p>
        </p:txBody>
      </p:sp>
    </p:spTree>
    <p:extLst>
      <p:ext uri="{BB962C8B-B14F-4D97-AF65-F5344CB8AC3E}">
        <p14:creationId xmlns:p14="http://schemas.microsoft.com/office/powerpoint/2010/main" val="686807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>
            <a:extLst>
              <a:ext uri="{FF2B5EF4-FFF2-40B4-BE49-F238E27FC236}">
                <a16:creationId xmlns:a16="http://schemas.microsoft.com/office/drawing/2014/main" id="{AC069250-D5EC-B8C0-74D9-BDBFD2048214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4.2.2 Reservas mínimas obrigatórias: sistema sustentado pela dívida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4A37DD0-CD75-C298-814E-1E875B04DE94}"/>
              </a:ext>
            </a:extLst>
          </p:cNvPr>
          <p:cNvGrpSpPr/>
          <p:nvPr/>
        </p:nvGrpSpPr>
        <p:grpSpPr>
          <a:xfrm>
            <a:off x="965951" y="2835275"/>
            <a:ext cx="18172197" cy="8070726"/>
            <a:chOff x="1023850" y="2911475"/>
            <a:chExt cx="18172197" cy="8070726"/>
          </a:xfrm>
        </p:grpSpPr>
        <p:sp>
          <p:nvSpPr>
            <p:cNvPr id="324" name="object 92">
              <a:extLst>
                <a:ext uri="{FF2B5EF4-FFF2-40B4-BE49-F238E27FC236}">
                  <a16:creationId xmlns:a16="http://schemas.microsoft.com/office/drawing/2014/main" id="{A4A89EB5-76E6-BFF3-2B1E-44AFEB716842}"/>
                </a:ext>
              </a:extLst>
            </p:cNvPr>
            <p:cNvSpPr/>
            <p:nvPr/>
          </p:nvSpPr>
          <p:spPr>
            <a:xfrm>
              <a:off x="11096789" y="3307562"/>
              <a:ext cx="0" cy="3967479"/>
            </a:xfrm>
            <a:custGeom>
              <a:avLst/>
              <a:gdLst/>
              <a:ahLst/>
              <a:cxnLst/>
              <a:rect l="l" t="t" r="r" b="b"/>
              <a:pathLst>
                <a:path h="3967479">
                  <a:moveTo>
                    <a:pt x="0" y="0"/>
                  </a:moveTo>
                  <a:lnTo>
                    <a:pt x="0" y="396703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255941B6-2045-6B20-CFF2-02525B71E220}"/>
                </a:ext>
              </a:extLst>
            </p:cNvPr>
            <p:cNvSpPr/>
            <p:nvPr/>
          </p:nvSpPr>
          <p:spPr>
            <a:xfrm>
              <a:off x="1689181" y="3150583"/>
              <a:ext cx="8590946" cy="7685692"/>
            </a:xfrm>
            <a:custGeom>
              <a:avLst/>
              <a:gdLst/>
              <a:ahLst/>
              <a:cxnLst/>
              <a:rect l="l" t="t" r="r" b="b"/>
              <a:pathLst>
                <a:path w="8622030" h="7533005">
                  <a:moveTo>
                    <a:pt x="0" y="2547608"/>
                  </a:moveTo>
                  <a:lnTo>
                    <a:pt x="0" y="7427794"/>
                  </a:lnTo>
                  <a:lnTo>
                    <a:pt x="8228" y="7468552"/>
                  </a:lnTo>
                  <a:lnTo>
                    <a:pt x="30667" y="7501835"/>
                  </a:lnTo>
                  <a:lnTo>
                    <a:pt x="63950" y="7524275"/>
                  </a:lnTo>
                  <a:lnTo>
                    <a:pt x="104708" y="7532503"/>
                  </a:lnTo>
                  <a:lnTo>
                    <a:pt x="8235089" y="7532503"/>
                  </a:lnTo>
                  <a:lnTo>
                    <a:pt x="8275847" y="7524275"/>
                  </a:lnTo>
                  <a:lnTo>
                    <a:pt x="8309130" y="7501835"/>
                  </a:lnTo>
                  <a:lnTo>
                    <a:pt x="8331570" y="7468552"/>
                  </a:lnTo>
                  <a:lnTo>
                    <a:pt x="8339798" y="7427794"/>
                  </a:lnTo>
                  <a:lnTo>
                    <a:pt x="8339798" y="104708"/>
                  </a:lnTo>
                  <a:lnTo>
                    <a:pt x="8348026" y="63950"/>
                  </a:lnTo>
                  <a:lnTo>
                    <a:pt x="8370466" y="30667"/>
                  </a:lnTo>
                  <a:lnTo>
                    <a:pt x="8403749" y="8228"/>
                  </a:lnTo>
                  <a:lnTo>
                    <a:pt x="8444507" y="0"/>
                  </a:lnTo>
                  <a:lnTo>
                    <a:pt x="8621549" y="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20BC6F1-63F3-7BAB-2ECC-18AAD395CF9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74068" y="3030506"/>
              <a:ext cx="216998" cy="240152"/>
            </a:xfrm>
            <a:prstGeom prst="rect">
              <a:avLst/>
            </a:prstGeom>
          </p:spPr>
        </p:pic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15469D8C-0025-C8C4-72F5-A7432542DC5C}"/>
                </a:ext>
              </a:extLst>
            </p:cNvPr>
            <p:cNvGrpSpPr/>
            <p:nvPr/>
          </p:nvGrpSpPr>
          <p:grpSpPr>
            <a:xfrm>
              <a:off x="10359652" y="10226001"/>
              <a:ext cx="7986395" cy="756200"/>
              <a:chOff x="10491066" y="10445382"/>
              <a:chExt cx="7986395" cy="756200"/>
            </a:xfrm>
          </p:grpSpPr>
          <p:sp>
            <p:nvSpPr>
              <p:cNvPr id="106" name="object 105">
                <a:extLst>
                  <a:ext uri="{FF2B5EF4-FFF2-40B4-BE49-F238E27FC236}">
                    <a16:creationId xmlns:a16="http://schemas.microsoft.com/office/drawing/2014/main" id="{EE432C7D-1AB8-9100-C1B2-18AC560AB108}"/>
                  </a:ext>
                </a:extLst>
              </p:cNvPr>
              <p:cNvSpPr/>
              <p:nvPr/>
            </p:nvSpPr>
            <p:spPr>
              <a:xfrm>
                <a:off x="10491066" y="10445382"/>
                <a:ext cx="7986395" cy="756200"/>
              </a:xfrm>
              <a:custGeom>
                <a:avLst/>
                <a:gdLst/>
                <a:ahLst/>
                <a:cxnLst/>
                <a:rect l="l" t="t" r="r" b="b"/>
                <a:pathLst>
                  <a:path w="7986394" h="447040">
                    <a:moveTo>
                      <a:pt x="7762517" y="0"/>
                    </a:moveTo>
                    <a:lnTo>
                      <a:pt x="223396" y="0"/>
                    </a:lnTo>
                    <a:lnTo>
                      <a:pt x="178374" y="4538"/>
                    </a:lnTo>
                    <a:lnTo>
                      <a:pt x="136440" y="17555"/>
                    </a:lnTo>
                    <a:lnTo>
                      <a:pt x="98493" y="38152"/>
                    </a:lnTo>
                    <a:lnTo>
                      <a:pt x="65431" y="65431"/>
                    </a:lnTo>
                    <a:lnTo>
                      <a:pt x="38152" y="98493"/>
                    </a:lnTo>
                    <a:lnTo>
                      <a:pt x="17555" y="136440"/>
                    </a:lnTo>
                    <a:lnTo>
                      <a:pt x="4538" y="178374"/>
                    </a:lnTo>
                    <a:lnTo>
                      <a:pt x="0" y="223396"/>
                    </a:lnTo>
                    <a:lnTo>
                      <a:pt x="4538" y="268418"/>
                    </a:lnTo>
                    <a:lnTo>
                      <a:pt x="17555" y="310352"/>
                    </a:lnTo>
                    <a:lnTo>
                      <a:pt x="38152" y="348299"/>
                    </a:lnTo>
                    <a:lnTo>
                      <a:pt x="65431" y="381361"/>
                    </a:lnTo>
                    <a:lnTo>
                      <a:pt x="98493" y="408640"/>
                    </a:lnTo>
                    <a:lnTo>
                      <a:pt x="136440" y="429237"/>
                    </a:lnTo>
                    <a:lnTo>
                      <a:pt x="178374" y="442254"/>
                    </a:lnTo>
                    <a:lnTo>
                      <a:pt x="223396" y="446792"/>
                    </a:lnTo>
                    <a:lnTo>
                      <a:pt x="7762517" y="446792"/>
                    </a:lnTo>
                    <a:lnTo>
                      <a:pt x="7807539" y="442254"/>
                    </a:lnTo>
                    <a:lnTo>
                      <a:pt x="7849473" y="429237"/>
                    </a:lnTo>
                    <a:lnTo>
                      <a:pt x="7887420" y="408640"/>
                    </a:lnTo>
                    <a:lnTo>
                      <a:pt x="7920482" y="381361"/>
                    </a:lnTo>
                    <a:lnTo>
                      <a:pt x="7947761" y="348299"/>
                    </a:lnTo>
                    <a:lnTo>
                      <a:pt x="7968358" y="310352"/>
                    </a:lnTo>
                    <a:lnTo>
                      <a:pt x="7981375" y="268418"/>
                    </a:lnTo>
                    <a:lnTo>
                      <a:pt x="7985913" y="223396"/>
                    </a:lnTo>
                    <a:lnTo>
                      <a:pt x="7981375" y="178374"/>
                    </a:lnTo>
                    <a:lnTo>
                      <a:pt x="7968358" y="136440"/>
                    </a:lnTo>
                    <a:lnTo>
                      <a:pt x="7947761" y="98493"/>
                    </a:lnTo>
                    <a:lnTo>
                      <a:pt x="7920482" y="65431"/>
                    </a:lnTo>
                    <a:lnTo>
                      <a:pt x="7887420" y="38152"/>
                    </a:lnTo>
                    <a:lnTo>
                      <a:pt x="7849473" y="17555"/>
                    </a:lnTo>
                    <a:lnTo>
                      <a:pt x="7807539" y="4538"/>
                    </a:lnTo>
                    <a:lnTo>
                      <a:pt x="7762517" y="0"/>
                    </a:lnTo>
                    <a:close/>
                  </a:path>
                </a:pathLst>
              </a:custGeom>
              <a:solidFill>
                <a:srgbClr val="60399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01B5388A-7C81-FC9B-D41E-6118FC523676}"/>
                  </a:ext>
                </a:extLst>
              </p:cNvPr>
              <p:cNvSpPr txBox="1"/>
              <p:nvPr/>
            </p:nvSpPr>
            <p:spPr>
              <a:xfrm>
                <a:off x="10665028" y="10565672"/>
                <a:ext cx="7644980" cy="539891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30"/>
                  </a:spcBef>
                </a:pPr>
                <a:r>
                  <a:rPr lang="pt-PT" sz="1700" b="1" spc="10" dirty="0">
                    <a:solidFill>
                      <a:srgbClr val="FFFFFF"/>
                    </a:solidFill>
                    <a:latin typeface="Open Sans"/>
                    <a:cs typeface="Open Sans"/>
                  </a:rPr>
                  <a:t>Repete-se (mais expansão de crédito, em preparação para o próximo período de expansão)</a:t>
                </a:r>
                <a:endParaRPr lang="pt-PT" sz="1700" dirty="0">
                  <a:latin typeface="Open Sans"/>
                  <a:cs typeface="Open Sans"/>
                </a:endParaRPr>
              </a:p>
            </p:txBody>
          </p:sp>
        </p:grpSp>
        <p:sp>
          <p:nvSpPr>
            <p:cNvPr id="108" name="object 107">
              <a:extLst>
                <a:ext uri="{FF2B5EF4-FFF2-40B4-BE49-F238E27FC236}">
                  <a16:creationId xmlns:a16="http://schemas.microsoft.com/office/drawing/2014/main" id="{9670390D-FAC0-2F94-A39F-DCFEA69A7754}"/>
                </a:ext>
              </a:extLst>
            </p:cNvPr>
            <p:cNvSpPr txBox="1"/>
            <p:nvPr/>
          </p:nvSpPr>
          <p:spPr>
            <a:xfrm>
              <a:off x="11574537" y="3459600"/>
              <a:ext cx="6513195" cy="80239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1800"/>
                </a:lnSpc>
                <a:spcBef>
                  <a:spcPts val="95"/>
                </a:spcBef>
              </a:pPr>
              <a:r>
                <a:rPr lang="pt-PT" sz="1700" spc="10" dirty="0">
                  <a:solidFill>
                    <a:srgbClr val="57585B"/>
                  </a:solidFill>
                  <a:latin typeface="Open Sans"/>
                  <a:cs typeface="Open Sans"/>
                </a:rPr>
                <a:t>Os preços caem (os investidores entram em pânico e começam a vender os seus investimentos a preços mais baixos, visto que não existe uma procura real pelos mesmos).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sp>
          <p:nvSpPr>
            <p:cNvPr id="109" name="object 108">
              <a:extLst>
                <a:ext uri="{FF2B5EF4-FFF2-40B4-BE49-F238E27FC236}">
                  <a16:creationId xmlns:a16="http://schemas.microsoft.com/office/drawing/2014/main" id="{C0985E43-AEEA-89FE-07CD-5DD2C39D577B}"/>
                </a:ext>
              </a:extLst>
            </p:cNvPr>
            <p:cNvSpPr txBox="1"/>
            <p:nvPr/>
          </p:nvSpPr>
          <p:spPr>
            <a:xfrm>
              <a:off x="11580905" y="4503212"/>
              <a:ext cx="6628130" cy="5537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1800"/>
                </a:lnSpc>
                <a:spcBef>
                  <a:spcPts val="95"/>
                </a:spcBef>
              </a:pPr>
              <a:r>
                <a:rPr lang="pt-PT" sz="1700" spc="10" dirty="0">
                  <a:solidFill>
                    <a:srgbClr val="57585B"/>
                  </a:solidFill>
                  <a:latin typeface="Open Sans"/>
                  <a:cs typeface="Open Sans"/>
                </a:rPr>
                <a:t>Indivíduos e empresas faltam ao pagamento dos seus empréstimos (com a diminuição do valor das suas garantias).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sp>
          <p:nvSpPr>
            <p:cNvPr id="110" name="object 109">
              <a:extLst>
                <a:ext uri="{FF2B5EF4-FFF2-40B4-BE49-F238E27FC236}">
                  <a16:creationId xmlns:a16="http://schemas.microsoft.com/office/drawing/2014/main" id="{5897FDCF-68F2-4492-C0D2-F2703EA62401}"/>
                </a:ext>
              </a:extLst>
            </p:cNvPr>
            <p:cNvSpPr txBox="1"/>
            <p:nvPr/>
          </p:nvSpPr>
          <p:spPr>
            <a:xfrm>
              <a:off x="11577377" y="5512768"/>
              <a:ext cx="7389810" cy="53553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1800"/>
                </a:lnSpc>
                <a:spcBef>
                  <a:spcPts val="95"/>
                </a:spcBef>
              </a:pPr>
              <a:r>
                <a:rPr lang="pt-PT" sz="1700" spc="15" dirty="0">
                  <a:solidFill>
                    <a:srgbClr val="57585B"/>
                  </a:solidFill>
                  <a:latin typeface="Open Sans"/>
                  <a:cs typeface="Open Sans"/>
                </a:rPr>
                <a:t>Incumprimento por parte dos bancos (visto que, agora, possuem ativos num valor inferior ao valor dos empréstimos que concederam).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sp>
          <p:nvSpPr>
            <p:cNvPr id="111" name="object 110">
              <a:extLst>
                <a:ext uri="{FF2B5EF4-FFF2-40B4-BE49-F238E27FC236}">
                  <a16:creationId xmlns:a16="http://schemas.microsoft.com/office/drawing/2014/main" id="{77E4E2BD-C938-EAB7-04D4-8EC3632892FC}"/>
                </a:ext>
              </a:extLst>
            </p:cNvPr>
            <p:cNvSpPr txBox="1"/>
            <p:nvPr/>
          </p:nvSpPr>
          <p:spPr>
            <a:xfrm>
              <a:off x="11574537" y="6508717"/>
              <a:ext cx="6094675" cy="27828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lang="pt-PT" sz="1700" spc="15" dirty="0">
                  <a:solidFill>
                    <a:srgbClr val="57585B"/>
                  </a:solidFill>
                  <a:latin typeface="Open Sans"/>
                  <a:cs typeface="Open Sans"/>
                </a:rPr>
                <a:t>Intervenção do Banco Central, para resgatar os bancos.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pic>
          <p:nvPicPr>
            <p:cNvPr id="114" name="object 112">
              <a:extLst>
                <a:ext uri="{FF2B5EF4-FFF2-40B4-BE49-F238E27FC236}">
                  <a16:creationId xmlns:a16="http://schemas.microsoft.com/office/drawing/2014/main" id="{3DE55C4D-11A9-72FF-8A8D-1B1AFDC3577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06416" y="3476927"/>
              <a:ext cx="734605" cy="734616"/>
            </a:xfrm>
            <a:prstGeom prst="rect">
              <a:avLst/>
            </a:prstGeom>
          </p:spPr>
        </p:pic>
        <p:pic>
          <p:nvPicPr>
            <p:cNvPr id="115" name="object 113">
              <a:extLst>
                <a:ext uri="{FF2B5EF4-FFF2-40B4-BE49-F238E27FC236}">
                  <a16:creationId xmlns:a16="http://schemas.microsoft.com/office/drawing/2014/main" id="{D9E971C5-CE2F-954F-EED0-AD0DECC7FD9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6416" y="4412930"/>
              <a:ext cx="734605" cy="734616"/>
            </a:xfrm>
            <a:prstGeom prst="rect">
              <a:avLst/>
            </a:prstGeom>
          </p:spPr>
        </p:pic>
        <p:pic>
          <p:nvPicPr>
            <p:cNvPr id="116" name="object 114">
              <a:extLst>
                <a:ext uri="{FF2B5EF4-FFF2-40B4-BE49-F238E27FC236}">
                  <a16:creationId xmlns:a16="http://schemas.microsoft.com/office/drawing/2014/main" id="{2693CB19-25D5-16AD-44FE-361C470C6B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06416" y="5348932"/>
              <a:ext cx="734605" cy="734605"/>
            </a:xfrm>
            <a:prstGeom prst="rect">
              <a:avLst/>
            </a:prstGeom>
          </p:spPr>
        </p:pic>
        <p:pic>
          <p:nvPicPr>
            <p:cNvPr id="117" name="object 115">
              <a:extLst>
                <a:ext uri="{FF2B5EF4-FFF2-40B4-BE49-F238E27FC236}">
                  <a16:creationId xmlns:a16="http://schemas.microsoft.com/office/drawing/2014/main" id="{4E9A3957-9C91-7905-2AFB-8B119D9369C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6416" y="6284925"/>
              <a:ext cx="734605" cy="734616"/>
            </a:xfrm>
            <a:prstGeom prst="rect">
              <a:avLst/>
            </a:prstGeom>
          </p:spPr>
        </p:pic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818D0B29-3C82-0457-E73D-7D796B73CEEE}"/>
                </a:ext>
              </a:extLst>
            </p:cNvPr>
            <p:cNvSpPr/>
            <p:nvPr/>
          </p:nvSpPr>
          <p:spPr>
            <a:xfrm>
              <a:off x="10818762" y="3585729"/>
              <a:ext cx="509270" cy="324485"/>
            </a:xfrm>
            <a:custGeom>
              <a:avLst/>
              <a:gdLst/>
              <a:ahLst/>
              <a:cxnLst/>
              <a:rect l="l" t="t" r="r" b="b"/>
              <a:pathLst>
                <a:path w="509270" h="324485">
                  <a:moveTo>
                    <a:pt x="462822" y="0"/>
                  </a:moveTo>
                  <a:lnTo>
                    <a:pt x="454131" y="1690"/>
                  </a:lnTo>
                  <a:lnTo>
                    <a:pt x="446489" y="6761"/>
                  </a:lnTo>
                  <a:lnTo>
                    <a:pt x="324251" y="129009"/>
                  </a:lnTo>
                  <a:lnTo>
                    <a:pt x="248191" y="52959"/>
                  </a:lnTo>
                  <a:lnTo>
                    <a:pt x="240554" y="47887"/>
                  </a:lnTo>
                  <a:lnTo>
                    <a:pt x="231865" y="46197"/>
                  </a:lnTo>
                  <a:lnTo>
                    <a:pt x="223175" y="47887"/>
                  </a:lnTo>
                  <a:lnTo>
                    <a:pt x="215532" y="52959"/>
                  </a:lnTo>
                  <a:lnTo>
                    <a:pt x="93295" y="175206"/>
                  </a:lnTo>
                  <a:lnTo>
                    <a:pt x="63432" y="145343"/>
                  </a:lnTo>
                  <a:lnTo>
                    <a:pt x="58353" y="141503"/>
                  </a:lnTo>
                  <a:lnTo>
                    <a:pt x="52535" y="139223"/>
                  </a:lnTo>
                  <a:lnTo>
                    <a:pt x="46319" y="138585"/>
                  </a:lnTo>
                  <a:lnTo>
                    <a:pt x="40051" y="139668"/>
                  </a:lnTo>
                  <a:lnTo>
                    <a:pt x="31810" y="142317"/>
                  </a:lnTo>
                  <a:lnTo>
                    <a:pt x="25737" y="149333"/>
                  </a:lnTo>
                  <a:lnTo>
                    <a:pt x="0" y="303799"/>
                  </a:lnTo>
                  <a:lnTo>
                    <a:pt x="2397" y="311296"/>
                  </a:lnTo>
                  <a:lnTo>
                    <a:pt x="12952" y="321851"/>
                  </a:lnTo>
                  <a:lnTo>
                    <a:pt x="20449" y="324249"/>
                  </a:lnTo>
                  <a:lnTo>
                    <a:pt x="174916" y="298511"/>
                  </a:lnTo>
                  <a:lnTo>
                    <a:pt x="181931" y="292438"/>
                  </a:lnTo>
                  <a:lnTo>
                    <a:pt x="184580" y="284187"/>
                  </a:lnTo>
                  <a:lnTo>
                    <a:pt x="185664" y="277925"/>
                  </a:lnTo>
                  <a:lnTo>
                    <a:pt x="185025" y="271712"/>
                  </a:lnTo>
                  <a:lnTo>
                    <a:pt x="182746" y="265895"/>
                  </a:lnTo>
                  <a:lnTo>
                    <a:pt x="178905" y="260816"/>
                  </a:lnTo>
                  <a:lnTo>
                    <a:pt x="149042" y="230953"/>
                  </a:lnTo>
                  <a:lnTo>
                    <a:pt x="231867" y="148139"/>
                  </a:lnTo>
                  <a:lnTo>
                    <a:pt x="307917" y="224189"/>
                  </a:lnTo>
                  <a:lnTo>
                    <a:pt x="315555" y="229260"/>
                  </a:lnTo>
                  <a:lnTo>
                    <a:pt x="324246" y="230951"/>
                  </a:lnTo>
                  <a:lnTo>
                    <a:pt x="332937" y="229260"/>
                  </a:lnTo>
                  <a:lnTo>
                    <a:pt x="340576" y="224189"/>
                  </a:lnTo>
                  <a:lnTo>
                    <a:pt x="502246" y="62519"/>
                  </a:lnTo>
                  <a:lnTo>
                    <a:pt x="507317" y="54880"/>
                  </a:lnTo>
                  <a:lnTo>
                    <a:pt x="509008" y="46189"/>
                  </a:lnTo>
                  <a:lnTo>
                    <a:pt x="507317" y="37498"/>
                  </a:lnTo>
                  <a:lnTo>
                    <a:pt x="502246" y="29860"/>
                  </a:lnTo>
                  <a:lnTo>
                    <a:pt x="479147" y="6761"/>
                  </a:lnTo>
                  <a:lnTo>
                    <a:pt x="471510" y="1690"/>
                  </a:lnTo>
                  <a:lnTo>
                    <a:pt x="462822" y="0"/>
                  </a:lnTo>
                  <a:close/>
                </a:path>
              </a:pathLst>
            </a:custGeom>
            <a:solidFill>
              <a:srgbClr val="AE9BC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128" name="object 128">
              <a:extLst>
                <a:ext uri="{FF2B5EF4-FFF2-40B4-BE49-F238E27FC236}">
                  <a16:creationId xmlns:a16="http://schemas.microsoft.com/office/drawing/2014/main" id="{5FA2334D-5381-9674-5898-FF1EE1FD652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06508" y="3946344"/>
              <a:ext cx="278073" cy="156402"/>
            </a:xfrm>
            <a:prstGeom prst="rect">
              <a:avLst/>
            </a:prstGeom>
          </p:spPr>
        </p:pic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86B999F6-2857-3856-8DC7-BDB0CB0A16D6}"/>
                </a:ext>
              </a:extLst>
            </p:cNvPr>
            <p:cNvSpPr/>
            <p:nvPr/>
          </p:nvSpPr>
          <p:spPr>
            <a:xfrm>
              <a:off x="11072601" y="3834412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163" y="0"/>
                  </a:moveTo>
                  <a:lnTo>
                    <a:pt x="91755" y="6840"/>
                  </a:lnTo>
                  <a:lnTo>
                    <a:pt x="54925" y="25887"/>
                  </a:lnTo>
                  <a:lnTo>
                    <a:pt x="25884" y="54930"/>
                  </a:lnTo>
                  <a:lnTo>
                    <a:pt x="6839" y="91759"/>
                  </a:lnTo>
                  <a:lnTo>
                    <a:pt x="0" y="134163"/>
                  </a:lnTo>
                  <a:lnTo>
                    <a:pt x="6839" y="176572"/>
                  </a:lnTo>
                  <a:lnTo>
                    <a:pt x="25884" y="213404"/>
                  </a:lnTo>
                  <a:lnTo>
                    <a:pt x="54925" y="242449"/>
                  </a:lnTo>
                  <a:lnTo>
                    <a:pt x="91755" y="261497"/>
                  </a:lnTo>
                  <a:lnTo>
                    <a:pt x="134163" y="268337"/>
                  </a:lnTo>
                  <a:lnTo>
                    <a:pt x="176571" y="261497"/>
                  </a:lnTo>
                  <a:lnTo>
                    <a:pt x="213401" y="242449"/>
                  </a:lnTo>
                  <a:lnTo>
                    <a:pt x="242442" y="213404"/>
                  </a:lnTo>
                  <a:lnTo>
                    <a:pt x="261487" y="176572"/>
                  </a:lnTo>
                  <a:lnTo>
                    <a:pt x="268326" y="134163"/>
                  </a:lnTo>
                  <a:lnTo>
                    <a:pt x="261487" y="91759"/>
                  </a:lnTo>
                  <a:lnTo>
                    <a:pt x="242442" y="54930"/>
                  </a:lnTo>
                  <a:lnTo>
                    <a:pt x="213401" y="25887"/>
                  </a:lnTo>
                  <a:lnTo>
                    <a:pt x="176571" y="6840"/>
                  </a:lnTo>
                  <a:lnTo>
                    <a:pt x="134163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130" name="object 130">
              <a:extLst>
                <a:ext uri="{FF2B5EF4-FFF2-40B4-BE49-F238E27FC236}">
                  <a16:creationId xmlns:a16="http://schemas.microsoft.com/office/drawing/2014/main" id="{29DF6248-1AFE-76A1-E55A-3A591F68E23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98988" y="3860800"/>
              <a:ext cx="215553" cy="215553"/>
            </a:xfrm>
            <a:prstGeom prst="rect">
              <a:avLst/>
            </a:prstGeom>
          </p:spPr>
        </p:pic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50511BCF-FC71-B7BF-6305-431EEBA6F8EF}"/>
                </a:ext>
              </a:extLst>
            </p:cNvPr>
            <p:cNvSpPr/>
            <p:nvPr/>
          </p:nvSpPr>
          <p:spPr>
            <a:xfrm>
              <a:off x="10818176" y="4495837"/>
              <a:ext cx="439420" cy="523875"/>
            </a:xfrm>
            <a:custGeom>
              <a:avLst/>
              <a:gdLst/>
              <a:ahLst/>
              <a:cxnLst/>
              <a:rect l="l" t="t" r="r" b="b"/>
              <a:pathLst>
                <a:path w="439420" h="523875">
                  <a:moveTo>
                    <a:pt x="434363" y="0"/>
                  </a:moveTo>
                  <a:lnTo>
                    <a:pt x="4701" y="0"/>
                  </a:lnTo>
                  <a:lnTo>
                    <a:pt x="0" y="4711"/>
                  </a:lnTo>
                  <a:lnTo>
                    <a:pt x="0" y="518811"/>
                  </a:lnTo>
                  <a:lnTo>
                    <a:pt x="4711" y="523512"/>
                  </a:lnTo>
                  <a:lnTo>
                    <a:pt x="46595" y="523512"/>
                  </a:lnTo>
                  <a:lnTo>
                    <a:pt x="46595" y="55799"/>
                  </a:lnTo>
                  <a:lnTo>
                    <a:pt x="46595" y="50731"/>
                  </a:lnTo>
                  <a:lnTo>
                    <a:pt x="50720" y="46595"/>
                  </a:lnTo>
                  <a:lnTo>
                    <a:pt x="439065" y="46595"/>
                  </a:lnTo>
                  <a:lnTo>
                    <a:pt x="439065" y="4711"/>
                  </a:lnTo>
                  <a:lnTo>
                    <a:pt x="434363" y="0"/>
                  </a:lnTo>
                  <a:close/>
                </a:path>
              </a:pathLst>
            </a:custGeom>
            <a:solidFill>
              <a:srgbClr val="AE9BC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DF6ADDFE-893C-15EB-C73C-AF7005CB1AAD}"/>
                </a:ext>
              </a:extLst>
            </p:cNvPr>
            <p:cNvSpPr/>
            <p:nvPr/>
          </p:nvSpPr>
          <p:spPr>
            <a:xfrm>
              <a:off x="10863458" y="4541127"/>
              <a:ext cx="439420" cy="523875"/>
            </a:xfrm>
            <a:custGeom>
              <a:avLst/>
              <a:gdLst/>
              <a:ahLst/>
              <a:cxnLst/>
              <a:rect l="l" t="t" r="r" b="b"/>
              <a:pathLst>
                <a:path w="439420" h="523875">
                  <a:moveTo>
                    <a:pt x="434363" y="0"/>
                  </a:moveTo>
                  <a:lnTo>
                    <a:pt x="4701" y="0"/>
                  </a:lnTo>
                  <a:lnTo>
                    <a:pt x="0" y="4701"/>
                  </a:lnTo>
                  <a:lnTo>
                    <a:pt x="0" y="518800"/>
                  </a:lnTo>
                  <a:lnTo>
                    <a:pt x="4701" y="523502"/>
                  </a:lnTo>
                  <a:lnTo>
                    <a:pt x="434363" y="523502"/>
                  </a:lnTo>
                  <a:lnTo>
                    <a:pt x="439065" y="518800"/>
                  </a:lnTo>
                  <a:lnTo>
                    <a:pt x="439065" y="474446"/>
                  </a:lnTo>
                  <a:lnTo>
                    <a:pt x="432950" y="476015"/>
                  </a:lnTo>
                  <a:lnTo>
                    <a:pt x="426676" y="477160"/>
                  </a:lnTo>
                  <a:lnTo>
                    <a:pt x="420260" y="477862"/>
                  </a:lnTo>
                  <a:lnTo>
                    <a:pt x="413715" y="478100"/>
                  </a:lnTo>
                  <a:lnTo>
                    <a:pt x="378705" y="471014"/>
                  </a:lnTo>
                  <a:lnTo>
                    <a:pt x="350084" y="451702"/>
                  </a:lnTo>
                  <a:lnTo>
                    <a:pt x="330772" y="423081"/>
                  </a:lnTo>
                  <a:lnTo>
                    <a:pt x="323686" y="388071"/>
                  </a:lnTo>
                  <a:lnTo>
                    <a:pt x="330772" y="353060"/>
                  </a:lnTo>
                  <a:lnTo>
                    <a:pt x="350084" y="324436"/>
                  </a:lnTo>
                  <a:lnTo>
                    <a:pt x="378705" y="305120"/>
                  </a:lnTo>
                  <a:lnTo>
                    <a:pt x="413715" y="298032"/>
                  </a:lnTo>
                  <a:lnTo>
                    <a:pt x="420260" y="298272"/>
                  </a:lnTo>
                  <a:lnTo>
                    <a:pt x="426676" y="298977"/>
                  </a:lnTo>
                  <a:lnTo>
                    <a:pt x="432950" y="300126"/>
                  </a:lnTo>
                  <a:lnTo>
                    <a:pt x="439065" y="301697"/>
                  </a:lnTo>
                  <a:lnTo>
                    <a:pt x="439065" y="4701"/>
                  </a:lnTo>
                  <a:lnTo>
                    <a:pt x="434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133" name="object 133">
              <a:extLst>
                <a:ext uri="{FF2B5EF4-FFF2-40B4-BE49-F238E27FC236}">
                  <a16:creationId xmlns:a16="http://schemas.microsoft.com/office/drawing/2014/main" id="{42367F63-0635-5998-FCCC-BCF4CAD81CF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16728" y="4593689"/>
              <a:ext cx="332528" cy="110297"/>
            </a:xfrm>
            <a:prstGeom prst="rect">
              <a:avLst/>
            </a:prstGeom>
          </p:spPr>
        </p:pic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90F070F4-F3C1-8C92-F1BA-439AA64CA29F}"/>
                </a:ext>
              </a:extLst>
            </p:cNvPr>
            <p:cNvSpPr/>
            <p:nvPr/>
          </p:nvSpPr>
          <p:spPr>
            <a:xfrm>
              <a:off x="10916712" y="4751759"/>
              <a:ext cx="332740" cy="253365"/>
            </a:xfrm>
            <a:custGeom>
              <a:avLst/>
              <a:gdLst/>
              <a:ahLst/>
              <a:cxnLst/>
              <a:rect l="l" t="t" r="r" b="b"/>
              <a:pathLst>
                <a:path w="332740" h="253364">
                  <a:moveTo>
                    <a:pt x="76034" y="167652"/>
                  </a:moveTo>
                  <a:lnTo>
                    <a:pt x="73952" y="157365"/>
                  </a:lnTo>
                  <a:lnTo>
                    <a:pt x="68287" y="148971"/>
                  </a:lnTo>
                  <a:lnTo>
                    <a:pt x="59893" y="143294"/>
                  </a:lnTo>
                  <a:lnTo>
                    <a:pt x="49618" y="141224"/>
                  </a:lnTo>
                  <a:lnTo>
                    <a:pt x="47599" y="141224"/>
                  </a:lnTo>
                  <a:lnTo>
                    <a:pt x="47599" y="130060"/>
                  </a:lnTo>
                  <a:lnTo>
                    <a:pt x="43307" y="125768"/>
                  </a:lnTo>
                  <a:lnTo>
                    <a:pt x="32740" y="125768"/>
                  </a:lnTo>
                  <a:lnTo>
                    <a:pt x="28460" y="130060"/>
                  </a:lnTo>
                  <a:lnTo>
                    <a:pt x="28460" y="141224"/>
                  </a:lnTo>
                  <a:lnTo>
                    <a:pt x="26428" y="141224"/>
                  </a:lnTo>
                  <a:lnTo>
                    <a:pt x="16154" y="143294"/>
                  </a:lnTo>
                  <a:lnTo>
                    <a:pt x="7759" y="148971"/>
                  </a:lnTo>
                  <a:lnTo>
                    <a:pt x="2082" y="157365"/>
                  </a:lnTo>
                  <a:lnTo>
                    <a:pt x="0" y="167652"/>
                  </a:lnTo>
                  <a:lnTo>
                    <a:pt x="0" y="172554"/>
                  </a:lnTo>
                  <a:lnTo>
                    <a:pt x="2082" y="182841"/>
                  </a:lnTo>
                  <a:lnTo>
                    <a:pt x="7759" y="191236"/>
                  </a:lnTo>
                  <a:lnTo>
                    <a:pt x="16154" y="196900"/>
                  </a:lnTo>
                  <a:lnTo>
                    <a:pt x="26428" y="198983"/>
                  </a:lnTo>
                  <a:lnTo>
                    <a:pt x="53632" y="198983"/>
                  </a:lnTo>
                  <a:lnTo>
                    <a:pt x="56896" y="202247"/>
                  </a:lnTo>
                  <a:lnTo>
                    <a:pt x="56896" y="215201"/>
                  </a:lnTo>
                  <a:lnTo>
                    <a:pt x="53632" y="218478"/>
                  </a:lnTo>
                  <a:lnTo>
                    <a:pt x="22415" y="218478"/>
                  </a:lnTo>
                  <a:lnTo>
                    <a:pt x="19151" y="215201"/>
                  </a:lnTo>
                  <a:lnTo>
                    <a:pt x="19151" y="205905"/>
                  </a:lnTo>
                  <a:lnTo>
                    <a:pt x="14859" y="201625"/>
                  </a:lnTo>
                  <a:lnTo>
                    <a:pt x="4292" y="201625"/>
                  </a:lnTo>
                  <a:lnTo>
                    <a:pt x="0" y="205905"/>
                  </a:lnTo>
                  <a:lnTo>
                    <a:pt x="0" y="211201"/>
                  </a:lnTo>
                  <a:lnTo>
                    <a:pt x="2082" y="221462"/>
                  </a:lnTo>
                  <a:lnTo>
                    <a:pt x="7759" y="229870"/>
                  </a:lnTo>
                  <a:lnTo>
                    <a:pt x="16154" y="235534"/>
                  </a:lnTo>
                  <a:lnTo>
                    <a:pt x="26428" y="237617"/>
                  </a:lnTo>
                  <a:lnTo>
                    <a:pt x="28460" y="237617"/>
                  </a:lnTo>
                  <a:lnTo>
                    <a:pt x="28460" y="248780"/>
                  </a:lnTo>
                  <a:lnTo>
                    <a:pt x="32740" y="253072"/>
                  </a:lnTo>
                  <a:lnTo>
                    <a:pt x="43307" y="253072"/>
                  </a:lnTo>
                  <a:lnTo>
                    <a:pt x="47599" y="248780"/>
                  </a:lnTo>
                  <a:lnTo>
                    <a:pt x="47599" y="237617"/>
                  </a:lnTo>
                  <a:lnTo>
                    <a:pt x="49618" y="237617"/>
                  </a:lnTo>
                  <a:lnTo>
                    <a:pt x="59893" y="235534"/>
                  </a:lnTo>
                  <a:lnTo>
                    <a:pt x="68287" y="229870"/>
                  </a:lnTo>
                  <a:lnTo>
                    <a:pt x="73952" y="221462"/>
                  </a:lnTo>
                  <a:lnTo>
                    <a:pt x="76034" y="211201"/>
                  </a:lnTo>
                  <a:lnTo>
                    <a:pt x="76034" y="206273"/>
                  </a:lnTo>
                  <a:lnTo>
                    <a:pt x="73952" y="195999"/>
                  </a:lnTo>
                  <a:lnTo>
                    <a:pt x="68287" y="187591"/>
                  </a:lnTo>
                  <a:lnTo>
                    <a:pt x="59893" y="181927"/>
                  </a:lnTo>
                  <a:lnTo>
                    <a:pt x="49618" y="179844"/>
                  </a:lnTo>
                  <a:lnTo>
                    <a:pt x="22415" y="179844"/>
                  </a:lnTo>
                  <a:lnTo>
                    <a:pt x="19151" y="176580"/>
                  </a:lnTo>
                  <a:lnTo>
                    <a:pt x="19151" y="163626"/>
                  </a:lnTo>
                  <a:lnTo>
                    <a:pt x="22415" y="160362"/>
                  </a:lnTo>
                  <a:lnTo>
                    <a:pt x="26428" y="160362"/>
                  </a:lnTo>
                  <a:lnTo>
                    <a:pt x="53632" y="160362"/>
                  </a:lnTo>
                  <a:lnTo>
                    <a:pt x="56896" y="163626"/>
                  </a:lnTo>
                  <a:lnTo>
                    <a:pt x="56896" y="172935"/>
                  </a:lnTo>
                  <a:lnTo>
                    <a:pt x="61188" y="177215"/>
                  </a:lnTo>
                  <a:lnTo>
                    <a:pt x="71755" y="177215"/>
                  </a:lnTo>
                  <a:lnTo>
                    <a:pt x="76034" y="172935"/>
                  </a:lnTo>
                  <a:lnTo>
                    <a:pt x="76034" y="167652"/>
                  </a:lnTo>
                  <a:close/>
                </a:path>
                <a:path w="332740" h="253364">
                  <a:moveTo>
                    <a:pt x="128371" y="185750"/>
                  </a:moveTo>
                  <a:lnTo>
                    <a:pt x="124079" y="181470"/>
                  </a:lnTo>
                  <a:lnTo>
                    <a:pt x="107797" y="181470"/>
                  </a:lnTo>
                  <a:lnTo>
                    <a:pt x="102514" y="181470"/>
                  </a:lnTo>
                  <a:lnTo>
                    <a:pt x="98234" y="185750"/>
                  </a:lnTo>
                  <a:lnTo>
                    <a:pt x="98234" y="196329"/>
                  </a:lnTo>
                  <a:lnTo>
                    <a:pt x="102514" y="200609"/>
                  </a:lnTo>
                  <a:lnTo>
                    <a:pt x="124079" y="200609"/>
                  </a:lnTo>
                  <a:lnTo>
                    <a:pt x="128371" y="196329"/>
                  </a:lnTo>
                  <a:lnTo>
                    <a:pt x="128371" y="185750"/>
                  </a:lnTo>
                  <a:close/>
                </a:path>
                <a:path w="332740" h="253364">
                  <a:moveTo>
                    <a:pt x="234315" y="95021"/>
                  </a:moveTo>
                  <a:lnTo>
                    <a:pt x="230022" y="90741"/>
                  </a:lnTo>
                  <a:lnTo>
                    <a:pt x="4292" y="90741"/>
                  </a:lnTo>
                  <a:lnTo>
                    <a:pt x="12" y="95021"/>
                  </a:lnTo>
                  <a:lnTo>
                    <a:pt x="12" y="105600"/>
                  </a:lnTo>
                  <a:lnTo>
                    <a:pt x="4292" y="109880"/>
                  </a:lnTo>
                  <a:lnTo>
                    <a:pt x="9575" y="109880"/>
                  </a:lnTo>
                  <a:lnTo>
                    <a:pt x="230022" y="109880"/>
                  </a:lnTo>
                  <a:lnTo>
                    <a:pt x="234315" y="105600"/>
                  </a:lnTo>
                  <a:lnTo>
                    <a:pt x="234315" y="95021"/>
                  </a:lnTo>
                  <a:close/>
                </a:path>
                <a:path w="332740" h="253364">
                  <a:moveTo>
                    <a:pt x="234315" y="49657"/>
                  </a:moveTo>
                  <a:lnTo>
                    <a:pt x="230022" y="45364"/>
                  </a:lnTo>
                  <a:lnTo>
                    <a:pt x="4292" y="45364"/>
                  </a:lnTo>
                  <a:lnTo>
                    <a:pt x="12" y="49657"/>
                  </a:lnTo>
                  <a:lnTo>
                    <a:pt x="12" y="60223"/>
                  </a:lnTo>
                  <a:lnTo>
                    <a:pt x="4292" y="64516"/>
                  </a:lnTo>
                  <a:lnTo>
                    <a:pt x="9575" y="64516"/>
                  </a:lnTo>
                  <a:lnTo>
                    <a:pt x="230022" y="64516"/>
                  </a:lnTo>
                  <a:lnTo>
                    <a:pt x="234315" y="60223"/>
                  </a:lnTo>
                  <a:lnTo>
                    <a:pt x="234315" y="49657"/>
                  </a:lnTo>
                  <a:close/>
                </a:path>
                <a:path w="332740" h="253364">
                  <a:moveTo>
                    <a:pt x="234315" y="4292"/>
                  </a:moveTo>
                  <a:lnTo>
                    <a:pt x="230022" y="0"/>
                  </a:lnTo>
                  <a:lnTo>
                    <a:pt x="4292" y="0"/>
                  </a:lnTo>
                  <a:lnTo>
                    <a:pt x="12" y="4292"/>
                  </a:lnTo>
                  <a:lnTo>
                    <a:pt x="12" y="14859"/>
                  </a:lnTo>
                  <a:lnTo>
                    <a:pt x="4292" y="19138"/>
                  </a:lnTo>
                  <a:lnTo>
                    <a:pt x="9575" y="19138"/>
                  </a:lnTo>
                  <a:lnTo>
                    <a:pt x="230022" y="19138"/>
                  </a:lnTo>
                  <a:lnTo>
                    <a:pt x="234315" y="14859"/>
                  </a:lnTo>
                  <a:lnTo>
                    <a:pt x="234315" y="4292"/>
                  </a:lnTo>
                  <a:close/>
                </a:path>
                <a:path w="332740" h="253364">
                  <a:moveTo>
                    <a:pt x="273304" y="200050"/>
                  </a:moveTo>
                  <a:lnTo>
                    <a:pt x="271754" y="194081"/>
                  </a:lnTo>
                  <a:lnTo>
                    <a:pt x="270814" y="187871"/>
                  </a:lnTo>
                  <a:lnTo>
                    <a:pt x="270522" y="181495"/>
                  </a:lnTo>
                  <a:lnTo>
                    <a:pt x="142430" y="181470"/>
                  </a:lnTo>
                  <a:lnTo>
                    <a:pt x="138137" y="185750"/>
                  </a:lnTo>
                  <a:lnTo>
                    <a:pt x="138137" y="196329"/>
                  </a:lnTo>
                  <a:lnTo>
                    <a:pt x="142430" y="200609"/>
                  </a:lnTo>
                  <a:lnTo>
                    <a:pt x="147713" y="200609"/>
                  </a:lnTo>
                  <a:lnTo>
                    <a:pt x="271233" y="200609"/>
                  </a:lnTo>
                  <a:lnTo>
                    <a:pt x="273304" y="200050"/>
                  </a:lnTo>
                  <a:close/>
                </a:path>
                <a:path w="332740" h="253364">
                  <a:moveTo>
                    <a:pt x="279781" y="137528"/>
                  </a:moveTo>
                  <a:lnTo>
                    <a:pt x="278333" y="136626"/>
                  </a:lnTo>
                  <a:lnTo>
                    <a:pt x="276631" y="136105"/>
                  </a:lnTo>
                  <a:lnTo>
                    <a:pt x="102514" y="136105"/>
                  </a:lnTo>
                  <a:lnTo>
                    <a:pt x="98234" y="140385"/>
                  </a:lnTo>
                  <a:lnTo>
                    <a:pt x="98234" y="150964"/>
                  </a:lnTo>
                  <a:lnTo>
                    <a:pt x="102514" y="155244"/>
                  </a:lnTo>
                  <a:lnTo>
                    <a:pt x="107797" y="155244"/>
                  </a:lnTo>
                  <a:lnTo>
                    <a:pt x="273202" y="155244"/>
                  </a:lnTo>
                  <a:lnTo>
                    <a:pt x="274777" y="149059"/>
                  </a:lnTo>
                  <a:lnTo>
                    <a:pt x="276999" y="143129"/>
                  </a:lnTo>
                  <a:lnTo>
                    <a:pt x="279781" y="137528"/>
                  </a:lnTo>
                  <a:close/>
                </a:path>
                <a:path w="332740" h="253364">
                  <a:moveTo>
                    <a:pt x="298183" y="242379"/>
                  </a:moveTo>
                  <a:lnTo>
                    <a:pt x="293319" y="237705"/>
                  </a:lnTo>
                  <a:lnTo>
                    <a:pt x="288975" y="232498"/>
                  </a:lnTo>
                  <a:lnTo>
                    <a:pt x="285242" y="226834"/>
                  </a:lnTo>
                  <a:lnTo>
                    <a:pt x="102514" y="226834"/>
                  </a:lnTo>
                  <a:lnTo>
                    <a:pt x="98234" y="231114"/>
                  </a:lnTo>
                  <a:lnTo>
                    <a:pt x="98234" y="241693"/>
                  </a:lnTo>
                  <a:lnTo>
                    <a:pt x="102514" y="245973"/>
                  </a:lnTo>
                  <a:lnTo>
                    <a:pt x="107797" y="245973"/>
                  </a:lnTo>
                  <a:lnTo>
                    <a:pt x="293738" y="245973"/>
                  </a:lnTo>
                  <a:lnTo>
                    <a:pt x="296430" y="244563"/>
                  </a:lnTo>
                  <a:lnTo>
                    <a:pt x="298183" y="242379"/>
                  </a:lnTo>
                  <a:close/>
                </a:path>
                <a:path w="332740" h="253364">
                  <a:moveTo>
                    <a:pt x="320446" y="96824"/>
                  </a:moveTo>
                  <a:lnTo>
                    <a:pt x="319062" y="93256"/>
                  </a:lnTo>
                  <a:lnTo>
                    <a:pt x="315607" y="90741"/>
                  </a:lnTo>
                  <a:lnTo>
                    <a:pt x="252831" y="90741"/>
                  </a:lnTo>
                  <a:lnTo>
                    <a:pt x="248551" y="95021"/>
                  </a:lnTo>
                  <a:lnTo>
                    <a:pt x="248551" y="105600"/>
                  </a:lnTo>
                  <a:lnTo>
                    <a:pt x="252831" y="109880"/>
                  </a:lnTo>
                  <a:lnTo>
                    <a:pt x="258114" y="109880"/>
                  </a:lnTo>
                  <a:lnTo>
                    <a:pt x="301053" y="109880"/>
                  </a:lnTo>
                  <a:lnTo>
                    <a:pt x="306895" y="104724"/>
                  </a:lnTo>
                  <a:lnTo>
                    <a:pt x="313410" y="100330"/>
                  </a:lnTo>
                  <a:lnTo>
                    <a:pt x="320446" y="96824"/>
                  </a:lnTo>
                  <a:close/>
                </a:path>
                <a:path w="332740" h="253364">
                  <a:moveTo>
                    <a:pt x="332536" y="49657"/>
                  </a:moveTo>
                  <a:lnTo>
                    <a:pt x="328256" y="45377"/>
                  </a:lnTo>
                  <a:lnTo>
                    <a:pt x="322961" y="45377"/>
                  </a:lnTo>
                  <a:lnTo>
                    <a:pt x="252831" y="45377"/>
                  </a:lnTo>
                  <a:lnTo>
                    <a:pt x="248551" y="49657"/>
                  </a:lnTo>
                  <a:lnTo>
                    <a:pt x="248551" y="60236"/>
                  </a:lnTo>
                  <a:lnTo>
                    <a:pt x="252831" y="64516"/>
                  </a:lnTo>
                  <a:lnTo>
                    <a:pt x="328256" y="64516"/>
                  </a:lnTo>
                  <a:lnTo>
                    <a:pt x="332536" y="60236"/>
                  </a:lnTo>
                  <a:lnTo>
                    <a:pt x="332536" y="49657"/>
                  </a:lnTo>
                  <a:close/>
                </a:path>
                <a:path w="332740" h="253364">
                  <a:moveTo>
                    <a:pt x="332536" y="4292"/>
                  </a:moveTo>
                  <a:lnTo>
                    <a:pt x="328256" y="12"/>
                  </a:lnTo>
                  <a:lnTo>
                    <a:pt x="322961" y="12"/>
                  </a:lnTo>
                  <a:lnTo>
                    <a:pt x="252831" y="12"/>
                  </a:lnTo>
                  <a:lnTo>
                    <a:pt x="248551" y="4292"/>
                  </a:lnTo>
                  <a:lnTo>
                    <a:pt x="248551" y="14859"/>
                  </a:lnTo>
                  <a:lnTo>
                    <a:pt x="252831" y="19151"/>
                  </a:lnTo>
                  <a:lnTo>
                    <a:pt x="328256" y="19151"/>
                  </a:lnTo>
                  <a:lnTo>
                    <a:pt x="332536" y="14859"/>
                  </a:lnTo>
                  <a:lnTo>
                    <a:pt x="332536" y="4292"/>
                  </a:lnTo>
                  <a:close/>
                </a:path>
              </a:pathLst>
            </a:custGeom>
            <a:solidFill>
              <a:srgbClr val="DED5E8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C7EAC013-5ED4-AEB3-902A-3611592966D2}"/>
                </a:ext>
              </a:extLst>
            </p:cNvPr>
            <p:cNvSpPr/>
            <p:nvPr/>
          </p:nvSpPr>
          <p:spPr>
            <a:xfrm>
              <a:off x="11185825" y="483784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91348" y="0"/>
                  </a:moveTo>
                  <a:lnTo>
                    <a:pt x="55791" y="7178"/>
                  </a:lnTo>
                  <a:lnTo>
                    <a:pt x="26755" y="26755"/>
                  </a:lnTo>
                  <a:lnTo>
                    <a:pt x="7178" y="55791"/>
                  </a:lnTo>
                  <a:lnTo>
                    <a:pt x="0" y="91348"/>
                  </a:lnTo>
                  <a:lnTo>
                    <a:pt x="7178" y="126904"/>
                  </a:lnTo>
                  <a:lnTo>
                    <a:pt x="26755" y="155940"/>
                  </a:lnTo>
                  <a:lnTo>
                    <a:pt x="55791" y="175517"/>
                  </a:lnTo>
                  <a:lnTo>
                    <a:pt x="91348" y="182696"/>
                  </a:lnTo>
                  <a:lnTo>
                    <a:pt x="126904" y="175517"/>
                  </a:lnTo>
                  <a:lnTo>
                    <a:pt x="155940" y="155940"/>
                  </a:lnTo>
                  <a:lnTo>
                    <a:pt x="175517" y="126904"/>
                  </a:lnTo>
                  <a:lnTo>
                    <a:pt x="182696" y="91348"/>
                  </a:lnTo>
                  <a:lnTo>
                    <a:pt x="175517" y="55791"/>
                  </a:lnTo>
                  <a:lnTo>
                    <a:pt x="155940" y="26755"/>
                  </a:lnTo>
                  <a:lnTo>
                    <a:pt x="126904" y="7178"/>
                  </a:lnTo>
                  <a:lnTo>
                    <a:pt x="91348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EF9C3F47-85E3-0AF5-4C5A-BCE9AF75B71E}"/>
                </a:ext>
              </a:extLst>
            </p:cNvPr>
            <p:cNvSpPr/>
            <p:nvPr/>
          </p:nvSpPr>
          <p:spPr>
            <a:xfrm>
              <a:off x="11236600" y="48886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81140" y="7467"/>
                  </a:moveTo>
                  <a:lnTo>
                    <a:pt x="73660" y="12"/>
                  </a:lnTo>
                  <a:lnTo>
                    <a:pt x="67614" y="12"/>
                  </a:lnTo>
                  <a:lnTo>
                    <a:pt x="40563" y="27051"/>
                  </a:lnTo>
                  <a:lnTo>
                    <a:pt x="13525" y="0"/>
                  </a:lnTo>
                  <a:lnTo>
                    <a:pt x="7467" y="0"/>
                  </a:lnTo>
                  <a:lnTo>
                    <a:pt x="0" y="7480"/>
                  </a:lnTo>
                  <a:lnTo>
                    <a:pt x="0" y="13525"/>
                  </a:lnTo>
                  <a:lnTo>
                    <a:pt x="27038" y="40576"/>
                  </a:lnTo>
                  <a:lnTo>
                    <a:pt x="0" y="67614"/>
                  </a:lnTo>
                  <a:lnTo>
                    <a:pt x="0" y="73672"/>
                  </a:lnTo>
                  <a:lnTo>
                    <a:pt x="7467" y="81140"/>
                  </a:lnTo>
                  <a:lnTo>
                    <a:pt x="13525" y="81140"/>
                  </a:lnTo>
                  <a:lnTo>
                    <a:pt x="17272" y="77406"/>
                  </a:lnTo>
                  <a:lnTo>
                    <a:pt x="40576" y="54102"/>
                  </a:lnTo>
                  <a:lnTo>
                    <a:pt x="67614" y="81140"/>
                  </a:lnTo>
                  <a:lnTo>
                    <a:pt x="73660" y="81140"/>
                  </a:lnTo>
                  <a:lnTo>
                    <a:pt x="81140" y="73660"/>
                  </a:lnTo>
                  <a:lnTo>
                    <a:pt x="81140" y="67614"/>
                  </a:lnTo>
                  <a:lnTo>
                    <a:pt x="77406" y="63881"/>
                  </a:lnTo>
                  <a:lnTo>
                    <a:pt x="54102" y="40576"/>
                  </a:lnTo>
                  <a:lnTo>
                    <a:pt x="81140" y="13538"/>
                  </a:lnTo>
                  <a:lnTo>
                    <a:pt x="81140" y="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92E0EE7D-5E35-98E2-4C72-11505447C67D}"/>
                </a:ext>
              </a:extLst>
            </p:cNvPr>
            <p:cNvSpPr/>
            <p:nvPr/>
          </p:nvSpPr>
          <p:spPr>
            <a:xfrm>
              <a:off x="10880073" y="5646474"/>
              <a:ext cx="387350" cy="255270"/>
            </a:xfrm>
            <a:custGeom>
              <a:avLst/>
              <a:gdLst/>
              <a:ahLst/>
              <a:cxnLst/>
              <a:rect l="l" t="t" r="r" b="b"/>
              <a:pathLst>
                <a:path w="387350" h="255270">
                  <a:moveTo>
                    <a:pt x="57962" y="0"/>
                  </a:moveTo>
                  <a:lnTo>
                    <a:pt x="0" y="0"/>
                  </a:lnTo>
                  <a:lnTo>
                    <a:pt x="0" y="254723"/>
                  </a:lnTo>
                  <a:lnTo>
                    <a:pt x="57962" y="254723"/>
                  </a:lnTo>
                  <a:lnTo>
                    <a:pt x="57962" y="0"/>
                  </a:lnTo>
                  <a:close/>
                </a:path>
                <a:path w="387350" h="255270">
                  <a:moveTo>
                    <a:pt x="167741" y="0"/>
                  </a:moveTo>
                  <a:lnTo>
                    <a:pt x="109778" y="0"/>
                  </a:lnTo>
                  <a:lnTo>
                    <a:pt x="109778" y="254723"/>
                  </a:lnTo>
                  <a:lnTo>
                    <a:pt x="167741" y="254723"/>
                  </a:lnTo>
                  <a:lnTo>
                    <a:pt x="167741" y="0"/>
                  </a:lnTo>
                  <a:close/>
                </a:path>
                <a:path w="387350" h="255270">
                  <a:moveTo>
                    <a:pt x="277520" y="0"/>
                  </a:moveTo>
                  <a:lnTo>
                    <a:pt x="219557" y="0"/>
                  </a:lnTo>
                  <a:lnTo>
                    <a:pt x="219557" y="254723"/>
                  </a:lnTo>
                  <a:lnTo>
                    <a:pt x="277520" y="254723"/>
                  </a:lnTo>
                  <a:lnTo>
                    <a:pt x="277520" y="0"/>
                  </a:lnTo>
                  <a:close/>
                </a:path>
                <a:path w="387350" h="255270">
                  <a:moveTo>
                    <a:pt x="387286" y="0"/>
                  </a:moveTo>
                  <a:lnTo>
                    <a:pt x="329323" y="0"/>
                  </a:lnTo>
                  <a:lnTo>
                    <a:pt x="329323" y="254723"/>
                  </a:lnTo>
                  <a:lnTo>
                    <a:pt x="387286" y="254723"/>
                  </a:lnTo>
                  <a:lnTo>
                    <a:pt x="387286" y="0"/>
                  </a:lnTo>
                  <a:close/>
                </a:path>
              </a:pathLst>
            </a:custGeom>
            <a:solidFill>
              <a:srgbClr val="AE9BC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63F342B5-8418-A810-3BF8-D901CE1C06DD}"/>
                </a:ext>
              </a:extLst>
            </p:cNvPr>
            <p:cNvSpPr/>
            <p:nvPr/>
          </p:nvSpPr>
          <p:spPr>
            <a:xfrm>
              <a:off x="10826390" y="5588499"/>
              <a:ext cx="494665" cy="351790"/>
            </a:xfrm>
            <a:custGeom>
              <a:avLst/>
              <a:gdLst/>
              <a:ahLst/>
              <a:cxnLst/>
              <a:rect l="l" t="t" r="r" b="b"/>
              <a:pathLst>
                <a:path w="494665" h="351789">
                  <a:moveTo>
                    <a:pt x="460286" y="6489"/>
                  </a:moveTo>
                  <a:lnTo>
                    <a:pt x="453796" y="0"/>
                  </a:lnTo>
                  <a:lnTo>
                    <a:pt x="40843" y="0"/>
                  </a:lnTo>
                  <a:lnTo>
                    <a:pt x="34353" y="6489"/>
                  </a:lnTo>
                  <a:lnTo>
                    <a:pt x="34353" y="80467"/>
                  </a:lnTo>
                  <a:lnTo>
                    <a:pt x="40843" y="86956"/>
                  </a:lnTo>
                  <a:lnTo>
                    <a:pt x="445795" y="86956"/>
                  </a:lnTo>
                  <a:lnTo>
                    <a:pt x="453796" y="86956"/>
                  </a:lnTo>
                  <a:lnTo>
                    <a:pt x="460286" y="80467"/>
                  </a:lnTo>
                  <a:lnTo>
                    <a:pt x="460286" y="6489"/>
                  </a:lnTo>
                  <a:close/>
                </a:path>
                <a:path w="494665" h="351789">
                  <a:moveTo>
                    <a:pt x="494652" y="290220"/>
                  </a:moveTo>
                  <a:lnTo>
                    <a:pt x="488162" y="283718"/>
                  </a:lnTo>
                  <a:lnTo>
                    <a:pt x="6489" y="283718"/>
                  </a:lnTo>
                  <a:lnTo>
                    <a:pt x="0" y="290220"/>
                  </a:lnTo>
                  <a:lnTo>
                    <a:pt x="0" y="344855"/>
                  </a:lnTo>
                  <a:lnTo>
                    <a:pt x="6489" y="351358"/>
                  </a:lnTo>
                  <a:lnTo>
                    <a:pt x="480161" y="351358"/>
                  </a:lnTo>
                  <a:lnTo>
                    <a:pt x="488162" y="351358"/>
                  </a:lnTo>
                  <a:lnTo>
                    <a:pt x="494652" y="344855"/>
                  </a:lnTo>
                  <a:lnTo>
                    <a:pt x="494652" y="290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13C3F3BB-A83F-1218-765C-9FEDC3A1664B}"/>
                </a:ext>
              </a:extLst>
            </p:cNvPr>
            <p:cNvSpPr/>
            <p:nvPr/>
          </p:nvSpPr>
          <p:spPr>
            <a:xfrm>
              <a:off x="10840874" y="5459660"/>
              <a:ext cx="466090" cy="143510"/>
            </a:xfrm>
            <a:custGeom>
              <a:avLst/>
              <a:gdLst/>
              <a:ahLst/>
              <a:cxnLst/>
              <a:rect l="l" t="t" r="r" b="b"/>
              <a:pathLst>
                <a:path w="466090" h="143510">
                  <a:moveTo>
                    <a:pt x="232841" y="0"/>
                  </a:moveTo>
                  <a:lnTo>
                    <a:pt x="0" y="143325"/>
                  </a:lnTo>
                  <a:lnTo>
                    <a:pt x="465692" y="143325"/>
                  </a:lnTo>
                  <a:lnTo>
                    <a:pt x="232841" y="0"/>
                  </a:lnTo>
                  <a:close/>
                </a:path>
              </a:pathLst>
            </a:custGeom>
            <a:solidFill>
              <a:srgbClr val="DED5E8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0C377F75-8572-00EA-B34E-AE314832C9BD}"/>
                </a:ext>
              </a:extLst>
            </p:cNvPr>
            <p:cNvSpPr/>
            <p:nvPr/>
          </p:nvSpPr>
          <p:spPr>
            <a:xfrm>
              <a:off x="10825166" y="5444455"/>
              <a:ext cx="497205" cy="173355"/>
            </a:xfrm>
            <a:custGeom>
              <a:avLst/>
              <a:gdLst/>
              <a:ahLst/>
              <a:cxnLst/>
              <a:rect l="l" t="t" r="r" b="b"/>
              <a:pathLst>
                <a:path w="497204" h="173354">
                  <a:moveTo>
                    <a:pt x="251489" y="0"/>
                  </a:moveTo>
                  <a:lnTo>
                    <a:pt x="245615" y="0"/>
                  </a:lnTo>
                  <a:lnTo>
                    <a:pt x="2586" y="149587"/>
                  </a:lnTo>
                  <a:lnTo>
                    <a:pt x="0" y="156236"/>
                  </a:lnTo>
                  <a:lnTo>
                    <a:pt x="3528" y="168717"/>
                  </a:lnTo>
                  <a:lnTo>
                    <a:pt x="9224" y="173020"/>
                  </a:lnTo>
                  <a:lnTo>
                    <a:pt x="487880" y="173020"/>
                  </a:lnTo>
                  <a:lnTo>
                    <a:pt x="493576" y="168717"/>
                  </a:lnTo>
                  <a:lnTo>
                    <a:pt x="497115" y="156236"/>
                  </a:lnTo>
                  <a:lnTo>
                    <a:pt x="494518" y="149587"/>
                  </a:lnTo>
                  <a:lnTo>
                    <a:pt x="485502" y="144037"/>
                  </a:lnTo>
                  <a:lnTo>
                    <a:pt x="66898" y="144037"/>
                  </a:lnTo>
                  <a:lnTo>
                    <a:pt x="248557" y="32218"/>
                  </a:lnTo>
                  <a:lnTo>
                    <a:pt x="303834" y="32218"/>
                  </a:lnTo>
                  <a:lnTo>
                    <a:pt x="251489" y="0"/>
                  </a:lnTo>
                  <a:close/>
                </a:path>
                <a:path w="497204" h="173354">
                  <a:moveTo>
                    <a:pt x="303834" y="32218"/>
                  </a:moveTo>
                  <a:lnTo>
                    <a:pt x="248557" y="32218"/>
                  </a:lnTo>
                  <a:lnTo>
                    <a:pt x="430206" y="144037"/>
                  </a:lnTo>
                  <a:lnTo>
                    <a:pt x="485502" y="144037"/>
                  </a:lnTo>
                  <a:lnTo>
                    <a:pt x="303834" y="32218"/>
                  </a:lnTo>
                  <a:close/>
                </a:path>
              </a:pathLst>
            </a:custGeom>
            <a:solidFill>
              <a:srgbClr val="AE9BC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0A029DD1-5D55-748D-C321-0FD50FDA4C0A}"/>
                </a:ext>
              </a:extLst>
            </p:cNvPr>
            <p:cNvSpPr/>
            <p:nvPr/>
          </p:nvSpPr>
          <p:spPr>
            <a:xfrm>
              <a:off x="11049376" y="5530412"/>
              <a:ext cx="48895" cy="29209"/>
            </a:xfrm>
            <a:custGeom>
              <a:avLst/>
              <a:gdLst/>
              <a:ahLst/>
              <a:cxnLst/>
              <a:rect l="l" t="t" r="r" b="b"/>
              <a:pathLst>
                <a:path w="48895" h="29210">
                  <a:moveTo>
                    <a:pt x="42197" y="0"/>
                  </a:moveTo>
                  <a:lnTo>
                    <a:pt x="6491" y="0"/>
                  </a:lnTo>
                  <a:lnTo>
                    <a:pt x="0" y="6491"/>
                  </a:lnTo>
                  <a:lnTo>
                    <a:pt x="0" y="22491"/>
                  </a:lnTo>
                  <a:lnTo>
                    <a:pt x="6491" y="28983"/>
                  </a:lnTo>
                  <a:lnTo>
                    <a:pt x="34197" y="28983"/>
                  </a:lnTo>
                  <a:lnTo>
                    <a:pt x="42197" y="28983"/>
                  </a:lnTo>
                  <a:lnTo>
                    <a:pt x="48689" y="22491"/>
                  </a:lnTo>
                  <a:lnTo>
                    <a:pt x="48689" y="6491"/>
                  </a:lnTo>
                  <a:lnTo>
                    <a:pt x="42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142" name="object 142">
              <a:extLst>
                <a:ext uri="{FF2B5EF4-FFF2-40B4-BE49-F238E27FC236}">
                  <a16:creationId xmlns:a16="http://schemas.microsoft.com/office/drawing/2014/main" id="{F060213E-D9B9-2C3B-C68B-65D89E6D22D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76013" y="5780868"/>
              <a:ext cx="182696" cy="182696"/>
            </a:xfrm>
            <a:prstGeom prst="rect">
              <a:avLst/>
            </a:prstGeom>
          </p:spPr>
        </p:pic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B0406BBA-2405-3AF3-1164-8EFC007910EA}"/>
                </a:ext>
              </a:extLst>
            </p:cNvPr>
            <p:cNvSpPr/>
            <p:nvPr/>
          </p:nvSpPr>
          <p:spPr>
            <a:xfrm>
              <a:off x="10913669" y="6408303"/>
              <a:ext cx="320675" cy="278130"/>
            </a:xfrm>
            <a:custGeom>
              <a:avLst/>
              <a:gdLst/>
              <a:ahLst/>
              <a:cxnLst/>
              <a:rect l="l" t="t" r="r" b="b"/>
              <a:pathLst>
                <a:path w="320675" h="278129">
                  <a:moveTo>
                    <a:pt x="240076" y="0"/>
                  </a:moveTo>
                  <a:lnTo>
                    <a:pt x="213512" y="3750"/>
                  </a:lnTo>
                  <a:lnTo>
                    <a:pt x="192571" y="15002"/>
                  </a:lnTo>
                  <a:lnTo>
                    <a:pt x="175377" y="33757"/>
                  </a:lnTo>
                  <a:lnTo>
                    <a:pt x="160057" y="60019"/>
                  </a:lnTo>
                  <a:lnTo>
                    <a:pt x="144737" y="33768"/>
                  </a:lnTo>
                  <a:lnTo>
                    <a:pt x="127541" y="15013"/>
                  </a:lnTo>
                  <a:lnTo>
                    <a:pt x="106594" y="3757"/>
                  </a:lnTo>
                  <a:lnTo>
                    <a:pt x="80018" y="0"/>
                  </a:lnTo>
                  <a:lnTo>
                    <a:pt x="48878" y="6290"/>
                  </a:lnTo>
                  <a:lnTo>
                    <a:pt x="23443" y="23443"/>
                  </a:lnTo>
                  <a:lnTo>
                    <a:pt x="6290" y="48878"/>
                  </a:lnTo>
                  <a:lnTo>
                    <a:pt x="0" y="80018"/>
                  </a:lnTo>
                  <a:lnTo>
                    <a:pt x="6298" y="116911"/>
                  </a:lnTo>
                  <a:lnTo>
                    <a:pt x="23711" y="149120"/>
                  </a:lnTo>
                  <a:lnTo>
                    <a:pt x="50016" y="178988"/>
                  </a:lnTo>
                  <a:lnTo>
                    <a:pt x="82989" y="208854"/>
                  </a:lnTo>
                  <a:lnTo>
                    <a:pt x="120407" y="241061"/>
                  </a:lnTo>
                  <a:lnTo>
                    <a:pt x="160047" y="277949"/>
                  </a:lnTo>
                  <a:lnTo>
                    <a:pt x="199690" y="241052"/>
                  </a:lnTo>
                  <a:lnTo>
                    <a:pt x="237109" y="208840"/>
                  </a:lnTo>
                  <a:lnTo>
                    <a:pt x="270082" y="178972"/>
                  </a:lnTo>
                  <a:lnTo>
                    <a:pt x="296385" y="149106"/>
                  </a:lnTo>
                  <a:lnTo>
                    <a:pt x="313797" y="116902"/>
                  </a:lnTo>
                  <a:lnTo>
                    <a:pt x="320094" y="80018"/>
                  </a:lnTo>
                  <a:lnTo>
                    <a:pt x="313802" y="48878"/>
                  </a:lnTo>
                  <a:lnTo>
                    <a:pt x="296648" y="23443"/>
                  </a:lnTo>
                  <a:lnTo>
                    <a:pt x="271211" y="6290"/>
                  </a:lnTo>
                  <a:lnTo>
                    <a:pt x="240076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144" name="object 144">
              <a:extLst>
                <a:ext uri="{FF2B5EF4-FFF2-40B4-BE49-F238E27FC236}">
                  <a16:creationId xmlns:a16="http://schemas.microsoft.com/office/drawing/2014/main" id="{D3D65059-FE7D-83AC-E436-FD3F8EEECEB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12933" y="6496969"/>
              <a:ext cx="121587" cy="121587"/>
            </a:xfrm>
            <a:prstGeom prst="rect">
              <a:avLst/>
            </a:prstGeom>
          </p:spPr>
        </p:pic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0D6CAA02-75DF-EB3B-9CFB-633749D5134D}"/>
                </a:ext>
              </a:extLst>
            </p:cNvPr>
            <p:cNvSpPr/>
            <p:nvPr/>
          </p:nvSpPr>
          <p:spPr>
            <a:xfrm>
              <a:off x="11100350" y="6472220"/>
              <a:ext cx="260985" cy="357505"/>
            </a:xfrm>
            <a:custGeom>
              <a:avLst/>
              <a:gdLst/>
              <a:ahLst/>
              <a:cxnLst/>
              <a:rect l="l" t="t" r="r" b="b"/>
              <a:pathLst>
                <a:path w="260984" h="357504">
                  <a:moveTo>
                    <a:pt x="223605" y="0"/>
                  </a:moveTo>
                  <a:lnTo>
                    <a:pt x="209138" y="2941"/>
                  </a:lnTo>
                  <a:lnTo>
                    <a:pt x="197288" y="10949"/>
                  </a:lnTo>
                  <a:lnTo>
                    <a:pt x="189281" y="22802"/>
                  </a:lnTo>
                  <a:lnTo>
                    <a:pt x="186339" y="37276"/>
                  </a:lnTo>
                  <a:lnTo>
                    <a:pt x="186339" y="145817"/>
                  </a:lnTo>
                  <a:lnTo>
                    <a:pt x="175843" y="146123"/>
                  </a:lnTo>
                  <a:lnTo>
                    <a:pt x="164339" y="149625"/>
                  </a:lnTo>
                  <a:lnTo>
                    <a:pt x="152047" y="156756"/>
                  </a:lnTo>
                  <a:lnTo>
                    <a:pt x="139189" y="167953"/>
                  </a:lnTo>
                  <a:lnTo>
                    <a:pt x="125821" y="180557"/>
                  </a:lnTo>
                  <a:lnTo>
                    <a:pt x="108012" y="194283"/>
                  </a:lnTo>
                  <a:lnTo>
                    <a:pt x="86999" y="205961"/>
                  </a:lnTo>
                  <a:lnTo>
                    <a:pt x="64018" y="212422"/>
                  </a:lnTo>
                  <a:lnTo>
                    <a:pt x="38627" y="216316"/>
                  </a:lnTo>
                  <a:lnTo>
                    <a:pt x="19259" y="224159"/>
                  </a:lnTo>
                  <a:lnTo>
                    <a:pt x="6267" y="240183"/>
                  </a:lnTo>
                  <a:lnTo>
                    <a:pt x="0" y="268620"/>
                  </a:lnTo>
                  <a:lnTo>
                    <a:pt x="0" y="357140"/>
                  </a:lnTo>
                  <a:lnTo>
                    <a:pt x="111808" y="357140"/>
                  </a:lnTo>
                  <a:lnTo>
                    <a:pt x="183912" y="324267"/>
                  </a:lnTo>
                  <a:lnTo>
                    <a:pt x="227980" y="286609"/>
                  </a:lnTo>
                  <a:lnTo>
                    <a:pt x="250904" y="250797"/>
                  </a:lnTo>
                  <a:lnTo>
                    <a:pt x="259573" y="223460"/>
                  </a:lnTo>
                  <a:lnTo>
                    <a:pt x="260882" y="211229"/>
                  </a:lnTo>
                  <a:lnTo>
                    <a:pt x="260882" y="37276"/>
                  </a:lnTo>
                  <a:lnTo>
                    <a:pt x="257940" y="22802"/>
                  </a:lnTo>
                  <a:lnTo>
                    <a:pt x="249932" y="10949"/>
                  </a:lnTo>
                  <a:lnTo>
                    <a:pt x="238079" y="2941"/>
                  </a:lnTo>
                  <a:lnTo>
                    <a:pt x="223605" y="0"/>
                  </a:lnTo>
                  <a:close/>
                </a:path>
              </a:pathLst>
            </a:custGeom>
            <a:solidFill>
              <a:srgbClr val="AE9BC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146" name="object 146">
              <a:extLst>
                <a:ext uri="{FF2B5EF4-FFF2-40B4-BE49-F238E27FC236}">
                  <a16:creationId xmlns:a16="http://schemas.microsoft.com/office/drawing/2014/main" id="{BB9A35C3-C9F9-032C-2A89-4717C9CCDF9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33950" y="6607030"/>
              <a:ext cx="84153" cy="131723"/>
            </a:xfrm>
            <a:prstGeom prst="rect">
              <a:avLst/>
            </a:prstGeom>
          </p:spPr>
        </p:pic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DE2E63F0-6280-E721-9540-946A198F4748}"/>
                </a:ext>
              </a:extLst>
            </p:cNvPr>
            <p:cNvSpPr/>
            <p:nvPr/>
          </p:nvSpPr>
          <p:spPr>
            <a:xfrm>
              <a:off x="11100352" y="6829348"/>
              <a:ext cx="191770" cy="67310"/>
            </a:xfrm>
            <a:custGeom>
              <a:avLst/>
              <a:gdLst/>
              <a:ahLst/>
              <a:cxnLst/>
              <a:rect l="l" t="t" r="r" b="b"/>
              <a:pathLst>
                <a:path w="191770" h="67310">
                  <a:moveTo>
                    <a:pt x="191271" y="0"/>
                  </a:moveTo>
                  <a:lnTo>
                    <a:pt x="0" y="0"/>
                  </a:lnTo>
                  <a:lnTo>
                    <a:pt x="0" y="66814"/>
                  </a:lnTo>
                  <a:lnTo>
                    <a:pt x="191271" y="66814"/>
                  </a:lnTo>
                  <a:lnTo>
                    <a:pt x="1912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D32AD0EB-5867-E0D8-D3EF-16AA4382EC68}"/>
                </a:ext>
              </a:extLst>
            </p:cNvPr>
            <p:cNvSpPr/>
            <p:nvPr/>
          </p:nvSpPr>
          <p:spPr>
            <a:xfrm>
              <a:off x="10786207" y="6472215"/>
              <a:ext cx="487045" cy="407034"/>
            </a:xfrm>
            <a:custGeom>
              <a:avLst/>
              <a:gdLst/>
              <a:ahLst/>
              <a:cxnLst/>
              <a:rect l="l" t="t" r="r" b="b"/>
              <a:pathLst>
                <a:path w="487045" h="407035">
                  <a:moveTo>
                    <a:pt x="260896" y="268630"/>
                  </a:moveTo>
                  <a:lnTo>
                    <a:pt x="254622" y="240195"/>
                  </a:lnTo>
                  <a:lnTo>
                    <a:pt x="241630" y="224167"/>
                  </a:lnTo>
                  <a:lnTo>
                    <a:pt x="222262" y="216319"/>
                  </a:lnTo>
                  <a:lnTo>
                    <a:pt x="196862" y="212407"/>
                  </a:lnTo>
                  <a:lnTo>
                    <a:pt x="173875" y="205955"/>
                  </a:lnTo>
                  <a:lnTo>
                    <a:pt x="152869" y="194271"/>
                  </a:lnTo>
                  <a:lnTo>
                    <a:pt x="135064" y="180555"/>
                  </a:lnTo>
                  <a:lnTo>
                    <a:pt x="121691" y="167957"/>
                  </a:lnTo>
                  <a:lnTo>
                    <a:pt x="108826" y="156756"/>
                  </a:lnTo>
                  <a:lnTo>
                    <a:pt x="96532" y="149618"/>
                  </a:lnTo>
                  <a:lnTo>
                    <a:pt x="85026" y="146126"/>
                  </a:lnTo>
                  <a:lnTo>
                    <a:pt x="74536" y="145821"/>
                  </a:lnTo>
                  <a:lnTo>
                    <a:pt x="74536" y="37274"/>
                  </a:lnTo>
                  <a:lnTo>
                    <a:pt x="71602" y="22796"/>
                  </a:lnTo>
                  <a:lnTo>
                    <a:pt x="63588" y="10947"/>
                  </a:lnTo>
                  <a:lnTo>
                    <a:pt x="51739" y="2946"/>
                  </a:lnTo>
                  <a:lnTo>
                    <a:pt x="37261" y="0"/>
                  </a:lnTo>
                  <a:lnTo>
                    <a:pt x="22796" y="2946"/>
                  </a:lnTo>
                  <a:lnTo>
                    <a:pt x="10947" y="10947"/>
                  </a:lnTo>
                  <a:lnTo>
                    <a:pt x="2933" y="22796"/>
                  </a:lnTo>
                  <a:lnTo>
                    <a:pt x="0" y="37274"/>
                  </a:lnTo>
                  <a:lnTo>
                    <a:pt x="0" y="211226"/>
                  </a:lnTo>
                  <a:lnTo>
                    <a:pt x="9982" y="250799"/>
                  </a:lnTo>
                  <a:lnTo>
                    <a:pt x="32905" y="286613"/>
                  </a:lnTo>
                  <a:lnTo>
                    <a:pt x="76974" y="324281"/>
                  </a:lnTo>
                  <a:lnTo>
                    <a:pt x="149085" y="357149"/>
                  </a:lnTo>
                  <a:lnTo>
                    <a:pt x="260896" y="357149"/>
                  </a:lnTo>
                  <a:lnTo>
                    <a:pt x="260896" y="268630"/>
                  </a:lnTo>
                  <a:close/>
                </a:path>
                <a:path w="487045" h="407035">
                  <a:moveTo>
                    <a:pt x="486422" y="392849"/>
                  </a:moveTo>
                  <a:lnTo>
                    <a:pt x="484416" y="385318"/>
                  </a:lnTo>
                  <a:lnTo>
                    <a:pt x="472630" y="378523"/>
                  </a:lnTo>
                  <a:lnTo>
                    <a:pt x="465099" y="380530"/>
                  </a:lnTo>
                  <a:lnTo>
                    <a:pt x="461695" y="386422"/>
                  </a:lnTo>
                  <a:lnTo>
                    <a:pt x="458292" y="392315"/>
                  </a:lnTo>
                  <a:lnTo>
                    <a:pt x="460311" y="399859"/>
                  </a:lnTo>
                  <a:lnTo>
                    <a:pt x="472084" y="406641"/>
                  </a:lnTo>
                  <a:lnTo>
                    <a:pt x="479615" y="404634"/>
                  </a:lnTo>
                  <a:lnTo>
                    <a:pt x="486422" y="392849"/>
                  </a:lnTo>
                  <a:close/>
                </a:path>
              </a:pathLst>
            </a:custGeom>
            <a:solidFill>
              <a:srgbClr val="AE9BC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149" name="object 149">
              <a:extLst>
                <a:ext uri="{FF2B5EF4-FFF2-40B4-BE49-F238E27FC236}">
                  <a16:creationId xmlns:a16="http://schemas.microsoft.com/office/drawing/2014/main" id="{6894C4FB-30DD-FA24-B576-413A2E5D42B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29353" y="6607030"/>
              <a:ext cx="84153" cy="131723"/>
            </a:xfrm>
            <a:prstGeom prst="rect">
              <a:avLst/>
            </a:prstGeom>
          </p:spPr>
        </p:pic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18A8E253-162E-104B-58C8-113E9C69087B}"/>
                </a:ext>
              </a:extLst>
            </p:cNvPr>
            <p:cNvSpPr/>
            <p:nvPr/>
          </p:nvSpPr>
          <p:spPr>
            <a:xfrm>
              <a:off x="10855836" y="6829348"/>
              <a:ext cx="191770" cy="67310"/>
            </a:xfrm>
            <a:custGeom>
              <a:avLst/>
              <a:gdLst/>
              <a:ahLst/>
              <a:cxnLst/>
              <a:rect l="l" t="t" r="r" b="b"/>
              <a:pathLst>
                <a:path w="191770" h="67310">
                  <a:moveTo>
                    <a:pt x="191271" y="0"/>
                  </a:moveTo>
                  <a:lnTo>
                    <a:pt x="0" y="0"/>
                  </a:lnTo>
                  <a:lnTo>
                    <a:pt x="0" y="66814"/>
                  </a:lnTo>
                  <a:lnTo>
                    <a:pt x="191271" y="66814"/>
                  </a:lnTo>
                  <a:lnTo>
                    <a:pt x="1912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C502C7C7-2156-58B5-687E-B35F91B58A14}"/>
                </a:ext>
              </a:extLst>
            </p:cNvPr>
            <p:cNvSpPr/>
            <p:nvPr/>
          </p:nvSpPr>
          <p:spPr>
            <a:xfrm>
              <a:off x="10877214" y="6850730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3790" y="0"/>
                  </a:moveTo>
                  <a:lnTo>
                    <a:pt x="2010" y="6795"/>
                  </a:lnTo>
                  <a:lnTo>
                    <a:pt x="0" y="14334"/>
                  </a:lnTo>
                  <a:lnTo>
                    <a:pt x="6795" y="26114"/>
                  </a:lnTo>
                  <a:lnTo>
                    <a:pt x="14334" y="28124"/>
                  </a:lnTo>
                  <a:lnTo>
                    <a:pt x="26114" y="21339"/>
                  </a:lnTo>
                  <a:lnTo>
                    <a:pt x="28135" y="13800"/>
                  </a:lnTo>
                  <a:lnTo>
                    <a:pt x="24732" y="7905"/>
                  </a:lnTo>
                  <a:lnTo>
                    <a:pt x="21329" y="2010"/>
                  </a:lnTo>
                  <a:lnTo>
                    <a:pt x="13790" y="0"/>
                  </a:lnTo>
                  <a:close/>
                </a:path>
              </a:pathLst>
            </a:custGeom>
            <a:solidFill>
              <a:srgbClr val="AE9BC6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74F6335E-E935-4BAE-F5DF-DDA1F09A99A3}"/>
                </a:ext>
              </a:extLst>
            </p:cNvPr>
            <p:cNvSpPr/>
            <p:nvPr/>
          </p:nvSpPr>
          <p:spPr>
            <a:xfrm>
              <a:off x="10491069" y="2911475"/>
              <a:ext cx="1224000" cy="393065"/>
            </a:xfrm>
            <a:custGeom>
              <a:avLst/>
              <a:gdLst/>
              <a:ahLst/>
              <a:cxnLst/>
              <a:rect l="l" t="t" r="r" b="b"/>
              <a:pathLst>
                <a:path w="1179195" h="393064">
                  <a:moveTo>
                    <a:pt x="982273" y="0"/>
                  </a:moveTo>
                  <a:lnTo>
                    <a:pt x="196454" y="0"/>
                  </a:lnTo>
                  <a:lnTo>
                    <a:pt x="151409" y="5188"/>
                  </a:lnTo>
                  <a:lnTo>
                    <a:pt x="110058" y="19967"/>
                  </a:lnTo>
                  <a:lnTo>
                    <a:pt x="73582" y="43158"/>
                  </a:lnTo>
                  <a:lnTo>
                    <a:pt x="43158" y="73582"/>
                  </a:lnTo>
                  <a:lnTo>
                    <a:pt x="19967" y="110058"/>
                  </a:lnTo>
                  <a:lnTo>
                    <a:pt x="5188" y="151409"/>
                  </a:lnTo>
                  <a:lnTo>
                    <a:pt x="0" y="196454"/>
                  </a:lnTo>
                  <a:lnTo>
                    <a:pt x="5188" y="241500"/>
                  </a:lnTo>
                  <a:lnTo>
                    <a:pt x="19967" y="282850"/>
                  </a:lnTo>
                  <a:lnTo>
                    <a:pt x="43158" y="319327"/>
                  </a:lnTo>
                  <a:lnTo>
                    <a:pt x="73582" y="349750"/>
                  </a:lnTo>
                  <a:lnTo>
                    <a:pt x="110058" y="372941"/>
                  </a:lnTo>
                  <a:lnTo>
                    <a:pt x="151409" y="387721"/>
                  </a:lnTo>
                  <a:lnTo>
                    <a:pt x="196454" y="392909"/>
                  </a:lnTo>
                  <a:lnTo>
                    <a:pt x="982273" y="392909"/>
                  </a:lnTo>
                  <a:lnTo>
                    <a:pt x="1027319" y="387721"/>
                  </a:lnTo>
                  <a:lnTo>
                    <a:pt x="1068669" y="372941"/>
                  </a:lnTo>
                  <a:lnTo>
                    <a:pt x="1105146" y="349750"/>
                  </a:lnTo>
                  <a:lnTo>
                    <a:pt x="1135569" y="319327"/>
                  </a:lnTo>
                  <a:lnTo>
                    <a:pt x="1158760" y="282850"/>
                  </a:lnTo>
                  <a:lnTo>
                    <a:pt x="1173540" y="241500"/>
                  </a:lnTo>
                  <a:lnTo>
                    <a:pt x="1178728" y="196454"/>
                  </a:lnTo>
                  <a:lnTo>
                    <a:pt x="1173540" y="151409"/>
                  </a:lnTo>
                  <a:lnTo>
                    <a:pt x="1158760" y="110058"/>
                  </a:lnTo>
                  <a:lnTo>
                    <a:pt x="1135569" y="73582"/>
                  </a:lnTo>
                  <a:lnTo>
                    <a:pt x="1105146" y="43158"/>
                  </a:lnTo>
                  <a:lnTo>
                    <a:pt x="1068669" y="19967"/>
                  </a:lnTo>
                  <a:lnTo>
                    <a:pt x="1027319" y="5188"/>
                  </a:lnTo>
                  <a:lnTo>
                    <a:pt x="982273" y="0"/>
                  </a:lnTo>
                  <a:close/>
                </a:path>
              </a:pathLst>
            </a:custGeom>
            <a:solidFill>
              <a:srgbClr val="60399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534B3301-1793-AEEE-1FE8-E9691690BF90}"/>
                </a:ext>
              </a:extLst>
            </p:cNvPr>
            <p:cNvSpPr txBox="1"/>
            <p:nvPr/>
          </p:nvSpPr>
          <p:spPr>
            <a:xfrm>
              <a:off x="10585450" y="2975520"/>
              <a:ext cx="1066800" cy="27828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lang="pt-PT" sz="1700" b="1" spc="15" dirty="0">
                  <a:solidFill>
                    <a:srgbClr val="FFFFFF"/>
                  </a:solidFill>
                  <a:latin typeface="Open Sans"/>
                  <a:cs typeface="Open Sans"/>
                </a:rPr>
                <a:t>Recessão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CAD59C1F-3FBF-E694-E196-19F1A4E491CF}"/>
                </a:ext>
              </a:extLst>
            </p:cNvPr>
            <p:cNvSpPr txBox="1"/>
            <p:nvPr/>
          </p:nvSpPr>
          <p:spPr>
            <a:xfrm>
              <a:off x="2183712" y="6950075"/>
              <a:ext cx="6130925" cy="5537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1800"/>
                </a:lnSpc>
                <a:spcBef>
                  <a:spcPts val="95"/>
                </a:spcBef>
              </a:pPr>
              <a:r>
                <a:rPr lang="pt-PT" sz="1700" spc="10" dirty="0">
                  <a:solidFill>
                    <a:srgbClr val="57585B"/>
                  </a:solidFill>
                  <a:latin typeface="Open Sans"/>
                  <a:cs typeface="Open Sans"/>
                </a:rPr>
                <a:t>Expansão da massa monetária (o dinheiro novo entra no sistema e inflaciona a massa monetária).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F6934BB4-1D04-CD7C-9B83-F6535D7DE907}"/>
                </a:ext>
              </a:extLst>
            </p:cNvPr>
            <p:cNvSpPr txBox="1"/>
            <p:nvPr/>
          </p:nvSpPr>
          <p:spPr>
            <a:xfrm>
              <a:off x="2183712" y="7920355"/>
              <a:ext cx="6480810" cy="5537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1800"/>
                </a:lnSpc>
                <a:spcBef>
                  <a:spcPts val="95"/>
                </a:spcBef>
              </a:pPr>
              <a:r>
                <a:rPr lang="pt-PT" sz="1700" spc="15" dirty="0">
                  <a:solidFill>
                    <a:srgbClr val="57585B"/>
                  </a:solidFill>
                  <a:latin typeface="Open Sans"/>
                  <a:cs typeface="Open Sans"/>
                </a:rPr>
                <a:t>Investimento excessivo (os clientes usam os empréstimos para investir nos merca- dos, o que cria um aumento na procura).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D339D60A-A4D6-95F0-92D8-D82AFD40BF38}"/>
                </a:ext>
              </a:extLst>
            </p:cNvPr>
            <p:cNvSpPr txBox="1"/>
            <p:nvPr/>
          </p:nvSpPr>
          <p:spPr>
            <a:xfrm>
              <a:off x="2183712" y="8922036"/>
              <a:ext cx="7136788" cy="27828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lang="pt-PT" sz="1700" spc="10" dirty="0">
                  <a:solidFill>
                    <a:srgbClr val="57585B"/>
                  </a:solidFill>
                  <a:latin typeface="Open Sans"/>
                  <a:cs typeface="Open Sans"/>
                </a:rPr>
                <a:t>Inflação de preços (aumento dos preços resultante da nova procura).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CF5D0131-72DA-661D-0E64-BB6D936D6170}"/>
                </a:ext>
              </a:extLst>
            </p:cNvPr>
            <p:cNvSpPr txBox="1"/>
            <p:nvPr/>
          </p:nvSpPr>
          <p:spPr>
            <a:xfrm>
              <a:off x="2192797" y="9892316"/>
              <a:ext cx="3287253" cy="27828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lang="pt-PT" sz="1700" spc="10" dirty="0">
                  <a:solidFill>
                    <a:srgbClr val="57585B"/>
                  </a:solidFill>
                  <a:latin typeface="Open Sans"/>
                  <a:cs typeface="Open Sans"/>
                </a:rPr>
                <a:t>Falta de nova procura.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grpSp>
          <p:nvGrpSpPr>
            <p:cNvPr id="158" name="object 158">
              <a:extLst>
                <a:ext uri="{FF2B5EF4-FFF2-40B4-BE49-F238E27FC236}">
                  <a16:creationId xmlns:a16="http://schemas.microsoft.com/office/drawing/2014/main" id="{9C8E20DD-8835-E3D4-14C0-67F4FDDAFCAC}"/>
                </a:ext>
              </a:extLst>
            </p:cNvPr>
            <p:cNvGrpSpPr/>
            <p:nvPr/>
          </p:nvGrpSpPr>
          <p:grpSpPr>
            <a:xfrm>
              <a:off x="1023850" y="6188075"/>
              <a:ext cx="1332000" cy="4214607"/>
              <a:chOff x="1046918" y="5473600"/>
              <a:chExt cx="1332000" cy="4214607"/>
            </a:xfrm>
          </p:grpSpPr>
          <p:pic>
            <p:nvPicPr>
              <p:cNvPr id="159" name="object 159">
                <a:extLst>
                  <a:ext uri="{FF2B5EF4-FFF2-40B4-BE49-F238E27FC236}">
                    <a16:creationId xmlns:a16="http://schemas.microsoft.com/office/drawing/2014/main" id="{248570F3-4E9A-77E1-05DE-51A9796098FE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344932" y="6145603"/>
                <a:ext cx="734626" cy="734616"/>
              </a:xfrm>
              <a:prstGeom prst="rect">
                <a:avLst/>
              </a:prstGeom>
            </p:spPr>
          </p:pic>
          <p:pic>
            <p:nvPicPr>
              <p:cNvPr id="160" name="object 160">
                <a:extLst>
                  <a:ext uri="{FF2B5EF4-FFF2-40B4-BE49-F238E27FC236}">
                    <a16:creationId xmlns:a16="http://schemas.microsoft.com/office/drawing/2014/main" id="{F1B10C3C-D35C-07CB-CF0C-B0D755237EF9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344932" y="7081595"/>
                <a:ext cx="734626" cy="734626"/>
              </a:xfrm>
              <a:prstGeom prst="rect">
                <a:avLst/>
              </a:prstGeom>
            </p:spPr>
          </p:pic>
          <p:pic>
            <p:nvPicPr>
              <p:cNvPr id="161" name="object 161">
                <a:extLst>
                  <a:ext uri="{FF2B5EF4-FFF2-40B4-BE49-F238E27FC236}">
                    <a16:creationId xmlns:a16="http://schemas.microsoft.com/office/drawing/2014/main" id="{6CF2CE8A-1C88-4272-68B7-864199E775AF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344932" y="8017598"/>
                <a:ext cx="734626" cy="734605"/>
              </a:xfrm>
              <a:prstGeom prst="rect">
                <a:avLst/>
              </a:prstGeom>
            </p:spPr>
          </p:pic>
          <p:pic>
            <p:nvPicPr>
              <p:cNvPr id="162" name="object 162">
                <a:extLst>
                  <a:ext uri="{FF2B5EF4-FFF2-40B4-BE49-F238E27FC236}">
                    <a16:creationId xmlns:a16="http://schemas.microsoft.com/office/drawing/2014/main" id="{01348FE5-AC6F-D88A-B821-E44F410A8962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344932" y="8953591"/>
                <a:ext cx="734626" cy="734616"/>
              </a:xfrm>
              <a:prstGeom prst="rect">
                <a:avLst/>
              </a:prstGeom>
            </p:spPr>
          </p:pic>
          <p:sp>
            <p:nvSpPr>
              <p:cNvPr id="163" name="object 163">
                <a:extLst>
                  <a:ext uri="{FF2B5EF4-FFF2-40B4-BE49-F238E27FC236}">
                    <a16:creationId xmlns:a16="http://schemas.microsoft.com/office/drawing/2014/main" id="{9493F5AA-4085-B06B-0033-A299ABB375B5}"/>
                  </a:ext>
                </a:extLst>
              </p:cNvPr>
              <p:cNvSpPr/>
              <p:nvPr/>
            </p:nvSpPr>
            <p:spPr>
              <a:xfrm>
                <a:off x="1046918" y="5473600"/>
                <a:ext cx="1332000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1179195" h="393064">
                    <a:moveTo>
                      <a:pt x="982273" y="0"/>
                    </a:moveTo>
                    <a:lnTo>
                      <a:pt x="196454" y="0"/>
                    </a:lnTo>
                    <a:lnTo>
                      <a:pt x="151409" y="5188"/>
                    </a:lnTo>
                    <a:lnTo>
                      <a:pt x="110058" y="19967"/>
                    </a:lnTo>
                    <a:lnTo>
                      <a:pt x="73582" y="43158"/>
                    </a:lnTo>
                    <a:lnTo>
                      <a:pt x="43158" y="73582"/>
                    </a:lnTo>
                    <a:lnTo>
                      <a:pt x="19967" y="110058"/>
                    </a:lnTo>
                    <a:lnTo>
                      <a:pt x="5188" y="151409"/>
                    </a:lnTo>
                    <a:lnTo>
                      <a:pt x="0" y="196454"/>
                    </a:lnTo>
                    <a:lnTo>
                      <a:pt x="5188" y="241500"/>
                    </a:lnTo>
                    <a:lnTo>
                      <a:pt x="19967" y="282850"/>
                    </a:lnTo>
                    <a:lnTo>
                      <a:pt x="43158" y="319327"/>
                    </a:lnTo>
                    <a:lnTo>
                      <a:pt x="73582" y="349750"/>
                    </a:lnTo>
                    <a:lnTo>
                      <a:pt x="110058" y="372941"/>
                    </a:lnTo>
                    <a:lnTo>
                      <a:pt x="151409" y="387721"/>
                    </a:lnTo>
                    <a:lnTo>
                      <a:pt x="196454" y="392909"/>
                    </a:lnTo>
                    <a:lnTo>
                      <a:pt x="982273" y="392909"/>
                    </a:lnTo>
                    <a:lnTo>
                      <a:pt x="1027319" y="387721"/>
                    </a:lnTo>
                    <a:lnTo>
                      <a:pt x="1068669" y="372941"/>
                    </a:lnTo>
                    <a:lnTo>
                      <a:pt x="1105146" y="349750"/>
                    </a:lnTo>
                    <a:lnTo>
                      <a:pt x="1135569" y="319327"/>
                    </a:lnTo>
                    <a:lnTo>
                      <a:pt x="1158760" y="282850"/>
                    </a:lnTo>
                    <a:lnTo>
                      <a:pt x="1173540" y="241500"/>
                    </a:lnTo>
                    <a:lnTo>
                      <a:pt x="1178728" y="196454"/>
                    </a:lnTo>
                    <a:lnTo>
                      <a:pt x="1173540" y="151409"/>
                    </a:lnTo>
                    <a:lnTo>
                      <a:pt x="1158760" y="110058"/>
                    </a:lnTo>
                    <a:lnTo>
                      <a:pt x="1135569" y="73582"/>
                    </a:lnTo>
                    <a:lnTo>
                      <a:pt x="1105146" y="43158"/>
                    </a:lnTo>
                    <a:lnTo>
                      <a:pt x="1068669" y="19967"/>
                    </a:lnTo>
                    <a:lnTo>
                      <a:pt x="1027319" y="5188"/>
                    </a:lnTo>
                    <a:lnTo>
                      <a:pt x="982273" y="0"/>
                    </a:lnTo>
                    <a:close/>
                  </a:path>
                </a:pathLst>
              </a:custGeom>
              <a:solidFill>
                <a:srgbClr val="60399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</p:grp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C65D84A5-1C14-EAD1-6883-746BC139F0B0}"/>
                </a:ext>
              </a:extLst>
            </p:cNvPr>
            <p:cNvSpPr txBox="1"/>
            <p:nvPr/>
          </p:nvSpPr>
          <p:spPr>
            <a:xfrm>
              <a:off x="1161964" y="6231881"/>
              <a:ext cx="1066816" cy="27828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lang="pt-PT" sz="1700" b="1" spc="20" dirty="0">
                  <a:solidFill>
                    <a:srgbClr val="FFFFFF"/>
                  </a:solidFill>
                  <a:latin typeface="Open Sans"/>
                  <a:cs typeface="Open Sans"/>
                </a:rPr>
                <a:t>Expansão</a:t>
              </a:r>
              <a:endParaRPr lang="pt-PT" sz="1700" dirty="0">
                <a:latin typeface="Open Sans"/>
                <a:cs typeface="Open Sans"/>
              </a:endParaRPr>
            </a:p>
          </p:txBody>
        </p:sp>
        <p:grpSp>
          <p:nvGrpSpPr>
            <p:cNvPr id="165" name="object 165">
              <a:extLst>
                <a:ext uri="{FF2B5EF4-FFF2-40B4-BE49-F238E27FC236}">
                  <a16:creationId xmlns:a16="http://schemas.microsoft.com/office/drawing/2014/main" id="{6362E9EC-B0B0-48F7-7D31-758E2F2B4471}"/>
                </a:ext>
              </a:extLst>
            </p:cNvPr>
            <p:cNvGrpSpPr/>
            <p:nvPr/>
          </p:nvGrpSpPr>
          <p:grpSpPr>
            <a:xfrm>
              <a:off x="1431474" y="7021319"/>
              <a:ext cx="515620" cy="3255010"/>
              <a:chOff x="1454542" y="6306844"/>
              <a:chExt cx="515620" cy="3255010"/>
            </a:xfrm>
          </p:grpSpPr>
          <p:pic>
            <p:nvPicPr>
              <p:cNvPr id="166" name="object 166">
                <a:extLst>
                  <a:ext uri="{FF2B5EF4-FFF2-40B4-BE49-F238E27FC236}">
                    <a16:creationId xmlns:a16="http://schemas.microsoft.com/office/drawing/2014/main" id="{E0419A77-9DAD-3141-65E3-B2EA0DA5AC40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506177" y="6306844"/>
                <a:ext cx="412140" cy="412130"/>
              </a:xfrm>
              <a:prstGeom prst="rect">
                <a:avLst/>
              </a:prstGeom>
            </p:spPr>
          </p:pic>
          <p:sp>
            <p:nvSpPr>
              <p:cNvPr id="167" name="object 167">
                <a:extLst>
                  <a:ext uri="{FF2B5EF4-FFF2-40B4-BE49-F238E27FC236}">
                    <a16:creationId xmlns:a16="http://schemas.microsoft.com/office/drawing/2014/main" id="{274233EC-F9E2-7A31-FD12-9BD9A7185898}"/>
                  </a:ext>
                </a:extLst>
              </p:cNvPr>
              <p:cNvSpPr/>
              <p:nvPr/>
            </p:nvSpPr>
            <p:spPr>
              <a:xfrm>
                <a:off x="1693837" y="7335233"/>
                <a:ext cx="3683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36830" h="92709">
                    <a:moveTo>
                      <a:pt x="36817" y="0"/>
                    </a:moveTo>
                    <a:lnTo>
                      <a:pt x="27927" y="0"/>
                    </a:lnTo>
                    <a:lnTo>
                      <a:pt x="27927" y="12700"/>
                    </a:lnTo>
                    <a:lnTo>
                      <a:pt x="8877" y="12700"/>
                    </a:lnTo>
                    <a:lnTo>
                      <a:pt x="8877" y="0"/>
                    </a:lnTo>
                    <a:lnTo>
                      <a:pt x="0" y="0"/>
                    </a:lnTo>
                    <a:lnTo>
                      <a:pt x="0" y="12700"/>
                    </a:lnTo>
                    <a:lnTo>
                      <a:pt x="0" y="92710"/>
                    </a:lnTo>
                    <a:lnTo>
                      <a:pt x="36817" y="92710"/>
                    </a:lnTo>
                    <a:lnTo>
                      <a:pt x="36817" y="12700"/>
                    </a:lnTo>
                    <a:lnTo>
                      <a:pt x="36817" y="0"/>
                    </a:lnTo>
                    <a:close/>
                  </a:path>
                </a:pathLst>
              </a:custGeom>
              <a:solidFill>
                <a:srgbClr val="44945B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68" name="object 168">
                <a:extLst>
                  <a:ext uri="{FF2B5EF4-FFF2-40B4-BE49-F238E27FC236}">
                    <a16:creationId xmlns:a16="http://schemas.microsoft.com/office/drawing/2014/main" id="{65855EF0-21B0-B740-A7C0-49CBD2674491}"/>
                  </a:ext>
                </a:extLst>
              </p:cNvPr>
              <p:cNvSpPr/>
              <p:nvPr/>
            </p:nvSpPr>
            <p:spPr>
              <a:xfrm>
                <a:off x="1528165" y="7163656"/>
                <a:ext cx="36830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68300" h="184150">
                    <a:moveTo>
                      <a:pt x="184073" y="184086"/>
                    </a:moveTo>
                    <a:lnTo>
                      <a:pt x="177507" y="135153"/>
                    </a:lnTo>
                    <a:lnTo>
                      <a:pt x="158940" y="91173"/>
                    </a:lnTo>
                    <a:lnTo>
                      <a:pt x="130162" y="53924"/>
                    </a:lnTo>
                    <a:lnTo>
                      <a:pt x="92913" y="25133"/>
                    </a:lnTo>
                    <a:lnTo>
                      <a:pt x="48933" y="6578"/>
                    </a:lnTo>
                    <a:lnTo>
                      <a:pt x="0" y="0"/>
                    </a:lnTo>
                    <a:lnTo>
                      <a:pt x="6578" y="48933"/>
                    </a:lnTo>
                    <a:lnTo>
                      <a:pt x="25133" y="92913"/>
                    </a:lnTo>
                    <a:lnTo>
                      <a:pt x="53911" y="130162"/>
                    </a:lnTo>
                    <a:lnTo>
                      <a:pt x="91173" y="158953"/>
                    </a:lnTo>
                    <a:lnTo>
                      <a:pt x="135140" y="177507"/>
                    </a:lnTo>
                    <a:lnTo>
                      <a:pt x="184073" y="184086"/>
                    </a:lnTo>
                    <a:close/>
                  </a:path>
                  <a:path w="368300" h="184150">
                    <a:moveTo>
                      <a:pt x="368147" y="0"/>
                    </a:moveTo>
                    <a:lnTo>
                      <a:pt x="319214" y="6578"/>
                    </a:lnTo>
                    <a:lnTo>
                      <a:pt x="275247" y="25133"/>
                    </a:lnTo>
                    <a:lnTo>
                      <a:pt x="237985" y="53911"/>
                    </a:lnTo>
                    <a:lnTo>
                      <a:pt x="209207" y="91173"/>
                    </a:lnTo>
                    <a:lnTo>
                      <a:pt x="190652" y="135140"/>
                    </a:lnTo>
                    <a:lnTo>
                      <a:pt x="184073" y="184073"/>
                    </a:lnTo>
                    <a:lnTo>
                      <a:pt x="233006" y="177507"/>
                    </a:lnTo>
                    <a:lnTo>
                      <a:pt x="276987" y="158953"/>
                    </a:lnTo>
                    <a:lnTo>
                      <a:pt x="314236" y="130162"/>
                    </a:lnTo>
                    <a:lnTo>
                      <a:pt x="343027" y="92913"/>
                    </a:lnTo>
                    <a:lnTo>
                      <a:pt x="361581" y="48933"/>
                    </a:lnTo>
                    <a:lnTo>
                      <a:pt x="368147" y="0"/>
                    </a:lnTo>
                    <a:close/>
                  </a:path>
                </a:pathLst>
              </a:custGeom>
              <a:solidFill>
                <a:srgbClr val="5AC679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69" name="object 169">
                <a:extLst>
                  <a:ext uri="{FF2B5EF4-FFF2-40B4-BE49-F238E27FC236}">
                    <a16:creationId xmlns:a16="http://schemas.microsoft.com/office/drawing/2014/main" id="{2E916867-F782-594A-4600-BB1740969212}"/>
                  </a:ext>
                </a:extLst>
              </p:cNvPr>
              <p:cNvSpPr/>
              <p:nvPr/>
            </p:nvSpPr>
            <p:spPr>
              <a:xfrm>
                <a:off x="1884050" y="7651326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0" name="object 170">
                <a:extLst>
                  <a:ext uri="{FF2B5EF4-FFF2-40B4-BE49-F238E27FC236}">
                    <a16:creationId xmlns:a16="http://schemas.microsoft.com/office/drawing/2014/main" id="{EF4F3F0E-19FF-CE54-2124-D38C84941905}"/>
                  </a:ext>
                </a:extLst>
              </p:cNvPr>
              <p:cNvSpPr/>
              <p:nvPr/>
            </p:nvSpPr>
            <p:spPr>
              <a:xfrm>
                <a:off x="1847235" y="7651326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1" name="object 171">
                <a:extLst>
                  <a:ext uri="{FF2B5EF4-FFF2-40B4-BE49-F238E27FC236}">
                    <a16:creationId xmlns:a16="http://schemas.microsoft.com/office/drawing/2014/main" id="{71DB400A-7E95-072D-6675-95372DC12388}"/>
                  </a:ext>
                </a:extLst>
              </p:cNvPr>
              <p:cNvSpPr/>
              <p:nvPr/>
            </p:nvSpPr>
            <p:spPr>
              <a:xfrm>
                <a:off x="1810420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2" name="object 172">
                <a:extLst>
                  <a:ext uri="{FF2B5EF4-FFF2-40B4-BE49-F238E27FC236}">
                    <a16:creationId xmlns:a16="http://schemas.microsoft.com/office/drawing/2014/main" id="{BD5544E0-D0A7-53AC-9F88-EA66EC9ECFEB}"/>
                  </a:ext>
                </a:extLst>
              </p:cNvPr>
              <p:cNvSpPr/>
              <p:nvPr/>
            </p:nvSpPr>
            <p:spPr>
              <a:xfrm>
                <a:off x="1773605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3" name="object 173">
                <a:extLst>
                  <a:ext uri="{FF2B5EF4-FFF2-40B4-BE49-F238E27FC236}">
                    <a16:creationId xmlns:a16="http://schemas.microsoft.com/office/drawing/2014/main" id="{65ECAC0D-683D-EBC3-4613-CBA0DB41B186}"/>
                  </a:ext>
                </a:extLst>
              </p:cNvPr>
              <p:cNvSpPr/>
              <p:nvPr/>
            </p:nvSpPr>
            <p:spPr>
              <a:xfrm>
                <a:off x="1736790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4" name="object 174">
                <a:extLst>
                  <a:ext uri="{FF2B5EF4-FFF2-40B4-BE49-F238E27FC236}">
                    <a16:creationId xmlns:a16="http://schemas.microsoft.com/office/drawing/2014/main" id="{7795C7B4-CD0F-CBCF-5524-6B731FE0DF24}"/>
                  </a:ext>
                </a:extLst>
              </p:cNvPr>
              <p:cNvSpPr/>
              <p:nvPr/>
            </p:nvSpPr>
            <p:spPr>
              <a:xfrm>
                <a:off x="1699975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5" name="object 175">
                <a:extLst>
                  <a:ext uri="{FF2B5EF4-FFF2-40B4-BE49-F238E27FC236}">
                    <a16:creationId xmlns:a16="http://schemas.microsoft.com/office/drawing/2014/main" id="{2BC396F2-E64B-275E-6428-62511F72CAA6}"/>
                  </a:ext>
                </a:extLst>
              </p:cNvPr>
              <p:cNvSpPr/>
              <p:nvPr/>
            </p:nvSpPr>
            <p:spPr>
              <a:xfrm>
                <a:off x="1663160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6" name="object 176">
                <a:extLst>
                  <a:ext uri="{FF2B5EF4-FFF2-40B4-BE49-F238E27FC236}">
                    <a16:creationId xmlns:a16="http://schemas.microsoft.com/office/drawing/2014/main" id="{54C4CE1A-F5BD-88BA-7311-E854A64EEFDB}"/>
                  </a:ext>
                </a:extLst>
              </p:cNvPr>
              <p:cNvSpPr/>
              <p:nvPr/>
            </p:nvSpPr>
            <p:spPr>
              <a:xfrm>
                <a:off x="1626345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7" name="object 177">
                <a:extLst>
                  <a:ext uri="{FF2B5EF4-FFF2-40B4-BE49-F238E27FC236}">
                    <a16:creationId xmlns:a16="http://schemas.microsoft.com/office/drawing/2014/main" id="{064B78F4-9F27-75AA-22BC-C3AA11C43E8D}"/>
                  </a:ext>
                </a:extLst>
              </p:cNvPr>
              <p:cNvSpPr/>
              <p:nvPr/>
            </p:nvSpPr>
            <p:spPr>
              <a:xfrm>
                <a:off x="1589530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8" name="object 178">
                <a:extLst>
                  <a:ext uri="{FF2B5EF4-FFF2-40B4-BE49-F238E27FC236}">
                    <a16:creationId xmlns:a16="http://schemas.microsoft.com/office/drawing/2014/main" id="{7501861A-C921-2435-5130-0030C88B0AB6}"/>
                  </a:ext>
                </a:extLst>
              </p:cNvPr>
              <p:cNvSpPr/>
              <p:nvPr/>
            </p:nvSpPr>
            <p:spPr>
              <a:xfrm>
                <a:off x="1552716" y="7626782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79" name="object 179">
                <a:extLst>
                  <a:ext uri="{FF2B5EF4-FFF2-40B4-BE49-F238E27FC236}">
                    <a16:creationId xmlns:a16="http://schemas.microsoft.com/office/drawing/2014/main" id="{D2C909A1-8AA4-7D01-7CF7-B82CD251EBA7}"/>
                  </a:ext>
                </a:extLst>
              </p:cNvPr>
              <p:cNvSpPr/>
              <p:nvPr/>
            </p:nvSpPr>
            <p:spPr>
              <a:xfrm>
                <a:off x="1528173" y="7626783"/>
                <a:ext cx="368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36830" h="107950">
                    <a:moveTo>
                      <a:pt x="36815" y="0"/>
                    </a:moveTo>
                    <a:lnTo>
                      <a:pt x="0" y="0"/>
                    </a:lnTo>
                    <a:lnTo>
                      <a:pt x="0" y="107378"/>
                    </a:lnTo>
                    <a:lnTo>
                      <a:pt x="36815" y="107378"/>
                    </a:lnTo>
                    <a:lnTo>
                      <a:pt x="36815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0" name="object 180">
                <a:extLst>
                  <a:ext uri="{FF2B5EF4-FFF2-40B4-BE49-F238E27FC236}">
                    <a16:creationId xmlns:a16="http://schemas.microsoft.com/office/drawing/2014/main" id="{E9B445DD-F3D4-2DEA-4434-0F9022094C1B}"/>
                  </a:ext>
                </a:extLst>
              </p:cNvPr>
              <p:cNvSpPr/>
              <p:nvPr/>
            </p:nvSpPr>
            <p:spPr>
              <a:xfrm>
                <a:off x="1920865" y="7485658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1" name="object 181">
                <a:extLst>
                  <a:ext uri="{FF2B5EF4-FFF2-40B4-BE49-F238E27FC236}">
                    <a16:creationId xmlns:a16="http://schemas.microsoft.com/office/drawing/2014/main" id="{936C25E3-67E8-7869-5911-F80036069CCD}"/>
                  </a:ext>
                </a:extLst>
              </p:cNvPr>
              <p:cNvSpPr/>
              <p:nvPr/>
            </p:nvSpPr>
            <p:spPr>
              <a:xfrm>
                <a:off x="1884050" y="7461115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12271" y="0"/>
                    </a:move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24543"/>
                    </a:lnTo>
                    <a:lnTo>
                      <a:pt x="12271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2" name="object 182">
                <a:extLst>
                  <a:ext uri="{FF2B5EF4-FFF2-40B4-BE49-F238E27FC236}">
                    <a16:creationId xmlns:a16="http://schemas.microsoft.com/office/drawing/2014/main" id="{68F19450-CAA0-E735-6200-FB80D61E55E4}"/>
                  </a:ext>
                </a:extLst>
              </p:cNvPr>
              <p:cNvSpPr/>
              <p:nvPr/>
            </p:nvSpPr>
            <p:spPr>
              <a:xfrm>
                <a:off x="1847235" y="7461115"/>
                <a:ext cx="4953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07950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07378"/>
                    </a:lnTo>
                    <a:lnTo>
                      <a:pt x="49087" y="107378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3" name="object 183">
                <a:extLst>
                  <a:ext uri="{FF2B5EF4-FFF2-40B4-BE49-F238E27FC236}">
                    <a16:creationId xmlns:a16="http://schemas.microsoft.com/office/drawing/2014/main" id="{0615AD21-DBA9-DBD0-B1C0-B06851C62BE8}"/>
                  </a:ext>
                </a:extLst>
              </p:cNvPr>
              <p:cNvSpPr/>
              <p:nvPr/>
            </p:nvSpPr>
            <p:spPr>
              <a:xfrm>
                <a:off x="1810420" y="7461115"/>
                <a:ext cx="495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32079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31922"/>
                    </a:lnTo>
                    <a:lnTo>
                      <a:pt x="49087" y="131922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4" name="object 184">
                <a:extLst>
                  <a:ext uri="{FF2B5EF4-FFF2-40B4-BE49-F238E27FC236}">
                    <a16:creationId xmlns:a16="http://schemas.microsoft.com/office/drawing/2014/main" id="{061423C1-D1C1-C099-171B-202E162ED2EC}"/>
                  </a:ext>
                </a:extLst>
              </p:cNvPr>
              <p:cNvSpPr/>
              <p:nvPr/>
            </p:nvSpPr>
            <p:spPr>
              <a:xfrm>
                <a:off x="1773605" y="7461115"/>
                <a:ext cx="495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32079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31922"/>
                    </a:lnTo>
                    <a:lnTo>
                      <a:pt x="49087" y="131922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5" name="object 185">
                <a:extLst>
                  <a:ext uri="{FF2B5EF4-FFF2-40B4-BE49-F238E27FC236}">
                    <a16:creationId xmlns:a16="http://schemas.microsoft.com/office/drawing/2014/main" id="{D50BEF7F-6286-FE3E-BF29-DADE0CA9D11D}"/>
                  </a:ext>
                </a:extLst>
              </p:cNvPr>
              <p:cNvSpPr/>
              <p:nvPr/>
            </p:nvSpPr>
            <p:spPr>
              <a:xfrm>
                <a:off x="1736790" y="7461115"/>
                <a:ext cx="495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32079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31922"/>
                    </a:lnTo>
                    <a:lnTo>
                      <a:pt x="49087" y="131922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6" name="object 186">
                <a:extLst>
                  <a:ext uri="{FF2B5EF4-FFF2-40B4-BE49-F238E27FC236}">
                    <a16:creationId xmlns:a16="http://schemas.microsoft.com/office/drawing/2014/main" id="{05D56EE7-C8D1-34B6-2C67-013DECCB09CE}"/>
                  </a:ext>
                </a:extLst>
              </p:cNvPr>
              <p:cNvSpPr/>
              <p:nvPr/>
            </p:nvSpPr>
            <p:spPr>
              <a:xfrm>
                <a:off x="1699975" y="7461115"/>
                <a:ext cx="495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32079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31922"/>
                    </a:lnTo>
                    <a:lnTo>
                      <a:pt x="49087" y="131922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7" name="object 187">
                <a:extLst>
                  <a:ext uri="{FF2B5EF4-FFF2-40B4-BE49-F238E27FC236}">
                    <a16:creationId xmlns:a16="http://schemas.microsoft.com/office/drawing/2014/main" id="{7A58E471-7EF0-6484-2AD9-52BC121B9FDA}"/>
                  </a:ext>
                </a:extLst>
              </p:cNvPr>
              <p:cNvSpPr/>
              <p:nvPr/>
            </p:nvSpPr>
            <p:spPr>
              <a:xfrm>
                <a:off x="1663160" y="7461115"/>
                <a:ext cx="495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32079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31922"/>
                    </a:lnTo>
                    <a:lnTo>
                      <a:pt x="49087" y="131922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8" name="object 188">
                <a:extLst>
                  <a:ext uri="{FF2B5EF4-FFF2-40B4-BE49-F238E27FC236}">
                    <a16:creationId xmlns:a16="http://schemas.microsoft.com/office/drawing/2014/main" id="{3844E0CB-FA0D-0E22-5CB6-88D6E064D9DD}"/>
                  </a:ext>
                </a:extLst>
              </p:cNvPr>
              <p:cNvSpPr/>
              <p:nvPr/>
            </p:nvSpPr>
            <p:spPr>
              <a:xfrm>
                <a:off x="1626345" y="7461115"/>
                <a:ext cx="495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32079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31922"/>
                    </a:lnTo>
                    <a:lnTo>
                      <a:pt x="49087" y="131922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89" name="object 189">
                <a:extLst>
                  <a:ext uri="{FF2B5EF4-FFF2-40B4-BE49-F238E27FC236}">
                    <a16:creationId xmlns:a16="http://schemas.microsoft.com/office/drawing/2014/main" id="{992D2758-A2E4-EAF8-B03C-4C180F0AC436}"/>
                  </a:ext>
                </a:extLst>
              </p:cNvPr>
              <p:cNvSpPr/>
              <p:nvPr/>
            </p:nvSpPr>
            <p:spPr>
              <a:xfrm>
                <a:off x="1589530" y="7461115"/>
                <a:ext cx="495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32079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65956"/>
                    </a:lnTo>
                    <a:lnTo>
                      <a:pt x="12271" y="131922"/>
                    </a:lnTo>
                    <a:lnTo>
                      <a:pt x="49087" y="131922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0" name="object 190">
                <a:extLst>
                  <a:ext uri="{FF2B5EF4-FFF2-40B4-BE49-F238E27FC236}">
                    <a16:creationId xmlns:a16="http://schemas.microsoft.com/office/drawing/2014/main" id="{7A1ACD72-1D44-E07E-55E4-27779CFC11FC}"/>
                  </a:ext>
                </a:extLst>
              </p:cNvPr>
              <p:cNvSpPr/>
              <p:nvPr/>
            </p:nvSpPr>
            <p:spPr>
              <a:xfrm>
                <a:off x="1564982" y="7402836"/>
                <a:ext cx="3683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68300" h="190500">
                    <a:moveTo>
                      <a:pt x="36817" y="58280"/>
                    </a:moveTo>
                    <a:lnTo>
                      <a:pt x="0" y="58280"/>
                    </a:lnTo>
                    <a:lnTo>
                      <a:pt x="0" y="190207"/>
                    </a:lnTo>
                    <a:lnTo>
                      <a:pt x="36817" y="190207"/>
                    </a:lnTo>
                    <a:lnTo>
                      <a:pt x="36817" y="58280"/>
                    </a:lnTo>
                    <a:close/>
                  </a:path>
                  <a:path w="368300" h="190500">
                    <a:moveTo>
                      <a:pt x="368147" y="0"/>
                    </a:moveTo>
                    <a:lnTo>
                      <a:pt x="331330" y="0"/>
                    </a:lnTo>
                    <a:lnTo>
                      <a:pt x="319062" y="41402"/>
                    </a:lnTo>
                    <a:lnTo>
                      <a:pt x="331330" y="82829"/>
                    </a:lnTo>
                    <a:lnTo>
                      <a:pt x="368147" y="82829"/>
                    </a:lnTo>
                    <a:lnTo>
                      <a:pt x="36814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1" name="object 191">
                <a:extLst>
                  <a:ext uri="{FF2B5EF4-FFF2-40B4-BE49-F238E27FC236}">
                    <a16:creationId xmlns:a16="http://schemas.microsoft.com/office/drawing/2014/main" id="{83433C27-2C24-8A83-239D-56171CD90376}"/>
                  </a:ext>
                </a:extLst>
              </p:cNvPr>
              <p:cNvSpPr/>
              <p:nvPr/>
            </p:nvSpPr>
            <p:spPr>
              <a:xfrm>
                <a:off x="1847235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2" name="object 192">
                <a:extLst>
                  <a:ext uri="{FF2B5EF4-FFF2-40B4-BE49-F238E27FC236}">
                    <a16:creationId xmlns:a16="http://schemas.microsoft.com/office/drawing/2014/main" id="{944953AC-62F3-5B99-B1E0-5D95A7414616}"/>
                  </a:ext>
                </a:extLst>
              </p:cNvPr>
              <p:cNvSpPr/>
              <p:nvPr/>
            </p:nvSpPr>
            <p:spPr>
              <a:xfrm>
                <a:off x="1810420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3" name="object 193">
                <a:extLst>
                  <a:ext uri="{FF2B5EF4-FFF2-40B4-BE49-F238E27FC236}">
                    <a16:creationId xmlns:a16="http://schemas.microsoft.com/office/drawing/2014/main" id="{1D80F36C-97D6-6EC0-EF3D-96D48D8E0DEF}"/>
                  </a:ext>
                </a:extLst>
              </p:cNvPr>
              <p:cNvSpPr/>
              <p:nvPr/>
            </p:nvSpPr>
            <p:spPr>
              <a:xfrm>
                <a:off x="1773605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4" name="object 194">
                <a:extLst>
                  <a:ext uri="{FF2B5EF4-FFF2-40B4-BE49-F238E27FC236}">
                    <a16:creationId xmlns:a16="http://schemas.microsoft.com/office/drawing/2014/main" id="{C0B942A5-6DF9-5DB2-5BEC-10DB279AC0A9}"/>
                  </a:ext>
                </a:extLst>
              </p:cNvPr>
              <p:cNvSpPr/>
              <p:nvPr/>
            </p:nvSpPr>
            <p:spPr>
              <a:xfrm>
                <a:off x="1736790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5" name="object 195">
                <a:extLst>
                  <a:ext uri="{FF2B5EF4-FFF2-40B4-BE49-F238E27FC236}">
                    <a16:creationId xmlns:a16="http://schemas.microsoft.com/office/drawing/2014/main" id="{9A28422F-5CFA-52D6-D1A6-A67DCDBCEBD1}"/>
                  </a:ext>
                </a:extLst>
              </p:cNvPr>
              <p:cNvSpPr/>
              <p:nvPr/>
            </p:nvSpPr>
            <p:spPr>
              <a:xfrm>
                <a:off x="1699975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6" name="object 196">
                <a:extLst>
                  <a:ext uri="{FF2B5EF4-FFF2-40B4-BE49-F238E27FC236}">
                    <a16:creationId xmlns:a16="http://schemas.microsoft.com/office/drawing/2014/main" id="{0FF9B3DE-9FDD-1507-8DCA-85490A1ED632}"/>
                  </a:ext>
                </a:extLst>
              </p:cNvPr>
              <p:cNvSpPr/>
              <p:nvPr/>
            </p:nvSpPr>
            <p:spPr>
              <a:xfrm>
                <a:off x="1663160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7" name="object 197">
                <a:extLst>
                  <a:ext uri="{FF2B5EF4-FFF2-40B4-BE49-F238E27FC236}">
                    <a16:creationId xmlns:a16="http://schemas.microsoft.com/office/drawing/2014/main" id="{A7DDAED6-0F24-B0D2-B77E-CC5B5B2B226C}"/>
                  </a:ext>
                </a:extLst>
              </p:cNvPr>
              <p:cNvSpPr/>
              <p:nvPr/>
            </p:nvSpPr>
            <p:spPr>
              <a:xfrm>
                <a:off x="1626345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8" name="object 198">
                <a:extLst>
                  <a:ext uri="{FF2B5EF4-FFF2-40B4-BE49-F238E27FC236}">
                    <a16:creationId xmlns:a16="http://schemas.microsoft.com/office/drawing/2014/main" id="{5B951D17-6833-6DFE-035F-6FF633FCAEF1}"/>
                  </a:ext>
                </a:extLst>
              </p:cNvPr>
              <p:cNvSpPr/>
              <p:nvPr/>
            </p:nvSpPr>
            <p:spPr>
              <a:xfrm>
                <a:off x="1589530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99" name="object 199">
                <a:extLst>
                  <a:ext uri="{FF2B5EF4-FFF2-40B4-BE49-F238E27FC236}">
                    <a16:creationId xmlns:a16="http://schemas.microsoft.com/office/drawing/2014/main" id="{788364D6-8902-CC0B-A250-80D93E510F42}"/>
                  </a:ext>
                </a:extLst>
              </p:cNvPr>
              <p:cNvSpPr/>
              <p:nvPr/>
            </p:nvSpPr>
            <p:spPr>
              <a:xfrm>
                <a:off x="1552716" y="7402824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0" name="object 200">
                <a:extLst>
                  <a:ext uri="{FF2B5EF4-FFF2-40B4-BE49-F238E27FC236}">
                    <a16:creationId xmlns:a16="http://schemas.microsoft.com/office/drawing/2014/main" id="{D91C6B73-67EB-AD31-8E7A-B8B792E0D1AB}"/>
                  </a:ext>
                </a:extLst>
              </p:cNvPr>
              <p:cNvSpPr/>
              <p:nvPr/>
            </p:nvSpPr>
            <p:spPr>
              <a:xfrm>
                <a:off x="1528165" y="7402823"/>
                <a:ext cx="331470" cy="248920"/>
              </a:xfrm>
              <a:custGeom>
                <a:avLst/>
                <a:gdLst/>
                <a:ahLst/>
                <a:cxnLst/>
                <a:rect l="l" t="t" r="r" b="b"/>
                <a:pathLst>
                  <a:path w="331469" h="248920">
                    <a:moveTo>
                      <a:pt x="36817" y="0"/>
                    </a:moveTo>
                    <a:lnTo>
                      <a:pt x="0" y="0"/>
                    </a:lnTo>
                    <a:lnTo>
                      <a:pt x="0" y="82842"/>
                    </a:lnTo>
                    <a:lnTo>
                      <a:pt x="36817" y="82842"/>
                    </a:lnTo>
                    <a:lnTo>
                      <a:pt x="36817" y="0"/>
                    </a:lnTo>
                    <a:close/>
                  </a:path>
                  <a:path w="331469" h="248920">
                    <a:moveTo>
                      <a:pt x="331330" y="165671"/>
                    </a:moveTo>
                    <a:lnTo>
                      <a:pt x="294525" y="165671"/>
                    </a:lnTo>
                    <a:lnTo>
                      <a:pt x="282244" y="207086"/>
                    </a:lnTo>
                    <a:lnTo>
                      <a:pt x="294525" y="248513"/>
                    </a:lnTo>
                    <a:lnTo>
                      <a:pt x="331330" y="248513"/>
                    </a:lnTo>
                    <a:lnTo>
                      <a:pt x="331330" y="165671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1" name="object 201">
                <a:extLst>
                  <a:ext uri="{FF2B5EF4-FFF2-40B4-BE49-F238E27FC236}">
                    <a16:creationId xmlns:a16="http://schemas.microsoft.com/office/drawing/2014/main" id="{84A170EA-9FE3-7ADD-9A57-B7FAE67F54CE}"/>
                  </a:ext>
                </a:extLst>
              </p:cNvPr>
              <p:cNvSpPr/>
              <p:nvPr/>
            </p:nvSpPr>
            <p:spPr>
              <a:xfrm>
                <a:off x="1773605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2" name="object 202">
                <a:extLst>
                  <a:ext uri="{FF2B5EF4-FFF2-40B4-BE49-F238E27FC236}">
                    <a16:creationId xmlns:a16="http://schemas.microsoft.com/office/drawing/2014/main" id="{D74FF5AB-B1FD-BEBC-41B1-F114B583617A}"/>
                  </a:ext>
                </a:extLst>
              </p:cNvPr>
              <p:cNvSpPr/>
              <p:nvPr/>
            </p:nvSpPr>
            <p:spPr>
              <a:xfrm>
                <a:off x="1736790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3" name="object 203">
                <a:extLst>
                  <a:ext uri="{FF2B5EF4-FFF2-40B4-BE49-F238E27FC236}">
                    <a16:creationId xmlns:a16="http://schemas.microsoft.com/office/drawing/2014/main" id="{41F3A5C3-855E-507E-B25B-A46D9A909198}"/>
                  </a:ext>
                </a:extLst>
              </p:cNvPr>
              <p:cNvSpPr/>
              <p:nvPr/>
            </p:nvSpPr>
            <p:spPr>
              <a:xfrm>
                <a:off x="1699975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4" name="object 204">
                <a:extLst>
                  <a:ext uri="{FF2B5EF4-FFF2-40B4-BE49-F238E27FC236}">
                    <a16:creationId xmlns:a16="http://schemas.microsoft.com/office/drawing/2014/main" id="{6F0C721C-D48B-F08B-4D59-A3FCC9ED3CDE}"/>
                  </a:ext>
                </a:extLst>
              </p:cNvPr>
              <p:cNvSpPr/>
              <p:nvPr/>
            </p:nvSpPr>
            <p:spPr>
              <a:xfrm>
                <a:off x="1663160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5" name="object 205">
                <a:extLst>
                  <a:ext uri="{FF2B5EF4-FFF2-40B4-BE49-F238E27FC236}">
                    <a16:creationId xmlns:a16="http://schemas.microsoft.com/office/drawing/2014/main" id="{45665F04-A9E9-8C0D-5F0A-1C5349278710}"/>
                  </a:ext>
                </a:extLst>
              </p:cNvPr>
              <p:cNvSpPr/>
              <p:nvPr/>
            </p:nvSpPr>
            <p:spPr>
              <a:xfrm>
                <a:off x="1626345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6" name="object 206">
                <a:extLst>
                  <a:ext uri="{FF2B5EF4-FFF2-40B4-BE49-F238E27FC236}">
                    <a16:creationId xmlns:a16="http://schemas.microsoft.com/office/drawing/2014/main" id="{9BF0D516-251D-220D-6409-DE953668543C}"/>
                  </a:ext>
                </a:extLst>
              </p:cNvPr>
              <p:cNvSpPr/>
              <p:nvPr/>
            </p:nvSpPr>
            <p:spPr>
              <a:xfrm>
                <a:off x="1589530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7" name="object 207">
                <a:extLst>
                  <a:ext uri="{FF2B5EF4-FFF2-40B4-BE49-F238E27FC236}">
                    <a16:creationId xmlns:a16="http://schemas.microsoft.com/office/drawing/2014/main" id="{03A6F7BE-43B5-133E-A063-A6EC4FF14667}"/>
                  </a:ext>
                </a:extLst>
              </p:cNvPr>
              <p:cNvSpPr/>
              <p:nvPr/>
            </p:nvSpPr>
            <p:spPr>
              <a:xfrm>
                <a:off x="1552716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8" name="object 208">
                <a:extLst>
                  <a:ext uri="{FF2B5EF4-FFF2-40B4-BE49-F238E27FC236}">
                    <a16:creationId xmlns:a16="http://schemas.microsoft.com/office/drawing/2014/main" id="{805A3C2A-6649-2412-CA64-B87013C4827F}"/>
                  </a:ext>
                </a:extLst>
              </p:cNvPr>
              <p:cNvSpPr/>
              <p:nvPr/>
            </p:nvSpPr>
            <p:spPr>
              <a:xfrm>
                <a:off x="1515900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09" name="object 209">
                <a:extLst>
                  <a:ext uri="{FF2B5EF4-FFF2-40B4-BE49-F238E27FC236}">
                    <a16:creationId xmlns:a16="http://schemas.microsoft.com/office/drawing/2014/main" id="{1B348E99-2AE0-1A5D-02FB-18D2DCB85735}"/>
                  </a:ext>
                </a:extLst>
              </p:cNvPr>
              <p:cNvSpPr/>
              <p:nvPr/>
            </p:nvSpPr>
            <p:spPr>
              <a:xfrm>
                <a:off x="1479085" y="7568491"/>
                <a:ext cx="495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83184">
                    <a:moveTo>
                      <a:pt x="49087" y="0"/>
                    </a:moveTo>
                    <a:lnTo>
                      <a:pt x="12271" y="0"/>
                    </a:lnTo>
                    <a:lnTo>
                      <a:pt x="0" y="41412"/>
                    </a:lnTo>
                    <a:lnTo>
                      <a:pt x="12271" y="82835"/>
                    </a:lnTo>
                    <a:lnTo>
                      <a:pt x="49087" y="82835"/>
                    </a:lnTo>
                    <a:lnTo>
                      <a:pt x="49087" y="0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10" name="object 210">
                <a:extLst>
                  <a:ext uri="{FF2B5EF4-FFF2-40B4-BE49-F238E27FC236}">
                    <a16:creationId xmlns:a16="http://schemas.microsoft.com/office/drawing/2014/main" id="{A26A78FD-5529-5A1B-6F62-3E51E532FEDC}"/>
                  </a:ext>
                </a:extLst>
              </p:cNvPr>
              <p:cNvSpPr/>
              <p:nvPr/>
            </p:nvSpPr>
            <p:spPr>
              <a:xfrm>
                <a:off x="1454542" y="7568492"/>
                <a:ext cx="3683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36830" h="83184">
                    <a:moveTo>
                      <a:pt x="36815" y="0"/>
                    </a:moveTo>
                    <a:lnTo>
                      <a:pt x="0" y="0"/>
                    </a:lnTo>
                    <a:lnTo>
                      <a:pt x="0" y="82835"/>
                    </a:lnTo>
                    <a:lnTo>
                      <a:pt x="36815" y="82835"/>
                    </a:lnTo>
                    <a:lnTo>
                      <a:pt x="36815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11" name="object 211">
                <a:extLst>
                  <a:ext uri="{FF2B5EF4-FFF2-40B4-BE49-F238E27FC236}">
                    <a16:creationId xmlns:a16="http://schemas.microsoft.com/office/drawing/2014/main" id="{8ABDEE42-B1EC-0637-D20A-7C769DD277E2}"/>
                  </a:ext>
                </a:extLst>
              </p:cNvPr>
              <p:cNvSpPr/>
              <p:nvPr/>
            </p:nvSpPr>
            <p:spPr>
              <a:xfrm>
                <a:off x="1467230" y="8134715"/>
                <a:ext cx="491490" cy="313055"/>
              </a:xfrm>
              <a:custGeom>
                <a:avLst/>
                <a:gdLst/>
                <a:ahLst/>
                <a:cxnLst/>
                <a:rect l="l" t="t" r="r" b="b"/>
                <a:pathLst>
                  <a:path w="491489" h="313054">
                    <a:moveTo>
                      <a:pt x="471181" y="0"/>
                    </a:moveTo>
                    <a:lnTo>
                      <a:pt x="322212" y="24826"/>
                    </a:lnTo>
                    <a:lnTo>
                      <a:pt x="315448" y="30679"/>
                    </a:lnTo>
                    <a:lnTo>
                      <a:pt x="310359" y="46574"/>
                    </a:lnTo>
                    <a:lnTo>
                      <a:pt x="312464" y="55275"/>
                    </a:lnTo>
                    <a:lnTo>
                      <a:pt x="347164" y="89976"/>
                    </a:lnTo>
                    <a:lnTo>
                      <a:pt x="267292" y="169848"/>
                    </a:lnTo>
                    <a:lnTo>
                      <a:pt x="193944" y="96499"/>
                    </a:lnTo>
                    <a:lnTo>
                      <a:pt x="186574" y="91611"/>
                    </a:lnTo>
                    <a:lnTo>
                      <a:pt x="178192" y="89981"/>
                    </a:lnTo>
                    <a:lnTo>
                      <a:pt x="169812" y="91611"/>
                    </a:lnTo>
                    <a:lnTo>
                      <a:pt x="162447" y="96499"/>
                    </a:lnTo>
                    <a:lnTo>
                      <a:pt x="6525" y="252421"/>
                    </a:lnTo>
                    <a:lnTo>
                      <a:pt x="1631" y="259790"/>
                    </a:lnTo>
                    <a:lnTo>
                      <a:pt x="0" y="268169"/>
                    </a:lnTo>
                    <a:lnTo>
                      <a:pt x="1631" y="276549"/>
                    </a:lnTo>
                    <a:lnTo>
                      <a:pt x="6525" y="283918"/>
                    </a:lnTo>
                    <a:lnTo>
                      <a:pt x="28797" y="306189"/>
                    </a:lnTo>
                    <a:lnTo>
                      <a:pt x="36166" y="311084"/>
                    </a:lnTo>
                    <a:lnTo>
                      <a:pt x="44545" y="312715"/>
                    </a:lnTo>
                    <a:lnTo>
                      <a:pt x="52925" y="311084"/>
                    </a:lnTo>
                    <a:lnTo>
                      <a:pt x="60293" y="306189"/>
                    </a:lnTo>
                    <a:lnTo>
                      <a:pt x="178196" y="188297"/>
                    </a:lnTo>
                    <a:lnTo>
                      <a:pt x="251544" y="261646"/>
                    </a:lnTo>
                    <a:lnTo>
                      <a:pt x="258908" y="266535"/>
                    </a:lnTo>
                    <a:lnTo>
                      <a:pt x="267288" y="268164"/>
                    </a:lnTo>
                    <a:lnTo>
                      <a:pt x="275671" y="266535"/>
                    </a:lnTo>
                    <a:lnTo>
                      <a:pt x="283041" y="261646"/>
                    </a:lnTo>
                    <a:lnTo>
                      <a:pt x="400932" y="143744"/>
                    </a:lnTo>
                    <a:lnTo>
                      <a:pt x="435633" y="178444"/>
                    </a:lnTo>
                    <a:lnTo>
                      <a:pt x="444334" y="180549"/>
                    </a:lnTo>
                    <a:lnTo>
                      <a:pt x="460229" y="175460"/>
                    </a:lnTo>
                    <a:lnTo>
                      <a:pt x="466082" y="168696"/>
                    </a:lnTo>
                    <a:lnTo>
                      <a:pt x="490909" y="19727"/>
                    </a:lnTo>
                    <a:lnTo>
                      <a:pt x="488595" y="12491"/>
                    </a:lnTo>
                    <a:lnTo>
                      <a:pt x="478417" y="2314"/>
                    </a:lnTo>
                    <a:lnTo>
                      <a:pt x="471181" y="0"/>
                    </a:lnTo>
                    <a:close/>
                  </a:path>
                </a:pathLst>
              </a:custGeom>
              <a:solidFill>
                <a:srgbClr val="5AC679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pic>
            <p:nvPicPr>
              <p:cNvPr id="212" name="object 212">
                <a:extLst>
                  <a:ext uri="{FF2B5EF4-FFF2-40B4-BE49-F238E27FC236}">
                    <a16:creationId xmlns:a16="http://schemas.microsoft.com/office/drawing/2014/main" id="{4D98D7DB-5EA6-71C8-0F6F-3A0EA9D48594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454542" y="8483375"/>
                <a:ext cx="268169" cy="150843"/>
              </a:xfrm>
              <a:prstGeom prst="rect">
                <a:avLst/>
              </a:prstGeom>
            </p:spPr>
          </p:pic>
          <p:sp>
            <p:nvSpPr>
              <p:cNvPr id="213" name="object 213">
                <a:extLst>
                  <a:ext uri="{FF2B5EF4-FFF2-40B4-BE49-F238E27FC236}">
                    <a16:creationId xmlns:a16="http://schemas.microsoft.com/office/drawing/2014/main" id="{2841D933-4ECA-EBD4-70F8-A0F23F9BA8DC}"/>
                  </a:ext>
                </a:extLst>
              </p:cNvPr>
              <p:cNvSpPr/>
              <p:nvPr/>
            </p:nvSpPr>
            <p:spPr>
              <a:xfrm>
                <a:off x="1711169" y="8375428"/>
                <a:ext cx="259079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259080" h="259079">
                    <a:moveTo>
                      <a:pt x="129388" y="0"/>
                    </a:moveTo>
                    <a:lnTo>
                      <a:pt x="79022" y="10168"/>
                    </a:lnTo>
                    <a:lnTo>
                      <a:pt x="37895" y="37899"/>
                    </a:lnTo>
                    <a:lnTo>
                      <a:pt x="10167" y="79027"/>
                    </a:lnTo>
                    <a:lnTo>
                      <a:pt x="0" y="129388"/>
                    </a:lnTo>
                    <a:lnTo>
                      <a:pt x="10167" y="179756"/>
                    </a:lnTo>
                    <a:lnTo>
                      <a:pt x="37895" y="220887"/>
                    </a:lnTo>
                    <a:lnTo>
                      <a:pt x="79022" y="248618"/>
                    </a:lnTo>
                    <a:lnTo>
                      <a:pt x="129388" y="258787"/>
                    </a:lnTo>
                    <a:lnTo>
                      <a:pt x="179754" y="248618"/>
                    </a:lnTo>
                    <a:lnTo>
                      <a:pt x="220882" y="220887"/>
                    </a:lnTo>
                    <a:lnTo>
                      <a:pt x="248610" y="179756"/>
                    </a:lnTo>
                    <a:lnTo>
                      <a:pt x="258777" y="129388"/>
                    </a:lnTo>
                    <a:lnTo>
                      <a:pt x="248610" y="79027"/>
                    </a:lnTo>
                    <a:lnTo>
                      <a:pt x="220882" y="37899"/>
                    </a:lnTo>
                    <a:lnTo>
                      <a:pt x="179754" y="10168"/>
                    </a:lnTo>
                    <a:lnTo>
                      <a:pt x="129388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pic>
            <p:nvPicPr>
              <p:cNvPr id="214" name="object 214">
                <a:extLst>
                  <a:ext uri="{FF2B5EF4-FFF2-40B4-BE49-F238E27FC236}">
                    <a16:creationId xmlns:a16="http://schemas.microsoft.com/office/drawing/2014/main" id="{70DA7852-24B9-C757-85B3-72C97AB6F255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1736614" y="8400878"/>
                <a:ext cx="207888" cy="207888"/>
              </a:xfrm>
              <a:prstGeom prst="rect">
                <a:avLst/>
              </a:prstGeom>
            </p:spPr>
          </p:pic>
          <p:sp>
            <p:nvSpPr>
              <p:cNvPr id="215" name="object 215">
                <a:extLst>
                  <a:ext uri="{FF2B5EF4-FFF2-40B4-BE49-F238E27FC236}">
                    <a16:creationId xmlns:a16="http://schemas.microsoft.com/office/drawing/2014/main" id="{52FB6DCE-5B89-D1E3-4A3A-623E9591F76F}"/>
                  </a:ext>
                </a:extLst>
              </p:cNvPr>
              <p:cNvSpPr/>
              <p:nvPr/>
            </p:nvSpPr>
            <p:spPr>
              <a:xfrm>
                <a:off x="1502466" y="9324813"/>
                <a:ext cx="419734" cy="237490"/>
              </a:xfrm>
              <a:custGeom>
                <a:avLst/>
                <a:gdLst/>
                <a:ahLst/>
                <a:cxnLst/>
                <a:rect l="l" t="t" r="r" b="b"/>
                <a:pathLst>
                  <a:path w="419735" h="237490">
                    <a:moveTo>
                      <a:pt x="419620" y="0"/>
                    </a:moveTo>
                    <a:lnTo>
                      <a:pt x="0" y="0"/>
                    </a:lnTo>
                    <a:lnTo>
                      <a:pt x="0" y="19454"/>
                    </a:lnTo>
                    <a:lnTo>
                      <a:pt x="44103" y="209983"/>
                    </a:lnTo>
                    <a:lnTo>
                      <a:pt x="78322" y="236987"/>
                    </a:lnTo>
                    <a:lnTo>
                      <a:pt x="341298" y="236987"/>
                    </a:lnTo>
                    <a:lnTo>
                      <a:pt x="375349" y="209983"/>
                    </a:lnTo>
                    <a:lnTo>
                      <a:pt x="118907" y="202266"/>
                    </a:lnTo>
                    <a:lnTo>
                      <a:pt x="110687" y="196737"/>
                    </a:lnTo>
                    <a:lnTo>
                      <a:pt x="83013" y="58029"/>
                    </a:lnTo>
                    <a:lnTo>
                      <a:pt x="88384" y="49810"/>
                    </a:lnTo>
                    <a:lnTo>
                      <a:pt x="105326" y="46459"/>
                    </a:lnTo>
                    <a:lnTo>
                      <a:pt x="413346" y="46459"/>
                    </a:lnTo>
                    <a:lnTo>
                      <a:pt x="419620" y="19454"/>
                    </a:lnTo>
                    <a:lnTo>
                      <a:pt x="419620" y="0"/>
                    </a:lnTo>
                    <a:close/>
                  </a:path>
                  <a:path w="419735" h="237490">
                    <a:moveTo>
                      <a:pt x="314294" y="46459"/>
                    </a:moveTo>
                    <a:lnTo>
                      <a:pt x="105326" y="46459"/>
                    </a:lnTo>
                    <a:lnTo>
                      <a:pt x="113535" y="51998"/>
                    </a:lnTo>
                    <a:lnTo>
                      <a:pt x="141210" y="190695"/>
                    </a:lnTo>
                    <a:lnTo>
                      <a:pt x="135681" y="198915"/>
                    </a:lnTo>
                    <a:lnTo>
                      <a:pt x="118907" y="202266"/>
                    </a:lnTo>
                    <a:lnTo>
                      <a:pt x="300713" y="202266"/>
                    </a:lnTo>
                    <a:lnTo>
                      <a:pt x="299857" y="202098"/>
                    </a:lnTo>
                    <a:lnTo>
                      <a:pt x="201260" y="202098"/>
                    </a:lnTo>
                    <a:lnTo>
                      <a:pt x="194213" y="195062"/>
                    </a:lnTo>
                    <a:lnTo>
                      <a:pt x="194213" y="53673"/>
                    </a:lnTo>
                    <a:lnTo>
                      <a:pt x="201260" y="46626"/>
                    </a:lnTo>
                    <a:lnTo>
                      <a:pt x="314045" y="46626"/>
                    </a:lnTo>
                    <a:lnTo>
                      <a:pt x="314294" y="46459"/>
                    </a:lnTo>
                    <a:close/>
                  </a:path>
                  <a:path w="419735" h="237490">
                    <a:moveTo>
                      <a:pt x="413346" y="46459"/>
                    </a:moveTo>
                    <a:lnTo>
                      <a:pt x="314294" y="46459"/>
                    </a:lnTo>
                    <a:lnTo>
                      <a:pt x="331068" y="49810"/>
                    </a:lnTo>
                    <a:lnTo>
                      <a:pt x="336607" y="58029"/>
                    </a:lnTo>
                    <a:lnTo>
                      <a:pt x="308765" y="196737"/>
                    </a:lnTo>
                    <a:lnTo>
                      <a:pt x="300713" y="202266"/>
                    </a:lnTo>
                    <a:lnTo>
                      <a:pt x="377142" y="202266"/>
                    </a:lnTo>
                    <a:lnTo>
                      <a:pt x="413346" y="46459"/>
                    </a:lnTo>
                    <a:close/>
                  </a:path>
                  <a:path w="419735" h="237490">
                    <a:moveTo>
                      <a:pt x="314045" y="46626"/>
                    </a:moveTo>
                    <a:lnTo>
                      <a:pt x="218359" y="46626"/>
                    </a:lnTo>
                    <a:lnTo>
                      <a:pt x="225406" y="53673"/>
                    </a:lnTo>
                    <a:lnTo>
                      <a:pt x="225406" y="195062"/>
                    </a:lnTo>
                    <a:lnTo>
                      <a:pt x="218359" y="202098"/>
                    </a:lnTo>
                    <a:lnTo>
                      <a:pt x="299857" y="202098"/>
                    </a:lnTo>
                    <a:lnTo>
                      <a:pt x="283771" y="198915"/>
                    </a:lnTo>
                    <a:lnTo>
                      <a:pt x="278410" y="190695"/>
                    </a:lnTo>
                    <a:lnTo>
                      <a:pt x="306084" y="51998"/>
                    </a:lnTo>
                    <a:lnTo>
                      <a:pt x="314045" y="46626"/>
                    </a:lnTo>
                    <a:close/>
                  </a:path>
                </a:pathLst>
              </a:custGeom>
              <a:solidFill>
                <a:srgbClr val="FFBC33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216" name="object 216">
                <a:extLst>
                  <a:ext uri="{FF2B5EF4-FFF2-40B4-BE49-F238E27FC236}">
                    <a16:creationId xmlns:a16="http://schemas.microsoft.com/office/drawing/2014/main" id="{32BC0F6B-8A53-07E6-FA7F-F973591D6FD4}"/>
                  </a:ext>
                </a:extLst>
              </p:cNvPr>
              <p:cNvSpPr/>
              <p:nvPr/>
            </p:nvSpPr>
            <p:spPr>
              <a:xfrm>
                <a:off x="1479089" y="9289846"/>
                <a:ext cx="46672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54609">
                    <a:moveTo>
                      <a:pt x="462844" y="0"/>
                    </a:moveTo>
                    <a:lnTo>
                      <a:pt x="3476" y="0"/>
                    </a:lnTo>
                    <a:lnTo>
                      <a:pt x="0" y="3476"/>
                    </a:lnTo>
                    <a:lnTo>
                      <a:pt x="0" y="50930"/>
                    </a:lnTo>
                    <a:lnTo>
                      <a:pt x="3476" y="54406"/>
                    </a:lnTo>
                    <a:lnTo>
                      <a:pt x="7769" y="54406"/>
                    </a:lnTo>
                    <a:lnTo>
                      <a:pt x="462844" y="54406"/>
                    </a:lnTo>
                    <a:lnTo>
                      <a:pt x="466320" y="50930"/>
                    </a:lnTo>
                    <a:lnTo>
                      <a:pt x="466320" y="3476"/>
                    </a:lnTo>
                    <a:lnTo>
                      <a:pt x="462844" y="0"/>
                    </a:lnTo>
                    <a:close/>
                  </a:path>
                </a:pathLst>
              </a:custGeom>
              <a:solidFill>
                <a:srgbClr val="FFAC0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pic>
            <p:nvPicPr>
              <p:cNvPr id="217" name="object 217">
                <a:extLst>
                  <a:ext uri="{FF2B5EF4-FFF2-40B4-BE49-F238E27FC236}">
                    <a16:creationId xmlns:a16="http://schemas.microsoft.com/office/drawing/2014/main" id="{B9B07F43-148A-2A6A-D703-A032C3642448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1506542" y="9080004"/>
                <a:ext cx="411409" cy="234649"/>
              </a:xfrm>
              <a:prstGeom prst="rect">
                <a:avLst/>
              </a:prstGeom>
            </p:spPr>
          </p:pic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0B1FDCC8-E241-4043-85AE-BE614B34872E}"/>
                </a:ext>
              </a:extLst>
            </p:cNvPr>
            <p:cNvGrpSpPr/>
            <p:nvPr/>
          </p:nvGrpSpPr>
          <p:grpSpPr>
            <a:xfrm>
              <a:off x="1136650" y="3383724"/>
              <a:ext cx="8534399" cy="2423351"/>
              <a:chOff x="1136650" y="3231324"/>
              <a:chExt cx="8534399" cy="2423351"/>
            </a:xfrm>
          </p:grpSpPr>
          <p:sp>
            <p:nvSpPr>
              <p:cNvPr id="219" name="Rounded Rectangle 218">
                <a:extLst>
                  <a:ext uri="{FF2B5EF4-FFF2-40B4-BE49-F238E27FC236}">
                    <a16:creationId xmlns:a16="http://schemas.microsoft.com/office/drawing/2014/main" id="{BBF9BE7A-470C-7931-24E6-063CF6FC0268}"/>
                  </a:ext>
                </a:extLst>
              </p:cNvPr>
              <p:cNvSpPr/>
              <p:nvPr/>
            </p:nvSpPr>
            <p:spPr>
              <a:xfrm>
                <a:off x="1136650" y="3231324"/>
                <a:ext cx="8534399" cy="2423351"/>
              </a:xfrm>
              <a:prstGeom prst="roundRect">
                <a:avLst>
                  <a:gd name="adj" fmla="val 8003"/>
                </a:avLst>
              </a:prstGeom>
              <a:gradFill flip="none" rotWithShape="1">
                <a:gsLst>
                  <a:gs pos="64000">
                    <a:srgbClr val="E4E0FD"/>
                  </a:gs>
                  <a:gs pos="22000">
                    <a:srgbClr val="F1EEFE"/>
                  </a:gs>
                  <a:gs pos="0">
                    <a:srgbClr val="FEFEFF"/>
                  </a:gs>
                </a:gsLst>
                <a:lin ang="16200000" scaled="1"/>
                <a:tileRect/>
              </a:gradFill>
              <a:ln w="12700">
                <a:solidFill>
                  <a:srgbClr val="6139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36000" rIns="360000" bIns="36000" rtlCol="0" anchor="ctr"/>
              <a:lstStyle/>
              <a:p>
                <a:pPr algn="just">
                  <a:lnSpc>
                    <a:spcPct val="130000"/>
                  </a:lnSpc>
                </a:pPr>
                <a:endParaRPr lang="pt-PT" sz="1700" spc="15" dirty="0">
                  <a:solidFill>
                    <a:srgbClr val="241B54"/>
                  </a:solidFill>
                  <a:latin typeface="Open Sans"/>
                  <a:cs typeface="Open Sans"/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88AEA939-0F28-4DCB-2422-CACE868C088B}"/>
                  </a:ext>
                </a:extLst>
              </p:cNvPr>
              <p:cNvSpPr txBox="1"/>
              <p:nvPr/>
            </p:nvSpPr>
            <p:spPr>
              <a:xfrm>
                <a:off x="1441450" y="3521075"/>
                <a:ext cx="3056043" cy="1923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pt-PT" sz="1700" spc="10" dirty="0">
                    <a:solidFill>
                      <a:srgbClr val="241B54"/>
                    </a:solidFill>
                    <a:latin typeface="Open Sans"/>
                    <a:cs typeface="Open Sans"/>
                  </a:rPr>
                  <a:t>Expansão do crédito através de reservas mínimas obrigatórias</a:t>
                </a:r>
                <a:br>
                  <a:rPr lang="pt-PT" sz="1700" spc="10" dirty="0">
                    <a:solidFill>
                      <a:srgbClr val="241B54"/>
                    </a:solidFill>
                    <a:latin typeface="Open Sans"/>
                    <a:cs typeface="Open Sans"/>
                  </a:rPr>
                </a:br>
                <a:r>
                  <a:rPr lang="pt-PT" sz="1700" spc="10" dirty="0">
                    <a:solidFill>
                      <a:srgbClr val="241B54"/>
                    </a:solidFill>
                    <a:latin typeface="Open Sans"/>
                    <a:cs typeface="Open Sans"/>
                  </a:rPr>
                  <a:t>(os bancos comerciais criam dinheiro fiduciário e emprestam-no aos clientes).</a:t>
                </a:r>
              </a:p>
            </p:txBody>
          </p:sp>
          <p:pic>
            <p:nvPicPr>
              <p:cNvPr id="222" name="object 90">
                <a:extLst>
                  <a:ext uri="{FF2B5EF4-FFF2-40B4-BE49-F238E27FC236}">
                    <a16:creationId xmlns:a16="http://schemas.microsoft.com/office/drawing/2014/main" id="{96B6C8C6-4118-E8E1-134C-61E89CC93666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4531901" y="3662993"/>
                <a:ext cx="2196242" cy="1831850"/>
              </a:xfrm>
              <a:prstGeom prst="rect">
                <a:avLst/>
              </a:prstGeom>
            </p:spPr>
          </p:pic>
          <p:pic>
            <p:nvPicPr>
              <p:cNvPr id="223" name="object 91">
                <a:extLst>
                  <a:ext uri="{FF2B5EF4-FFF2-40B4-BE49-F238E27FC236}">
                    <a16:creationId xmlns:a16="http://schemas.microsoft.com/office/drawing/2014/main" id="{62C240A3-48B6-231B-0AC8-DAE96DDF2312}"/>
                  </a:ext>
                </a:extLst>
              </p:cNvPr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6242050" y="4100079"/>
                <a:ext cx="1322661" cy="487796"/>
              </a:xfrm>
              <a:prstGeom prst="rect">
                <a:avLst/>
              </a:prstGeom>
            </p:spPr>
          </p:pic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67300A6A-2DFF-7614-B52F-E781C6560458}"/>
                  </a:ext>
                </a:extLst>
              </p:cNvPr>
              <p:cNvGrpSpPr/>
              <p:nvPr/>
            </p:nvGrpSpPr>
            <p:grpSpPr>
              <a:xfrm>
                <a:off x="7668942" y="3597275"/>
                <a:ext cx="1757045" cy="1660800"/>
                <a:chOff x="7589968" y="2964596"/>
                <a:chExt cx="1757045" cy="1660800"/>
              </a:xfrm>
            </p:grpSpPr>
            <p:sp>
              <p:nvSpPr>
                <p:cNvPr id="225" name="object 8">
                  <a:extLst>
                    <a:ext uri="{FF2B5EF4-FFF2-40B4-BE49-F238E27FC236}">
                      <a16:creationId xmlns:a16="http://schemas.microsoft.com/office/drawing/2014/main" id="{0DAC7377-4B9B-A10D-C854-C22BBB22CD9D}"/>
                    </a:ext>
                  </a:extLst>
                </p:cNvPr>
                <p:cNvSpPr/>
                <p:nvPr/>
              </p:nvSpPr>
              <p:spPr>
                <a:xfrm>
                  <a:off x="7804804" y="3553085"/>
                  <a:ext cx="1327785" cy="984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784" h="984885">
                      <a:moveTo>
                        <a:pt x="0" y="984813"/>
                      </a:moveTo>
                      <a:lnTo>
                        <a:pt x="1327163" y="984813"/>
                      </a:lnTo>
                      <a:lnTo>
                        <a:pt x="1327163" y="0"/>
                      </a:lnTo>
                      <a:lnTo>
                        <a:pt x="0" y="0"/>
                      </a:lnTo>
                      <a:lnTo>
                        <a:pt x="0" y="9848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26" name="object 9">
                  <a:extLst>
                    <a:ext uri="{FF2B5EF4-FFF2-40B4-BE49-F238E27FC236}">
                      <a16:creationId xmlns:a16="http://schemas.microsoft.com/office/drawing/2014/main" id="{2F35A30E-FDB8-FF11-EF35-571EB4E4F810}"/>
                    </a:ext>
                  </a:extLst>
                </p:cNvPr>
                <p:cNvSpPr/>
                <p:nvPr/>
              </p:nvSpPr>
              <p:spPr>
                <a:xfrm>
                  <a:off x="7804804" y="3439367"/>
                  <a:ext cx="1327785" cy="109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784" h="1098550">
                      <a:moveTo>
                        <a:pt x="1327163" y="1098531"/>
                      </a:moveTo>
                      <a:lnTo>
                        <a:pt x="0" y="1098500"/>
                      </a:lnTo>
                      <a:lnTo>
                        <a:pt x="0" y="0"/>
                      </a:lnTo>
                      <a:lnTo>
                        <a:pt x="1327163" y="31"/>
                      </a:lnTo>
                      <a:lnTo>
                        <a:pt x="1327163" y="1098531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27" name="object 10">
                  <a:extLst>
                    <a:ext uri="{FF2B5EF4-FFF2-40B4-BE49-F238E27FC236}">
                      <a16:creationId xmlns:a16="http://schemas.microsoft.com/office/drawing/2014/main" id="{0235322D-4FDE-D6B9-AC1A-997EE7054974}"/>
                    </a:ext>
                  </a:extLst>
                </p:cNvPr>
                <p:cNvSpPr/>
                <p:nvPr/>
              </p:nvSpPr>
              <p:spPr>
                <a:xfrm>
                  <a:off x="7707761" y="4518398"/>
                  <a:ext cx="152146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459" h="35560">
                      <a:moveTo>
                        <a:pt x="0" y="35242"/>
                      </a:moveTo>
                      <a:lnTo>
                        <a:pt x="1521252" y="35242"/>
                      </a:lnTo>
                      <a:lnTo>
                        <a:pt x="1521252" y="0"/>
                      </a:lnTo>
                      <a:lnTo>
                        <a:pt x="0" y="0"/>
                      </a:lnTo>
                      <a:lnTo>
                        <a:pt x="0" y="35242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28" name="object 11">
                  <a:extLst>
                    <a:ext uri="{FF2B5EF4-FFF2-40B4-BE49-F238E27FC236}">
                      <a16:creationId xmlns:a16="http://schemas.microsoft.com/office/drawing/2014/main" id="{23BFE753-D4F9-DFFC-7DC7-1A53C2D51701}"/>
                    </a:ext>
                  </a:extLst>
                </p:cNvPr>
                <p:cNvSpPr/>
                <p:nvPr/>
              </p:nvSpPr>
              <p:spPr>
                <a:xfrm>
                  <a:off x="7707761" y="4518398"/>
                  <a:ext cx="1521460" cy="38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459" h="38735">
                      <a:moveTo>
                        <a:pt x="1521252" y="38114"/>
                      </a:moveTo>
                      <a:lnTo>
                        <a:pt x="0" y="38114"/>
                      </a:lnTo>
                      <a:lnTo>
                        <a:pt x="0" y="0"/>
                      </a:lnTo>
                      <a:lnTo>
                        <a:pt x="1521252" y="0"/>
                      </a:lnTo>
                      <a:lnTo>
                        <a:pt x="1521252" y="38114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29" name="object 12">
                  <a:extLst>
                    <a:ext uri="{FF2B5EF4-FFF2-40B4-BE49-F238E27FC236}">
                      <a16:creationId xmlns:a16="http://schemas.microsoft.com/office/drawing/2014/main" id="{1846072D-1BEF-920A-A926-78515189AA22}"/>
                    </a:ext>
                  </a:extLst>
                </p:cNvPr>
                <p:cNvSpPr/>
                <p:nvPr/>
              </p:nvSpPr>
              <p:spPr>
                <a:xfrm>
                  <a:off x="7589968" y="4553641"/>
                  <a:ext cx="1757045" cy="7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045" h="71754">
                      <a:moveTo>
                        <a:pt x="1756847" y="0"/>
                      </a:moveTo>
                      <a:lnTo>
                        <a:pt x="0" y="0"/>
                      </a:lnTo>
                      <a:lnTo>
                        <a:pt x="0" y="71641"/>
                      </a:lnTo>
                      <a:lnTo>
                        <a:pt x="1756847" y="71641"/>
                      </a:lnTo>
                      <a:lnTo>
                        <a:pt x="175684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0" name="object 13">
                  <a:extLst>
                    <a:ext uri="{FF2B5EF4-FFF2-40B4-BE49-F238E27FC236}">
                      <a16:creationId xmlns:a16="http://schemas.microsoft.com/office/drawing/2014/main" id="{6056E5A7-13CE-5B0E-1DD3-93F709B3F092}"/>
                    </a:ext>
                  </a:extLst>
                </p:cNvPr>
                <p:cNvSpPr/>
                <p:nvPr/>
              </p:nvSpPr>
              <p:spPr>
                <a:xfrm>
                  <a:off x="7589968" y="4553641"/>
                  <a:ext cx="1757045" cy="7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045" h="71754">
                      <a:moveTo>
                        <a:pt x="1756847" y="71641"/>
                      </a:moveTo>
                      <a:lnTo>
                        <a:pt x="0" y="71641"/>
                      </a:lnTo>
                      <a:lnTo>
                        <a:pt x="0" y="0"/>
                      </a:lnTo>
                      <a:lnTo>
                        <a:pt x="1756847" y="0"/>
                      </a:lnTo>
                      <a:lnTo>
                        <a:pt x="1756847" y="71641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1" name="object 14">
                  <a:extLst>
                    <a:ext uri="{FF2B5EF4-FFF2-40B4-BE49-F238E27FC236}">
                      <a16:creationId xmlns:a16="http://schemas.microsoft.com/office/drawing/2014/main" id="{DE1F9410-50E1-D496-1F17-69DE1FFB8A0C}"/>
                    </a:ext>
                  </a:extLst>
                </p:cNvPr>
                <p:cNvSpPr/>
                <p:nvPr/>
              </p:nvSpPr>
              <p:spPr>
                <a:xfrm>
                  <a:off x="7983499" y="3724661"/>
                  <a:ext cx="970280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279" h="552450">
                      <a:moveTo>
                        <a:pt x="101447" y="343496"/>
                      </a:moveTo>
                      <a:lnTo>
                        <a:pt x="0" y="343496"/>
                      </a:lnTo>
                      <a:lnTo>
                        <a:pt x="0" y="552107"/>
                      </a:lnTo>
                      <a:lnTo>
                        <a:pt x="101447" y="552107"/>
                      </a:lnTo>
                      <a:lnTo>
                        <a:pt x="101447" y="343496"/>
                      </a:lnTo>
                      <a:close/>
                    </a:path>
                    <a:path w="970279" h="552450">
                      <a:moveTo>
                        <a:pt x="101447" y="0"/>
                      </a:moveTo>
                      <a:lnTo>
                        <a:pt x="0" y="0"/>
                      </a:lnTo>
                      <a:lnTo>
                        <a:pt x="0" y="208572"/>
                      </a:lnTo>
                      <a:lnTo>
                        <a:pt x="101447" y="208572"/>
                      </a:lnTo>
                      <a:lnTo>
                        <a:pt x="101447" y="0"/>
                      </a:lnTo>
                      <a:close/>
                    </a:path>
                    <a:path w="970279" h="552450">
                      <a:moveTo>
                        <a:pt x="531723" y="0"/>
                      </a:moveTo>
                      <a:lnTo>
                        <a:pt x="430276" y="0"/>
                      </a:lnTo>
                      <a:lnTo>
                        <a:pt x="430276" y="208572"/>
                      </a:lnTo>
                      <a:lnTo>
                        <a:pt x="531723" y="208572"/>
                      </a:lnTo>
                      <a:lnTo>
                        <a:pt x="531723" y="0"/>
                      </a:lnTo>
                      <a:close/>
                    </a:path>
                    <a:path w="970279" h="552450">
                      <a:moveTo>
                        <a:pt x="969746" y="343496"/>
                      </a:moveTo>
                      <a:lnTo>
                        <a:pt x="868311" y="343496"/>
                      </a:lnTo>
                      <a:lnTo>
                        <a:pt x="868311" y="552107"/>
                      </a:lnTo>
                      <a:lnTo>
                        <a:pt x="969746" y="552107"/>
                      </a:lnTo>
                      <a:lnTo>
                        <a:pt x="969746" y="343496"/>
                      </a:lnTo>
                      <a:close/>
                    </a:path>
                    <a:path w="970279" h="552450">
                      <a:moveTo>
                        <a:pt x="969746" y="0"/>
                      </a:moveTo>
                      <a:lnTo>
                        <a:pt x="868311" y="0"/>
                      </a:lnTo>
                      <a:lnTo>
                        <a:pt x="868311" y="208572"/>
                      </a:lnTo>
                      <a:lnTo>
                        <a:pt x="969746" y="208572"/>
                      </a:lnTo>
                      <a:lnTo>
                        <a:pt x="969746" y="0"/>
                      </a:lnTo>
                      <a:close/>
                    </a:path>
                  </a:pathLst>
                </a:custGeom>
                <a:solidFill>
                  <a:srgbClr val="241B54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2" name="object 15">
                  <a:extLst>
                    <a:ext uri="{FF2B5EF4-FFF2-40B4-BE49-F238E27FC236}">
                      <a16:creationId xmlns:a16="http://schemas.microsoft.com/office/drawing/2014/main" id="{A60BBD0F-A5BB-DBB7-08E0-C57C2C932A6E}"/>
                    </a:ext>
                  </a:extLst>
                </p:cNvPr>
                <p:cNvSpPr/>
                <p:nvPr/>
              </p:nvSpPr>
              <p:spPr>
                <a:xfrm>
                  <a:off x="8370865" y="4159663"/>
                  <a:ext cx="191135" cy="35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34" h="358775">
                      <a:moveTo>
                        <a:pt x="190852" y="0"/>
                      </a:moveTo>
                      <a:lnTo>
                        <a:pt x="0" y="0"/>
                      </a:lnTo>
                      <a:lnTo>
                        <a:pt x="0" y="358743"/>
                      </a:lnTo>
                      <a:lnTo>
                        <a:pt x="190852" y="358743"/>
                      </a:lnTo>
                      <a:lnTo>
                        <a:pt x="190852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3" name="object 16">
                  <a:extLst>
                    <a:ext uri="{FF2B5EF4-FFF2-40B4-BE49-F238E27FC236}">
                      <a16:creationId xmlns:a16="http://schemas.microsoft.com/office/drawing/2014/main" id="{208034B6-4F04-07CA-2F42-A87C1EE27CB2}"/>
                    </a:ext>
                  </a:extLst>
                </p:cNvPr>
                <p:cNvSpPr/>
                <p:nvPr/>
              </p:nvSpPr>
              <p:spPr>
                <a:xfrm>
                  <a:off x="8370865" y="4159663"/>
                  <a:ext cx="191135" cy="35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34" h="358775">
                      <a:moveTo>
                        <a:pt x="190852" y="358743"/>
                      </a:moveTo>
                      <a:lnTo>
                        <a:pt x="0" y="358743"/>
                      </a:lnTo>
                      <a:lnTo>
                        <a:pt x="0" y="0"/>
                      </a:lnTo>
                      <a:lnTo>
                        <a:pt x="190852" y="0"/>
                      </a:lnTo>
                      <a:lnTo>
                        <a:pt x="190852" y="358743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4" name="object 17">
                  <a:extLst>
                    <a:ext uri="{FF2B5EF4-FFF2-40B4-BE49-F238E27FC236}">
                      <a16:creationId xmlns:a16="http://schemas.microsoft.com/office/drawing/2014/main" id="{C1904FFD-30C1-6C45-70F8-87D5C5AA5217}"/>
                    </a:ext>
                  </a:extLst>
                </p:cNvPr>
                <p:cNvSpPr/>
                <p:nvPr/>
              </p:nvSpPr>
              <p:spPr>
                <a:xfrm>
                  <a:off x="8393112" y="4181569"/>
                  <a:ext cx="151130" cy="264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29" h="264795">
                      <a:moveTo>
                        <a:pt x="64579" y="0"/>
                      </a:moveTo>
                      <a:lnTo>
                        <a:pt x="0" y="0"/>
                      </a:lnTo>
                      <a:lnTo>
                        <a:pt x="0" y="264363"/>
                      </a:lnTo>
                      <a:lnTo>
                        <a:pt x="64579" y="264363"/>
                      </a:lnTo>
                      <a:lnTo>
                        <a:pt x="64579" y="0"/>
                      </a:lnTo>
                      <a:close/>
                    </a:path>
                    <a:path w="151129" h="264795">
                      <a:moveTo>
                        <a:pt x="150533" y="0"/>
                      </a:moveTo>
                      <a:lnTo>
                        <a:pt x="85953" y="0"/>
                      </a:lnTo>
                      <a:lnTo>
                        <a:pt x="85953" y="264363"/>
                      </a:lnTo>
                      <a:lnTo>
                        <a:pt x="150533" y="264363"/>
                      </a:lnTo>
                      <a:lnTo>
                        <a:pt x="150533" y="0"/>
                      </a:lnTo>
                      <a:close/>
                    </a:path>
                  </a:pathLst>
                </a:custGeom>
                <a:solidFill>
                  <a:srgbClr val="241B54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5" name="object 18">
                  <a:extLst>
                    <a:ext uri="{FF2B5EF4-FFF2-40B4-BE49-F238E27FC236}">
                      <a16:creationId xmlns:a16="http://schemas.microsoft.com/office/drawing/2014/main" id="{AF4B1DB6-BFDE-BF72-5EC9-C73C2B73E9AB}"/>
                    </a:ext>
                  </a:extLst>
                </p:cNvPr>
                <p:cNvSpPr/>
                <p:nvPr/>
              </p:nvSpPr>
              <p:spPr>
                <a:xfrm>
                  <a:off x="8991747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73" y="0"/>
                      </a:moveTo>
                      <a:lnTo>
                        <a:pt x="0" y="0"/>
                      </a:lnTo>
                      <a:lnTo>
                        <a:pt x="0" y="35182"/>
                      </a:lnTo>
                      <a:lnTo>
                        <a:pt x="198873" y="35182"/>
                      </a:lnTo>
                      <a:lnTo>
                        <a:pt x="198873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6" name="object 19">
                  <a:extLst>
                    <a:ext uri="{FF2B5EF4-FFF2-40B4-BE49-F238E27FC236}">
                      <a16:creationId xmlns:a16="http://schemas.microsoft.com/office/drawing/2014/main" id="{C2A01FCA-2276-92D9-6A35-1A8B78D453F5}"/>
                    </a:ext>
                  </a:extLst>
                </p:cNvPr>
                <p:cNvSpPr/>
                <p:nvPr/>
              </p:nvSpPr>
              <p:spPr>
                <a:xfrm>
                  <a:off x="8991747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73" y="35182"/>
                      </a:moveTo>
                      <a:lnTo>
                        <a:pt x="0" y="35182"/>
                      </a:lnTo>
                      <a:lnTo>
                        <a:pt x="0" y="0"/>
                      </a:lnTo>
                      <a:lnTo>
                        <a:pt x="198873" y="0"/>
                      </a:lnTo>
                      <a:lnTo>
                        <a:pt x="198873" y="3518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7" name="object 20">
                  <a:extLst>
                    <a:ext uri="{FF2B5EF4-FFF2-40B4-BE49-F238E27FC236}">
                      <a16:creationId xmlns:a16="http://schemas.microsoft.com/office/drawing/2014/main" id="{B50EC84C-C06E-CDA4-4AC5-45BB6D39D24C}"/>
                    </a:ext>
                  </a:extLst>
                </p:cNvPr>
                <p:cNvSpPr/>
                <p:nvPr/>
              </p:nvSpPr>
              <p:spPr>
                <a:xfrm>
                  <a:off x="8998839" y="3653097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0" y="0"/>
                      </a:moveTo>
                      <a:lnTo>
                        <a:pt x="0" y="0"/>
                      </a:lnTo>
                      <a:lnTo>
                        <a:pt x="0" y="1879"/>
                      </a:lnTo>
                      <a:lnTo>
                        <a:pt x="0" y="33388"/>
                      </a:lnTo>
                      <a:lnTo>
                        <a:pt x="0" y="35191"/>
                      </a:lnTo>
                      <a:lnTo>
                        <a:pt x="184670" y="35191"/>
                      </a:lnTo>
                      <a:lnTo>
                        <a:pt x="184670" y="33388"/>
                      </a:lnTo>
                      <a:lnTo>
                        <a:pt x="184670" y="1879"/>
                      </a:lnTo>
                      <a:lnTo>
                        <a:pt x="184670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8" name="object 21">
                  <a:extLst>
                    <a:ext uri="{FF2B5EF4-FFF2-40B4-BE49-F238E27FC236}">
                      <a16:creationId xmlns:a16="http://schemas.microsoft.com/office/drawing/2014/main" id="{A014CEE6-E905-0D20-551C-3B524FCFD558}"/>
                    </a:ext>
                  </a:extLst>
                </p:cNvPr>
                <p:cNvSpPr/>
                <p:nvPr/>
              </p:nvSpPr>
              <p:spPr>
                <a:xfrm>
                  <a:off x="8998846" y="36530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35192"/>
                      </a:moveTo>
                      <a:lnTo>
                        <a:pt x="0" y="35192"/>
                      </a:lnTo>
                      <a:lnTo>
                        <a:pt x="0" y="0"/>
                      </a:lnTo>
                      <a:lnTo>
                        <a:pt x="184675" y="0"/>
                      </a:lnTo>
                      <a:lnTo>
                        <a:pt x="184675" y="3519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39" name="object 22">
                  <a:extLst>
                    <a:ext uri="{FF2B5EF4-FFF2-40B4-BE49-F238E27FC236}">
                      <a16:creationId xmlns:a16="http://schemas.microsoft.com/office/drawing/2014/main" id="{ECE58E20-61D5-E41A-7A09-88814986ED55}"/>
                    </a:ext>
                  </a:extLst>
                </p:cNvPr>
                <p:cNvSpPr/>
                <p:nvPr/>
              </p:nvSpPr>
              <p:spPr>
                <a:xfrm>
                  <a:off x="9002396" y="3588267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0"/>
                      </a:moveTo>
                      <a:lnTo>
                        <a:pt x="0" y="0"/>
                      </a:lnTo>
                      <a:lnTo>
                        <a:pt x="0" y="66699"/>
                      </a:lnTo>
                      <a:lnTo>
                        <a:pt x="177575" y="66699"/>
                      </a:lnTo>
                      <a:lnTo>
                        <a:pt x="17757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0" name="object 23">
                  <a:extLst>
                    <a:ext uri="{FF2B5EF4-FFF2-40B4-BE49-F238E27FC236}">
                      <a16:creationId xmlns:a16="http://schemas.microsoft.com/office/drawing/2014/main" id="{82921120-133F-A563-14BE-C40063FAAD27}"/>
                    </a:ext>
                  </a:extLst>
                </p:cNvPr>
                <p:cNvSpPr/>
                <p:nvPr/>
              </p:nvSpPr>
              <p:spPr>
                <a:xfrm>
                  <a:off x="9002396" y="3588267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66699"/>
                      </a:moveTo>
                      <a:lnTo>
                        <a:pt x="0" y="66699"/>
                      </a:lnTo>
                      <a:lnTo>
                        <a:pt x="0" y="0"/>
                      </a:lnTo>
                      <a:lnTo>
                        <a:pt x="177575" y="0"/>
                      </a:lnTo>
                      <a:lnTo>
                        <a:pt x="177575" y="66699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1" name="object 24">
                  <a:extLst>
                    <a:ext uri="{FF2B5EF4-FFF2-40B4-BE49-F238E27FC236}">
                      <a16:creationId xmlns:a16="http://schemas.microsoft.com/office/drawing/2014/main" id="{E1E6115E-0212-089C-0FD4-ABE5441412BF}"/>
                    </a:ext>
                  </a:extLst>
                </p:cNvPr>
                <p:cNvSpPr/>
                <p:nvPr/>
              </p:nvSpPr>
              <p:spPr>
                <a:xfrm>
                  <a:off x="9002396" y="3686474"/>
                  <a:ext cx="177800" cy="6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95325">
                      <a:moveTo>
                        <a:pt x="177575" y="0"/>
                      </a:moveTo>
                      <a:lnTo>
                        <a:pt x="0" y="0"/>
                      </a:lnTo>
                      <a:lnTo>
                        <a:pt x="0" y="694847"/>
                      </a:lnTo>
                      <a:lnTo>
                        <a:pt x="177575" y="694847"/>
                      </a:lnTo>
                      <a:lnTo>
                        <a:pt x="17757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2" name="object 25">
                  <a:extLst>
                    <a:ext uri="{FF2B5EF4-FFF2-40B4-BE49-F238E27FC236}">
                      <a16:creationId xmlns:a16="http://schemas.microsoft.com/office/drawing/2014/main" id="{C770448E-75A5-1156-3B65-9BE204B86356}"/>
                    </a:ext>
                  </a:extLst>
                </p:cNvPr>
                <p:cNvSpPr/>
                <p:nvPr/>
              </p:nvSpPr>
              <p:spPr>
                <a:xfrm>
                  <a:off x="9002396" y="3686474"/>
                  <a:ext cx="177800" cy="6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95325">
                      <a:moveTo>
                        <a:pt x="177575" y="694847"/>
                      </a:moveTo>
                      <a:lnTo>
                        <a:pt x="0" y="694847"/>
                      </a:lnTo>
                      <a:lnTo>
                        <a:pt x="0" y="0"/>
                      </a:lnTo>
                      <a:lnTo>
                        <a:pt x="177575" y="0"/>
                      </a:lnTo>
                      <a:lnTo>
                        <a:pt x="177575" y="694847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3" name="object 26">
                  <a:extLst>
                    <a:ext uri="{FF2B5EF4-FFF2-40B4-BE49-F238E27FC236}">
                      <a16:creationId xmlns:a16="http://schemas.microsoft.com/office/drawing/2014/main" id="{3C0E983A-8CCC-AB34-AA3C-D2BE6CA3D00F}"/>
                    </a:ext>
                  </a:extLst>
                </p:cNvPr>
                <p:cNvSpPr/>
                <p:nvPr/>
              </p:nvSpPr>
              <p:spPr>
                <a:xfrm>
                  <a:off x="9033459" y="3712419"/>
                  <a:ext cx="115570" cy="64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643254">
                      <a:moveTo>
                        <a:pt x="19532" y="4622"/>
                      </a:moveTo>
                      <a:lnTo>
                        <a:pt x="15138" y="0"/>
                      </a:lnTo>
                      <a:lnTo>
                        <a:pt x="4394" y="0"/>
                      </a:lnTo>
                      <a:lnTo>
                        <a:pt x="0" y="4622"/>
                      </a:lnTo>
                      <a:lnTo>
                        <a:pt x="0" y="638327"/>
                      </a:lnTo>
                      <a:lnTo>
                        <a:pt x="4394" y="642950"/>
                      </a:lnTo>
                      <a:lnTo>
                        <a:pt x="15138" y="642950"/>
                      </a:lnTo>
                      <a:lnTo>
                        <a:pt x="19532" y="638327"/>
                      </a:lnTo>
                      <a:lnTo>
                        <a:pt x="19532" y="632675"/>
                      </a:lnTo>
                      <a:lnTo>
                        <a:pt x="19532" y="4622"/>
                      </a:lnTo>
                      <a:close/>
                    </a:path>
                    <a:path w="115570" h="643254">
                      <a:moveTo>
                        <a:pt x="67487" y="4622"/>
                      </a:moveTo>
                      <a:lnTo>
                        <a:pt x="63093" y="0"/>
                      </a:lnTo>
                      <a:lnTo>
                        <a:pt x="52349" y="0"/>
                      </a:lnTo>
                      <a:lnTo>
                        <a:pt x="47955" y="4622"/>
                      </a:lnTo>
                      <a:lnTo>
                        <a:pt x="47955" y="638327"/>
                      </a:lnTo>
                      <a:lnTo>
                        <a:pt x="52349" y="642950"/>
                      </a:lnTo>
                      <a:lnTo>
                        <a:pt x="63093" y="642950"/>
                      </a:lnTo>
                      <a:lnTo>
                        <a:pt x="67487" y="638327"/>
                      </a:lnTo>
                      <a:lnTo>
                        <a:pt x="67487" y="632675"/>
                      </a:lnTo>
                      <a:lnTo>
                        <a:pt x="67487" y="4622"/>
                      </a:lnTo>
                      <a:close/>
                    </a:path>
                    <a:path w="115570" h="643254">
                      <a:moveTo>
                        <a:pt x="115417" y="4622"/>
                      </a:moveTo>
                      <a:lnTo>
                        <a:pt x="111023" y="0"/>
                      </a:lnTo>
                      <a:lnTo>
                        <a:pt x="100279" y="0"/>
                      </a:lnTo>
                      <a:lnTo>
                        <a:pt x="95885" y="4622"/>
                      </a:lnTo>
                      <a:lnTo>
                        <a:pt x="95885" y="638327"/>
                      </a:lnTo>
                      <a:lnTo>
                        <a:pt x="100279" y="642950"/>
                      </a:lnTo>
                      <a:lnTo>
                        <a:pt x="111023" y="642950"/>
                      </a:lnTo>
                      <a:lnTo>
                        <a:pt x="115417" y="638327"/>
                      </a:lnTo>
                      <a:lnTo>
                        <a:pt x="115417" y="632675"/>
                      </a:lnTo>
                      <a:lnTo>
                        <a:pt x="115417" y="4622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4" name="object 27">
                  <a:extLst>
                    <a:ext uri="{FF2B5EF4-FFF2-40B4-BE49-F238E27FC236}">
                      <a16:creationId xmlns:a16="http://schemas.microsoft.com/office/drawing/2014/main" id="{90F2DE21-0390-ADDD-34F4-93AB34DC3153}"/>
                    </a:ext>
                  </a:extLst>
                </p:cNvPr>
                <p:cNvSpPr/>
                <p:nvPr/>
              </p:nvSpPr>
              <p:spPr>
                <a:xfrm>
                  <a:off x="8984648" y="4475821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5" name="object 28">
                  <a:extLst>
                    <a:ext uri="{FF2B5EF4-FFF2-40B4-BE49-F238E27FC236}">
                      <a16:creationId xmlns:a16="http://schemas.microsoft.com/office/drawing/2014/main" id="{C0793E5A-E30A-55E7-61F8-5E1C64E6975C}"/>
                    </a:ext>
                  </a:extLst>
                </p:cNvPr>
                <p:cNvSpPr/>
                <p:nvPr/>
              </p:nvSpPr>
              <p:spPr>
                <a:xfrm>
                  <a:off x="8984648" y="4475821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6" name="object 29">
                  <a:extLst>
                    <a:ext uri="{FF2B5EF4-FFF2-40B4-BE49-F238E27FC236}">
                      <a16:creationId xmlns:a16="http://schemas.microsoft.com/office/drawing/2014/main" id="{ECBB07AB-6BAD-B841-BD0D-6C722ADFAF08}"/>
                    </a:ext>
                  </a:extLst>
                </p:cNvPr>
                <p:cNvSpPr/>
                <p:nvPr/>
              </p:nvSpPr>
              <p:spPr>
                <a:xfrm>
                  <a:off x="8998839" y="437580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0" y="0"/>
                      </a:moveTo>
                      <a:lnTo>
                        <a:pt x="0" y="0"/>
                      </a:lnTo>
                      <a:lnTo>
                        <a:pt x="0" y="33312"/>
                      </a:lnTo>
                      <a:lnTo>
                        <a:pt x="0" y="35166"/>
                      </a:lnTo>
                      <a:lnTo>
                        <a:pt x="184670" y="35166"/>
                      </a:lnTo>
                      <a:lnTo>
                        <a:pt x="184670" y="33312"/>
                      </a:lnTo>
                      <a:lnTo>
                        <a:pt x="184670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7" name="object 30">
                  <a:extLst>
                    <a:ext uri="{FF2B5EF4-FFF2-40B4-BE49-F238E27FC236}">
                      <a16:creationId xmlns:a16="http://schemas.microsoft.com/office/drawing/2014/main" id="{BFF1C210-B20D-5C25-7648-CBA30E044318}"/>
                    </a:ext>
                  </a:extLst>
                </p:cNvPr>
                <p:cNvSpPr/>
                <p:nvPr/>
              </p:nvSpPr>
              <p:spPr>
                <a:xfrm>
                  <a:off x="8998846" y="43757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0"/>
                      </a:moveTo>
                      <a:lnTo>
                        <a:pt x="0" y="0"/>
                      </a:lnTo>
                      <a:lnTo>
                        <a:pt x="0" y="35171"/>
                      </a:lnTo>
                      <a:lnTo>
                        <a:pt x="184675" y="35171"/>
                      </a:lnTo>
                      <a:lnTo>
                        <a:pt x="18467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8" name="object 31">
                  <a:extLst>
                    <a:ext uri="{FF2B5EF4-FFF2-40B4-BE49-F238E27FC236}">
                      <a16:creationId xmlns:a16="http://schemas.microsoft.com/office/drawing/2014/main" id="{0BC25607-23D0-B70C-897D-4DCB64A356A8}"/>
                    </a:ext>
                  </a:extLst>
                </p:cNvPr>
                <p:cNvSpPr/>
                <p:nvPr/>
              </p:nvSpPr>
              <p:spPr>
                <a:xfrm>
                  <a:off x="9002396" y="4409111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75" y="66710"/>
                      </a:lnTo>
                      <a:lnTo>
                        <a:pt x="17757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49" name="object 32">
                  <a:extLst>
                    <a:ext uri="{FF2B5EF4-FFF2-40B4-BE49-F238E27FC236}">
                      <a16:creationId xmlns:a16="http://schemas.microsoft.com/office/drawing/2014/main" id="{3DCF05BE-3F02-F250-1C92-121289C8BF28}"/>
                    </a:ext>
                  </a:extLst>
                </p:cNvPr>
                <p:cNvSpPr/>
                <p:nvPr/>
              </p:nvSpPr>
              <p:spPr>
                <a:xfrm>
                  <a:off x="9002396" y="4409111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75" y="66710"/>
                      </a:lnTo>
                      <a:lnTo>
                        <a:pt x="17757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0" name="object 33">
                  <a:extLst>
                    <a:ext uri="{FF2B5EF4-FFF2-40B4-BE49-F238E27FC236}">
                      <a16:creationId xmlns:a16="http://schemas.microsoft.com/office/drawing/2014/main" id="{4ED55B35-A831-DCB1-173D-F353F12018DD}"/>
                    </a:ext>
                  </a:extLst>
                </p:cNvPr>
                <p:cNvSpPr/>
                <p:nvPr/>
              </p:nvSpPr>
              <p:spPr>
                <a:xfrm>
                  <a:off x="8610753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73" y="0"/>
                      </a:moveTo>
                      <a:lnTo>
                        <a:pt x="0" y="0"/>
                      </a:lnTo>
                      <a:lnTo>
                        <a:pt x="0" y="35182"/>
                      </a:lnTo>
                      <a:lnTo>
                        <a:pt x="198873" y="35182"/>
                      </a:lnTo>
                      <a:lnTo>
                        <a:pt x="198873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1" name="object 34">
                  <a:extLst>
                    <a:ext uri="{FF2B5EF4-FFF2-40B4-BE49-F238E27FC236}">
                      <a16:creationId xmlns:a16="http://schemas.microsoft.com/office/drawing/2014/main" id="{A6517E36-32D2-4BC8-2078-D112A241966D}"/>
                    </a:ext>
                  </a:extLst>
                </p:cNvPr>
                <p:cNvSpPr/>
                <p:nvPr/>
              </p:nvSpPr>
              <p:spPr>
                <a:xfrm>
                  <a:off x="8610753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73" y="35182"/>
                      </a:moveTo>
                      <a:lnTo>
                        <a:pt x="0" y="35182"/>
                      </a:lnTo>
                      <a:lnTo>
                        <a:pt x="0" y="0"/>
                      </a:lnTo>
                      <a:lnTo>
                        <a:pt x="198873" y="0"/>
                      </a:lnTo>
                      <a:lnTo>
                        <a:pt x="198873" y="3518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2" name="object 35">
                  <a:extLst>
                    <a:ext uri="{FF2B5EF4-FFF2-40B4-BE49-F238E27FC236}">
                      <a16:creationId xmlns:a16="http://schemas.microsoft.com/office/drawing/2014/main" id="{A503D821-9E7E-2D68-7729-75B8683CB7D2}"/>
                    </a:ext>
                  </a:extLst>
                </p:cNvPr>
                <p:cNvSpPr/>
                <p:nvPr/>
              </p:nvSpPr>
              <p:spPr>
                <a:xfrm>
                  <a:off x="8617852" y="3653097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0" y="0"/>
                      </a:moveTo>
                      <a:lnTo>
                        <a:pt x="0" y="0"/>
                      </a:lnTo>
                      <a:lnTo>
                        <a:pt x="0" y="1879"/>
                      </a:lnTo>
                      <a:lnTo>
                        <a:pt x="0" y="33388"/>
                      </a:lnTo>
                      <a:lnTo>
                        <a:pt x="0" y="35191"/>
                      </a:lnTo>
                      <a:lnTo>
                        <a:pt x="184670" y="35191"/>
                      </a:lnTo>
                      <a:lnTo>
                        <a:pt x="184670" y="33388"/>
                      </a:lnTo>
                      <a:lnTo>
                        <a:pt x="184670" y="1879"/>
                      </a:lnTo>
                      <a:lnTo>
                        <a:pt x="184670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3" name="object 36">
                  <a:extLst>
                    <a:ext uri="{FF2B5EF4-FFF2-40B4-BE49-F238E27FC236}">
                      <a16:creationId xmlns:a16="http://schemas.microsoft.com/office/drawing/2014/main" id="{E8B4B4FE-FFAB-F666-F0CC-1B2907A1D7D1}"/>
                    </a:ext>
                  </a:extLst>
                </p:cNvPr>
                <p:cNvSpPr/>
                <p:nvPr/>
              </p:nvSpPr>
              <p:spPr>
                <a:xfrm>
                  <a:off x="8617853" y="36530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35192"/>
                      </a:moveTo>
                      <a:lnTo>
                        <a:pt x="0" y="35192"/>
                      </a:lnTo>
                      <a:lnTo>
                        <a:pt x="0" y="0"/>
                      </a:lnTo>
                      <a:lnTo>
                        <a:pt x="184675" y="0"/>
                      </a:lnTo>
                      <a:lnTo>
                        <a:pt x="184675" y="3519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4" name="object 37">
                  <a:extLst>
                    <a:ext uri="{FF2B5EF4-FFF2-40B4-BE49-F238E27FC236}">
                      <a16:creationId xmlns:a16="http://schemas.microsoft.com/office/drawing/2014/main" id="{75CBF549-E0C2-90EF-D7BF-467E7C637942}"/>
                    </a:ext>
                  </a:extLst>
                </p:cNvPr>
                <p:cNvSpPr/>
                <p:nvPr/>
              </p:nvSpPr>
              <p:spPr>
                <a:xfrm>
                  <a:off x="8621412" y="3588267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65" y="0"/>
                      </a:moveTo>
                      <a:lnTo>
                        <a:pt x="0" y="0"/>
                      </a:lnTo>
                      <a:lnTo>
                        <a:pt x="0" y="66699"/>
                      </a:lnTo>
                      <a:lnTo>
                        <a:pt x="177565" y="66699"/>
                      </a:lnTo>
                      <a:lnTo>
                        <a:pt x="17756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5" name="object 38">
                  <a:extLst>
                    <a:ext uri="{FF2B5EF4-FFF2-40B4-BE49-F238E27FC236}">
                      <a16:creationId xmlns:a16="http://schemas.microsoft.com/office/drawing/2014/main" id="{0DD6845E-D8E3-3D8C-A683-ECEB1736786E}"/>
                    </a:ext>
                  </a:extLst>
                </p:cNvPr>
                <p:cNvSpPr/>
                <p:nvPr/>
              </p:nvSpPr>
              <p:spPr>
                <a:xfrm>
                  <a:off x="8621412" y="3588267"/>
                  <a:ext cx="177800" cy="793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793114">
                      <a:moveTo>
                        <a:pt x="177565" y="66699"/>
                      </a:moveTo>
                      <a:lnTo>
                        <a:pt x="0" y="66699"/>
                      </a:lnTo>
                      <a:lnTo>
                        <a:pt x="0" y="0"/>
                      </a:lnTo>
                      <a:lnTo>
                        <a:pt x="177565" y="0"/>
                      </a:lnTo>
                      <a:lnTo>
                        <a:pt x="177565" y="66699"/>
                      </a:lnTo>
                      <a:close/>
                    </a:path>
                    <a:path w="177800" h="793114">
                      <a:moveTo>
                        <a:pt x="177565" y="793054"/>
                      </a:moveTo>
                      <a:lnTo>
                        <a:pt x="0" y="793054"/>
                      </a:lnTo>
                      <a:lnTo>
                        <a:pt x="0" y="98206"/>
                      </a:lnTo>
                      <a:lnTo>
                        <a:pt x="177565" y="98206"/>
                      </a:lnTo>
                      <a:lnTo>
                        <a:pt x="177565" y="793054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6" name="object 39">
                  <a:extLst>
                    <a:ext uri="{FF2B5EF4-FFF2-40B4-BE49-F238E27FC236}">
                      <a16:creationId xmlns:a16="http://schemas.microsoft.com/office/drawing/2014/main" id="{A23A6322-A788-7E8D-43AA-F7B4A2B893EB}"/>
                    </a:ext>
                  </a:extLst>
                </p:cNvPr>
                <p:cNvSpPr/>
                <p:nvPr/>
              </p:nvSpPr>
              <p:spPr>
                <a:xfrm>
                  <a:off x="8652459" y="3712419"/>
                  <a:ext cx="115570" cy="64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643254">
                      <a:moveTo>
                        <a:pt x="19545" y="4622"/>
                      </a:moveTo>
                      <a:lnTo>
                        <a:pt x="15151" y="0"/>
                      </a:lnTo>
                      <a:lnTo>
                        <a:pt x="4406" y="0"/>
                      </a:lnTo>
                      <a:lnTo>
                        <a:pt x="0" y="4622"/>
                      </a:lnTo>
                      <a:lnTo>
                        <a:pt x="0" y="638327"/>
                      </a:lnTo>
                      <a:lnTo>
                        <a:pt x="4406" y="642950"/>
                      </a:lnTo>
                      <a:lnTo>
                        <a:pt x="15151" y="642950"/>
                      </a:lnTo>
                      <a:lnTo>
                        <a:pt x="19545" y="638327"/>
                      </a:lnTo>
                      <a:lnTo>
                        <a:pt x="19545" y="632675"/>
                      </a:lnTo>
                      <a:lnTo>
                        <a:pt x="19545" y="4622"/>
                      </a:lnTo>
                      <a:close/>
                    </a:path>
                    <a:path w="115570" h="643254">
                      <a:moveTo>
                        <a:pt x="67487" y="4622"/>
                      </a:moveTo>
                      <a:lnTo>
                        <a:pt x="63093" y="0"/>
                      </a:lnTo>
                      <a:lnTo>
                        <a:pt x="52349" y="0"/>
                      </a:lnTo>
                      <a:lnTo>
                        <a:pt x="47967" y="4622"/>
                      </a:lnTo>
                      <a:lnTo>
                        <a:pt x="47967" y="638327"/>
                      </a:lnTo>
                      <a:lnTo>
                        <a:pt x="52349" y="642950"/>
                      </a:lnTo>
                      <a:lnTo>
                        <a:pt x="63093" y="642950"/>
                      </a:lnTo>
                      <a:lnTo>
                        <a:pt x="67487" y="638327"/>
                      </a:lnTo>
                      <a:lnTo>
                        <a:pt x="67487" y="632675"/>
                      </a:lnTo>
                      <a:lnTo>
                        <a:pt x="67487" y="4622"/>
                      </a:lnTo>
                      <a:close/>
                    </a:path>
                    <a:path w="115570" h="643254">
                      <a:moveTo>
                        <a:pt x="115430" y="4622"/>
                      </a:moveTo>
                      <a:lnTo>
                        <a:pt x="111036" y="0"/>
                      </a:lnTo>
                      <a:lnTo>
                        <a:pt x="100291" y="0"/>
                      </a:lnTo>
                      <a:lnTo>
                        <a:pt x="95897" y="4622"/>
                      </a:lnTo>
                      <a:lnTo>
                        <a:pt x="95897" y="638327"/>
                      </a:lnTo>
                      <a:lnTo>
                        <a:pt x="100291" y="642950"/>
                      </a:lnTo>
                      <a:lnTo>
                        <a:pt x="111036" y="642950"/>
                      </a:lnTo>
                      <a:lnTo>
                        <a:pt x="115430" y="638327"/>
                      </a:lnTo>
                      <a:lnTo>
                        <a:pt x="115430" y="632675"/>
                      </a:lnTo>
                      <a:lnTo>
                        <a:pt x="115430" y="4622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7" name="object 40">
                  <a:extLst>
                    <a:ext uri="{FF2B5EF4-FFF2-40B4-BE49-F238E27FC236}">
                      <a16:creationId xmlns:a16="http://schemas.microsoft.com/office/drawing/2014/main" id="{1500A9AE-6A16-C9C5-1814-35F5A7D148FF}"/>
                    </a:ext>
                  </a:extLst>
                </p:cNvPr>
                <p:cNvSpPr/>
                <p:nvPr/>
              </p:nvSpPr>
              <p:spPr>
                <a:xfrm>
                  <a:off x="8603654" y="4475821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8" name="object 41">
                  <a:extLst>
                    <a:ext uri="{FF2B5EF4-FFF2-40B4-BE49-F238E27FC236}">
                      <a16:creationId xmlns:a16="http://schemas.microsoft.com/office/drawing/2014/main" id="{35F2E6DA-545E-EB4D-0DFA-537CCA85A0AD}"/>
                    </a:ext>
                  </a:extLst>
                </p:cNvPr>
                <p:cNvSpPr/>
                <p:nvPr/>
              </p:nvSpPr>
              <p:spPr>
                <a:xfrm>
                  <a:off x="8603654" y="4475821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59" name="object 42">
                  <a:extLst>
                    <a:ext uri="{FF2B5EF4-FFF2-40B4-BE49-F238E27FC236}">
                      <a16:creationId xmlns:a16="http://schemas.microsoft.com/office/drawing/2014/main" id="{DC46F4BF-6292-EED3-85DE-E094741B2E39}"/>
                    </a:ext>
                  </a:extLst>
                </p:cNvPr>
                <p:cNvSpPr/>
                <p:nvPr/>
              </p:nvSpPr>
              <p:spPr>
                <a:xfrm>
                  <a:off x="8617852" y="437580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0" y="0"/>
                      </a:moveTo>
                      <a:lnTo>
                        <a:pt x="0" y="0"/>
                      </a:lnTo>
                      <a:lnTo>
                        <a:pt x="0" y="33312"/>
                      </a:lnTo>
                      <a:lnTo>
                        <a:pt x="0" y="35166"/>
                      </a:lnTo>
                      <a:lnTo>
                        <a:pt x="184670" y="35166"/>
                      </a:lnTo>
                      <a:lnTo>
                        <a:pt x="184670" y="33312"/>
                      </a:lnTo>
                      <a:lnTo>
                        <a:pt x="184670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0" name="object 43">
                  <a:extLst>
                    <a:ext uri="{FF2B5EF4-FFF2-40B4-BE49-F238E27FC236}">
                      <a16:creationId xmlns:a16="http://schemas.microsoft.com/office/drawing/2014/main" id="{92822832-C45E-DDCD-9F5C-DB76A1123BD4}"/>
                    </a:ext>
                  </a:extLst>
                </p:cNvPr>
                <p:cNvSpPr/>
                <p:nvPr/>
              </p:nvSpPr>
              <p:spPr>
                <a:xfrm>
                  <a:off x="8617853" y="43757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0"/>
                      </a:moveTo>
                      <a:lnTo>
                        <a:pt x="0" y="0"/>
                      </a:lnTo>
                      <a:lnTo>
                        <a:pt x="0" y="35171"/>
                      </a:lnTo>
                      <a:lnTo>
                        <a:pt x="184675" y="35171"/>
                      </a:lnTo>
                      <a:lnTo>
                        <a:pt x="18467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1" name="object 44">
                  <a:extLst>
                    <a:ext uri="{FF2B5EF4-FFF2-40B4-BE49-F238E27FC236}">
                      <a16:creationId xmlns:a16="http://schemas.microsoft.com/office/drawing/2014/main" id="{0237B1C6-D6B3-681F-D5F2-EFC3EC22EB05}"/>
                    </a:ext>
                  </a:extLst>
                </p:cNvPr>
                <p:cNvSpPr/>
                <p:nvPr/>
              </p:nvSpPr>
              <p:spPr>
                <a:xfrm>
                  <a:off x="8621412" y="4409111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6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65" y="66710"/>
                      </a:lnTo>
                      <a:lnTo>
                        <a:pt x="17756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2" name="object 45">
                  <a:extLst>
                    <a:ext uri="{FF2B5EF4-FFF2-40B4-BE49-F238E27FC236}">
                      <a16:creationId xmlns:a16="http://schemas.microsoft.com/office/drawing/2014/main" id="{E5F1847E-AA7D-AD63-56D6-D855C38320E7}"/>
                    </a:ext>
                  </a:extLst>
                </p:cNvPr>
                <p:cNvSpPr/>
                <p:nvPr/>
              </p:nvSpPr>
              <p:spPr>
                <a:xfrm>
                  <a:off x="8621412" y="4409111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6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65" y="66710"/>
                      </a:lnTo>
                      <a:lnTo>
                        <a:pt x="17756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3" name="object 46">
                  <a:extLst>
                    <a:ext uri="{FF2B5EF4-FFF2-40B4-BE49-F238E27FC236}">
                      <a16:creationId xmlns:a16="http://schemas.microsoft.com/office/drawing/2014/main" id="{BF73CE4D-F9BD-6887-77D9-B4E389285C7C}"/>
                    </a:ext>
                  </a:extLst>
                </p:cNvPr>
                <p:cNvSpPr/>
                <p:nvPr/>
              </p:nvSpPr>
              <p:spPr>
                <a:xfrm>
                  <a:off x="8127124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83" y="0"/>
                      </a:moveTo>
                      <a:lnTo>
                        <a:pt x="0" y="0"/>
                      </a:lnTo>
                      <a:lnTo>
                        <a:pt x="0" y="35182"/>
                      </a:lnTo>
                      <a:lnTo>
                        <a:pt x="198883" y="35182"/>
                      </a:lnTo>
                      <a:lnTo>
                        <a:pt x="198883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4" name="object 47">
                  <a:extLst>
                    <a:ext uri="{FF2B5EF4-FFF2-40B4-BE49-F238E27FC236}">
                      <a16:creationId xmlns:a16="http://schemas.microsoft.com/office/drawing/2014/main" id="{BAF3074D-EEE8-99AD-EB9B-30B6E2DD472D}"/>
                    </a:ext>
                  </a:extLst>
                </p:cNvPr>
                <p:cNvSpPr/>
                <p:nvPr/>
              </p:nvSpPr>
              <p:spPr>
                <a:xfrm>
                  <a:off x="8127124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83" y="35182"/>
                      </a:moveTo>
                      <a:lnTo>
                        <a:pt x="0" y="35182"/>
                      </a:lnTo>
                      <a:lnTo>
                        <a:pt x="0" y="0"/>
                      </a:lnTo>
                      <a:lnTo>
                        <a:pt x="198883" y="0"/>
                      </a:lnTo>
                      <a:lnTo>
                        <a:pt x="198883" y="3518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5" name="object 48">
                  <a:extLst>
                    <a:ext uri="{FF2B5EF4-FFF2-40B4-BE49-F238E27FC236}">
                      <a16:creationId xmlns:a16="http://schemas.microsoft.com/office/drawing/2014/main" id="{E655335C-D71D-63BC-3E4C-E01ADF3CF542}"/>
                    </a:ext>
                  </a:extLst>
                </p:cNvPr>
                <p:cNvSpPr/>
                <p:nvPr/>
              </p:nvSpPr>
              <p:spPr>
                <a:xfrm>
                  <a:off x="8134223" y="3653097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83" y="0"/>
                      </a:moveTo>
                      <a:lnTo>
                        <a:pt x="0" y="0"/>
                      </a:lnTo>
                      <a:lnTo>
                        <a:pt x="0" y="1879"/>
                      </a:lnTo>
                      <a:lnTo>
                        <a:pt x="0" y="33375"/>
                      </a:lnTo>
                      <a:lnTo>
                        <a:pt x="0" y="35191"/>
                      </a:lnTo>
                      <a:lnTo>
                        <a:pt x="184683" y="35191"/>
                      </a:lnTo>
                      <a:lnTo>
                        <a:pt x="184683" y="33375"/>
                      </a:lnTo>
                      <a:lnTo>
                        <a:pt x="184683" y="1879"/>
                      </a:lnTo>
                      <a:lnTo>
                        <a:pt x="184683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6" name="object 49">
                  <a:extLst>
                    <a:ext uri="{FF2B5EF4-FFF2-40B4-BE49-F238E27FC236}">
                      <a16:creationId xmlns:a16="http://schemas.microsoft.com/office/drawing/2014/main" id="{D815ED00-0552-AA08-D7CB-437E174B20CA}"/>
                    </a:ext>
                  </a:extLst>
                </p:cNvPr>
                <p:cNvSpPr/>
                <p:nvPr/>
              </p:nvSpPr>
              <p:spPr>
                <a:xfrm>
                  <a:off x="8134234" y="36530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35192"/>
                      </a:moveTo>
                      <a:lnTo>
                        <a:pt x="0" y="35192"/>
                      </a:lnTo>
                      <a:lnTo>
                        <a:pt x="0" y="0"/>
                      </a:lnTo>
                      <a:lnTo>
                        <a:pt x="184675" y="0"/>
                      </a:lnTo>
                      <a:lnTo>
                        <a:pt x="184675" y="3519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7" name="object 50">
                  <a:extLst>
                    <a:ext uri="{FF2B5EF4-FFF2-40B4-BE49-F238E27FC236}">
                      <a16:creationId xmlns:a16="http://schemas.microsoft.com/office/drawing/2014/main" id="{E2D6338A-A800-0DEE-ABAC-4EDF1D37A3C2}"/>
                    </a:ext>
                  </a:extLst>
                </p:cNvPr>
                <p:cNvSpPr/>
                <p:nvPr/>
              </p:nvSpPr>
              <p:spPr>
                <a:xfrm>
                  <a:off x="8137783" y="3588267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0"/>
                      </a:moveTo>
                      <a:lnTo>
                        <a:pt x="0" y="0"/>
                      </a:lnTo>
                      <a:lnTo>
                        <a:pt x="0" y="66699"/>
                      </a:lnTo>
                      <a:lnTo>
                        <a:pt x="177575" y="66699"/>
                      </a:lnTo>
                      <a:lnTo>
                        <a:pt x="17757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8" name="object 51">
                  <a:extLst>
                    <a:ext uri="{FF2B5EF4-FFF2-40B4-BE49-F238E27FC236}">
                      <a16:creationId xmlns:a16="http://schemas.microsoft.com/office/drawing/2014/main" id="{412D4EE6-27EC-7FF4-1939-4DF3CF15A6C3}"/>
                    </a:ext>
                  </a:extLst>
                </p:cNvPr>
                <p:cNvSpPr/>
                <p:nvPr/>
              </p:nvSpPr>
              <p:spPr>
                <a:xfrm>
                  <a:off x="8137783" y="3588267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66699"/>
                      </a:moveTo>
                      <a:lnTo>
                        <a:pt x="0" y="66699"/>
                      </a:lnTo>
                      <a:lnTo>
                        <a:pt x="0" y="0"/>
                      </a:lnTo>
                      <a:lnTo>
                        <a:pt x="177575" y="0"/>
                      </a:lnTo>
                      <a:lnTo>
                        <a:pt x="177575" y="66699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69" name="object 52">
                  <a:extLst>
                    <a:ext uri="{FF2B5EF4-FFF2-40B4-BE49-F238E27FC236}">
                      <a16:creationId xmlns:a16="http://schemas.microsoft.com/office/drawing/2014/main" id="{FED5CCD5-5284-6734-A7A5-20C37F8F3008}"/>
                    </a:ext>
                  </a:extLst>
                </p:cNvPr>
                <p:cNvSpPr/>
                <p:nvPr/>
              </p:nvSpPr>
              <p:spPr>
                <a:xfrm>
                  <a:off x="8137783" y="3686469"/>
                  <a:ext cx="177800" cy="6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95325">
                      <a:moveTo>
                        <a:pt x="177575" y="694847"/>
                      </a:moveTo>
                      <a:lnTo>
                        <a:pt x="0" y="694847"/>
                      </a:lnTo>
                      <a:lnTo>
                        <a:pt x="0" y="0"/>
                      </a:lnTo>
                      <a:lnTo>
                        <a:pt x="177575" y="0"/>
                      </a:lnTo>
                      <a:lnTo>
                        <a:pt x="177575" y="694847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0" name="object 53">
                  <a:extLst>
                    <a:ext uri="{FF2B5EF4-FFF2-40B4-BE49-F238E27FC236}">
                      <a16:creationId xmlns:a16="http://schemas.microsoft.com/office/drawing/2014/main" id="{288A884F-46A7-BDA3-AB76-0A66CD974B49}"/>
                    </a:ext>
                  </a:extLst>
                </p:cNvPr>
                <p:cNvSpPr/>
                <p:nvPr/>
              </p:nvSpPr>
              <p:spPr>
                <a:xfrm>
                  <a:off x="8168856" y="3712419"/>
                  <a:ext cx="115570" cy="64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643254">
                      <a:moveTo>
                        <a:pt x="19532" y="4622"/>
                      </a:moveTo>
                      <a:lnTo>
                        <a:pt x="15138" y="0"/>
                      </a:lnTo>
                      <a:lnTo>
                        <a:pt x="4394" y="0"/>
                      </a:lnTo>
                      <a:lnTo>
                        <a:pt x="0" y="4622"/>
                      </a:lnTo>
                      <a:lnTo>
                        <a:pt x="0" y="638327"/>
                      </a:lnTo>
                      <a:lnTo>
                        <a:pt x="4394" y="642950"/>
                      </a:lnTo>
                      <a:lnTo>
                        <a:pt x="15138" y="642950"/>
                      </a:lnTo>
                      <a:lnTo>
                        <a:pt x="19532" y="638327"/>
                      </a:lnTo>
                      <a:lnTo>
                        <a:pt x="19532" y="632675"/>
                      </a:lnTo>
                      <a:lnTo>
                        <a:pt x="19532" y="4622"/>
                      </a:lnTo>
                      <a:close/>
                    </a:path>
                    <a:path w="115570" h="643254">
                      <a:moveTo>
                        <a:pt x="67475" y="4622"/>
                      </a:moveTo>
                      <a:lnTo>
                        <a:pt x="63080" y="0"/>
                      </a:lnTo>
                      <a:lnTo>
                        <a:pt x="52349" y="0"/>
                      </a:lnTo>
                      <a:lnTo>
                        <a:pt x="47955" y="4622"/>
                      </a:lnTo>
                      <a:lnTo>
                        <a:pt x="47955" y="638327"/>
                      </a:lnTo>
                      <a:lnTo>
                        <a:pt x="52349" y="642950"/>
                      </a:lnTo>
                      <a:lnTo>
                        <a:pt x="63080" y="642950"/>
                      </a:lnTo>
                      <a:lnTo>
                        <a:pt x="67475" y="638327"/>
                      </a:lnTo>
                      <a:lnTo>
                        <a:pt x="67475" y="632675"/>
                      </a:lnTo>
                      <a:lnTo>
                        <a:pt x="67475" y="4622"/>
                      </a:lnTo>
                      <a:close/>
                    </a:path>
                    <a:path w="115570" h="643254">
                      <a:moveTo>
                        <a:pt x="115417" y="4622"/>
                      </a:moveTo>
                      <a:lnTo>
                        <a:pt x="111023" y="0"/>
                      </a:lnTo>
                      <a:lnTo>
                        <a:pt x="100279" y="0"/>
                      </a:lnTo>
                      <a:lnTo>
                        <a:pt x="95885" y="4622"/>
                      </a:lnTo>
                      <a:lnTo>
                        <a:pt x="95885" y="638327"/>
                      </a:lnTo>
                      <a:lnTo>
                        <a:pt x="100279" y="642950"/>
                      </a:lnTo>
                      <a:lnTo>
                        <a:pt x="111023" y="642950"/>
                      </a:lnTo>
                      <a:lnTo>
                        <a:pt x="115417" y="638327"/>
                      </a:lnTo>
                      <a:lnTo>
                        <a:pt x="115417" y="632675"/>
                      </a:lnTo>
                      <a:lnTo>
                        <a:pt x="115417" y="4622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1" name="object 54">
                  <a:extLst>
                    <a:ext uri="{FF2B5EF4-FFF2-40B4-BE49-F238E27FC236}">
                      <a16:creationId xmlns:a16="http://schemas.microsoft.com/office/drawing/2014/main" id="{1D574CCE-B468-4B3A-55C4-794923F3D7F7}"/>
                    </a:ext>
                  </a:extLst>
                </p:cNvPr>
                <p:cNvSpPr/>
                <p:nvPr/>
              </p:nvSpPr>
              <p:spPr>
                <a:xfrm>
                  <a:off x="8120038" y="4475820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2" name="object 55">
                  <a:extLst>
                    <a:ext uri="{FF2B5EF4-FFF2-40B4-BE49-F238E27FC236}">
                      <a16:creationId xmlns:a16="http://schemas.microsoft.com/office/drawing/2014/main" id="{000F55A4-FC09-8564-C309-000F55151818}"/>
                    </a:ext>
                  </a:extLst>
                </p:cNvPr>
                <p:cNvSpPr/>
                <p:nvPr/>
              </p:nvSpPr>
              <p:spPr>
                <a:xfrm>
                  <a:off x="8120038" y="4475820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3" name="object 56">
                  <a:extLst>
                    <a:ext uri="{FF2B5EF4-FFF2-40B4-BE49-F238E27FC236}">
                      <a16:creationId xmlns:a16="http://schemas.microsoft.com/office/drawing/2014/main" id="{76676CA0-5D48-0C37-D48D-C5C53861FBA8}"/>
                    </a:ext>
                  </a:extLst>
                </p:cNvPr>
                <p:cNvSpPr/>
                <p:nvPr/>
              </p:nvSpPr>
              <p:spPr>
                <a:xfrm>
                  <a:off x="8134223" y="437580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83" y="0"/>
                      </a:moveTo>
                      <a:lnTo>
                        <a:pt x="0" y="0"/>
                      </a:lnTo>
                      <a:lnTo>
                        <a:pt x="0" y="33312"/>
                      </a:lnTo>
                      <a:lnTo>
                        <a:pt x="0" y="35166"/>
                      </a:lnTo>
                      <a:lnTo>
                        <a:pt x="184683" y="35166"/>
                      </a:lnTo>
                      <a:lnTo>
                        <a:pt x="184683" y="33312"/>
                      </a:lnTo>
                      <a:lnTo>
                        <a:pt x="184683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4" name="object 57">
                  <a:extLst>
                    <a:ext uri="{FF2B5EF4-FFF2-40B4-BE49-F238E27FC236}">
                      <a16:creationId xmlns:a16="http://schemas.microsoft.com/office/drawing/2014/main" id="{F82A4515-8600-56C0-7097-B9E39AC259CC}"/>
                    </a:ext>
                  </a:extLst>
                </p:cNvPr>
                <p:cNvSpPr/>
                <p:nvPr/>
              </p:nvSpPr>
              <p:spPr>
                <a:xfrm>
                  <a:off x="8134234" y="43757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0"/>
                      </a:moveTo>
                      <a:lnTo>
                        <a:pt x="0" y="0"/>
                      </a:lnTo>
                      <a:lnTo>
                        <a:pt x="0" y="35171"/>
                      </a:lnTo>
                      <a:lnTo>
                        <a:pt x="184675" y="35171"/>
                      </a:lnTo>
                      <a:lnTo>
                        <a:pt x="18467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5" name="object 58">
                  <a:extLst>
                    <a:ext uri="{FF2B5EF4-FFF2-40B4-BE49-F238E27FC236}">
                      <a16:creationId xmlns:a16="http://schemas.microsoft.com/office/drawing/2014/main" id="{99207015-4892-F72E-3102-D8F128A797C6}"/>
                    </a:ext>
                  </a:extLst>
                </p:cNvPr>
                <p:cNvSpPr/>
                <p:nvPr/>
              </p:nvSpPr>
              <p:spPr>
                <a:xfrm>
                  <a:off x="8137783" y="4409108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75" y="66710"/>
                      </a:lnTo>
                      <a:lnTo>
                        <a:pt x="17757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6" name="object 59">
                  <a:extLst>
                    <a:ext uri="{FF2B5EF4-FFF2-40B4-BE49-F238E27FC236}">
                      <a16:creationId xmlns:a16="http://schemas.microsoft.com/office/drawing/2014/main" id="{FB824532-FEE0-F223-5BDA-D2FD747217DA}"/>
                    </a:ext>
                  </a:extLst>
                </p:cNvPr>
                <p:cNvSpPr/>
                <p:nvPr/>
              </p:nvSpPr>
              <p:spPr>
                <a:xfrm>
                  <a:off x="8137783" y="4409108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7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75" y="66710"/>
                      </a:lnTo>
                      <a:lnTo>
                        <a:pt x="17757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7" name="object 60">
                  <a:extLst>
                    <a:ext uri="{FF2B5EF4-FFF2-40B4-BE49-F238E27FC236}">
                      <a16:creationId xmlns:a16="http://schemas.microsoft.com/office/drawing/2014/main" id="{AC7F951D-A7DC-4849-FD77-49EC8FA03E02}"/>
                    </a:ext>
                  </a:extLst>
                </p:cNvPr>
                <p:cNvSpPr/>
                <p:nvPr/>
              </p:nvSpPr>
              <p:spPr>
                <a:xfrm>
                  <a:off x="7746141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73" y="0"/>
                      </a:moveTo>
                      <a:lnTo>
                        <a:pt x="0" y="0"/>
                      </a:lnTo>
                      <a:lnTo>
                        <a:pt x="0" y="35182"/>
                      </a:lnTo>
                      <a:lnTo>
                        <a:pt x="198873" y="35182"/>
                      </a:lnTo>
                      <a:lnTo>
                        <a:pt x="198873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8" name="object 61">
                  <a:extLst>
                    <a:ext uri="{FF2B5EF4-FFF2-40B4-BE49-F238E27FC236}">
                      <a16:creationId xmlns:a16="http://schemas.microsoft.com/office/drawing/2014/main" id="{9487761A-6252-7FD6-0DB9-26626846B5BB}"/>
                    </a:ext>
                  </a:extLst>
                </p:cNvPr>
                <p:cNvSpPr/>
                <p:nvPr/>
              </p:nvSpPr>
              <p:spPr>
                <a:xfrm>
                  <a:off x="7746141" y="3553075"/>
                  <a:ext cx="199390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90" h="35560">
                      <a:moveTo>
                        <a:pt x="198873" y="35182"/>
                      </a:moveTo>
                      <a:lnTo>
                        <a:pt x="0" y="35182"/>
                      </a:lnTo>
                      <a:lnTo>
                        <a:pt x="0" y="0"/>
                      </a:lnTo>
                      <a:lnTo>
                        <a:pt x="198873" y="0"/>
                      </a:lnTo>
                      <a:lnTo>
                        <a:pt x="198873" y="3518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79" name="object 62">
                  <a:extLst>
                    <a:ext uri="{FF2B5EF4-FFF2-40B4-BE49-F238E27FC236}">
                      <a16:creationId xmlns:a16="http://schemas.microsoft.com/office/drawing/2014/main" id="{9C0502D8-D598-C213-AD6C-687A1666B709}"/>
                    </a:ext>
                  </a:extLst>
                </p:cNvPr>
                <p:cNvSpPr/>
                <p:nvPr/>
              </p:nvSpPr>
              <p:spPr>
                <a:xfrm>
                  <a:off x="7753236" y="3653097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0" y="0"/>
                      </a:moveTo>
                      <a:lnTo>
                        <a:pt x="0" y="0"/>
                      </a:lnTo>
                      <a:lnTo>
                        <a:pt x="0" y="1879"/>
                      </a:lnTo>
                      <a:lnTo>
                        <a:pt x="0" y="33375"/>
                      </a:lnTo>
                      <a:lnTo>
                        <a:pt x="0" y="35191"/>
                      </a:lnTo>
                      <a:lnTo>
                        <a:pt x="184670" y="35191"/>
                      </a:lnTo>
                      <a:lnTo>
                        <a:pt x="184670" y="33375"/>
                      </a:lnTo>
                      <a:lnTo>
                        <a:pt x="184670" y="1879"/>
                      </a:lnTo>
                      <a:lnTo>
                        <a:pt x="184670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0" name="object 63">
                  <a:extLst>
                    <a:ext uri="{FF2B5EF4-FFF2-40B4-BE49-F238E27FC236}">
                      <a16:creationId xmlns:a16="http://schemas.microsoft.com/office/drawing/2014/main" id="{17997C4E-132E-08BE-A4F3-CF0AF9A31DE4}"/>
                    </a:ext>
                  </a:extLst>
                </p:cNvPr>
                <p:cNvSpPr/>
                <p:nvPr/>
              </p:nvSpPr>
              <p:spPr>
                <a:xfrm>
                  <a:off x="7753240" y="36530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35192"/>
                      </a:moveTo>
                      <a:lnTo>
                        <a:pt x="0" y="35192"/>
                      </a:lnTo>
                      <a:lnTo>
                        <a:pt x="0" y="0"/>
                      </a:lnTo>
                      <a:lnTo>
                        <a:pt x="184675" y="0"/>
                      </a:lnTo>
                      <a:lnTo>
                        <a:pt x="184675" y="35192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1" name="object 64">
                  <a:extLst>
                    <a:ext uri="{FF2B5EF4-FFF2-40B4-BE49-F238E27FC236}">
                      <a16:creationId xmlns:a16="http://schemas.microsoft.com/office/drawing/2014/main" id="{CA53E6FD-8ED3-00EF-4C5E-B07CA5CC355A}"/>
                    </a:ext>
                  </a:extLst>
                </p:cNvPr>
                <p:cNvSpPr/>
                <p:nvPr/>
              </p:nvSpPr>
              <p:spPr>
                <a:xfrm>
                  <a:off x="7756800" y="3588267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65" y="0"/>
                      </a:moveTo>
                      <a:lnTo>
                        <a:pt x="0" y="0"/>
                      </a:lnTo>
                      <a:lnTo>
                        <a:pt x="0" y="66699"/>
                      </a:lnTo>
                      <a:lnTo>
                        <a:pt x="177565" y="66699"/>
                      </a:lnTo>
                      <a:lnTo>
                        <a:pt x="17756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2" name="object 65">
                  <a:extLst>
                    <a:ext uri="{FF2B5EF4-FFF2-40B4-BE49-F238E27FC236}">
                      <a16:creationId xmlns:a16="http://schemas.microsoft.com/office/drawing/2014/main" id="{A4A282C6-7466-4CD0-88D5-72642F663BB3}"/>
                    </a:ext>
                  </a:extLst>
                </p:cNvPr>
                <p:cNvSpPr/>
                <p:nvPr/>
              </p:nvSpPr>
              <p:spPr>
                <a:xfrm>
                  <a:off x="7756800" y="3588267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65" y="66699"/>
                      </a:moveTo>
                      <a:lnTo>
                        <a:pt x="0" y="66699"/>
                      </a:lnTo>
                      <a:lnTo>
                        <a:pt x="0" y="0"/>
                      </a:lnTo>
                      <a:lnTo>
                        <a:pt x="177565" y="0"/>
                      </a:lnTo>
                      <a:lnTo>
                        <a:pt x="177565" y="66699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3" name="object 66">
                  <a:extLst>
                    <a:ext uri="{FF2B5EF4-FFF2-40B4-BE49-F238E27FC236}">
                      <a16:creationId xmlns:a16="http://schemas.microsoft.com/office/drawing/2014/main" id="{6D0D93F1-9760-19BC-AE4F-422DEC89FD4F}"/>
                    </a:ext>
                  </a:extLst>
                </p:cNvPr>
                <p:cNvSpPr/>
                <p:nvPr/>
              </p:nvSpPr>
              <p:spPr>
                <a:xfrm>
                  <a:off x="7756800" y="3686463"/>
                  <a:ext cx="177800" cy="6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95325">
                      <a:moveTo>
                        <a:pt x="177565" y="0"/>
                      </a:moveTo>
                      <a:lnTo>
                        <a:pt x="0" y="0"/>
                      </a:lnTo>
                      <a:lnTo>
                        <a:pt x="0" y="694847"/>
                      </a:lnTo>
                      <a:lnTo>
                        <a:pt x="177565" y="694847"/>
                      </a:lnTo>
                      <a:lnTo>
                        <a:pt x="17756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4" name="object 67">
                  <a:extLst>
                    <a:ext uri="{FF2B5EF4-FFF2-40B4-BE49-F238E27FC236}">
                      <a16:creationId xmlns:a16="http://schemas.microsoft.com/office/drawing/2014/main" id="{68BDF350-6285-0BA6-2F97-E3B0E3C26E80}"/>
                    </a:ext>
                  </a:extLst>
                </p:cNvPr>
                <p:cNvSpPr/>
                <p:nvPr/>
              </p:nvSpPr>
              <p:spPr>
                <a:xfrm>
                  <a:off x="7756800" y="3686463"/>
                  <a:ext cx="177800" cy="6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95325">
                      <a:moveTo>
                        <a:pt x="177565" y="694847"/>
                      </a:moveTo>
                      <a:lnTo>
                        <a:pt x="0" y="694847"/>
                      </a:lnTo>
                      <a:lnTo>
                        <a:pt x="0" y="0"/>
                      </a:lnTo>
                      <a:lnTo>
                        <a:pt x="177565" y="0"/>
                      </a:lnTo>
                      <a:lnTo>
                        <a:pt x="177565" y="694847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5" name="object 68">
                  <a:extLst>
                    <a:ext uri="{FF2B5EF4-FFF2-40B4-BE49-F238E27FC236}">
                      <a16:creationId xmlns:a16="http://schemas.microsoft.com/office/drawing/2014/main" id="{7BB53033-75F5-953E-135F-64244FD44CDD}"/>
                    </a:ext>
                  </a:extLst>
                </p:cNvPr>
                <p:cNvSpPr/>
                <p:nvPr/>
              </p:nvSpPr>
              <p:spPr>
                <a:xfrm>
                  <a:off x="7787856" y="3712419"/>
                  <a:ext cx="115570" cy="64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643254">
                      <a:moveTo>
                        <a:pt x="19545" y="4622"/>
                      </a:moveTo>
                      <a:lnTo>
                        <a:pt x="15138" y="0"/>
                      </a:lnTo>
                      <a:lnTo>
                        <a:pt x="4394" y="0"/>
                      </a:lnTo>
                      <a:lnTo>
                        <a:pt x="0" y="4622"/>
                      </a:lnTo>
                      <a:lnTo>
                        <a:pt x="0" y="638327"/>
                      </a:lnTo>
                      <a:lnTo>
                        <a:pt x="4394" y="642950"/>
                      </a:lnTo>
                      <a:lnTo>
                        <a:pt x="15138" y="642950"/>
                      </a:lnTo>
                      <a:lnTo>
                        <a:pt x="19545" y="638327"/>
                      </a:lnTo>
                      <a:lnTo>
                        <a:pt x="19545" y="632675"/>
                      </a:lnTo>
                      <a:lnTo>
                        <a:pt x="19545" y="4622"/>
                      </a:lnTo>
                      <a:close/>
                    </a:path>
                    <a:path w="115570" h="643254">
                      <a:moveTo>
                        <a:pt x="67487" y="4622"/>
                      </a:moveTo>
                      <a:lnTo>
                        <a:pt x="63080" y="0"/>
                      </a:lnTo>
                      <a:lnTo>
                        <a:pt x="52349" y="0"/>
                      </a:lnTo>
                      <a:lnTo>
                        <a:pt x="47955" y="4622"/>
                      </a:lnTo>
                      <a:lnTo>
                        <a:pt x="47955" y="638327"/>
                      </a:lnTo>
                      <a:lnTo>
                        <a:pt x="52349" y="642950"/>
                      </a:lnTo>
                      <a:lnTo>
                        <a:pt x="63080" y="642950"/>
                      </a:lnTo>
                      <a:lnTo>
                        <a:pt x="67487" y="638327"/>
                      </a:lnTo>
                      <a:lnTo>
                        <a:pt x="67487" y="632675"/>
                      </a:lnTo>
                      <a:lnTo>
                        <a:pt x="67487" y="4622"/>
                      </a:lnTo>
                      <a:close/>
                    </a:path>
                    <a:path w="115570" h="643254">
                      <a:moveTo>
                        <a:pt x="115417" y="4622"/>
                      </a:moveTo>
                      <a:lnTo>
                        <a:pt x="111023" y="0"/>
                      </a:lnTo>
                      <a:lnTo>
                        <a:pt x="100279" y="0"/>
                      </a:lnTo>
                      <a:lnTo>
                        <a:pt x="95885" y="4622"/>
                      </a:lnTo>
                      <a:lnTo>
                        <a:pt x="95885" y="638327"/>
                      </a:lnTo>
                      <a:lnTo>
                        <a:pt x="100279" y="642950"/>
                      </a:lnTo>
                      <a:lnTo>
                        <a:pt x="111023" y="642950"/>
                      </a:lnTo>
                      <a:lnTo>
                        <a:pt x="115417" y="638327"/>
                      </a:lnTo>
                      <a:lnTo>
                        <a:pt x="115417" y="632675"/>
                      </a:lnTo>
                      <a:lnTo>
                        <a:pt x="115417" y="4622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6" name="object 69">
                  <a:extLst>
                    <a:ext uri="{FF2B5EF4-FFF2-40B4-BE49-F238E27FC236}">
                      <a16:creationId xmlns:a16="http://schemas.microsoft.com/office/drawing/2014/main" id="{F0FE2705-E5AC-B3DC-7A9F-A404D8F92E26}"/>
                    </a:ext>
                  </a:extLst>
                </p:cNvPr>
                <p:cNvSpPr/>
                <p:nvPr/>
              </p:nvSpPr>
              <p:spPr>
                <a:xfrm>
                  <a:off x="7739041" y="4475821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7" name="object 70">
                  <a:extLst>
                    <a:ext uri="{FF2B5EF4-FFF2-40B4-BE49-F238E27FC236}">
                      <a16:creationId xmlns:a16="http://schemas.microsoft.com/office/drawing/2014/main" id="{A561B692-C4B4-C600-6DCF-B1926C09916A}"/>
                    </a:ext>
                  </a:extLst>
                </p:cNvPr>
                <p:cNvSpPr/>
                <p:nvPr/>
              </p:nvSpPr>
              <p:spPr>
                <a:xfrm>
                  <a:off x="7739041" y="4475821"/>
                  <a:ext cx="213360" cy="4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43179">
                      <a:moveTo>
                        <a:pt x="213082" y="0"/>
                      </a:moveTo>
                      <a:lnTo>
                        <a:pt x="0" y="0"/>
                      </a:lnTo>
                      <a:lnTo>
                        <a:pt x="0" y="42585"/>
                      </a:lnTo>
                      <a:lnTo>
                        <a:pt x="213082" y="42585"/>
                      </a:lnTo>
                      <a:lnTo>
                        <a:pt x="213082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8" name="object 71">
                  <a:extLst>
                    <a:ext uri="{FF2B5EF4-FFF2-40B4-BE49-F238E27FC236}">
                      <a16:creationId xmlns:a16="http://schemas.microsoft.com/office/drawing/2014/main" id="{3A2C2693-6AB0-CBB4-20E4-D6F20CF17061}"/>
                    </a:ext>
                  </a:extLst>
                </p:cNvPr>
                <p:cNvSpPr/>
                <p:nvPr/>
              </p:nvSpPr>
              <p:spPr>
                <a:xfrm>
                  <a:off x="7753236" y="437580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0" y="0"/>
                      </a:moveTo>
                      <a:lnTo>
                        <a:pt x="0" y="0"/>
                      </a:lnTo>
                      <a:lnTo>
                        <a:pt x="0" y="33312"/>
                      </a:lnTo>
                      <a:lnTo>
                        <a:pt x="0" y="35166"/>
                      </a:lnTo>
                      <a:lnTo>
                        <a:pt x="184670" y="35166"/>
                      </a:lnTo>
                      <a:lnTo>
                        <a:pt x="184670" y="33312"/>
                      </a:lnTo>
                      <a:lnTo>
                        <a:pt x="184670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89" name="object 72">
                  <a:extLst>
                    <a:ext uri="{FF2B5EF4-FFF2-40B4-BE49-F238E27FC236}">
                      <a16:creationId xmlns:a16="http://schemas.microsoft.com/office/drawing/2014/main" id="{F3B8337B-6551-15C5-CCE3-13734BABDA5A}"/>
                    </a:ext>
                  </a:extLst>
                </p:cNvPr>
                <p:cNvSpPr/>
                <p:nvPr/>
              </p:nvSpPr>
              <p:spPr>
                <a:xfrm>
                  <a:off x="7753240" y="4375793"/>
                  <a:ext cx="184785" cy="3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84" h="35560">
                      <a:moveTo>
                        <a:pt x="184675" y="0"/>
                      </a:moveTo>
                      <a:lnTo>
                        <a:pt x="0" y="0"/>
                      </a:lnTo>
                      <a:lnTo>
                        <a:pt x="0" y="35171"/>
                      </a:lnTo>
                      <a:lnTo>
                        <a:pt x="184675" y="35171"/>
                      </a:lnTo>
                      <a:lnTo>
                        <a:pt x="18467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0" name="object 73">
                  <a:extLst>
                    <a:ext uri="{FF2B5EF4-FFF2-40B4-BE49-F238E27FC236}">
                      <a16:creationId xmlns:a16="http://schemas.microsoft.com/office/drawing/2014/main" id="{4F50006F-CB70-BE21-DF16-23C805B30879}"/>
                    </a:ext>
                  </a:extLst>
                </p:cNvPr>
                <p:cNvSpPr/>
                <p:nvPr/>
              </p:nvSpPr>
              <p:spPr>
                <a:xfrm>
                  <a:off x="7756800" y="4409111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6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65" y="66710"/>
                      </a:lnTo>
                      <a:lnTo>
                        <a:pt x="177565" y="0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1" name="object 74">
                  <a:extLst>
                    <a:ext uri="{FF2B5EF4-FFF2-40B4-BE49-F238E27FC236}">
                      <a16:creationId xmlns:a16="http://schemas.microsoft.com/office/drawing/2014/main" id="{183293B3-7208-B811-7637-EE4C6AC9F2AB}"/>
                    </a:ext>
                  </a:extLst>
                </p:cNvPr>
                <p:cNvSpPr/>
                <p:nvPr/>
              </p:nvSpPr>
              <p:spPr>
                <a:xfrm>
                  <a:off x="7756800" y="4409111"/>
                  <a:ext cx="177800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7310">
                      <a:moveTo>
                        <a:pt x="177565" y="0"/>
                      </a:moveTo>
                      <a:lnTo>
                        <a:pt x="0" y="0"/>
                      </a:lnTo>
                      <a:lnTo>
                        <a:pt x="0" y="66710"/>
                      </a:lnTo>
                      <a:lnTo>
                        <a:pt x="177565" y="66710"/>
                      </a:lnTo>
                      <a:lnTo>
                        <a:pt x="177565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2" name="object 75">
                  <a:extLst>
                    <a:ext uri="{FF2B5EF4-FFF2-40B4-BE49-F238E27FC236}">
                      <a16:creationId xmlns:a16="http://schemas.microsoft.com/office/drawing/2014/main" id="{6FB63EA4-73DD-C542-A3D8-4FA27602377A}"/>
                    </a:ext>
                  </a:extLst>
                </p:cNvPr>
                <p:cNvSpPr/>
                <p:nvPr/>
              </p:nvSpPr>
              <p:spPr>
                <a:xfrm>
                  <a:off x="7751858" y="3500228"/>
                  <a:ext cx="1433195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3195" h="53339">
                      <a:moveTo>
                        <a:pt x="1433034" y="0"/>
                      </a:moveTo>
                      <a:lnTo>
                        <a:pt x="0" y="0"/>
                      </a:lnTo>
                      <a:lnTo>
                        <a:pt x="0" y="52857"/>
                      </a:lnTo>
                      <a:lnTo>
                        <a:pt x="1433034" y="52857"/>
                      </a:lnTo>
                      <a:lnTo>
                        <a:pt x="1433034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3" name="object 76">
                  <a:extLst>
                    <a:ext uri="{FF2B5EF4-FFF2-40B4-BE49-F238E27FC236}">
                      <a16:creationId xmlns:a16="http://schemas.microsoft.com/office/drawing/2014/main" id="{92DED96F-3430-D8F3-672D-A12B71C31DF5}"/>
                    </a:ext>
                  </a:extLst>
                </p:cNvPr>
                <p:cNvSpPr/>
                <p:nvPr/>
              </p:nvSpPr>
              <p:spPr>
                <a:xfrm>
                  <a:off x="7751858" y="3500228"/>
                  <a:ext cx="1433195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3195" h="53339">
                      <a:moveTo>
                        <a:pt x="1433034" y="52857"/>
                      </a:moveTo>
                      <a:lnTo>
                        <a:pt x="0" y="52857"/>
                      </a:lnTo>
                      <a:lnTo>
                        <a:pt x="0" y="0"/>
                      </a:lnTo>
                      <a:lnTo>
                        <a:pt x="1433034" y="0"/>
                      </a:lnTo>
                      <a:lnTo>
                        <a:pt x="1433034" y="52857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4" name="object 77">
                  <a:extLst>
                    <a:ext uri="{FF2B5EF4-FFF2-40B4-BE49-F238E27FC236}">
                      <a16:creationId xmlns:a16="http://schemas.microsoft.com/office/drawing/2014/main" id="{428C4621-BC73-4A9D-2558-BA94A9F7393A}"/>
                    </a:ext>
                  </a:extLst>
                </p:cNvPr>
                <p:cNvSpPr/>
                <p:nvPr/>
              </p:nvSpPr>
              <p:spPr>
                <a:xfrm>
                  <a:off x="7817960" y="3156971"/>
                  <a:ext cx="1301115" cy="112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1115" h="112395">
                      <a:moveTo>
                        <a:pt x="0" y="112174"/>
                      </a:moveTo>
                      <a:lnTo>
                        <a:pt x="1300839" y="112174"/>
                      </a:lnTo>
                      <a:lnTo>
                        <a:pt x="1300839" y="0"/>
                      </a:lnTo>
                      <a:lnTo>
                        <a:pt x="0" y="0"/>
                      </a:lnTo>
                      <a:lnTo>
                        <a:pt x="0" y="112174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5" name="object 78">
                  <a:extLst>
                    <a:ext uri="{FF2B5EF4-FFF2-40B4-BE49-F238E27FC236}">
                      <a16:creationId xmlns:a16="http://schemas.microsoft.com/office/drawing/2014/main" id="{7000009D-6F26-E87D-0AF1-59F1A680140B}"/>
                    </a:ext>
                  </a:extLst>
                </p:cNvPr>
                <p:cNvSpPr/>
                <p:nvPr/>
              </p:nvSpPr>
              <p:spPr>
                <a:xfrm>
                  <a:off x="7817960" y="3155537"/>
                  <a:ext cx="1301115" cy="113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1115" h="113664">
                      <a:moveTo>
                        <a:pt x="1300839" y="113609"/>
                      </a:moveTo>
                      <a:lnTo>
                        <a:pt x="0" y="113598"/>
                      </a:lnTo>
                      <a:lnTo>
                        <a:pt x="0" y="0"/>
                      </a:lnTo>
                      <a:lnTo>
                        <a:pt x="1300839" y="10"/>
                      </a:lnTo>
                      <a:lnTo>
                        <a:pt x="1300839" y="113609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6" name="object 79">
                  <a:extLst>
                    <a:ext uri="{FF2B5EF4-FFF2-40B4-BE49-F238E27FC236}">
                      <a16:creationId xmlns:a16="http://schemas.microsoft.com/office/drawing/2014/main" id="{2A3578D8-2A8F-353F-D4C4-AD6F5CAA2B34}"/>
                    </a:ext>
                  </a:extLst>
                </p:cNvPr>
                <p:cNvSpPr/>
                <p:nvPr/>
              </p:nvSpPr>
              <p:spPr>
                <a:xfrm>
                  <a:off x="7799720" y="3111057"/>
                  <a:ext cx="1337310" cy="4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309" h="46355">
                      <a:moveTo>
                        <a:pt x="1337310" y="0"/>
                      </a:moveTo>
                      <a:lnTo>
                        <a:pt x="0" y="0"/>
                      </a:lnTo>
                      <a:lnTo>
                        <a:pt x="0" y="45914"/>
                      </a:lnTo>
                      <a:lnTo>
                        <a:pt x="1337310" y="45914"/>
                      </a:lnTo>
                      <a:lnTo>
                        <a:pt x="133731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7" name="object 80">
                  <a:extLst>
                    <a:ext uri="{FF2B5EF4-FFF2-40B4-BE49-F238E27FC236}">
                      <a16:creationId xmlns:a16="http://schemas.microsoft.com/office/drawing/2014/main" id="{3AF9327A-1568-6334-502D-AE1EF400443F}"/>
                    </a:ext>
                  </a:extLst>
                </p:cNvPr>
                <p:cNvSpPr/>
                <p:nvPr/>
              </p:nvSpPr>
              <p:spPr>
                <a:xfrm>
                  <a:off x="7799720" y="3111057"/>
                  <a:ext cx="1337310" cy="4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309" h="46355">
                      <a:moveTo>
                        <a:pt x="1337310" y="45914"/>
                      </a:moveTo>
                      <a:lnTo>
                        <a:pt x="0" y="45914"/>
                      </a:lnTo>
                      <a:lnTo>
                        <a:pt x="0" y="0"/>
                      </a:lnTo>
                      <a:lnTo>
                        <a:pt x="1337310" y="0"/>
                      </a:lnTo>
                      <a:lnTo>
                        <a:pt x="1337310" y="45914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8" name="object 81">
                  <a:extLst>
                    <a:ext uri="{FF2B5EF4-FFF2-40B4-BE49-F238E27FC236}">
                      <a16:creationId xmlns:a16="http://schemas.microsoft.com/office/drawing/2014/main" id="{D97DD49C-0E20-B67C-EDF5-A27E567010C2}"/>
                    </a:ext>
                  </a:extLst>
                </p:cNvPr>
                <p:cNvSpPr/>
                <p:nvPr/>
              </p:nvSpPr>
              <p:spPr>
                <a:xfrm>
                  <a:off x="7832713" y="2964596"/>
                  <a:ext cx="1271905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904" h="304800">
                      <a:moveTo>
                        <a:pt x="635666" y="0"/>
                      </a:moveTo>
                      <a:lnTo>
                        <a:pt x="0" y="304535"/>
                      </a:lnTo>
                      <a:lnTo>
                        <a:pt x="1271333" y="304545"/>
                      </a:lnTo>
                      <a:lnTo>
                        <a:pt x="63566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299" name="object 82">
                  <a:extLst>
                    <a:ext uri="{FF2B5EF4-FFF2-40B4-BE49-F238E27FC236}">
                      <a16:creationId xmlns:a16="http://schemas.microsoft.com/office/drawing/2014/main" id="{BFFD8B86-BF56-C06E-32D1-9F8A0DB05E3B}"/>
                    </a:ext>
                  </a:extLst>
                </p:cNvPr>
                <p:cNvSpPr/>
                <p:nvPr/>
              </p:nvSpPr>
              <p:spPr>
                <a:xfrm>
                  <a:off x="7832713" y="2964596"/>
                  <a:ext cx="1271905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904" h="304800">
                      <a:moveTo>
                        <a:pt x="635666" y="0"/>
                      </a:moveTo>
                      <a:lnTo>
                        <a:pt x="0" y="304535"/>
                      </a:lnTo>
                      <a:lnTo>
                        <a:pt x="635666" y="304545"/>
                      </a:lnTo>
                      <a:lnTo>
                        <a:pt x="1271333" y="304545"/>
                      </a:lnTo>
                      <a:lnTo>
                        <a:pt x="635666" y="0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300" name="object 83">
                  <a:extLst>
                    <a:ext uri="{FF2B5EF4-FFF2-40B4-BE49-F238E27FC236}">
                      <a16:creationId xmlns:a16="http://schemas.microsoft.com/office/drawing/2014/main" id="{4C27C34E-A0E9-7B79-A029-6C76365AD8E8}"/>
                    </a:ext>
                  </a:extLst>
                </p:cNvPr>
                <p:cNvSpPr/>
                <p:nvPr/>
              </p:nvSpPr>
              <p:spPr>
                <a:xfrm>
                  <a:off x="7757154" y="3321997"/>
                  <a:ext cx="1423035" cy="125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034" h="125729">
                      <a:moveTo>
                        <a:pt x="0" y="125384"/>
                      </a:moveTo>
                      <a:lnTo>
                        <a:pt x="1422448" y="125384"/>
                      </a:lnTo>
                      <a:lnTo>
                        <a:pt x="1422448" y="0"/>
                      </a:lnTo>
                      <a:lnTo>
                        <a:pt x="0" y="0"/>
                      </a:lnTo>
                      <a:lnTo>
                        <a:pt x="0" y="125384"/>
                      </a:lnTo>
                      <a:close/>
                    </a:path>
                  </a:pathLst>
                </a:custGeom>
                <a:solidFill>
                  <a:srgbClr val="AE9BC6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301" name="object 84">
                  <a:extLst>
                    <a:ext uri="{FF2B5EF4-FFF2-40B4-BE49-F238E27FC236}">
                      <a16:creationId xmlns:a16="http://schemas.microsoft.com/office/drawing/2014/main" id="{8C4954FA-3DD7-90ED-46CC-4845C1652EBC}"/>
                    </a:ext>
                  </a:extLst>
                </p:cNvPr>
                <p:cNvSpPr/>
                <p:nvPr/>
              </p:nvSpPr>
              <p:spPr>
                <a:xfrm>
                  <a:off x="7757154" y="3306014"/>
                  <a:ext cx="1423035" cy="141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034" h="141604">
                      <a:moveTo>
                        <a:pt x="1422448" y="141367"/>
                      </a:moveTo>
                      <a:lnTo>
                        <a:pt x="0" y="141356"/>
                      </a:lnTo>
                      <a:lnTo>
                        <a:pt x="0" y="0"/>
                      </a:lnTo>
                      <a:lnTo>
                        <a:pt x="1422448" y="0"/>
                      </a:lnTo>
                      <a:lnTo>
                        <a:pt x="1422448" y="141367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302" name="object 85">
                  <a:extLst>
                    <a:ext uri="{FF2B5EF4-FFF2-40B4-BE49-F238E27FC236}">
                      <a16:creationId xmlns:a16="http://schemas.microsoft.com/office/drawing/2014/main" id="{F54251B9-9898-F409-922C-81E2338767EA}"/>
                    </a:ext>
                  </a:extLst>
                </p:cNvPr>
                <p:cNvSpPr/>
                <p:nvPr/>
              </p:nvSpPr>
              <p:spPr>
                <a:xfrm>
                  <a:off x="8057922" y="3025726"/>
                  <a:ext cx="821055" cy="19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54" h="196850">
                      <a:moveTo>
                        <a:pt x="410458" y="0"/>
                      </a:moveTo>
                      <a:lnTo>
                        <a:pt x="0" y="196632"/>
                      </a:lnTo>
                      <a:lnTo>
                        <a:pt x="820927" y="196632"/>
                      </a:lnTo>
                      <a:lnTo>
                        <a:pt x="410458" y="0"/>
                      </a:lnTo>
                      <a:close/>
                    </a:path>
                  </a:pathLst>
                </a:custGeom>
                <a:solidFill>
                  <a:srgbClr val="DED5E8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303" name="object 86">
                  <a:extLst>
                    <a:ext uri="{FF2B5EF4-FFF2-40B4-BE49-F238E27FC236}">
                      <a16:creationId xmlns:a16="http://schemas.microsoft.com/office/drawing/2014/main" id="{508D99F4-73C0-7002-284E-B3EC0D612254}"/>
                    </a:ext>
                  </a:extLst>
                </p:cNvPr>
                <p:cNvSpPr/>
                <p:nvPr/>
              </p:nvSpPr>
              <p:spPr>
                <a:xfrm>
                  <a:off x="7741648" y="3269140"/>
                  <a:ext cx="1453515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3515" h="53339">
                      <a:moveTo>
                        <a:pt x="1453474" y="10"/>
                      </a:moveTo>
                      <a:lnTo>
                        <a:pt x="0" y="0"/>
                      </a:lnTo>
                      <a:lnTo>
                        <a:pt x="0" y="52857"/>
                      </a:lnTo>
                      <a:lnTo>
                        <a:pt x="1453474" y="52857"/>
                      </a:lnTo>
                      <a:lnTo>
                        <a:pt x="1453474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304" name="object 87">
                  <a:extLst>
                    <a:ext uri="{FF2B5EF4-FFF2-40B4-BE49-F238E27FC236}">
                      <a16:creationId xmlns:a16="http://schemas.microsoft.com/office/drawing/2014/main" id="{1AE22411-7734-3594-36BC-C9C9294678CE}"/>
                    </a:ext>
                  </a:extLst>
                </p:cNvPr>
                <p:cNvSpPr/>
                <p:nvPr/>
              </p:nvSpPr>
              <p:spPr>
                <a:xfrm>
                  <a:off x="7741648" y="3269140"/>
                  <a:ext cx="1453515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3515" h="53339">
                      <a:moveTo>
                        <a:pt x="1453474" y="52857"/>
                      </a:moveTo>
                      <a:lnTo>
                        <a:pt x="0" y="52857"/>
                      </a:lnTo>
                      <a:lnTo>
                        <a:pt x="0" y="0"/>
                      </a:lnTo>
                      <a:lnTo>
                        <a:pt x="1453474" y="10"/>
                      </a:lnTo>
                      <a:lnTo>
                        <a:pt x="1453474" y="52857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305" name="object 88">
                  <a:extLst>
                    <a:ext uri="{FF2B5EF4-FFF2-40B4-BE49-F238E27FC236}">
                      <a16:creationId xmlns:a16="http://schemas.microsoft.com/office/drawing/2014/main" id="{3166999B-63D8-C930-1495-598FED069D4F}"/>
                    </a:ext>
                  </a:extLst>
                </p:cNvPr>
                <p:cNvSpPr/>
                <p:nvPr/>
              </p:nvSpPr>
              <p:spPr>
                <a:xfrm>
                  <a:off x="7741648" y="3447373"/>
                  <a:ext cx="1453515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3515" h="53339">
                      <a:moveTo>
                        <a:pt x="1453474" y="10"/>
                      </a:moveTo>
                      <a:lnTo>
                        <a:pt x="0" y="0"/>
                      </a:lnTo>
                      <a:lnTo>
                        <a:pt x="0" y="52857"/>
                      </a:lnTo>
                      <a:lnTo>
                        <a:pt x="1453474" y="52857"/>
                      </a:lnTo>
                      <a:lnTo>
                        <a:pt x="1453474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306" name="object 89">
                  <a:extLst>
                    <a:ext uri="{FF2B5EF4-FFF2-40B4-BE49-F238E27FC236}">
                      <a16:creationId xmlns:a16="http://schemas.microsoft.com/office/drawing/2014/main" id="{A3533153-7362-835A-6EBF-08BF70819112}"/>
                    </a:ext>
                  </a:extLst>
                </p:cNvPr>
                <p:cNvSpPr/>
                <p:nvPr/>
              </p:nvSpPr>
              <p:spPr>
                <a:xfrm>
                  <a:off x="7741648" y="3447373"/>
                  <a:ext cx="1453515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3515" h="53339">
                      <a:moveTo>
                        <a:pt x="1453474" y="52857"/>
                      </a:moveTo>
                      <a:lnTo>
                        <a:pt x="0" y="52857"/>
                      </a:lnTo>
                      <a:lnTo>
                        <a:pt x="0" y="0"/>
                      </a:lnTo>
                      <a:lnTo>
                        <a:pt x="1453474" y="10"/>
                      </a:lnTo>
                      <a:lnTo>
                        <a:pt x="1453474" y="52857"/>
                      </a:lnTo>
                      <a:close/>
                    </a:path>
                  </a:pathLst>
                </a:custGeom>
                <a:ln w="160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</p:grpSp>
        </p:grpSp>
        <p:sp>
          <p:nvSpPr>
            <p:cNvPr id="308" name="Rounded Rectangle 307">
              <a:extLst>
                <a:ext uri="{FF2B5EF4-FFF2-40B4-BE49-F238E27FC236}">
                  <a16:creationId xmlns:a16="http://schemas.microsoft.com/office/drawing/2014/main" id="{73484C6F-2F61-8742-5AEA-205DE8A0ECEC}"/>
                </a:ext>
              </a:extLst>
            </p:cNvPr>
            <p:cNvSpPr/>
            <p:nvPr/>
          </p:nvSpPr>
          <p:spPr>
            <a:xfrm>
              <a:off x="10432788" y="7427098"/>
              <a:ext cx="8763259" cy="2423351"/>
            </a:xfrm>
            <a:prstGeom prst="roundRect">
              <a:avLst>
                <a:gd name="adj" fmla="val 8003"/>
              </a:avLst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0" bIns="36000" rtlCol="0" anchor="ctr"/>
            <a:lstStyle/>
            <a:p>
              <a:pPr algn="just">
                <a:lnSpc>
                  <a:spcPct val="130000"/>
                </a:lnSpc>
              </a:pPr>
              <a:endParaRPr lang="pt-PT" sz="1700" spc="15" dirty="0">
                <a:solidFill>
                  <a:srgbClr val="241B54"/>
                </a:solidFill>
                <a:latin typeface="Open Sans"/>
                <a:cs typeface="Open Sans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D9795EB5-1265-A7FA-AF1F-C3337CCEFC06}"/>
                </a:ext>
              </a:extLst>
            </p:cNvPr>
            <p:cNvSpPr txBox="1"/>
            <p:nvPr/>
          </p:nvSpPr>
          <p:spPr>
            <a:xfrm>
              <a:off x="10706416" y="7708558"/>
              <a:ext cx="3814626" cy="1923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pt-PT" sz="1700" spc="10" dirty="0">
                  <a:solidFill>
                    <a:srgbClr val="241B54"/>
                  </a:solidFill>
                  <a:latin typeface="Open Sans"/>
                  <a:cs typeface="Open Sans"/>
                </a:rPr>
                <a:t>Bancos resgatados com dinheiro novo (o banco central readquire os ativos que os bancos possuem a um preço mais alto do que o seu valor atual, para os resgatar, ou cria dinheiro novo e dá-o diretamente aos bancos).</a:t>
              </a:r>
            </a:p>
          </p:txBody>
        </p: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B2EA5683-1F7F-68C1-7040-5B2D16E64148}"/>
                </a:ext>
              </a:extLst>
            </p:cNvPr>
            <p:cNvGrpSpPr/>
            <p:nvPr/>
          </p:nvGrpSpPr>
          <p:grpSpPr>
            <a:xfrm>
              <a:off x="15252841" y="8221315"/>
              <a:ext cx="1454150" cy="850900"/>
              <a:chOff x="15410494" y="7595548"/>
              <a:chExt cx="1454150" cy="850900"/>
            </a:xfrm>
          </p:grpSpPr>
          <p:sp>
            <p:nvSpPr>
              <p:cNvPr id="311" name="object 116">
                <a:extLst>
                  <a:ext uri="{FF2B5EF4-FFF2-40B4-BE49-F238E27FC236}">
                    <a16:creationId xmlns:a16="http://schemas.microsoft.com/office/drawing/2014/main" id="{DC748298-32C1-F39E-3AA0-B671351351A2}"/>
                  </a:ext>
                </a:extLst>
              </p:cNvPr>
              <p:cNvSpPr/>
              <p:nvPr/>
            </p:nvSpPr>
            <p:spPr>
              <a:xfrm>
                <a:off x="15410494" y="7595548"/>
                <a:ext cx="1454150" cy="850900"/>
              </a:xfrm>
              <a:custGeom>
                <a:avLst/>
                <a:gdLst/>
                <a:ahLst/>
                <a:cxnLst/>
                <a:rect l="l" t="t" r="r" b="b"/>
                <a:pathLst>
                  <a:path w="1454150" h="850900">
                    <a:moveTo>
                      <a:pt x="1453987" y="0"/>
                    </a:moveTo>
                    <a:lnTo>
                      <a:pt x="0" y="0"/>
                    </a:lnTo>
                    <a:lnTo>
                      <a:pt x="0" y="850288"/>
                    </a:lnTo>
                    <a:lnTo>
                      <a:pt x="1453987" y="850288"/>
                    </a:lnTo>
                    <a:lnTo>
                      <a:pt x="1453987" y="0"/>
                    </a:lnTo>
                    <a:close/>
                  </a:path>
                </a:pathLst>
              </a:custGeom>
              <a:solidFill>
                <a:srgbClr val="8DC53E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312" name="object 117">
                <a:extLst>
                  <a:ext uri="{FF2B5EF4-FFF2-40B4-BE49-F238E27FC236}">
                    <a16:creationId xmlns:a16="http://schemas.microsoft.com/office/drawing/2014/main" id="{4E077CE5-58BF-8B53-B5EA-0CDDE5019250}"/>
                  </a:ext>
                </a:extLst>
              </p:cNvPr>
              <p:cNvSpPr/>
              <p:nvPr/>
            </p:nvSpPr>
            <p:spPr>
              <a:xfrm>
                <a:off x="15410494" y="7595548"/>
                <a:ext cx="1454150" cy="850900"/>
              </a:xfrm>
              <a:custGeom>
                <a:avLst/>
                <a:gdLst/>
                <a:ahLst/>
                <a:cxnLst/>
                <a:rect l="l" t="t" r="r" b="b"/>
                <a:pathLst>
                  <a:path w="1454150" h="850900">
                    <a:moveTo>
                      <a:pt x="1453987" y="850288"/>
                    </a:moveTo>
                    <a:lnTo>
                      <a:pt x="0" y="850288"/>
                    </a:lnTo>
                    <a:lnTo>
                      <a:pt x="0" y="0"/>
                    </a:lnTo>
                    <a:lnTo>
                      <a:pt x="1453987" y="0"/>
                    </a:lnTo>
                    <a:lnTo>
                      <a:pt x="1453987" y="850288"/>
                    </a:lnTo>
                    <a:close/>
                  </a:path>
                </a:pathLst>
              </a:custGeom>
              <a:ln w="1691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313" name="object 118">
                <a:extLst>
                  <a:ext uri="{FF2B5EF4-FFF2-40B4-BE49-F238E27FC236}">
                    <a16:creationId xmlns:a16="http://schemas.microsoft.com/office/drawing/2014/main" id="{1EFF813C-AE58-ADB6-6BAC-BAA97D0512D5}"/>
                  </a:ext>
                </a:extLst>
              </p:cNvPr>
              <p:cNvSpPr/>
              <p:nvPr/>
            </p:nvSpPr>
            <p:spPr>
              <a:xfrm>
                <a:off x="15483685" y="7670753"/>
                <a:ext cx="1308100" cy="700405"/>
              </a:xfrm>
              <a:custGeom>
                <a:avLst/>
                <a:gdLst/>
                <a:ahLst/>
                <a:cxnLst/>
                <a:rect l="l" t="t" r="r" b="b"/>
                <a:pathLst>
                  <a:path w="1308100" h="700404">
                    <a:moveTo>
                      <a:pt x="1159284" y="0"/>
                    </a:moveTo>
                    <a:lnTo>
                      <a:pt x="148299" y="0"/>
                    </a:lnTo>
                    <a:lnTo>
                      <a:pt x="124984" y="49007"/>
                    </a:lnTo>
                    <a:lnTo>
                      <a:pt x="91438" y="90910"/>
                    </a:lnTo>
                    <a:lnTo>
                      <a:pt x="49247" y="124108"/>
                    </a:lnTo>
                    <a:lnTo>
                      <a:pt x="0" y="147000"/>
                    </a:lnTo>
                    <a:lnTo>
                      <a:pt x="0" y="552862"/>
                    </a:lnTo>
                    <a:lnTo>
                      <a:pt x="49249" y="575746"/>
                    </a:lnTo>
                    <a:lnTo>
                      <a:pt x="91442" y="608944"/>
                    </a:lnTo>
                    <a:lnTo>
                      <a:pt x="124988" y="650852"/>
                    </a:lnTo>
                    <a:lnTo>
                      <a:pt x="148299" y="699863"/>
                    </a:lnTo>
                    <a:lnTo>
                      <a:pt x="1159284" y="699873"/>
                    </a:lnTo>
                    <a:lnTo>
                      <a:pt x="1182598" y="650864"/>
                    </a:lnTo>
                    <a:lnTo>
                      <a:pt x="1216143" y="608959"/>
                    </a:lnTo>
                    <a:lnTo>
                      <a:pt x="1258331" y="575761"/>
                    </a:lnTo>
                    <a:lnTo>
                      <a:pt x="1307572" y="552873"/>
                    </a:lnTo>
                    <a:lnTo>
                      <a:pt x="1307572" y="147000"/>
                    </a:lnTo>
                    <a:lnTo>
                      <a:pt x="1258331" y="124108"/>
                    </a:lnTo>
                    <a:lnTo>
                      <a:pt x="1216143" y="90910"/>
                    </a:lnTo>
                    <a:lnTo>
                      <a:pt x="1182598" y="49007"/>
                    </a:lnTo>
                    <a:lnTo>
                      <a:pt x="1159284" y="0"/>
                    </a:lnTo>
                    <a:close/>
                  </a:path>
                </a:pathLst>
              </a:custGeom>
              <a:solidFill>
                <a:srgbClr val="81B52F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314" name="object 119">
                <a:extLst>
                  <a:ext uri="{FF2B5EF4-FFF2-40B4-BE49-F238E27FC236}">
                    <a16:creationId xmlns:a16="http://schemas.microsoft.com/office/drawing/2014/main" id="{1DDDF2FE-0D4B-EF87-5EBA-78E785B83B9E}"/>
                  </a:ext>
                </a:extLst>
              </p:cNvPr>
              <p:cNvSpPr/>
              <p:nvPr/>
            </p:nvSpPr>
            <p:spPr>
              <a:xfrm>
                <a:off x="15483685" y="7670753"/>
                <a:ext cx="1308100" cy="700405"/>
              </a:xfrm>
              <a:custGeom>
                <a:avLst/>
                <a:gdLst/>
                <a:ahLst/>
                <a:cxnLst/>
                <a:rect l="l" t="t" r="r" b="b"/>
                <a:pathLst>
                  <a:path w="1308100" h="700404">
                    <a:moveTo>
                      <a:pt x="1159284" y="0"/>
                    </a:moveTo>
                    <a:lnTo>
                      <a:pt x="148299" y="0"/>
                    </a:lnTo>
                    <a:lnTo>
                      <a:pt x="124984" y="49007"/>
                    </a:lnTo>
                    <a:lnTo>
                      <a:pt x="91438" y="90910"/>
                    </a:lnTo>
                    <a:lnTo>
                      <a:pt x="49247" y="124108"/>
                    </a:lnTo>
                    <a:lnTo>
                      <a:pt x="0" y="147000"/>
                    </a:lnTo>
                    <a:lnTo>
                      <a:pt x="0" y="552862"/>
                    </a:lnTo>
                    <a:lnTo>
                      <a:pt x="49249" y="575746"/>
                    </a:lnTo>
                    <a:lnTo>
                      <a:pt x="91442" y="608944"/>
                    </a:lnTo>
                    <a:lnTo>
                      <a:pt x="124988" y="650852"/>
                    </a:lnTo>
                    <a:lnTo>
                      <a:pt x="148299" y="699863"/>
                    </a:lnTo>
                    <a:lnTo>
                      <a:pt x="1159284" y="699873"/>
                    </a:lnTo>
                    <a:lnTo>
                      <a:pt x="1182598" y="650864"/>
                    </a:lnTo>
                    <a:lnTo>
                      <a:pt x="1216143" y="608959"/>
                    </a:lnTo>
                    <a:lnTo>
                      <a:pt x="1258331" y="575761"/>
                    </a:lnTo>
                    <a:lnTo>
                      <a:pt x="1307572" y="552873"/>
                    </a:lnTo>
                    <a:lnTo>
                      <a:pt x="1307572" y="147000"/>
                    </a:lnTo>
                    <a:lnTo>
                      <a:pt x="1258331" y="124108"/>
                    </a:lnTo>
                    <a:lnTo>
                      <a:pt x="1216143" y="90910"/>
                    </a:lnTo>
                    <a:lnTo>
                      <a:pt x="1182598" y="49007"/>
                    </a:lnTo>
                    <a:lnTo>
                      <a:pt x="1159284" y="0"/>
                    </a:lnTo>
                    <a:close/>
                  </a:path>
                </a:pathLst>
              </a:custGeom>
              <a:ln w="1691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315" name="object 120">
                <a:extLst>
                  <a:ext uri="{FF2B5EF4-FFF2-40B4-BE49-F238E27FC236}">
                    <a16:creationId xmlns:a16="http://schemas.microsoft.com/office/drawing/2014/main" id="{7925D530-4185-C86D-EC0A-4836BE19CC93}"/>
                  </a:ext>
                </a:extLst>
              </p:cNvPr>
              <p:cNvSpPr/>
              <p:nvPr/>
            </p:nvSpPr>
            <p:spPr>
              <a:xfrm>
                <a:off x="15846312" y="7729540"/>
                <a:ext cx="582930" cy="582295"/>
              </a:xfrm>
              <a:custGeom>
                <a:avLst/>
                <a:gdLst/>
                <a:ahLst/>
                <a:cxnLst/>
                <a:rect l="l" t="t" r="r" b="b"/>
                <a:pathLst>
                  <a:path w="582930" h="582295">
                    <a:moveTo>
                      <a:pt x="291174" y="0"/>
                    </a:moveTo>
                    <a:lnTo>
                      <a:pt x="243946" y="3810"/>
                    </a:lnTo>
                    <a:lnTo>
                      <a:pt x="199144" y="14842"/>
                    </a:lnTo>
                    <a:lnTo>
                      <a:pt x="157367" y="32497"/>
                    </a:lnTo>
                    <a:lnTo>
                      <a:pt x="119214" y="56173"/>
                    </a:lnTo>
                    <a:lnTo>
                      <a:pt x="85286" y="85273"/>
                    </a:lnTo>
                    <a:lnTo>
                      <a:pt x="56182" y="119196"/>
                    </a:lnTo>
                    <a:lnTo>
                      <a:pt x="32502" y="157343"/>
                    </a:lnTo>
                    <a:lnTo>
                      <a:pt x="14845" y="199115"/>
                    </a:lnTo>
                    <a:lnTo>
                      <a:pt x="3811" y="243911"/>
                    </a:lnTo>
                    <a:lnTo>
                      <a:pt x="0" y="291132"/>
                    </a:lnTo>
                    <a:lnTo>
                      <a:pt x="3811" y="338362"/>
                    </a:lnTo>
                    <a:lnTo>
                      <a:pt x="14845" y="383164"/>
                    </a:lnTo>
                    <a:lnTo>
                      <a:pt x="32502" y="424939"/>
                    </a:lnTo>
                    <a:lnTo>
                      <a:pt x="56182" y="463089"/>
                    </a:lnTo>
                    <a:lnTo>
                      <a:pt x="85286" y="497013"/>
                    </a:lnTo>
                    <a:lnTo>
                      <a:pt x="119214" y="526113"/>
                    </a:lnTo>
                    <a:lnTo>
                      <a:pt x="157367" y="549790"/>
                    </a:lnTo>
                    <a:lnTo>
                      <a:pt x="199144" y="567443"/>
                    </a:lnTo>
                    <a:lnTo>
                      <a:pt x="243946" y="578475"/>
                    </a:lnTo>
                    <a:lnTo>
                      <a:pt x="291174" y="582285"/>
                    </a:lnTo>
                    <a:lnTo>
                      <a:pt x="338406" y="578475"/>
                    </a:lnTo>
                    <a:lnTo>
                      <a:pt x="383211" y="567443"/>
                    </a:lnTo>
                    <a:lnTo>
                      <a:pt x="424988" y="549790"/>
                    </a:lnTo>
                    <a:lnTo>
                      <a:pt x="463139" y="526113"/>
                    </a:lnTo>
                    <a:lnTo>
                      <a:pt x="497064" y="497013"/>
                    </a:lnTo>
                    <a:lnTo>
                      <a:pt x="526165" y="463089"/>
                    </a:lnTo>
                    <a:lnTo>
                      <a:pt x="549842" y="424939"/>
                    </a:lnTo>
                    <a:lnTo>
                      <a:pt x="567496" y="383164"/>
                    </a:lnTo>
                    <a:lnTo>
                      <a:pt x="578527" y="338362"/>
                    </a:lnTo>
                    <a:lnTo>
                      <a:pt x="582338" y="291132"/>
                    </a:lnTo>
                    <a:lnTo>
                      <a:pt x="578527" y="243911"/>
                    </a:lnTo>
                    <a:lnTo>
                      <a:pt x="567496" y="199115"/>
                    </a:lnTo>
                    <a:lnTo>
                      <a:pt x="549842" y="157343"/>
                    </a:lnTo>
                    <a:lnTo>
                      <a:pt x="526165" y="119196"/>
                    </a:lnTo>
                    <a:lnTo>
                      <a:pt x="497064" y="85273"/>
                    </a:lnTo>
                    <a:lnTo>
                      <a:pt x="463139" y="56173"/>
                    </a:lnTo>
                    <a:lnTo>
                      <a:pt x="424988" y="32497"/>
                    </a:lnTo>
                    <a:lnTo>
                      <a:pt x="383211" y="14842"/>
                    </a:lnTo>
                    <a:lnTo>
                      <a:pt x="338406" y="3810"/>
                    </a:lnTo>
                    <a:lnTo>
                      <a:pt x="291174" y="0"/>
                    </a:lnTo>
                    <a:close/>
                  </a:path>
                </a:pathLst>
              </a:custGeom>
              <a:solidFill>
                <a:srgbClr val="8DC53E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316" name="object 121">
                <a:extLst>
                  <a:ext uri="{FF2B5EF4-FFF2-40B4-BE49-F238E27FC236}">
                    <a16:creationId xmlns:a16="http://schemas.microsoft.com/office/drawing/2014/main" id="{0481660F-40B6-CC76-498E-3F209E941FA1}"/>
                  </a:ext>
                </a:extLst>
              </p:cNvPr>
              <p:cNvSpPr/>
              <p:nvPr/>
            </p:nvSpPr>
            <p:spPr>
              <a:xfrm>
                <a:off x="16014486" y="7824358"/>
                <a:ext cx="246379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246380" h="393065">
                    <a:moveTo>
                      <a:pt x="148100" y="0"/>
                    </a:moveTo>
                    <a:lnTo>
                      <a:pt x="99536" y="0"/>
                    </a:lnTo>
                    <a:lnTo>
                      <a:pt x="99536" y="32145"/>
                    </a:lnTo>
                    <a:lnTo>
                      <a:pt x="76203" y="35765"/>
                    </a:lnTo>
                    <a:lnTo>
                      <a:pt x="38879" y="49264"/>
                    </a:lnTo>
                    <a:lnTo>
                      <a:pt x="6214" y="85179"/>
                    </a:lnTo>
                    <a:lnTo>
                      <a:pt x="0" y="119692"/>
                    </a:lnTo>
                    <a:lnTo>
                      <a:pt x="519" y="131845"/>
                    </a:lnTo>
                    <a:lnTo>
                      <a:pt x="13103" y="170359"/>
                    </a:lnTo>
                    <a:lnTo>
                      <a:pt x="44834" y="199514"/>
                    </a:lnTo>
                    <a:lnTo>
                      <a:pt x="83076" y="217584"/>
                    </a:lnTo>
                    <a:lnTo>
                      <a:pt x="106882" y="226493"/>
                    </a:lnTo>
                    <a:lnTo>
                      <a:pt x="125200" y="234003"/>
                    </a:lnTo>
                    <a:lnTo>
                      <a:pt x="154215" y="254170"/>
                    </a:lnTo>
                    <a:lnTo>
                      <a:pt x="154215" y="266881"/>
                    </a:lnTo>
                    <a:lnTo>
                      <a:pt x="115713" y="280232"/>
                    </a:lnTo>
                    <a:lnTo>
                      <a:pt x="103128" y="279653"/>
                    </a:lnTo>
                    <a:lnTo>
                      <a:pt x="59621" y="270965"/>
                    </a:lnTo>
                    <a:lnTo>
                      <a:pt x="14370" y="254488"/>
                    </a:lnTo>
                    <a:lnTo>
                      <a:pt x="471" y="247845"/>
                    </a:lnTo>
                    <a:lnTo>
                      <a:pt x="471" y="325770"/>
                    </a:lnTo>
                    <a:lnTo>
                      <a:pt x="24518" y="334963"/>
                    </a:lnTo>
                    <a:lnTo>
                      <a:pt x="49049" y="341861"/>
                    </a:lnTo>
                    <a:lnTo>
                      <a:pt x="74057" y="346470"/>
                    </a:lnTo>
                    <a:lnTo>
                      <a:pt x="99536" y="348795"/>
                    </a:lnTo>
                    <a:lnTo>
                      <a:pt x="99536" y="392658"/>
                    </a:lnTo>
                    <a:lnTo>
                      <a:pt x="148100" y="392658"/>
                    </a:lnTo>
                    <a:lnTo>
                      <a:pt x="148100" y="347392"/>
                    </a:lnTo>
                    <a:lnTo>
                      <a:pt x="170620" y="343263"/>
                    </a:lnTo>
                    <a:lnTo>
                      <a:pt x="207054" y="328004"/>
                    </a:lnTo>
                    <a:lnTo>
                      <a:pt x="239733" y="288514"/>
                    </a:lnTo>
                    <a:lnTo>
                      <a:pt x="245992" y="252767"/>
                    </a:lnTo>
                    <a:lnTo>
                      <a:pt x="244658" y="236089"/>
                    </a:lnTo>
                    <a:lnTo>
                      <a:pt x="224621" y="195638"/>
                    </a:lnTo>
                    <a:lnTo>
                      <a:pt x="177006" y="165054"/>
                    </a:lnTo>
                    <a:lnTo>
                      <a:pt x="132670" y="148343"/>
                    </a:lnTo>
                    <a:lnTo>
                      <a:pt x="123874" y="144863"/>
                    </a:lnTo>
                    <a:lnTo>
                      <a:pt x="107326" y="137493"/>
                    </a:lnTo>
                    <a:lnTo>
                      <a:pt x="100939" y="133755"/>
                    </a:lnTo>
                    <a:lnTo>
                      <a:pt x="93620" y="127011"/>
                    </a:lnTo>
                    <a:lnTo>
                      <a:pt x="91777" y="122760"/>
                    </a:lnTo>
                    <a:lnTo>
                      <a:pt x="91777" y="111630"/>
                    </a:lnTo>
                    <a:lnTo>
                      <a:pt x="125807" y="99494"/>
                    </a:lnTo>
                    <a:lnTo>
                      <a:pt x="146121" y="100874"/>
                    </a:lnTo>
                    <a:lnTo>
                      <a:pt x="167640" y="105016"/>
                    </a:lnTo>
                    <a:lnTo>
                      <a:pt x="190362" y="111920"/>
                    </a:lnTo>
                    <a:lnTo>
                      <a:pt x="214286" y="121587"/>
                    </a:lnTo>
                    <a:lnTo>
                      <a:pt x="242212" y="54678"/>
                    </a:lnTo>
                    <a:lnTo>
                      <a:pt x="218551" y="45594"/>
                    </a:lnTo>
                    <a:lnTo>
                      <a:pt x="194975" y="38730"/>
                    </a:lnTo>
                    <a:lnTo>
                      <a:pt x="171489" y="34086"/>
                    </a:lnTo>
                    <a:lnTo>
                      <a:pt x="148100" y="31663"/>
                    </a:lnTo>
                    <a:lnTo>
                      <a:pt x="148100" y="0"/>
                    </a:lnTo>
                    <a:close/>
                  </a:path>
                </a:pathLst>
              </a:custGeom>
              <a:solidFill>
                <a:srgbClr val="81B52F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317" name="object 122">
                <a:extLst>
                  <a:ext uri="{FF2B5EF4-FFF2-40B4-BE49-F238E27FC236}">
                    <a16:creationId xmlns:a16="http://schemas.microsoft.com/office/drawing/2014/main" id="{D20B5CE5-B3B7-AD4F-BA54-143EB41697E1}"/>
                  </a:ext>
                </a:extLst>
              </p:cNvPr>
              <p:cNvSpPr/>
              <p:nvPr/>
            </p:nvSpPr>
            <p:spPr>
              <a:xfrm>
                <a:off x="15571013" y="7956390"/>
                <a:ext cx="112458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24584" h="142875">
                    <a:moveTo>
                      <a:pt x="164706" y="100850"/>
                    </a:moveTo>
                    <a:lnTo>
                      <a:pt x="0" y="100850"/>
                    </a:lnTo>
                    <a:lnTo>
                      <a:pt x="0" y="142405"/>
                    </a:lnTo>
                    <a:lnTo>
                      <a:pt x="164706" y="142405"/>
                    </a:lnTo>
                    <a:lnTo>
                      <a:pt x="164706" y="100850"/>
                    </a:lnTo>
                    <a:close/>
                  </a:path>
                  <a:path w="1124584" h="142875">
                    <a:moveTo>
                      <a:pt x="164706" y="0"/>
                    </a:moveTo>
                    <a:lnTo>
                      <a:pt x="0" y="0"/>
                    </a:lnTo>
                    <a:lnTo>
                      <a:pt x="0" y="41554"/>
                    </a:lnTo>
                    <a:lnTo>
                      <a:pt x="164706" y="41554"/>
                    </a:lnTo>
                    <a:lnTo>
                      <a:pt x="164706" y="0"/>
                    </a:lnTo>
                    <a:close/>
                  </a:path>
                  <a:path w="1124584" h="142875">
                    <a:moveTo>
                      <a:pt x="1124559" y="100850"/>
                    </a:moveTo>
                    <a:lnTo>
                      <a:pt x="959866" y="100850"/>
                    </a:lnTo>
                    <a:lnTo>
                      <a:pt x="959866" y="142405"/>
                    </a:lnTo>
                    <a:lnTo>
                      <a:pt x="1124559" y="142405"/>
                    </a:lnTo>
                    <a:lnTo>
                      <a:pt x="1124559" y="100850"/>
                    </a:lnTo>
                    <a:close/>
                  </a:path>
                  <a:path w="1124584" h="142875">
                    <a:moveTo>
                      <a:pt x="1124559" y="0"/>
                    </a:moveTo>
                    <a:lnTo>
                      <a:pt x="959866" y="0"/>
                    </a:lnTo>
                    <a:lnTo>
                      <a:pt x="959866" y="41554"/>
                    </a:lnTo>
                    <a:lnTo>
                      <a:pt x="1124559" y="41554"/>
                    </a:lnTo>
                    <a:lnTo>
                      <a:pt x="1124559" y="0"/>
                    </a:lnTo>
                    <a:close/>
                  </a:path>
                </a:pathLst>
              </a:custGeom>
              <a:solidFill>
                <a:srgbClr val="8DC53E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</p:grpSp>
        <p:pic>
          <p:nvPicPr>
            <p:cNvPr id="318" name="object 124">
              <a:extLst>
                <a:ext uri="{FF2B5EF4-FFF2-40B4-BE49-F238E27FC236}">
                  <a16:creationId xmlns:a16="http://schemas.microsoft.com/office/drawing/2014/main" id="{68078B2C-7784-1FD7-9560-E69EA9679BFE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062195" y="7760258"/>
              <a:ext cx="1701789" cy="1947722"/>
            </a:xfrm>
            <a:prstGeom prst="rect">
              <a:avLst/>
            </a:prstGeom>
          </p:spPr>
        </p:pic>
        <p:pic>
          <p:nvPicPr>
            <p:cNvPr id="319" name="object 125">
              <a:extLst>
                <a:ext uri="{FF2B5EF4-FFF2-40B4-BE49-F238E27FC236}">
                  <a16:creationId xmlns:a16="http://schemas.microsoft.com/office/drawing/2014/main" id="{C3CDE608-4528-FAF5-0067-7B1ED3B88A7A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267038" y="7793314"/>
              <a:ext cx="209407" cy="209417"/>
            </a:xfrm>
            <a:prstGeom prst="rect">
              <a:avLst/>
            </a:prstGeom>
          </p:spPr>
        </p:pic>
        <p:pic>
          <p:nvPicPr>
            <p:cNvPr id="320" name="object 125">
              <a:extLst>
                <a:ext uri="{FF2B5EF4-FFF2-40B4-BE49-F238E27FC236}">
                  <a16:creationId xmlns:a16="http://schemas.microsoft.com/office/drawing/2014/main" id="{33B891EF-7DFE-69E4-4F24-9D40F57615C2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35193" y="8418465"/>
              <a:ext cx="209407" cy="209417"/>
            </a:xfrm>
            <a:prstGeom prst="rect">
              <a:avLst/>
            </a:prstGeom>
          </p:spPr>
        </p:pic>
        <p:pic>
          <p:nvPicPr>
            <p:cNvPr id="321" name="object 125">
              <a:extLst>
                <a:ext uri="{FF2B5EF4-FFF2-40B4-BE49-F238E27FC236}">
                  <a16:creationId xmlns:a16="http://schemas.microsoft.com/office/drawing/2014/main" id="{E3254CAF-43C5-3628-2CF3-5628484626D6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125454" y="7709339"/>
              <a:ext cx="209407" cy="209417"/>
            </a:xfrm>
            <a:prstGeom prst="rect">
              <a:avLst/>
            </a:prstGeom>
          </p:spPr>
        </p:pic>
        <p:pic>
          <p:nvPicPr>
            <p:cNvPr id="322" name="object 125">
              <a:extLst>
                <a:ext uri="{FF2B5EF4-FFF2-40B4-BE49-F238E27FC236}">
                  <a16:creationId xmlns:a16="http://schemas.microsoft.com/office/drawing/2014/main" id="{A9B8921D-1B51-4668-4DD8-B7A455F4E200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08009" y="9230229"/>
              <a:ext cx="209407" cy="209417"/>
            </a:xfrm>
            <a:prstGeom prst="rect">
              <a:avLst/>
            </a:prstGeom>
          </p:spPr>
        </p:pic>
        <p:pic>
          <p:nvPicPr>
            <p:cNvPr id="323" name="object 125">
              <a:extLst>
                <a:ext uri="{FF2B5EF4-FFF2-40B4-BE49-F238E27FC236}">
                  <a16:creationId xmlns:a16="http://schemas.microsoft.com/office/drawing/2014/main" id="{DE1832AC-658A-EF6F-A1C7-908638909CE5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686915" y="9370188"/>
              <a:ext cx="209407" cy="209417"/>
            </a:xfrm>
            <a:prstGeom prst="rect">
              <a:avLst/>
            </a:prstGeom>
          </p:spPr>
        </p:pic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A6FE1452-DC74-982D-818E-52301CFD5D9C}"/>
                </a:ext>
              </a:extLst>
            </p:cNvPr>
            <p:cNvGrpSpPr/>
            <p:nvPr/>
          </p:nvGrpSpPr>
          <p:grpSpPr>
            <a:xfrm>
              <a:off x="18357850" y="9850448"/>
              <a:ext cx="511817" cy="886801"/>
              <a:chOff x="18500044" y="9967608"/>
              <a:chExt cx="511817" cy="886801"/>
            </a:xfrm>
          </p:grpSpPr>
          <p:sp>
            <p:nvSpPr>
              <p:cNvPr id="326" name="object 94">
                <a:extLst>
                  <a:ext uri="{FF2B5EF4-FFF2-40B4-BE49-F238E27FC236}">
                    <a16:creationId xmlns:a16="http://schemas.microsoft.com/office/drawing/2014/main" id="{A0B6B587-A285-BF4D-05CC-FFD8D4A1EF1B}"/>
                  </a:ext>
                </a:extLst>
              </p:cNvPr>
              <p:cNvSpPr/>
              <p:nvPr/>
            </p:nvSpPr>
            <p:spPr>
              <a:xfrm>
                <a:off x="18680391" y="9967608"/>
                <a:ext cx="331470" cy="761915"/>
              </a:xfrm>
              <a:custGeom>
                <a:avLst/>
                <a:gdLst/>
                <a:ahLst/>
                <a:cxnLst/>
                <a:rect l="l" t="t" r="r" b="b"/>
                <a:pathLst>
                  <a:path w="331469" h="728979">
                    <a:moveTo>
                      <a:pt x="331256" y="0"/>
                    </a:moveTo>
                    <a:lnTo>
                      <a:pt x="331256" y="623855"/>
                    </a:lnTo>
                    <a:lnTo>
                      <a:pt x="323028" y="664609"/>
                    </a:lnTo>
                    <a:lnTo>
                      <a:pt x="300589" y="697892"/>
                    </a:lnTo>
                    <a:lnTo>
                      <a:pt x="267306" y="720334"/>
                    </a:lnTo>
                    <a:lnTo>
                      <a:pt x="226548" y="728564"/>
                    </a:lnTo>
                    <a:lnTo>
                      <a:pt x="0" y="728564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pic>
            <p:nvPicPr>
              <p:cNvPr id="327" name="object 95">
                <a:extLst>
                  <a:ext uri="{FF2B5EF4-FFF2-40B4-BE49-F238E27FC236}">
                    <a16:creationId xmlns:a16="http://schemas.microsoft.com/office/drawing/2014/main" id="{EBB341ED-E6C3-7C87-A289-878E45E0C37E}"/>
                  </a:ext>
                </a:extLst>
              </p:cNvPr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18500044" y="10603799"/>
                <a:ext cx="217009" cy="250610"/>
              </a:xfrm>
              <a:prstGeom prst="rect">
                <a:avLst/>
              </a:prstGeom>
            </p:spPr>
          </p:pic>
        </p:grpSp>
        <p:pic>
          <p:nvPicPr>
            <p:cNvPr id="325" name="object 93">
              <a:extLst>
                <a:ext uri="{FF2B5EF4-FFF2-40B4-BE49-F238E27FC236}">
                  <a16:creationId xmlns:a16="http://schemas.microsoft.com/office/drawing/2014/main" id="{3C41A78A-238D-38BE-F38B-B30C6E241764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971479" y="7237924"/>
              <a:ext cx="250610" cy="2169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6307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E678-02D7-056E-3E64-30F240B0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656A12-D48E-D850-F96D-C8CBAE6C6B13}"/>
              </a:ext>
            </a:extLst>
          </p:cNvPr>
          <p:cNvSpPr txBox="1"/>
          <p:nvPr/>
        </p:nvSpPr>
        <p:spPr>
          <a:xfrm>
            <a:off x="1382712" y="7540259"/>
            <a:ext cx="8352000" cy="2762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Ricos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Beneficiam do sistema fiduciário ao acumular dívidas para investir em ativos, gerando riqueza com pouco esforço.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DEEDBC-CBDB-0466-EE2D-E67C8AC0E13D}"/>
              </a:ext>
            </a:extLst>
          </p:cNvPr>
          <p:cNvSpPr txBox="1"/>
          <p:nvPr/>
        </p:nvSpPr>
        <p:spPr>
          <a:xfrm>
            <a:off x="1382712" y="2943434"/>
            <a:ext cx="8352000" cy="4055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Governo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Financia-se através de impostos e novas dívidas. Quando a procura por obrigações é baixa, o banco central compra a dívida restante, permitindo que o governo continue a sua atividade sem a aprovação popular.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B49699-7F37-2898-A421-2582102DF67D}"/>
              </a:ext>
            </a:extLst>
          </p:cNvPr>
          <p:cNvSpPr txBox="1"/>
          <p:nvPr/>
        </p:nvSpPr>
        <p:spPr>
          <a:xfrm>
            <a:off x="10382712" y="7540259"/>
            <a:ext cx="8352000" cy="2762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 Central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Controla a massa monetária, mas serve os interesses do governo, ao imprimir dinheiro do nada, sempre que este precisa.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F6DF42-8D94-C0EC-15FE-279662F04267}"/>
              </a:ext>
            </a:extLst>
          </p:cNvPr>
          <p:cNvSpPr txBox="1"/>
          <p:nvPr/>
        </p:nvSpPr>
        <p:spPr>
          <a:xfrm>
            <a:off x="10382712" y="2943433"/>
            <a:ext cx="8352000" cy="4055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Setor financeiro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Bancos e instituições financeiras lucram com a criação de dinheiro através de empréstimos com reservas mínimas obrigatórias, sem enfrentar consequências, pois são resgatados com dinheiro novo.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E24FD6-6785-FE47-795E-673316484022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4.2.3 Quem controla o sistema fiduciário e que benefícios têm?</a:t>
            </a:r>
          </a:p>
        </p:txBody>
      </p:sp>
    </p:spTree>
    <p:extLst>
      <p:ext uri="{BB962C8B-B14F-4D97-AF65-F5344CB8AC3E}">
        <p14:creationId xmlns:p14="http://schemas.microsoft.com/office/powerpoint/2010/main" val="198192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F8BF-F696-19D3-3E85-2860F5DE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C392774-17F4-B66E-B251-22FB5C55C399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4.2.3 Quem controla o sistema fiduciário e que benefícios têm?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BE2E31-5172-1EB0-15F9-6A93C70BA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682876"/>
            <a:ext cx="17338675" cy="1981199"/>
          </a:xfrm>
        </p:spPr>
        <p:txBody>
          <a:bodyPr/>
          <a:lstStyle/>
          <a:p>
            <a:pPr marL="592138" indent="-592138">
              <a:lnSpc>
                <a:spcPct val="170000"/>
              </a:lnSpc>
              <a:buSzPct val="125000"/>
              <a:buBlip>
                <a:blip r:embed="rId3"/>
              </a:buBlip>
            </a:pPr>
            <a:r>
              <a:rPr lang="pt-PT" dirty="0"/>
              <a:t>Os bancos centrais e os governos podem usar instrumentos de política monetária e orçamental para influenciar a massa monetária e a economia. </a:t>
            </a:r>
          </a:p>
          <a:p>
            <a:endParaRPr lang="pt-PT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67E00DD-BEA9-43FC-21C1-03194E309941}"/>
              </a:ext>
            </a:extLst>
          </p:cNvPr>
          <p:cNvGrpSpPr/>
          <p:nvPr/>
        </p:nvGrpSpPr>
        <p:grpSpPr>
          <a:xfrm>
            <a:off x="1346252" y="5121275"/>
            <a:ext cx="17411593" cy="5064829"/>
            <a:chOff x="1586340" y="5362927"/>
            <a:chExt cx="17411593" cy="5064829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6603D394-6130-3531-807F-1DF60C3C4EAB}"/>
                </a:ext>
              </a:extLst>
            </p:cNvPr>
            <p:cNvSpPr/>
            <p:nvPr/>
          </p:nvSpPr>
          <p:spPr>
            <a:xfrm>
              <a:off x="7537450" y="5411610"/>
              <a:ext cx="45719" cy="5016146"/>
            </a:xfrm>
            <a:custGeom>
              <a:avLst/>
              <a:gdLst/>
              <a:ahLst/>
              <a:cxnLst/>
              <a:rect l="l" t="t" r="r" b="b"/>
              <a:pathLst>
                <a:path h="3148965">
                  <a:moveTo>
                    <a:pt x="0" y="0"/>
                  </a:moveTo>
                  <a:lnTo>
                    <a:pt x="0" y="3148364"/>
                  </a:lnTo>
                </a:path>
              </a:pathLst>
            </a:custGeom>
            <a:ln w="19050">
              <a:solidFill>
                <a:srgbClr val="58595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23" name="object 24">
              <a:extLst>
                <a:ext uri="{FF2B5EF4-FFF2-40B4-BE49-F238E27FC236}">
                  <a16:creationId xmlns:a16="http://schemas.microsoft.com/office/drawing/2014/main" id="{53155830-D7BB-F043-D3BB-596C9FA8D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03774" y="8078850"/>
              <a:ext cx="1976533" cy="2300225"/>
            </a:xfrm>
            <a:prstGeom prst="rect">
              <a:avLst/>
            </a:prstGeom>
          </p:spPr>
        </p:pic>
        <p:pic>
          <p:nvPicPr>
            <p:cNvPr id="27" name="object 25">
              <a:extLst>
                <a:ext uri="{FF2B5EF4-FFF2-40B4-BE49-F238E27FC236}">
                  <a16:creationId xmlns:a16="http://schemas.microsoft.com/office/drawing/2014/main" id="{925E466C-C688-A6B6-10FF-EC963BE52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56092" y="8193975"/>
              <a:ext cx="1976400" cy="2233781"/>
            </a:xfrm>
            <a:prstGeom prst="rect">
              <a:avLst/>
            </a:prstGeom>
          </p:spPr>
        </p:pic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92724E1B-2E5E-020F-C351-404D4694DD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5330" y="8818594"/>
              <a:ext cx="644522" cy="1560481"/>
            </a:xfrm>
            <a:custGeom>
              <a:avLst/>
              <a:gdLst/>
              <a:ahLst/>
              <a:cxnLst/>
              <a:rect l="l" t="t" r="r" b="b"/>
              <a:pathLst>
                <a:path w="527684" h="1277620">
                  <a:moveTo>
                    <a:pt x="56992" y="408"/>
                  </a:moveTo>
                  <a:lnTo>
                    <a:pt x="9261" y="23612"/>
                  </a:lnTo>
                  <a:lnTo>
                    <a:pt x="94" y="64490"/>
                  </a:lnTo>
                  <a:lnTo>
                    <a:pt x="0" y="1207146"/>
                  </a:lnTo>
                  <a:lnTo>
                    <a:pt x="3416" y="1237053"/>
                  </a:lnTo>
                  <a:lnTo>
                    <a:pt x="13385" y="1259154"/>
                  </a:lnTo>
                  <a:lnTo>
                    <a:pt x="29469" y="1272778"/>
                  </a:lnTo>
                  <a:lnTo>
                    <a:pt x="51244" y="1277353"/>
                  </a:lnTo>
                  <a:lnTo>
                    <a:pt x="72643" y="1272709"/>
                  </a:lnTo>
                  <a:lnTo>
                    <a:pt x="88321" y="1259370"/>
                  </a:lnTo>
                  <a:lnTo>
                    <a:pt x="97968" y="1237753"/>
                  </a:lnTo>
                  <a:lnTo>
                    <a:pt x="98494" y="1233061"/>
                  </a:lnTo>
                  <a:lnTo>
                    <a:pt x="51464" y="1233061"/>
                  </a:lnTo>
                  <a:lnTo>
                    <a:pt x="47966" y="1229365"/>
                  </a:lnTo>
                  <a:lnTo>
                    <a:pt x="43181" y="1226297"/>
                  </a:lnTo>
                  <a:lnTo>
                    <a:pt x="39516" y="1217366"/>
                  </a:lnTo>
                  <a:lnTo>
                    <a:pt x="40553" y="1211491"/>
                  </a:lnTo>
                  <a:lnTo>
                    <a:pt x="40532" y="69181"/>
                  </a:lnTo>
                  <a:lnTo>
                    <a:pt x="39904" y="66867"/>
                  </a:lnTo>
                  <a:lnTo>
                    <a:pt x="44019" y="58176"/>
                  </a:lnTo>
                  <a:lnTo>
                    <a:pt x="47844" y="51097"/>
                  </a:lnTo>
                  <a:lnTo>
                    <a:pt x="51380" y="44281"/>
                  </a:lnTo>
                  <a:lnTo>
                    <a:pt x="99421" y="44281"/>
                  </a:lnTo>
                  <a:lnTo>
                    <a:pt x="97114" y="32427"/>
                  </a:lnTo>
                  <a:lnTo>
                    <a:pt x="87748" y="16707"/>
                  </a:lnTo>
                  <a:lnTo>
                    <a:pt x="73972" y="5662"/>
                  </a:lnTo>
                  <a:lnTo>
                    <a:pt x="56992" y="408"/>
                  </a:lnTo>
                  <a:close/>
                </a:path>
                <a:path w="527684" h="1277620">
                  <a:moveTo>
                    <a:pt x="466367" y="1147158"/>
                  </a:moveTo>
                  <a:lnTo>
                    <a:pt x="425986" y="1147158"/>
                  </a:lnTo>
                  <a:lnTo>
                    <a:pt x="426017" y="1214545"/>
                  </a:lnTo>
                  <a:lnTo>
                    <a:pt x="439998" y="1260968"/>
                  </a:lnTo>
                  <a:lnTo>
                    <a:pt x="476529" y="1277332"/>
                  </a:lnTo>
                  <a:lnTo>
                    <a:pt x="497103" y="1272937"/>
                  </a:lnTo>
                  <a:lnTo>
                    <a:pt x="513107" y="1260602"/>
                  </a:lnTo>
                  <a:lnTo>
                    <a:pt x="523483" y="1241392"/>
                  </a:lnTo>
                  <a:lnTo>
                    <a:pt x="524827" y="1232287"/>
                  </a:lnTo>
                  <a:lnTo>
                    <a:pt x="475807" y="1232287"/>
                  </a:lnTo>
                  <a:lnTo>
                    <a:pt x="468330" y="1229589"/>
                  </a:lnTo>
                  <a:lnTo>
                    <a:pt x="465777" y="1223148"/>
                  </a:lnTo>
                  <a:lnTo>
                    <a:pt x="465896" y="1214991"/>
                  </a:lnTo>
                  <a:lnTo>
                    <a:pt x="466357" y="1208277"/>
                  </a:lnTo>
                  <a:lnTo>
                    <a:pt x="466367" y="1147158"/>
                  </a:lnTo>
                  <a:close/>
                </a:path>
                <a:path w="527684" h="1277620">
                  <a:moveTo>
                    <a:pt x="99421" y="44281"/>
                  </a:moveTo>
                  <a:lnTo>
                    <a:pt x="51380" y="44281"/>
                  </a:lnTo>
                  <a:lnTo>
                    <a:pt x="54594" y="51569"/>
                  </a:lnTo>
                  <a:lnTo>
                    <a:pt x="60605" y="58835"/>
                  </a:lnTo>
                  <a:lnTo>
                    <a:pt x="60819" y="152948"/>
                  </a:lnTo>
                  <a:lnTo>
                    <a:pt x="60912" y="218600"/>
                  </a:lnTo>
                  <a:lnTo>
                    <a:pt x="61034" y="1209115"/>
                  </a:lnTo>
                  <a:lnTo>
                    <a:pt x="62186" y="1215449"/>
                  </a:lnTo>
                  <a:lnTo>
                    <a:pt x="59160" y="1225460"/>
                  </a:lnTo>
                  <a:lnTo>
                    <a:pt x="54626" y="1229020"/>
                  </a:lnTo>
                  <a:lnTo>
                    <a:pt x="51464" y="1233061"/>
                  </a:lnTo>
                  <a:lnTo>
                    <a:pt x="98494" y="1233061"/>
                  </a:lnTo>
                  <a:lnTo>
                    <a:pt x="101180" y="1209115"/>
                  </a:lnTo>
                  <a:lnTo>
                    <a:pt x="101274" y="1147158"/>
                  </a:lnTo>
                  <a:lnTo>
                    <a:pt x="466367" y="1147158"/>
                  </a:lnTo>
                  <a:lnTo>
                    <a:pt x="466316" y="1100709"/>
                  </a:lnTo>
                  <a:lnTo>
                    <a:pt x="102331" y="1100709"/>
                  </a:lnTo>
                  <a:lnTo>
                    <a:pt x="102331" y="1080448"/>
                  </a:lnTo>
                  <a:lnTo>
                    <a:pt x="466305" y="1080448"/>
                  </a:lnTo>
                  <a:lnTo>
                    <a:pt x="466280" y="1033958"/>
                  </a:lnTo>
                  <a:lnTo>
                    <a:pt x="102300" y="1033958"/>
                  </a:lnTo>
                  <a:lnTo>
                    <a:pt x="102300" y="926935"/>
                  </a:lnTo>
                  <a:lnTo>
                    <a:pt x="466234" y="926935"/>
                  </a:lnTo>
                  <a:lnTo>
                    <a:pt x="466232" y="880140"/>
                  </a:lnTo>
                  <a:lnTo>
                    <a:pt x="102069" y="880140"/>
                  </a:lnTo>
                  <a:lnTo>
                    <a:pt x="102069" y="860361"/>
                  </a:lnTo>
                  <a:lnTo>
                    <a:pt x="466232" y="860361"/>
                  </a:lnTo>
                  <a:lnTo>
                    <a:pt x="466231" y="813818"/>
                  </a:lnTo>
                  <a:lnTo>
                    <a:pt x="102666" y="813818"/>
                  </a:lnTo>
                  <a:lnTo>
                    <a:pt x="102666" y="706156"/>
                  </a:lnTo>
                  <a:lnTo>
                    <a:pt x="466228" y="706156"/>
                  </a:lnTo>
                  <a:lnTo>
                    <a:pt x="466226" y="659843"/>
                  </a:lnTo>
                  <a:lnTo>
                    <a:pt x="102268" y="659843"/>
                  </a:lnTo>
                  <a:lnTo>
                    <a:pt x="101148" y="640158"/>
                  </a:lnTo>
                  <a:lnTo>
                    <a:pt x="466226" y="640158"/>
                  </a:lnTo>
                  <a:lnTo>
                    <a:pt x="466226" y="593741"/>
                  </a:lnTo>
                  <a:lnTo>
                    <a:pt x="101986" y="593741"/>
                  </a:lnTo>
                  <a:lnTo>
                    <a:pt x="101986" y="486110"/>
                  </a:lnTo>
                  <a:lnTo>
                    <a:pt x="466226" y="486110"/>
                  </a:lnTo>
                  <a:lnTo>
                    <a:pt x="466226" y="439410"/>
                  </a:lnTo>
                  <a:lnTo>
                    <a:pt x="102268" y="439410"/>
                  </a:lnTo>
                  <a:lnTo>
                    <a:pt x="101148" y="419714"/>
                  </a:lnTo>
                  <a:lnTo>
                    <a:pt x="466226" y="419714"/>
                  </a:lnTo>
                  <a:lnTo>
                    <a:pt x="466226" y="372889"/>
                  </a:lnTo>
                  <a:lnTo>
                    <a:pt x="102740" y="372889"/>
                  </a:lnTo>
                  <a:lnTo>
                    <a:pt x="102740" y="265384"/>
                  </a:lnTo>
                  <a:lnTo>
                    <a:pt x="466226" y="265384"/>
                  </a:lnTo>
                  <a:lnTo>
                    <a:pt x="466226" y="218600"/>
                  </a:lnTo>
                  <a:lnTo>
                    <a:pt x="102007" y="218600"/>
                  </a:lnTo>
                  <a:lnTo>
                    <a:pt x="102007" y="199020"/>
                  </a:lnTo>
                  <a:lnTo>
                    <a:pt x="466226" y="199020"/>
                  </a:lnTo>
                  <a:lnTo>
                    <a:pt x="466226" y="152948"/>
                  </a:lnTo>
                  <a:lnTo>
                    <a:pt x="101075" y="152948"/>
                  </a:lnTo>
                  <a:lnTo>
                    <a:pt x="101164" y="127179"/>
                  </a:lnTo>
                  <a:lnTo>
                    <a:pt x="101268" y="107118"/>
                  </a:lnTo>
                  <a:lnTo>
                    <a:pt x="101145" y="69181"/>
                  </a:lnTo>
                  <a:lnTo>
                    <a:pt x="100952" y="57100"/>
                  </a:lnTo>
                  <a:lnTo>
                    <a:pt x="100839" y="51569"/>
                  </a:lnTo>
                  <a:lnTo>
                    <a:pt x="99421" y="44281"/>
                  </a:lnTo>
                  <a:close/>
                </a:path>
                <a:path w="527684" h="1277620">
                  <a:moveTo>
                    <a:pt x="524648" y="44281"/>
                  </a:moveTo>
                  <a:lnTo>
                    <a:pt x="475880" y="44281"/>
                  </a:lnTo>
                  <a:lnTo>
                    <a:pt x="479356" y="47988"/>
                  </a:lnTo>
                  <a:lnTo>
                    <a:pt x="484121" y="51097"/>
                  </a:lnTo>
                  <a:lnTo>
                    <a:pt x="487754" y="60050"/>
                  </a:lnTo>
                  <a:lnTo>
                    <a:pt x="486717" y="65914"/>
                  </a:lnTo>
                  <a:lnTo>
                    <a:pt x="486709" y="636650"/>
                  </a:lnTo>
                  <a:lnTo>
                    <a:pt x="486584" y="1207146"/>
                  </a:lnTo>
                  <a:lnTo>
                    <a:pt x="487049" y="1214545"/>
                  </a:lnTo>
                  <a:lnTo>
                    <a:pt x="486993" y="1223148"/>
                  </a:lnTo>
                  <a:lnTo>
                    <a:pt x="484068" y="1229715"/>
                  </a:lnTo>
                  <a:lnTo>
                    <a:pt x="475807" y="1232287"/>
                  </a:lnTo>
                  <a:lnTo>
                    <a:pt x="524827" y="1232287"/>
                  </a:lnTo>
                  <a:lnTo>
                    <a:pt x="527130" y="1216685"/>
                  </a:lnTo>
                  <a:lnTo>
                    <a:pt x="527252" y="947830"/>
                  </a:lnTo>
                  <a:lnTo>
                    <a:pt x="527198" y="61516"/>
                  </a:lnTo>
                  <a:lnTo>
                    <a:pt x="524648" y="44281"/>
                  </a:lnTo>
                  <a:close/>
                </a:path>
                <a:path w="527684" h="1277620">
                  <a:moveTo>
                    <a:pt x="466305" y="1080448"/>
                  </a:moveTo>
                  <a:lnTo>
                    <a:pt x="426164" y="1080448"/>
                  </a:lnTo>
                  <a:lnTo>
                    <a:pt x="425012" y="1100709"/>
                  </a:lnTo>
                  <a:lnTo>
                    <a:pt x="466316" y="1100709"/>
                  </a:lnTo>
                  <a:lnTo>
                    <a:pt x="466305" y="1080448"/>
                  </a:lnTo>
                  <a:close/>
                </a:path>
                <a:path w="527684" h="1277620">
                  <a:moveTo>
                    <a:pt x="466234" y="926935"/>
                  </a:moveTo>
                  <a:lnTo>
                    <a:pt x="424677" y="926935"/>
                  </a:lnTo>
                  <a:lnTo>
                    <a:pt x="424677" y="1033958"/>
                  </a:lnTo>
                  <a:lnTo>
                    <a:pt x="466280" y="1033958"/>
                  </a:lnTo>
                  <a:lnTo>
                    <a:pt x="466234" y="926935"/>
                  </a:lnTo>
                  <a:close/>
                </a:path>
                <a:path w="527684" h="1277620">
                  <a:moveTo>
                    <a:pt x="466232" y="860361"/>
                  </a:moveTo>
                  <a:lnTo>
                    <a:pt x="425232" y="860361"/>
                  </a:lnTo>
                  <a:lnTo>
                    <a:pt x="425232" y="880140"/>
                  </a:lnTo>
                  <a:lnTo>
                    <a:pt x="466232" y="880140"/>
                  </a:lnTo>
                  <a:lnTo>
                    <a:pt x="466232" y="860361"/>
                  </a:lnTo>
                  <a:close/>
                </a:path>
                <a:path w="527684" h="1277620">
                  <a:moveTo>
                    <a:pt x="466228" y="706156"/>
                  </a:moveTo>
                  <a:lnTo>
                    <a:pt x="425274" y="706156"/>
                  </a:lnTo>
                  <a:lnTo>
                    <a:pt x="425274" y="813818"/>
                  </a:lnTo>
                  <a:lnTo>
                    <a:pt x="466231" y="813818"/>
                  </a:lnTo>
                  <a:lnTo>
                    <a:pt x="466228" y="706156"/>
                  </a:lnTo>
                  <a:close/>
                </a:path>
                <a:path w="527684" h="1277620">
                  <a:moveTo>
                    <a:pt x="466226" y="640158"/>
                  </a:moveTo>
                  <a:lnTo>
                    <a:pt x="424929" y="640158"/>
                  </a:lnTo>
                  <a:lnTo>
                    <a:pt x="424929" y="659843"/>
                  </a:lnTo>
                  <a:lnTo>
                    <a:pt x="466226" y="659843"/>
                  </a:lnTo>
                  <a:lnTo>
                    <a:pt x="466226" y="640158"/>
                  </a:lnTo>
                  <a:close/>
                </a:path>
                <a:path w="527684" h="1277620">
                  <a:moveTo>
                    <a:pt x="466226" y="486110"/>
                  </a:moveTo>
                  <a:lnTo>
                    <a:pt x="424646" y="486110"/>
                  </a:lnTo>
                  <a:lnTo>
                    <a:pt x="424646" y="593741"/>
                  </a:lnTo>
                  <a:lnTo>
                    <a:pt x="466226" y="593741"/>
                  </a:lnTo>
                  <a:lnTo>
                    <a:pt x="466226" y="486110"/>
                  </a:lnTo>
                  <a:close/>
                </a:path>
                <a:path w="527684" h="1277620">
                  <a:moveTo>
                    <a:pt x="466226" y="419714"/>
                  </a:moveTo>
                  <a:lnTo>
                    <a:pt x="424929" y="419714"/>
                  </a:lnTo>
                  <a:lnTo>
                    <a:pt x="424929" y="439410"/>
                  </a:lnTo>
                  <a:lnTo>
                    <a:pt x="466226" y="439410"/>
                  </a:lnTo>
                  <a:lnTo>
                    <a:pt x="466226" y="419714"/>
                  </a:lnTo>
                  <a:close/>
                </a:path>
                <a:path w="527684" h="1277620">
                  <a:moveTo>
                    <a:pt x="466226" y="265384"/>
                  </a:moveTo>
                  <a:lnTo>
                    <a:pt x="424876" y="265384"/>
                  </a:lnTo>
                  <a:lnTo>
                    <a:pt x="424876" y="372889"/>
                  </a:lnTo>
                  <a:lnTo>
                    <a:pt x="466226" y="372889"/>
                  </a:lnTo>
                  <a:lnTo>
                    <a:pt x="466226" y="265384"/>
                  </a:lnTo>
                  <a:close/>
                </a:path>
                <a:path w="527684" h="1277620">
                  <a:moveTo>
                    <a:pt x="466226" y="199020"/>
                  </a:moveTo>
                  <a:lnTo>
                    <a:pt x="424897" y="199020"/>
                  </a:lnTo>
                  <a:lnTo>
                    <a:pt x="426060" y="218600"/>
                  </a:lnTo>
                  <a:lnTo>
                    <a:pt x="466226" y="218600"/>
                  </a:lnTo>
                  <a:lnTo>
                    <a:pt x="466226" y="199020"/>
                  </a:lnTo>
                  <a:close/>
                </a:path>
                <a:path w="527684" h="1277620">
                  <a:moveTo>
                    <a:pt x="475241" y="0"/>
                  </a:moveTo>
                  <a:lnTo>
                    <a:pt x="439411" y="17081"/>
                  </a:lnTo>
                  <a:lnTo>
                    <a:pt x="426092" y="61516"/>
                  </a:lnTo>
                  <a:lnTo>
                    <a:pt x="425986" y="152948"/>
                  </a:lnTo>
                  <a:lnTo>
                    <a:pt x="466226" y="152948"/>
                  </a:lnTo>
                  <a:lnTo>
                    <a:pt x="466226" y="68113"/>
                  </a:lnTo>
                  <a:lnTo>
                    <a:pt x="465135" y="62050"/>
                  </a:lnTo>
                  <a:lnTo>
                    <a:pt x="465161" y="61516"/>
                  </a:lnTo>
                  <a:lnTo>
                    <a:pt x="468121" y="51788"/>
                  </a:lnTo>
                  <a:lnTo>
                    <a:pt x="472697" y="48291"/>
                  </a:lnTo>
                  <a:lnTo>
                    <a:pt x="475880" y="44281"/>
                  </a:lnTo>
                  <a:lnTo>
                    <a:pt x="524648" y="44281"/>
                  </a:lnTo>
                  <a:lnTo>
                    <a:pt x="523406" y="35885"/>
                  </a:lnTo>
                  <a:lnTo>
                    <a:pt x="512772" y="16367"/>
                  </a:lnTo>
                  <a:lnTo>
                    <a:pt x="496361" y="4044"/>
                  </a:lnTo>
                  <a:lnTo>
                    <a:pt x="475241" y="0"/>
                  </a:lnTo>
                  <a:close/>
                </a:path>
              </a:pathLst>
            </a:custGeom>
            <a:solidFill>
              <a:srgbClr val="EB8B29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30" name="Picture 29" descr="A cartoon of a person&#10;&#10;AI-generated content may be incorrect.">
              <a:extLst>
                <a:ext uri="{FF2B5EF4-FFF2-40B4-BE49-F238E27FC236}">
                  <a16:creationId xmlns:a16="http://schemas.microsoft.com/office/drawing/2014/main" id="{6EC7848E-D820-2B1C-30ED-D3F60E176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5476" y="7534275"/>
              <a:ext cx="1155700" cy="2844800"/>
            </a:xfrm>
            <a:prstGeom prst="rect">
              <a:avLst/>
            </a:prstGeom>
          </p:spPr>
        </p:pic>
        <p:sp>
          <p:nvSpPr>
            <p:cNvPr id="31" name="object 157">
              <a:extLst>
                <a:ext uri="{FF2B5EF4-FFF2-40B4-BE49-F238E27FC236}">
                  <a16:creationId xmlns:a16="http://schemas.microsoft.com/office/drawing/2014/main" id="{684E0C74-1904-903E-FA0E-2993C819E786}"/>
                </a:ext>
              </a:extLst>
            </p:cNvPr>
            <p:cNvSpPr txBox="1"/>
            <p:nvPr/>
          </p:nvSpPr>
          <p:spPr>
            <a:xfrm>
              <a:off x="1586340" y="6507932"/>
              <a:ext cx="1453972" cy="84766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Desemprego inferior a </a:t>
              </a:r>
              <a:r>
                <a:rPr lang="pt-PT" b="1" spc="10" dirty="0">
                  <a:solidFill>
                    <a:srgbClr val="EB8B29"/>
                  </a:solidFill>
                  <a:latin typeface="Open Sans"/>
                  <a:cs typeface="Open Sans"/>
                </a:rPr>
                <a:t>6,5%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34" name="object 157">
              <a:extLst>
                <a:ext uri="{FF2B5EF4-FFF2-40B4-BE49-F238E27FC236}">
                  <a16:creationId xmlns:a16="http://schemas.microsoft.com/office/drawing/2014/main" id="{53BB707D-A33F-AB76-6E3B-9AAC7F702C0B}"/>
                </a:ext>
              </a:extLst>
            </p:cNvPr>
            <p:cNvSpPr txBox="1"/>
            <p:nvPr/>
          </p:nvSpPr>
          <p:spPr>
            <a:xfrm>
              <a:off x="3490605" y="6612051"/>
              <a:ext cx="1453972" cy="1678665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b="1" spc="10" dirty="0">
                  <a:solidFill>
                    <a:srgbClr val="EB8B29"/>
                  </a:solidFill>
                  <a:latin typeface="Open Sans"/>
                  <a:cs typeface="Open Sans"/>
                </a:rPr>
                <a:t>2% — 3%</a:t>
              </a:r>
              <a:br>
                <a:rPr lang="pt-PT" b="1" spc="10" dirty="0">
                  <a:solidFill>
                    <a:srgbClr val="EB8B29"/>
                  </a:solidFill>
                  <a:latin typeface="Open Sans"/>
                  <a:cs typeface="Open Sans"/>
                </a:rPr>
              </a:b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Aumento anual do Produto Interno Bruto (PIB) </a:t>
              </a:r>
            </a:p>
          </p:txBody>
        </p:sp>
        <p:sp>
          <p:nvSpPr>
            <p:cNvPr id="35" name="object 157">
              <a:extLst>
                <a:ext uri="{FF2B5EF4-FFF2-40B4-BE49-F238E27FC236}">
                  <a16:creationId xmlns:a16="http://schemas.microsoft.com/office/drawing/2014/main" id="{1269AAE6-5F45-88E5-A07A-0131BF09AD67}"/>
                </a:ext>
              </a:extLst>
            </p:cNvPr>
            <p:cNvSpPr txBox="1"/>
            <p:nvPr/>
          </p:nvSpPr>
          <p:spPr>
            <a:xfrm>
              <a:off x="5127197" y="8821800"/>
              <a:ext cx="1453972" cy="1124667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Taxa de inflação subjacente </a:t>
              </a:r>
              <a:r>
                <a:rPr lang="pt-PT" b="1" spc="10" dirty="0">
                  <a:solidFill>
                    <a:srgbClr val="EB8B29"/>
                  </a:solidFill>
                  <a:latin typeface="Open Sans"/>
                  <a:cs typeface="Open Sans"/>
                </a:rPr>
                <a:t>2,0% — 2,5%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pic>
          <p:nvPicPr>
            <p:cNvPr id="37" name="Picture 36" descr="A balloon on a stick&#10;&#10;AI-generated content may be incorrect.">
              <a:extLst>
                <a:ext uri="{FF2B5EF4-FFF2-40B4-BE49-F238E27FC236}">
                  <a16:creationId xmlns:a16="http://schemas.microsoft.com/office/drawing/2014/main" id="{48BF6B5A-BB8B-B809-D481-A289FC3A1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4433" y="6527033"/>
              <a:ext cx="1079500" cy="2006600"/>
            </a:xfrm>
            <a:prstGeom prst="rect">
              <a:avLst/>
            </a:prstGeom>
          </p:spPr>
        </p:pic>
        <p:sp>
          <p:nvSpPr>
            <p:cNvPr id="38" name="object 157">
              <a:extLst>
                <a:ext uri="{FF2B5EF4-FFF2-40B4-BE49-F238E27FC236}">
                  <a16:creationId xmlns:a16="http://schemas.microsoft.com/office/drawing/2014/main" id="{330CDFA6-3706-C8EC-3BA1-9B245C01FF48}"/>
                </a:ext>
              </a:extLst>
            </p:cNvPr>
            <p:cNvSpPr txBox="1"/>
            <p:nvPr/>
          </p:nvSpPr>
          <p:spPr>
            <a:xfrm>
              <a:off x="2614672" y="5362928"/>
              <a:ext cx="3205837" cy="583493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Política Monetária</a:t>
              </a:r>
            </a:p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b="1" spc="10" dirty="0">
                  <a:solidFill>
                    <a:srgbClr val="57585B"/>
                  </a:solidFill>
                  <a:latin typeface="Open Sans"/>
                  <a:cs typeface="Open Sans"/>
                </a:rPr>
                <a:t>Taxas Ideais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39" name="object 157">
              <a:extLst>
                <a:ext uri="{FF2B5EF4-FFF2-40B4-BE49-F238E27FC236}">
                  <a16:creationId xmlns:a16="http://schemas.microsoft.com/office/drawing/2014/main" id="{9EF52349-14D3-3600-2AB6-D3CAE2F17609}"/>
                </a:ext>
              </a:extLst>
            </p:cNvPr>
            <p:cNvSpPr txBox="1"/>
            <p:nvPr/>
          </p:nvSpPr>
          <p:spPr>
            <a:xfrm>
              <a:off x="9417004" y="5362927"/>
              <a:ext cx="3205837" cy="583493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Política Orçamental</a:t>
              </a:r>
            </a:p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b="1" spc="10" dirty="0">
                  <a:solidFill>
                    <a:srgbClr val="57585B"/>
                  </a:solidFill>
                  <a:latin typeface="Open Sans"/>
                  <a:cs typeface="Open Sans"/>
                </a:rPr>
                <a:t>Expansionista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40" name="object 157">
              <a:extLst>
                <a:ext uri="{FF2B5EF4-FFF2-40B4-BE49-F238E27FC236}">
                  <a16:creationId xmlns:a16="http://schemas.microsoft.com/office/drawing/2014/main" id="{68E88283-965D-C036-F332-7C04A10681F9}"/>
                </a:ext>
              </a:extLst>
            </p:cNvPr>
            <p:cNvSpPr txBox="1"/>
            <p:nvPr/>
          </p:nvSpPr>
          <p:spPr>
            <a:xfrm>
              <a:off x="14941373" y="5362927"/>
              <a:ext cx="3205837" cy="583493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Política Orçamental</a:t>
              </a:r>
            </a:p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b="1" spc="10" dirty="0" err="1">
                  <a:solidFill>
                    <a:srgbClr val="57585B"/>
                  </a:solidFill>
                  <a:latin typeface="Open Sans"/>
                  <a:cs typeface="Open Sans"/>
                </a:rPr>
                <a:t>Contracionista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41" name="object 157">
              <a:extLst>
                <a:ext uri="{FF2B5EF4-FFF2-40B4-BE49-F238E27FC236}">
                  <a16:creationId xmlns:a16="http://schemas.microsoft.com/office/drawing/2014/main" id="{3CA0F4E4-E0E3-1562-1798-572B32E24DD2}"/>
                </a:ext>
              </a:extLst>
            </p:cNvPr>
            <p:cNvSpPr txBox="1"/>
            <p:nvPr/>
          </p:nvSpPr>
          <p:spPr>
            <a:xfrm>
              <a:off x="8843118" y="6426281"/>
              <a:ext cx="4353606" cy="1124667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Visa aumentar os gastos do consumidor e o investimento empresarial, por forma a aumentar a procura agregada e o crescimento económico.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42" name="object 157">
              <a:extLst>
                <a:ext uri="{FF2B5EF4-FFF2-40B4-BE49-F238E27FC236}">
                  <a16:creationId xmlns:a16="http://schemas.microsoft.com/office/drawing/2014/main" id="{17155905-1A6D-627E-1892-E0B1D1063BFD}"/>
                </a:ext>
              </a:extLst>
            </p:cNvPr>
            <p:cNvSpPr txBox="1"/>
            <p:nvPr/>
          </p:nvSpPr>
          <p:spPr>
            <a:xfrm>
              <a:off x="14090651" y="6416675"/>
              <a:ext cx="4907282" cy="1124667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Visa diminuir os gastos dos consumidores e o investimento das empresas, para abrandar o crescimento económico insustentável e prevenir ou reduzir uma inflação alta.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43" name="object 157">
              <a:extLst>
                <a:ext uri="{FF2B5EF4-FFF2-40B4-BE49-F238E27FC236}">
                  <a16:creationId xmlns:a16="http://schemas.microsoft.com/office/drawing/2014/main" id="{6B4B03E6-E7E8-B793-DBD4-FA2672751D73}"/>
                </a:ext>
              </a:extLst>
            </p:cNvPr>
            <p:cNvSpPr txBox="1"/>
            <p:nvPr/>
          </p:nvSpPr>
          <p:spPr>
            <a:xfrm>
              <a:off x="11195050" y="8078850"/>
              <a:ext cx="1976533" cy="57066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Baixar os impostos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44" name="object 157">
              <a:extLst>
                <a:ext uri="{FF2B5EF4-FFF2-40B4-BE49-F238E27FC236}">
                  <a16:creationId xmlns:a16="http://schemas.microsoft.com/office/drawing/2014/main" id="{EF1E4F16-144D-9DBD-B327-A16AAEC8639F}"/>
                </a:ext>
              </a:extLst>
            </p:cNvPr>
            <p:cNvSpPr txBox="1"/>
            <p:nvPr/>
          </p:nvSpPr>
          <p:spPr>
            <a:xfrm>
              <a:off x="8568660" y="9844601"/>
              <a:ext cx="2384325" cy="57066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Aumentar a despesa do governo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45" name="object 157">
              <a:extLst>
                <a:ext uri="{FF2B5EF4-FFF2-40B4-BE49-F238E27FC236}">
                  <a16:creationId xmlns:a16="http://schemas.microsoft.com/office/drawing/2014/main" id="{1D414800-4804-B41E-583C-1EF3D680FBD6}"/>
                </a:ext>
              </a:extLst>
            </p:cNvPr>
            <p:cNvSpPr txBox="1"/>
            <p:nvPr/>
          </p:nvSpPr>
          <p:spPr>
            <a:xfrm>
              <a:off x="16655768" y="8055806"/>
              <a:ext cx="1930682" cy="57066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Baixar a despesa do governo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sp>
          <p:nvSpPr>
            <p:cNvPr id="46" name="object 157">
              <a:extLst>
                <a:ext uri="{FF2B5EF4-FFF2-40B4-BE49-F238E27FC236}">
                  <a16:creationId xmlns:a16="http://schemas.microsoft.com/office/drawing/2014/main" id="{335DFAEE-BED5-C940-E4A1-C19E19683111}"/>
                </a:ext>
              </a:extLst>
            </p:cNvPr>
            <p:cNvSpPr txBox="1"/>
            <p:nvPr/>
          </p:nvSpPr>
          <p:spPr>
            <a:xfrm>
              <a:off x="14395450" y="9844601"/>
              <a:ext cx="1976533" cy="57066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r">
                <a:lnSpc>
                  <a:spcPct val="100000"/>
                </a:lnSpc>
                <a:spcBef>
                  <a:spcPts val="130"/>
                </a:spcBef>
              </a:pPr>
              <a:r>
                <a:rPr lang="pt-PT" spc="10" dirty="0">
                  <a:solidFill>
                    <a:srgbClr val="57585B"/>
                  </a:solidFill>
                  <a:latin typeface="Open Sans"/>
                  <a:cs typeface="Open Sans"/>
                </a:rPr>
                <a:t>Aumentar os impostos</a:t>
              </a:r>
              <a:endParaRPr lang="pt-PT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8342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E4BD4-F99B-E6F8-1A41-E5FDA39A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FDFA87-6001-00D9-A2B1-C5EAAC9F4C13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4.3 Moedas digitais do banco central:</a:t>
            </a:r>
          </a:p>
          <a:p>
            <a:r>
              <a:rPr lang="pt-PT" sz="6700" dirty="0"/>
              <a:t>O futuro do dinheiro fiduciário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CF680D5-908C-C7E9-69B8-ABA6C833B575}"/>
              </a:ext>
            </a:extLst>
          </p:cNvPr>
          <p:cNvSpPr/>
          <p:nvPr/>
        </p:nvSpPr>
        <p:spPr>
          <a:xfrm>
            <a:off x="1382713" y="3277551"/>
            <a:ext cx="17338674" cy="2148524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As </a:t>
            </a:r>
            <a:r>
              <a:rPr lang="pt-PT" sz="3200" b="1" dirty="0">
                <a:solidFill>
                  <a:srgbClr val="FBB040"/>
                </a:solidFill>
              </a:rPr>
              <a:t>CBDC</a:t>
            </a:r>
            <a:r>
              <a:rPr lang="pt-PT" sz="3200" dirty="0">
                <a:solidFill>
                  <a:srgbClr val="58595B"/>
                </a:solidFill>
              </a:rPr>
              <a:t> são formas completamente digitais de moedas fiduciárias, emitidas por governos através dos pelos bancos centrais, que as controlam.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3159E32C-2DBB-A55C-A8BF-645BE944B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14231937" cy="84058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r>
              <a:rPr lang="pt-PT" dirty="0"/>
              <a:t>		</a:t>
            </a:r>
          </a:p>
          <a:p>
            <a:pPr marL="0" indent="0">
              <a:buSzPct val="125000"/>
              <a:buNone/>
            </a:pPr>
            <a:br>
              <a:rPr lang="pt-PT" dirty="0"/>
            </a:br>
            <a:endParaRPr lang="pt-PT" dirty="0"/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Sem presença física (moedas ou notas)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Padrão fiduciário puro, sem vinculo ao ouro, resultando numa enorme expansão da massa monetária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4560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4" name="Picture 10" descr="Money transfer. Global Currency. Stock Exchange. Stock vector ...">
            <a:extLst>
              <a:ext uri="{FF2B5EF4-FFF2-40B4-BE49-F238E27FC236}">
                <a16:creationId xmlns:a16="http://schemas.microsoft.com/office/drawing/2014/main" id="{6206C0A4-5238-DAB7-03D9-44EE57965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849" y="-136525"/>
            <a:ext cx="20499301" cy="1144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CD3560-3AB4-37BB-72BC-DF7E89BD6866}"/>
              </a:ext>
            </a:extLst>
          </p:cNvPr>
          <p:cNvSpPr/>
          <p:nvPr/>
        </p:nvSpPr>
        <p:spPr>
          <a:xfrm>
            <a:off x="0" y="-1"/>
            <a:ext cx="18510250" cy="11309351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6146" name="Picture 2" descr="Premium Photo | Modern Surveillance Camera Icon Vector Illustration">
            <a:extLst>
              <a:ext uri="{FF2B5EF4-FFF2-40B4-BE49-F238E27FC236}">
                <a16:creationId xmlns:a16="http://schemas.microsoft.com/office/drawing/2014/main" id="{70744C15-5898-86A9-D74D-459DB1068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2141" y1="31789" x2="74920" y2="33706"/>
                        <a14:foregroundMark x1="74920" y1="33706" x2="80990" y2="36262"/>
                        <a14:foregroundMark x1="80862" y1="41534" x2="80831" y2="42812"/>
                        <a14:foregroundMark x1="80990" y1="36262" x2="80912" y2="39457"/>
                        <a14:foregroundMark x1="80831" y1="42812" x2="76198" y2="48403"/>
                        <a14:foregroundMark x1="76198" y1="48403" x2="73642" y2="54473"/>
                        <a14:foregroundMark x1="73642" y1="54473" x2="63738" y2="62141"/>
                        <a14:foregroundMark x1="63738" y1="62141" x2="57987" y2="59904"/>
                        <a14:foregroundMark x1="57987" y1="59904" x2="55431" y2="53514"/>
                        <a14:foregroundMark x1="55431" y1="53514" x2="55431" y2="47125"/>
                        <a14:foregroundMark x1="55431" y1="47125" x2="61821" y2="41853"/>
                        <a14:foregroundMark x1="61821" y1="41853" x2="67572" y2="45208"/>
                        <a14:foregroundMark x1="67572" y1="45208" x2="71246" y2="40415"/>
                        <a14:foregroundMark x1="71246" y1="40415" x2="63099" y2="40415"/>
                        <a14:foregroundMark x1="63099" y1="40415" x2="62460" y2="48882"/>
                        <a14:foregroundMark x1="62460" y1="48882" x2="58786" y2="42971"/>
                        <a14:foregroundMark x1="58786" y1="42971" x2="60863" y2="47284"/>
                        <a14:foregroundMark x1="74121" y1="57348" x2="71565" y2="56390"/>
                        <a14:foregroundMark x1="82180" y1="39457" x2="80831" y2="36422"/>
                        <a14:foregroundMark x1="80990" y1="36262" x2="81629" y2="42173"/>
                        <a14:foregroundMark x1="81470" y1="42013" x2="80990" y2="36102"/>
                        <a14:foregroundMark x1="80990" y1="36102" x2="80351" y2="356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166850" y="-9525"/>
            <a:ext cx="7950200" cy="795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5C96850-4379-47EF-552E-6F39389E052B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4.3 Moedas digitais do banco central:</a:t>
            </a:r>
          </a:p>
          <a:p>
            <a:r>
              <a:rPr lang="pt-PT" sz="6700" dirty="0"/>
              <a:t>O futuro do dinheiro fiduciário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99B3CD-225D-5A13-50C3-865FEAF555C8}"/>
              </a:ext>
            </a:extLst>
          </p:cNvPr>
          <p:cNvSpPr txBox="1">
            <a:spLocks/>
          </p:cNvSpPr>
          <p:nvPr/>
        </p:nvSpPr>
        <p:spPr>
          <a:xfrm>
            <a:off x="1382713" y="3140075"/>
            <a:ext cx="9736137" cy="75676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PT" b="1" dirty="0"/>
              <a:t>Vantagens para os Governos e Bancos Centrais</a:t>
            </a:r>
            <a:endParaRPr lang="pt-PT" dirty="0"/>
          </a:p>
          <a:p>
            <a:pPr marL="592138" indent="-592138">
              <a:lnSpc>
                <a:spcPct val="160000"/>
              </a:lnSpc>
              <a:buSzPct val="125000"/>
              <a:buBlip>
                <a:blip r:embed="rId6"/>
              </a:buBlip>
            </a:pPr>
            <a:r>
              <a:rPr lang="pt-PT" dirty="0"/>
              <a:t>Visibilidade sem precedentes sobre transações financeiras.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6"/>
              </a:buBlip>
            </a:pPr>
            <a:r>
              <a:rPr lang="pt-PT" dirty="0"/>
              <a:t>Facilidade na monitorização e regulação do fluxo de dinheiro.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6"/>
              </a:buBlip>
            </a:pPr>
            <a:r>
              <a:rPr lang="pt-PT" dirty="0"/>
              <a:t>Ajustes instantâneos na forma e oferta das CBDC.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6"/>
              </a:buBlip>
            </a:pPr>
            <a:r>
              <a:rPr lang="pt-PT" dirty="0"/>
              <a:t>Manipulação de taxas de juro com maior precisão.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6"/>
              </a:buBlip>
            </a:pPr>
            <a:r>
              <a:rPr lang="pt-PT" dirty="0"/>
              <a:t>Implementação eficiente de políticas monetárias e orçamentais.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3787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2261</TotalTime>
  <Words>1322</Words>
  <Application>Microsoft Macintosh PowerPoint</Application>
  <PresentationFormat>Custom</PresentationFormat>
  <Paragraphs>140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Open Sans</vt:lpstr>
      <vt:lpstr>Open Sans Light</vt:lpstr>
      <vt:lpstr>Ubuntu Light</vt:lpstr>
      <vt:lpstr>1_Custom Design</vt:lpstr>
      <vt:lpstr>O que são moedas fiduciárias e quem as controla?</vt:lpstr>
      <vt:lpstr>4.0 Introdução</vt:lpstr>
      <vt:lpstr>PowerPoint Presentation</vt:lpstr>
      <vt:lpstr>4.2 O sistema fiduciário</vt:lpstr>
      <vt:lpstr>4.2.1 Um sistema monetário obrigatório</vt:lpstr>
      <vt:lpstr>4.2.1 Um sistema monetário obrigatório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193</cp:revision>
  <dcterms:created xsi:type="dcterms:W3CDTF">2024-11-12T03:26:48Z</dcterms:created>
  <dcterms:modified xsi:type="dcterms:W3CDTF">2025-10-11T12:18:39Z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