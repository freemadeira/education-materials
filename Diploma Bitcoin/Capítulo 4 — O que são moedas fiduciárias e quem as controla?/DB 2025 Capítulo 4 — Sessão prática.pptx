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1"/>
  </p:notesMasterIdLst>
  <p:sldIdLst>
    <p:sldId id="260" r:id="rId2"/>
    <p:sldId id="278" r:id="rId3"/>
    <p:sldId id="273" r:id="rId4"/>
    <p:sldId id="274" r:id="rId5"/>
    <p:sldId id="275" r:id="rId6"/>
    <p:sldId id="281" r:id="rId7"/>
    <p:sldId id="279" r:id="rId8"/>
    <p:sldId id="269" r:id="rId9"/>
    <p:sldId id="268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040"/>
    <a:srgbClr val="58595B"/>
    <a:srgbClr val="739138"/>
    <a:srgbClr val="CCBAE8"/>
    <a:srgbClr val="8C2930"/>
    <a:srgbClr val="20007D"/>
    <a:srgbClr val="53AEDD"/>
    <a:srgbClr val="E4E0FD"/>
    <a:srgbClr val="392569"/>
    <a:srgbClr val="161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2"/>
    <p:restoredTop sz="93918"/>
  </p:normalViewPr>
  <p:slideViewPr>
    <p:cSldViewPr>
      <p:cViewPr varScale="1">
        <p:scale>
          <a:sx n="59" d="100"/>
          <a:sy n="59" d="100"/>
        </p:scale>
        <p:origin x="336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18/10/2025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58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1.svg"/><Relationship Id="rId2" Type="http://schemas.openxmlformats.org/officeDocument/2006/relationships/image" Target="../media/image7.png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11" Type="http://schemas.openxmlformats.org/officeDocument/2006/relationships/image" Target="../media/image20.png"/><Relationship Id="rId5" Type="http://schemas.openxmlformats.org/officeDocument/2006/relationships/image" Target="../media/image10.png"/><Relationship Id="rId15" Type="http://schemas.openxmlformats.org/officeDocument/2006/relationships/image" Target="../media/image16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O que são moedas fiduciárias e quem as controla?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#4 – Sessão prática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902075"/>
            <a:ext cx="17338675" cy="6805612"/>
          </a:xfrm>
        </p:spPr>
        <p:txBody>
          <a:bodyPr/>
          <a:lstStyle/>
          <a:p>
            <a:r>
              <a:rPr lang="pt-PT" dirty="0"/>
              <a:t>Debate: O sistema fiduciário — confiança, dívida e poder</a:t>
            </a:r>
          </a:p>
          <a:p>
            <a:r>
              <a:rPr lang="pt-PT" dirty="0"/>
              <a:t>Atividade: Reservas mínimas obrigatórias</a:t>
            </a:r>
          </a:p>
          <a:p>
            <a:r>
              <a:rPr lang="pt-PT" dirty="0"/>
              <a:t>Debate: O futuro do dinheiro — controlo, digitalização e liberdade</a:t>
            </a:r>
          </a:p>
          <a:p>
            <a:r>
              <a:rPr lang="pt-PT" dirty="0"/>
              <a:t>Esclarecimento de dúvidas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111D-8CED-A05A-F095-6A57035BB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D7D1-2B59-D407-6CE9-242A8542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Debate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E9352-3D97-6CC3-7780-030619652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16160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O sistema fiduciário — confiança, dívida e poder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75D98-DDD8-C1EB-EC1D-021B3BD4852B}"/>
              </a:ext>
            </a:extLst>
          </p:cNvPr>
          <p:cNvSpPr txBox="1"/>
          <p:nvPr/>
        </p:nvSpPr>
        <p:spPr>
          <a:xfrm>
            <a:off x="1382425" y="2911475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tivesses de escolher, preferirias viver num sistema baseado em ouro ou no atual sistema fiduciário? Porquê?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2856B9-97E3-F119-FEA7-D73A265CC4E7}"/>
              </a:ext>
            </a:extLst>
          </p:cNvPr>
          <p:cNvSpPr txBox="1"/>
          <p:nvPr/>
        </p:nvSpPr>
        <p:spPr>
          <a:xfrm>
            <a:off x="1400573" y="7921802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o valor do dinheiro depende apenas da confiança das pessoas nas instituições, o que aconteceria se essa confiança desaparecesse?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289AC-1F62-54F6-ACBE-661D8EDF1EBA}"/>
              </a:ext>
            </a:extLst>
          </p:cNvPr>
          <p:cNvSpPr txBox="1"/>
          <p:nvPr/>
        </p:nvSpPr>
        <p:spPr>
          <a:xfrm>
            <a:off x="1400573" y="4581584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fim da conversibilidade do dólar em ouro em 1971 foi uma evolução necessária ou uma traição à confiança pública?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2B04E-AEBC-577B-8BBC-FFD069B28EEE}"/>
              </a:ext>
            </a:extLst>
          </p:cNvPr>
          <p:cNvSpPr txBox="1"/>
          <p:nvPr/>
        </p:nvSpPr>
        <p:spPr>
          <a:xfrm>
            <a:off x="1363038" y="9591911"/>
            <a:ext cx="17338675" cy="71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inflação é uma inevitabilidade do sistema ou uma ferramenta de manipulação?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E79AD-D08D-ADC1-742E-3D37EBCB897C}"/>
              </a:ext>
            </a:extLst>
          </p:cNvPr>
          <p:cNvSpPr txBox="1"/>
          <p:nvPr/>
        </p:nvSpPr>
        <p:spPr>
          <a:xfrm>
            <a:off x="1363037" y="6251693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que aconteceria hoje se o governo decidisse sem aviso prévio retirar de circulação a nota de 50€? Ou se o dinheiro que temos na conta bancária fosse reduzido em 20%?</a:t>
            </a:r>
          </a:p>
        </p:txBody>
      </p:sp>
    </p:spTree>
    <p:extLst>
      <p:ext uri="{BB962C8B-B14F-4D97-AF65-F5344CB8AC3E}">
        <p14:creationId xmlns:p14="http://schemas.microsoft.com/office/powerpoint/2010/main" val="407793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E38B-0E25-CEBD-8927-1C9CA775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BCCF-EA96-EBF1-28E2-5E3BA85F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32839-FEE5-5205-8A38-3CED67AC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6"/>
            <a:ext cx="17352000" cy="3352800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Reservas mínimas obrigatórias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dirty="0"/>
              <a:t>Neste exercício, vamos utilizar um exemplo simplificado, que envolve seis participantes e um rácio de reserva que ainda é muito utilizado atualmente: 10%.</a:t>
            </a:r>
          </a:p>
          <a:p>
            <a:pPr marL="0" indent="0">
              <a:spcAft>
                <a:spcPts val="1200"/>
              </a:spcAft>
              <a:buNone/>
            </a:pPr>
            <a:endParaRPr lang="pt-PT" dirty="0"/>
          </a:p>
          <a:p>
            <a:pPr marL="0" indent="0">
              <a:buSzPct val="125000"/>
              <a:buNone/>
            </a:pPr>
            <a:endParaRPr lang="pt-PT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BFBE7A-01CA-5528-CB12-F18E00249A9E}"/>
              </a:ext>
            </a:extLst>
          </p:cNvPr>
          <p:cNvGrpSpPr/>
          <p:nvPr/>
        </p:nvGrpSpPr>
        <p:grpSpPr>
          <a:xfrm>
            <a:off x="1382712" y="6196411"/>
            <a:ext cx="2693986" cy="2804755"/>
            <a:chOff x="1719264" y="6264275"/>
            <a:chExt cx="2693986" cy="2804755"/>
          </a:xfrm>
        </p:grpSpPr>
        <p:pic>
          <p:nvPicPr>
            <p:cNvPr id="12" name="Graphic 11" descr="Man with solid fill">
              <a:extLst>
                <a:ext uri="{FF2B5EF4-FFF2-40B4-BE49-F238E27FC236}">
                  <a16:creationId xmlns:a16="http://schemas.microsoft.com/office/drawing/2014/main" id="{8A2B25D5-14F1-036D-BA5C-9181AFB45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56257" y="6264275"/>
              <a:ext cx="1620000" cy="1620000"/>
            </a:xfrm>
            <a:prstGeom prst="rect">
              <a:avLst/>
            </a:prstGeom>
          </p:spPr>
        </p:pic>
        <p:sp>
          <p:nvSpPr>
            <p:cNvPr id="16" name="object 157">
              <a:extLst>
                <a:ext uri="{FF2B5EF4-FFF2-40B4-BE49-F238E27FC236}">
                  <a16:creationId xmlns:a16="http://schemas.microsoft.com/office/drawing/2014/main" id="{6F4BEC3F-639D-8336-6FAA-12663280F699}"/>
                </a:ext>
              </a:extLst>
            </p:cNvPr>
            <p:cNvSpPr txBox="1"/>
            <p:nvPr/>
          </p:nvSpPr>
          <p:spPr>
            <a:xfrm>
              <a:off x="1719264" y="8436806"/>
              <a:ext cx="2693986" cy="632224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spc="10" dirty="0">
                  <a:solidFill>
                    <a:srgbClr val="57585B"/>
                  </a:solidFill>
                  <a:latin typeface="Open Sans"/>
                  <a:cs typeface="Open Sans"/>
                </a:rPr>
                <a:t>Depositante (Vencedor da Loteria)</a:t>
              </a:r>
              <a:endParaRPr lang="pt-PT" sz="2000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B6DA27-5844-7C55-2C18-57C15DB70BC0}"/>
              </a:ext>
            </a:extLst>
          </p:cNvPr>
          <p:cNvGrpSpPr/>
          <p:nvPr/>
        </p:nvGrpSpPr>
        <p:grpSpPr>
          <a:xfrm>
            <a:off x="4310952" y="6188075"/>
            <a:ext cx="2693986" cy="2496979"/>
            <a:chOff x="5403850" y="6264275"/>
            <a:chExt cx="2693986" cy="2496979"/>
          </a:xfrm>
        </p:grpSpPr>
        <p:pic>
          <p:nvPicPr>
            <p:cNvPr id="14" name="Graphic 13" descr="Bank with solid fill">
              <a:extLst>
                <a:ext uri="{FF2B5EF4-FFF2-40B4-BE49-F238E27FC236}">
                  <a16:creationId xmlns:a16="http://schemas.microsoft.com/office/drawing/2014/main" id="{062B00C8-F94E-94A5-2918-FFAEFC623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0843" y="6264275"/>
              <a:ext cx="1620000" cy="1620000"/>
            </a:xfrm>
            <a:prstGeom prst="rect">
              <a:avLst/>
            </a:prstGeom>
          </p:spPr>
        </p:pic>
        <p:sp>
          <p:nvSpPr>
            <p:cNvPr id="18" name="object 157">
              <a:extLst>
                <a:ext uri="{FF2B5EF4-FFF2-40B4-BE49-F238E27FC236}">
                  <a16:creationId xmlns:a16="http://schemas.microsoft.com/office/drawing/2014/main" id="{77EAE8D3-2EFF-2040-C7A1-4B8246F6C2E1}"/>
                </a:ext>
              </a:extLst>
            </p:cNvPr>
            <p:cNvSpPr txBox="1"/>
            <p:nvPr/>
          </p:nvSpPr>
          <p:spPr>
            <a:xfrm>
              <a:off x="5403850" y="8436806"/>
              <a:ext cx="2693986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spc="10" dirty="0">
                  <a:solidFill>
                    <a:srgbClr val="57585B"/>
                  </a:solidFill>
                  <a:latin typeface="Open Sans"/>
                  <a:cs typeface="Open Sans"/>
                </a:rPr>
                <a:t>Caixa do Banco</a:t>
              </a:r>
              <a:endParaRPr lang="pt-PT" sz="2000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594135-388C-4A81-FC50-44C8936B2601}"/>
              </a:ext>
            </a:extLst>
          </p:cNvPr>
          <p:cNvGrpSpPr/>
          <p:nvPr/>
        </p:nvGrpSpPr>
        <p:grpSpPr>
          <a:xfrm>
            <a:off x="7239192" y="6264341"/>
            <a:ext cx="2693986" cy="2496979"/>
            <a:chOff x="1719264" y="6264275"/>
            <a:chExt cx="2693986" cy="2496979"/>
          </a:xfrm>
        </p:grpSpPr>
        <p:pic>
          <p:nvPicPr>
            <p:cNvPr id="21" name="Graphic 20" descr="Man with solid fill">
              <a:extLst>
                <a:ext uri="{FF2B5EF4-FFF2-40B4-BE49-F238E27FC236}">
                  <a16:creationId xmlns:a16="http://schemas.microsoft.com/office/drawing/2014/main" id="{9F5CD74E-1638-8AF2-97E5-E8BE3A66B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56257" y="6264275"/>
              <a:ext cx="1620000" cy="1620000"/>
            </a:xfrm>
            <a:prstGeom prst="rect">
              <a:avLst/>
            </a:prstGeom>
          </p:spPr>
        </p:pic>
        <p:sp>
          <p:nvSpPr>
            <p:cNvPr id="22" name="object 157">
              <a:extLst>
                <a:ext uri="{FF2B5EF4-FFF2-40B4-BE49-F238E27FC236}">
                  <a16:creationId xmlns:a16="http://schemas.microsoft.com/office/drawing/2014/main" id="{F22AFB60-C916-0713-B869-0A6E3FA63CB5}"/>
                </a:ext>
              </a:extLst>
            </p:cNvPr>
            <p:cNvSpPr txBox="1"/>
            <p:nvPr/>
          </p:nvSpPr>
          <p:spPr>
            <a:xfrm>
              <a:off x="1719264" y="8436806"/>
              <a:ext cx="2693986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spc="10" dirty="0">
                  <a:solidFill>
                    <a:srgbClr val="57585B"/>
                  </a:solidFill>
                  <a:latin typeface="Open Sans"/>
                  <a:cs typeface="Open Sans"/>
                </a:rPr>
                <a:t>Devedor #1</a:t>
              </a:r>
              <a:endParaRPr lang="pt-PT" sz="2000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2CF1561-2CAF-AD6C-B24C-5BACDAED249B}"/>
              </a:ext>
            </a:extLst>
          </p:cNvPr>
          <p:cNvGrpSpPr/>
          <p:nvPr/>
        </p:nvGrpSpPr>
        <p:grpSpPr>
          <a:xfrm>
            <a:off x="10167432" y="6196411"/>
            <a:ext cx="2693986" cy="3112532"/>
            <a:chOff x="1719264" y="6264275"/>
            <a:chExt cx="2693986" cy="3112532"/>
          </a:xfrm>
        </p:grpSpPr>
        <p:pic>
          <p:nvPicPr>
            <p:cNvPr id="24" name="Graphic 23" descr="Man with solid fill">
              <a:extLst>
                <a:ext uri="{FF2B5EF4-FFF2-40B4-BE49-F238E27FC236}">
                  <a16:creationId xmlns:a16="http://schemas.microsoft.com/office/drawing/2014/main" id="{84649F10-E264-4DD7-1C42-108D7213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56257" y="6264275"/>
              <a:ext cx="1620000" cy="1620000"/>
            </a:xfrm>
            <a:prstGeom prst="rect">
              <a:avLst/>
            </a:prstGeom>
          </p:spPr>
        </p:pic>
        <p:sp>
          <p:nvSpPr>
            <p:cNvPr id="25" name="object 157">
              <a:extLst>
                <a:ext uri="{FF2B5EF4-FFF2-40B4-BE49-F238E27FC236}">
                  <a16:creationId xmlns:a16="http://schemas.microsoft.com/office/drawing/2014/main" id="{49935466-37CB-BEAF-9C25-0B31A6405ACB}"/>
                </a:ext>
              </a:extLst>
            </p:cNvPr>
            <p:cNvSpPr txBox="1"/>
            <p:nvPr/>
          </p:nvSpPr>
          <p:spPr>
            <a:xfrm>
              <a:off x="1719264" y="8436806"/>
              <a:ext cx="2693986" cy="94000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dirty="0">
                  <a:solidFill>
                    <a:srgbClr val="58595B"/>
                  </a:solidFill>
                  <a:latin typeface="Open Sans"/>
                  <a:cs typeface="Open Sans"/>
                </a:rPr>
                <a:t>Depositante (Proprietário de Imóvel)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B52EA3-ECC0-0927-2A6D-44FDB0FA61C2}"/>
              </a:ext>
            </a:extLst>
          </p:cNvPr>
          <p:cNvGrpSpPr/>
          <p:nvPr/>
        </p:nvGrpSpPr>
        <p:grpSpPr>
          <a:xfrm>
            <a:off x="13095672" y="6196411"/>
            <a:ext cx="2693986" cy="2496979"/>
            <a:chOff x="1719264" y="6264275"/>
            <a:chExt cx="2693986" cy="2496979"/>
          </a:xfrm>
        </p:grpSpPr>
        <p:pic>
          <p:nvPicPr>
            <p:cNvPr id="27" name="Graphic 26" descr="Man with solid fill">
              <a:extLst>
                <a:ext uri="{FF2B5EF4-FFF2-40B4-BE49-F238E27FC236}">
                  <a16:creationId xmlns:a16="http://schemas.microsoft.com/office/drawing/2014/main" id="{2AAA32A1-EB89-120F-DFB1-B5B084C7A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56257" y="6264275"/>
              <a:ext cx="1620000" cy="1620000"/>
            </a:xfrm>
            <a:prstGeom prst="rect">
              <a:avLst/>
            </a:prstGeom>
          </p:spPr>
        </p:pic>
        <p:sp>
          <p:nvSpPr>
            <p:cNvPr id="28" name="object 157">
              <a:extLst>
                <a:ext uri="{FF2B5EF4-FFF2-40B4-BE49-F238E27FC236}">
                  <a16:creationId xmlns:a16="http://schemas.microsoft.com/office/drawing/2014/main" id="{289FD24B-B60F-EAA7-40D9-1FA9C4AA2442}"/>
                </a:ext>
              </a:extLst>
            </p:cNvPr>
            <p:cNvSpPr txBox="1"/>
            <p:nvPr/>
          </p:nvSpPr>
          <p:spPr>
            <a:xfrm>
              <a:off x="1719264" y="8436806"/>
              <a:ext cx="2693986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dirty="0">
                  <a:solidFill>
                    <a:srgbClr val="58595B"/>
                  </a:solidFill>
                  <a:latin typeface="Open Sans"/>
                  <a:cs typeface="Open Sans"/>
                </a:rPr>
                <a:t>Devedor #2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BBD0D5-7B4F-7303-DBC7-253813CD3C5A}"/>
              </a:ext>
            </a:extLst>
          </p:cNvPr>
          <p:cNvGrpSpPr/>
          <p:nvPr/>
        </p:nvGrpSpPr>
        <p:grpSpPr>
          <a:xfrm>
            <a:off x="16023912" y="6196411"/>
            <a:ext cx="2693986" cy="3112532"/>
            <a:chOff x="1719264" y="6264275"/>
            <a:chExt cx="2693986" cy="3112532"/>
          </a:xfrm>
        </p:grpSpPr>
        <p:pic>
          <p:nvPicPr>
            <p:cNvPr id="33" name="Graphic 32" descr="Man with solid fill">
              <a:extLst>
                <a:ext uri="{FF2B5EF4-FFF2-40B4-BE49-F238E27FC236}">
                  <a16:creationId xmlns:a16="http://schemas.microsoft.com/office/drawing/2014/main" id="{8A94C5C6-E14E-4FBF-AB98-06F241412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56257" y="6264275"/>
              <a:ext cx="1620000" cy="1620000"/>
            </a:xfrm>
            <a:prstGeom prst="rect">
              <a:avLst/>
            </a:prstGeom>
          </p:spPr>
        </p:pic>
        <p:sp>
          <p:nvSpPr>
            <p:cNvPr id="34" name="object 157">
              <a:extLst>
                <a:ext uri="{FF2B5EF4-FFF2-40B4-BE49-F238E27FC236}">
                  <a16:creationId xmlns:a16="http://schemas.microsoft.com/office/drawing/2014/main" id="{1D1CA0B3-5533-ADE5-4C5E-D80107775DEA}"/>
                </a:ext>
              </a:extLst>
            </p:cNvPr>
            <p:cNvSpPr txBox="1"/>
            <p:nvPr/>
          </p:nvSpPr>
          <p:spPr>
            <a:xfrm>
              <a:off x="1719264" y="8436806"/>
              <a:ext cx="2693986" cy="94000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dirty="0">
                  <a:solidFill>
                    <a:srgbClr val="58595B"/>
                  </a:solidFill>
                  <a:latin typeface="Open Sans"/>
                  <a:cs typeface="Open Sans"/>
                </a:rPr>
                <a:t>Depositante (Proprietário de Galeria de Arte)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05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A9C7D-7DC6-1BC5-7E6E-ADCD0BB7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10E4-FD31-787A-BDF2-B3A26C6A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576EC7-5207-A373-A91C-CF3092DFB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9736137" cy="8405811"/>
          </a:xfrm>
        </p:spPr>
        <p:txBody>
          <a:bodyPr>
            <a:noAutofit/>
          </a:bodyPr>
          <a:lstStyle/>
          <a:p>
            <a:pPr marL="592138" indent="-592138">
              <a:lnSpc>
                <a:spcPct val="170000"/>
              </a:lnSpc>
              <a:buSzPct val="125000"/>
              <a:buBlip>
                <a:blip r:embed="rId2"/>
              </a:buBlip>
            </a:pPr>
            <a:r>
              <a:rPr lang="pt-PT" sz="2300" dirty="0"/>
              <a:t>A </a:t>
            </a:r>
            <a:r>
              <a:rPr lang="pt-PT" sz="2300" b="1" dirty="0">
                <a:solidFill>
                  <a:srgbClr val="53AEDD"/>
                </a:solidFill>
              </a:rPr>
              <a:t>Ana</a:t>
            </a:r>
            <a:r>
              <a:rPr lang="pt-PT" sz="2300" dirty="0"/>
              <a:t> ganhou 100 000 € na lotaria e deposita-os no </a:t>
            </a:r>
            <a:r>
              <a:rPr lang="pt-PT" sz="2300" b="1" dirty="0">
                <a:solidFill>
                  <a:srgbClr val="FBB040"/>
                </a:solidFill>
              </a:rPr>
              <a:t>Banco</a:t>
            </a:r>
            <a:r>
              <a:rPr lang="pt-PT" sz="2300" dirty="0"/>
              <a:t>.</a:t>
            </a:r>
            <a:br>
              <a:rPr lang="pt-PT" sz="2300" dirty="0"/>
            </a:br>
            <a:r>
              <a:rPr lang="pt-PT" sz="2300" dirty="0"/>
              <a:t>Com um rácio de reserva de 10%, o </a:t>
            </a:r>
            <a:r>
              <a:rPr lang="pt-PT" sz="2300" b="1" dirty="0">
                <a:solidFill>
                  <a:srgbClr val="FBB040"/>
                </a:solidFill>
              </a:rPr>
              <a:t>Banco</a:t>
            </a:r>
            <a:r>
              <a:rPr lang="pt-PT" sz="2300" dirty="0"/>
              <a:t> tem de manter</a:t>
            </a:r>
            <a:br>
              <a:rPr lang="pt-PT" sz="2300" dirty="0"/>
            </a:br>
            <a:r>
              <a:rPr lang="pt-PT" sz="2300" dirty="0"/>
              <a:t>10 000 € no seu cofre e pode emprestar os restantes 90 000 €.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2"/>
              </a:buBlip>
            </a:pPr>
            <a:r>
              <a:rPr lang="pt-PT" sz="2300" dirty="0"/>
              <a:t>O </a:t>
            </a:r>
            <a:r>
              <a:rPr lang="pt-PT" sz="2300" b="1" dirty="0">
                <a:solidFill>
                  <a:srgbClr val="20007D"/>
                </a:solidFill>
              </a:rPr>
              <a:t>Carlos</a:t>
            </a:r>
            <a:r>
              <a:rPr lang="pt-PT" sz="2300" dirty="0"/>
              <a:t> pede um empréstimo ao </a:t>
            </a:r>
            <a:r>
              <a:rPr lang="pt-PT" sz="2300" b="1" dirty="0">
                <a:solidFill>
                  <a:srgbClr val="FBB040"/>
                </a:solidFill>
              </a:rPr>
              <a:t>Banco</a:t>
            </a:r>
            <a:r>
              <a:rPr lang="pt-PT" sz="2300" dirty="0"/>
              <a:t> no valor máximo — </a:t>
            </a:r>
            <a:br>
              <a:rPr lang="pt-PT" sz="2300" dirty="0"/>
            </a:br>
            <a:r>
              <a:rPr lang="pt-PT" sz="2300" dirty="0"/>
              <a:t>90 000 € — e usa-o para comprar uma casa ao </a:t>
            </a:r>
            <a:r>
              <a:rPr lang="pt-PT" sz="2300" b="1" dirty="0">
                <a:solidFill>
                  <a:srgbClr val="8C2930"/>
                </a:solidFill>
              </a:rPr>
              <a:t>Daniel</a:t>
            </a:r>
            <a:r>
              <a:rPr lang="pt-PT" sz="2300" dirty="0"/>
              <a:t>.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2"/>
              </a:buBlip>
            </a:pPr>
            <a:r>
              <a:rPr lang="pt-PT" sz="2300" dirty="0"/>
              <a:t>O </a:t>
            </a:r>
            <a:r>
              <a:rPr lang="pt-PT" sz="2300" b="1" dirty="0">
                <a:solidFill>
                  <a:srgbClr val="8C2930"/>
                </a:solidFill>
              </a:rPr>
              <a:t>Daniel</a:t>
            </a:r>
            <a:r>
              <a:rPr lang="pt-PT" sz="2300" dirty="0"/>
              <a:t> deposita os 90 000 € que recebeu do </a:t>
            </a:r>
            <a:r>
              <a:rPr lang="pt-PT" sz="2300" b="1" dirty="0">
                <a:solidFill>
                  <a:srgbClr val="20007D"/>
                </a:solidFill>
              </a:rPr>
              <a:t>Carlos</a:t>
            </a:r>
            <a:r>
              <a:rPr lang="pt-PT" sz="2300" dirty="0"/>
              <a:t> no </a:t>
            </a:r>
            <a:r>
              <a:rPr lang="pt-PT" sz="2300" b="1" dirty="0">
                <a:solidFill>
                  <a:srgbClr val="FBB040"/>
                </a:solidFill>
              </a:rPr>
              <a:t>Banco</a:t>
            </a:r>
            <a:r>
              <a:rPr lang="pt-PT" sz="2300" dirty="0"/>
              <a:t>. A quantia total de depósitos no </a:t>
            </a:r>
            <a:r>
              <a:rPr lang="pt-PT" sz="2300" b="1" dirty="0">
                <a:solidFill>
                  <a:srgbClr val="FBB040"/>
                </a:solidFill>
              </a:rPr>
              <a:t>Banco</a:t>
            </a:r>
            <a:r>
              <a:rPr lang="pt-PT" sz="2300" dirty="0"/>
              <a:t> passou a ser de 190 000 €.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2"/>
              </a:buBlip>
            </a:pPr>
            <a:r>
              <a:rPr lang="pt-PT" sz="2300" dirty="0"/>
              <a:t>O </a:t>
            </a:r>
            <a:r>
              <a:rPr lang="pt-PT" sz="2300" b="1" dirty="0">
                <a:solidFill>
                  <a:srgbClr val="CCBAE8"/>
                </a:solidFill>
              </a:rPr>
              <a:t>Eurico</a:t>
            </a:r>
            <a:r>
              <a:rPr lang="pt-PT" sz="2300" dirty="0"/>
              <a:t> pede um empréstimo ao </a:t>
            </a:r>
            <a:r>
              <a:rPr lang="pt-PT" sz="2300" b="1" dirty="0">
                <a:solidFill>
                  <a:srgbClr val="FBB040"/>
                </a:solidFill>
              </a:rPr>
              <a:t>Banco</a:t>
            </a:r>
            <a:r>
              <a:rPr lang="pt-PT" sz="2300" dirty="0"/>
              <a:t> que lhe empresta 90% do novo depósito, que é 81 000 €.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2"/>
              </a:buBlip>
            </a:pPr>
            <a:r>
              <a:rPr lang="pt-PT" sz="2300" dirty="0"/>
              <a:t>O </a:t>
            </a:r>
            <a:r>
              <a:rPr lang="pt-PT" sz="2300" b="1" dirty="0">
                <a:solidFill>
                  <a:srgbClr val="CCBAE8"/>
                </a:solidFill>
              </a:rPr>
              <a:t>Eurico</a:t>
            </a:r>
            <a:r>
              <a:rPr lang="pt-PT" sz="2300" dirty="0"/>
              <a:t> usa o empréstimo de 81 000 € para comprar uma peça de arte ao </a:t>
            </a:r>
            <a:r>
              <a:rPr lang="pt-PT" sz="2300" b="1" dirty="0">
                <a:solidFill>
                  <a:srgbClr val="739138"/>
                </a:solidFill>
              </a:rPr>
              <a:t>Francisco</a:t>
            </a:r>
            <a:r>
              <a:rPr lang="pt-PT" sz="2300" dirty="0"/>
              <a:t>, que, em seguida, deposita o dinheiro no </a:t>
            </a:r>
            <a:r>
              <a:rPr lang="pt-PT" sz="2300" b="1" dirty="0">
                <a:solidFill>
                  <a:srgbClr val="FBB040"/>
                </a:solidFill>
              </a:rPr>
              <a:t>Banco</a:t>
            </a:r>
            <a:r>
              <a:rPr lang="pt-PT" sz="2300" dirty="0"/>
              <a:t>. O total de depósitos registados passa a 271 000 €.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069BD24-241C-2F69-EDE5-F86CE03FD0DB}"/>
              </a:ext>
            </a:extLst>
          </p:cNvPr>
          <p:cNvGrpSpPr/>
          <p:nvPr/>
        </p:nvGrpSpPr>
        <p:grpSpPr>
          <a:xfrm>
            <a:off x="12415387" y="2964896"/>
            <a:ext cx="6306000" cy="6830126"/>
            <a:chOff x="12185650" y="2274549"/>
            <a:chExt cx="6306000" cy="6830126"/>
          </a:xfrm>
        </p:grpSpPr>
        <p:pic>
          <p:nvPicPr>
            <p:cNvPr id="6" name="Graphic 5" descr="Man with solid fill">
              <a:extLst>
                <a:ext uri="{FF2B5EF4-FFF2-40B4-BE49-F238E27FC236}">
                  <a16:creationId xmlns:a16="http://schemas.microsoft.com/office/drawing/2014/main" id="{11DF6439-3BE1-401A-F10A-5CB5BB8BF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185650" y="2530475"/>
              <a:ext cx="972000" cy="972000"/>
            </a:xfrm>
            <a:prstGeom prst="rect">
              <a:avLst/>
            </a:prstGeom>
          </p:spPr>
        </p:pic>
        <p:pic>
          <p:nvPicPr>
            <p:cNvPr id="7" name="Graphic 6" descr="Bank with solid fill">
              <a:extLst>
                <a:ext uri="{FF2B5EF4-FFF2-40B4-BE49-F238E27FC236}">
                  <a16:creationId xmlns:a16="http://schemas.microsoft.com/office/drawing/2014/main" id="{5E81CC8E-9AC1-6C8C-FEAB-E203BB570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963650" y="2530475"/>
              <a:ext cx="972000" cy="972000"/>
            </a:xfrm>
            <a:prstGeom prst="rect">
              <a:avLst/>
            </a:prstGeom>
          </p:spPr>
        </p:pic>
        <p:pic>
          <p:nvPicPr>
            <p:cNvPr id="8" name="Graphic 7" descr="Man with solid fill">
              <a:extLst>
                <a:ext uri="{FF2B5EF4-FFF2-40B4-BE49-F238E27FC236}">
                  <a16:creationId xmlns:a16="http://schemas.microsoft.com/office/drawing/2014/main" id="{72F2CDDF-E45A-35C1-8755-55F811726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741650" y="2530475"/>
              <a:ext cx="972000" cy="972000"/>
            </a:xfrm>
            <a:prstGeom prst="rect">
              <a:avLst/>
            </a:prstGeom>
          </p:spPr>
        </p:pic>
        <p:pic>
          <p:nvPicPr>
            <p:cNvPr id="9" name="Graphic 8" descr="Man with solid fill">
              <a:extLst>
                <a:ext uri="{FF2B5EF4-FFF2-40B4-BE49-F238E27FC236}">
                  <a16:creationId xmlns:a16="http://schemas.microsoft.com/office/drawing/2014/main" id="{36141F4D-AD64-7D22-A210-0E6932773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519650" y="2530475"/>
              <a:ext cx="972000" cy="972000"/>
            </a:xfrm>
            <a:prstGeom prst="rect">
              <a:avLst/>
            </a:prstGeom>
          </p:spPr>
        </p:pic>
        <p:pic>
          <p:nvPicPr>
            <p:cNvPr id="15" name="Graphic 14" descr="Arrow Right with solid fill">
              <a:extLst>
                <a:ext uri="{FF2B5EF4-FFF2-40B4-BE49-F238E27FC236}">
                  <a16:creationId xmlns:a16="http://schemas.microsoft.com/office/drawing/2014/main" id="{01599192-DB50-92BD-AC7C-3AEC85FEF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122650" y="2800475"/>
              <a:ext cx="432000" cy="432000"/>
            </a:xfrm>
            <a:prstGeom prst="rect">
              <a:avLst/>
            </a:prstGeom>
          </p:spPr>
        </p:pic>
        <p:pic>
          <p:nvPicPr>
            <p:cNvPr id="29" name="Graphic 28" descr="Arrow Right with solid fill">
              <a:extLst>
                <a:ext uri="{FF2B5EF4-FFF2-40B4-BE49-F238E27FC236}">
                  <a16:creationId xmlns:a16="http://schemas.microsoft.com/office/drawing/2014/main" id="{678975A3-F62F-F15D-ED06-6BC9E8CB1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900650" y="2800475"/>
              <a:ext cx="432000" cy="432000"/>
            </a:xfrm>
            <a:prstGeom prst="rect">
              <a:avLst/>
            </a:prstGeom>
          </p:spPr>
        </p:pic>
        <p:pic>
          <p:nvPicPr>
            <p:cNvPr id="30" name="Graphic 29" descr="Arrow Right with solid fill">
              <a:extLst>
                <a:ext uri="{FF2B5EF4-FFF2-40B4-BE49-F238E27FC236}">
                  <a16:creationId xmlns:a16="http://schemas.microsoft.com/office/drawing/2014/main" id="{BA19366A-2279-5037-01CC-635D22DA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344650" y="2800475"/>
              <a:ext cx="432000" cy="4320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DF574A3-6C0B-BAF4-868A-05B4D09DD6DF}"/>
                </a:ext>
              </a:extLst>
            </p:cNvPr>
            <p:cNvSpPr txBox="1"/>
            <p:nvPr/>
          </p:nvSpPr>
          <p:spPr>
            <a:xfrm>
              <a:off x="14763812" y="2275820"/>
              <a:ext cx="12021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Empréstimo</a:t>
              </a:r>
              <a:b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90 000 €</a:t>
              </a:r>
              <a:endParaRPr lang="en-PT" sz="1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13ED2E5-5000-52FF-21ED-1BBE96E6F0A2}"/>
                </a:ext>
              </a:extLst>
            </p:cNvPr>
            <p:cNvSpPr txBox="1"/>
            <p:nvPr/>
          </p:nvSpPr>
          <p:spPr>
            <a:xfrm>
              <a:off x="13056847" y="2274549"/>
              <a:ext cx="9989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Depósito</a:t>
              </a:r>
              <a:b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100 000 €</a:t>
              </a:r>
              <a:endParaRPr lang="en-PT" sz="1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F6E5B6-DA61-F5F4-D27F-0DD370AC300C}"/>
                </a:ext>
              </a:extLst>
            </p:cNvPr>
            <p:cNvSpPr txBox="1"/>
            <p:nvPr/>
          </p:nvSpPr>
          <p:spPr>
            <a:xfrm>
              <a:off x="16600163" y="2274549"/>
              <a:ext cx="103297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Transação</a:t>
              </a:r>
              <a:b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90 000 €</a:t>
              </a:r>
            </a:p>
          </p:txBody>
        </p:sp>
        <p:pic>
          <p:nvPicPr>
            <p:cNvPr id="40" name="Graphic 39" descr="Man with solid fill">
              <a:extLst>
                <a:ext uri="{FF2B5EF4-FFF2-40B4-BE49-F238E27FC236}">
                  <a16:creationId xmlns:a16="http://schemas.microsoft.com/office/drawing/2014/main" id="{3A890126-B083-6A5D-0CC3-97AED88D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185650" y="7571678"/>
              <a:ext cx="972000" cy="972000"/>
            </a:xfrm>
            <a:prstGeom prst="rect">
              <a:avLst/>
            </a:prstGeom>
          </p:spPr>
        </p:pic>
        <p:pic>
          <p:nvPicPr>
            <p:cNvPr id="41" name="Graphic 40" descr="Bank with solid fill">
              <a:extLst>
                <a:ext uri="{FF2B5EF4-FFF2-40B4-BE49-F238E27FC236}">
                  <a16:creationId xmlns:a16="http://schemas.microsoft.com/office/drawing/2014/main" id="{5E36757B-5828-9E66-40B3-82B8607F2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963650" y="7571678"/>
              <a:ext cx="972000" cy="972000"/>
            </a:xfrm>
            <a:prstGeom prst="rect">
              <a:avLst/>
            </a:prstGeom>
          </p:spPr>
        </p:pic>
        <p:pic>
          <p:nvPicPr>
            <p:cNvPr id="44" name="Graphic 43" descr="Arrow Right with solid fill">
              <a:extLst>
                <a:ext uri="{FF2B5EF4-FFF2-40B4-BE49-F238E27FC236}">
                  <a16:creationId xmlns:a16="http://schemas.microsoft.com/office/drawing/2014/main" id="{3BC0AAB2-E7D0-4F91-1476-D08E3AC52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122650" y="7841678"/>
              <a:ext cx="432000" cy="432000"/>
            </a:xfrm>
            <a:prstGeom prst="rect">
              <a:avLst/>
            </a:prstGeom>
          </p:spPr>
        </p:pic>
        <p:pic>
          <p:nvPicPr>
            <p:cNvPr id="46" name="Graphic 45" descr="Arrow Right with solid fill">
              <a:extLst>
                <a:ext uri="{FF2B5EF4-FFF2-40B4-BE49-F238E27FC236}">
                  <a16:creationId xmlns:a16="http://schemas.microsoft.com/office/drawing/2014/main" id="{6A697DD6-DF0D-B2CC-FF2D-3E600B370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344650" y="7841678"/>
              <a:ext cx="432000" cy="4320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57FC307-075A-C45A-134F-E00C2D7AF21B}"/>
                </a:ext>
              </a:extLst>
            </p:cNvPr>
            <p:cNvSpPr txBox="1"/>
            <p:nvPr/>
          </p:nvSpPr>
          <p:spPr>
            <a:xfrm>
              <a:off x="15011340" y="8273678"/>
              <a:ext cx="34803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assim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por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diante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até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que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todos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os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depósitos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sejam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sustentados</a:t>
              </a:r>
              <a:endParaRPr lang="en-GB" sz="1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por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GB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dívida</a:t>
              </a:r>
              <a:r>
                <a:rPr lang="en-GB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PT" sz="1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1494C5-8B32-C6AD-C1A1-690413D6E2BC}"/>
                </a:ext>
              </a:extLst>
            </p:cNvPr>
            <p:cNvSpPr txBox="1"/>
            <p:nvPr/>
          </p:nvSpPr>
          <p:spPr>
            <a:xfrm>
              <a:off x="13087105" y="7301678"/>
              <a:ext cx="99738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Depósito</a:t>
              </a:r>
              <a:b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81 000 €</a:t>
              </a:r>
            </a:p>
          </p:txBody>
        </p:sp>
        <p:pic>
          <p:nvPicPr>
            <p:cNvPr id="50" name="Graphic 49" descr="Man with solid fill">
              <a:extLst>
                <a:ext uri="{FF2B5EF4-FFF2-40B4-BE49-F238E27FC236}">
                  <a16:creationId xmlns:a16="http://schemas.microsoft.com/office/drawing/2014/main" id="{7E994F5E-E051-5E07-0DF5-0B69837D0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185650" y="5054219"/>
              <a:ext cx="972000" cy="972000"/>
            </a:xfrm>
            <a:prstGeom prst="rect">
              <a:avLst/>
            </a:prstGeom>
          </p:spPr>
        </p:pic>
        <p:pic>
          <p:nvPicPr>
            <p:cNvPr id="51" name="Graphic 50" descr="Bank with solid fill">
              <a:extLst>
                <a:ext uri="{FF2B5EF4-FFF2-40B4-BE49-F238E27FC236}">
                  <a16:creationId xmlns:a16="http://schemas.microsoft.com/office/drawing/2014/main" id="{6BF4F427-4DC1-2DE8-F98B-AB2F787C1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963650" y="5054219"/>
              <a:ext cx="972000" cy="972000"/>
            </a:xfrm>
            <a:prstGeom prst="rect">
              <a:avLst/>
            </a:prstGeom>
          </p:spPr>
        </p:pic>
        <p:pic>
          <p:nvPicPr>
            <p:cNvPr id="52" name="Graphic 51" descr="Man with solid fill">
              <a:extLst>
                <a:ext uri="{FF2B5EF4-FFF2-40B4-BE49-F238E27FC236}">
                  <a16:creationId xmlns:a16="http://schemas.microsoft.com/office/drawing/2014/main" id="{F84F369A-8574-60DD-9675-C2ACE013B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5741650" y="5054219"/>
              <a:ext cx="972000" cy="972000"/>
            </a:xfrm>
            <a:prstGeom prst="rect">
              <a:avLst/>
            </a:prstGeom>
          </p:spPr>
        </p:pic>
        <p:pic>
          <p:nvPicPr>
            <p:cNvPr id="53" name="Graphic 52" descr="Man with solid fill">
              <a:extLst>
                <a:ext uri="{FF2B5EF4-FFF2-40B4-BE49-F238E27FC236}">
                  <a16:creationId xmlns:a16="http://schemas.microsoft.com/office/drawing/2014/main" id="{39A6F6F3-B60B-EB7A-9283-75F0E4A7C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519650" y="5054219"/>
              <a:ext cx="972000" cy="972000"/>
            </a:xfrm>
            <a:prstGeom prst="rect">
              <a:avLst/>
            </a:prstGeom>
          </p:spPr>
        </p:pic>
        <p:pic>
          <p:nvPicPr>
            <p:cNvPr id="54" name="Graphic 53" descr="Arrow Right with solid fill">
              <a:extLst>
                <a:ext uri="{FF2B5EF4-FFF2-40B4-BE49-F238E27FC236}">
                  <a16:creationId xmlns:a16="http://schemas.microsoft.com/office/drawing/2014/main" id="{29BF20A1-EE23-0B9F-D673-2E8C983F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122650" y="5324219"/>
              <a:ext cx="432000" cy="432000"/>
            </a:xfrm>
            <a:prstGeom prst="rect">
              <a:avLst/>
            </a:prstGeom>
          </p:spPr>
        </p:pic>
        <p:pic>
          <p:nvPicPr>
            <p:cNvPr id="55" name="Graphic 54" descr="Arrow Right with solid fill">
              <a:extLst>
                <a:ext uri="{FF2B5EF4-FFF2-40B4-BE49-F238E27FC236}">
                  <a16:creationId xmlns:a16="http://schemas.microsoft.com/office/drawing/2014/main" id="{E2795C9E-9C3A-47B4-AE33-A88AD2F67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900650" y="5324219"/>
              <a:ext cx="432000" cy="432000"/>
            </a:xfrm>
            <a:prstGeom prst="rect">
              <a:avLst/>
            </a:prstGeom>
          </p:spPr>
        </p:pic>
        <p:pic>
          <p:nvPicPr>
            <p:cNvPr id="56" name="Graphic 55" descr="Arrow Right with solid fill">
              <a:extLst>
                <a:ext uri="{FF2B5EF4-FFF2-40B4-BE49-F238E27FC236}">
                  <a16:creationId xmlns:a16="http://schemas.microsoft.com/office/drawing/2014/main" id="{FD6B2BDC-B63A-76D0-BC15-016D042BC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344650" y="5324219"/>
              <a:ext cx="432000" cy="432000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6854CD7-1328-1C75-4EF6-9F38455A2482}"/>
                </a:ext>
              </a:extLst>
            </p:cNvPr>
            <p:cNvSpPr txBox="1"/>
            <p:nvPr/>
          </p:nvSpPr>
          <p:spPr>
            <a:xfrm>
              <a:off x="14737556" y="4784889"/>
              <a:ext cx="12021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Empréstimo</a:t>
              </a:r>
              <a:b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81 000 €</a:t>
              </a:r>
              <a:endParaRPr lang="en-PT" sz="1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EB34DC9-CB21-8F2E-2675-193360FA6493}"/>
                </a:ext>
              </a:extLst>
            </p:cNvPr>
            <p:cNvSpPr txBox="1"/>
            <p:nvPr/>
          </p:nvSpPr>
          <p:spPr>
            <a:xfrm>
              <a:off x="13058449" y="4753778"/>
              <a:ext cx="99738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Depósito</a:t>
              </a:r>
              <a:b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90 000 €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7CC3DEE-F075-C03C-6405-8A72D2182556}"/>
                </a:ext>
              </a:extLst>
            </p:cNvPr>
            <p:cNvSpPr txBox="1"/>
            <p:nvPr/>
          </p:nvSpPr>
          <p:spPr>
            <a:xfrm>
              <a:off x="16600162" y="4755420"/>
              <a:ext cx="103297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Transação</a:t>
              </a:r>
              <a:br>
                <a:rPr lang="en-PT" sz="14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81 000 €</a:t>
              </a:r>
            </a:p>
          </p:txBody>
        </p:sp>
        <p:cxnSp>
          <p:nvCxnSpPr>
            <p:cNvPr id="61" name="Elbow Connector 60">
              <a:extLst>
                <a:ext uri="{FF2B5EF4-FFF2-40B4-BE49-F238E27FC236}">
                  <a16:creationId xmlns:a16="http://schemas.microsoft.com/office/drawing/2014/main" id="{B7DA6E07-41B7-4EF6-66F3-3A3D4486A4F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654050" y="4131875"/>
              <a:ext cx="1368000" cy="5335200"/>
            </a:xfrm>
            <a:prstGeom prst="bentConnector3">
              <a:avLst>
                <a:gd name="adj1" fmla="val 67379"/>
              </a:avLst>
            </a:prstGeom>
            <a:ln w="28575">
              <a:solidFill>
                <a:srgbClr val="585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Elbow Connector 63">
              <a:extLst>
                <a:ext uri="{FF2B5EF4-FFF2-40B4-BE49-F238E27FC236}">
                  <a16:creationId xmlns:a16="http://schemas.microsoft.com/office/drawing/2014/main" id="{9B3EC161-0B78-9E1F-9B20-63F04CDD0B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654050" y="1617275"/>
              <a:ext cx="1368000" cy="5335200"/>
            </a:xfrm>
            <a:prstGeom prst="bentConnector3">
              <a:avLst>
                <a:gd name="adj1" fmla="val 67379"/>
              </a:avLst>
            </a:prstGeom>
            <a:ln w="28575">
              <a:solidFill>
                <a:srgbClr val="585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23DFF7A6-929D-DCCE-46F7-D0E684E7A13E}"/>
              </a:ext>
            </a:extLst>
          </p:cNvPr>
          <p:cNvSpPr/>
          <p:nvPr/>
        </p:nvSpPr>
        <p:spPr>
          <a:xfrm>
            <a:off x="14166387" y="4274793"/>
            <a:ext cx="1033200" cy="648000"/>
          </a:xfrm>
          <a:prstGeom prst="roundRect">
            <a:avLst>
              <a:gd name="adj" fmla="val 8248"/>
            </a:avLst>
          </a:prstGeom>
          <a:solidFill>
            <a:srgbClr val="FBB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</a:t>
            </a:r>
            <a:b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Depósitos</a:t>
            </a:r>
            <a:b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100 000 €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2DEC704-C98C-2C98-2D65-5EE5CA7321C8}"/>
              </a:ext>
            </a:extLst>
          </p:cNvPr>
          <p:cNvSpPr/>
          <p:nvPr/>
        </p:nvSpPr>
        <p:spPr>
          <a:xfrm>
            <a:off x="14166387" y="6716566"/>
            <a:ext cx="1033200" cy="648000"/>
          </a:xfrm>
          <a:prstGeom prst="roundRect">
            <a:avLst>
              <a:gd name="adj" fmla="val 8248"/>
            </a:avLst>
          </a:prstGeom>
          <a:solidFill>
            <a:srgbClr val="FBB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</a:t>
            </a:r>
            <a:b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Depósitos</a:t>
            </a:r>
            <a:b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190 000 €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1C464950-C095-E769-E8B1-F35F906B37A6}"/>
              </a:ext>
            </a:extLst>
          </p:cNvPr>
          <p:cNvSpPr/>
          <p:nvPr/>
        </p:nvSpPr>
        <p:spPr>
          <a:xfrm>
            <a:off x="14170032" y="9234025"/>
            <a:ext cx="1033200" cy="648000"/>
          </a:xfrm>
          <a:prstGeom prst="roundRect">
            <a:avLst>
              <a:gd name="adj" fmla="val 8248"/>
            </a:avLst>
          </a:prstGeom>
          <a:solidFill>
            <a:srgbClr val="FBB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</a:t>
            </a:r>
            <a:b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Depósitos</a:t>
            </a:r>
            <a:b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13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271 000 €</a:t>
            </a:r>
          </a:p>
        </p:txBody>
      </p:sp>
    </p:spTree>
    <p:extLst>
      <p:ext uri="{BB962C8B-B14F-4D97-AF65-F5344CB8AC3E}">
        <p14:creationId xmlns:p14="http://schemas.microsoft.com/office/powerpoint/2010/main" val="3482638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40F3-3364-9143-1B70-45760374A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C6A32-1EE1-86F1-DC1A-CDDDFCC5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EDB99-CACA-7A4E-4847-66B93731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6"/>
            <a:ext cx="17352000" cy="3581400"/>
          </a:xfrm>
        </p:spPr>
        <p:txBody>
          <a:bodyPr>
            <a:noAutofit/>
          </a:bodyPr>
          <a:lstStyle/>
          <a:p>
            <a:pPr marL="592138" indent="-592138">
              <a:lnSpc>
                <a:spcPct val="170000"/>
              </a:lnSpc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2800" dirty="0"/>
              <a:t>Neste cenário, com o número de interações que ocorreram ao longo do exemplo, o depósito inicial de 100 000 € resultou num total de 271 000 € em depósitos, após circular na economia.</a:t>
            </a:r>
          </a:p>
          <a:p>
            <a:pPr marL="592138" indent="-592138">
              <a:lnSpc>
                <a:spcPct val="170000"/>
              </a:lnSpc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2800" dirty="0"/>
              <a:t>No limite, quanto dinheiro seria, de facto, criado com esses 100 000 €, se o dinheiro continuasse a circular na economia?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13A44-AA78-A5DA-51E1-D94F81684C5F}"/>
              </a:ext>
            </a:extLst>
          </p:cNvPr>
          <p:cNvSpPr txBox="1"/>
          <p:nvPr/>
        </p:nvSpPr>
        <p:spPr>
          <a:xfrm>
            <a:off x="1974850" y="6111877"/>
            <a:ext cx="6421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3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100 000 € ÷ 0,1 = 1 000 000 €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5AA869-0608-76C9-DE57-5BB9D74FDE16}"/>
              </a:ext>
            </a:extLst>
          </p:cNvPr>
          <p:cNvSpPr/>
          <p:nvPr/>
        </p:nvSpPr>
        <p:spPr>
          <a:xfrm>
            <a:off x="1974850" y="6111877"/>
            <a:ext cx="2286000" cy="646331"/>
          </a:xfrm>
          <a:prstGeom prst="rect">
            <a:avLst/>
          </a:prstGeom>
          <a:noFill/>
          <a:ln w="28575">
            <a:solidFill>
              <a:srgbClr val="FBB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A45E55-8CBD-A7C8-D3A6-FAC9BA29A2D9}"/>
              </a:ext>
            </a:extLst>
          </p:cNvPr>
          <p:cNvSpPr/>
          <p:nvPr/>
        </p:nvSpPr>
        <p:spPr>
          <a:xfrm>
            <a:off x="4565651" y="6111876"/>
            <a:ext cx="762000" cy="646331"/>
          </a:xfrm>
          <a:prstGeom prst="rect">
            <a:avLst/>
          </a:prstGeom>
          <a:noFill/>
          <a:ln w="28575">
            <a:solidFill>
              <a:srgbClr val="FBB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EE1B82-590B-2150-C318-375E9D6AA111}"/>
              </a:ext>
            </a:extLst>
          </p:cNvPr>
          <p:cNvSpPr/>
          <p:nvPr/>
        </p:nvSpPr>
        <p:spPr>
          <a:xfrm>
            <a:off x="5708649" y="6111877"/>
            <a:ext cx="2688151" cy="646331"/>
          </a:xfrm>
          <a:prstGeom prst="rect">
            <a:avLst/>
          </a:prstGeom>
          <a:noFill/>
          <a:ln w="28575">
            <a:solidFill>
              <a:srgbClr val="FBB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7051C0-B7A5-016B-E060-73CB897E0F39}"/>
              </a:ext>
            </a:extLst>
          </p:cNvPr>
          <p:cNvSpPr txBox="1"/>
          <p:nvPr/>
        </p:nvSpPr>
        <p:spPr>
          <a:xfrm>
            <a:off x="4146593" y="6986808"/>
            <a:ext cx="16001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Rácio de</a:t>
            </a:r>
            <a:b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Reserva</a:t>
            </a:r>
            <a:endParaRPr lang="en-PT" sz="3200" kern="1200" dirty="0">
              <a:solidFill>
                <a:srgbClr val="FBB04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5A186-E4E2-B629-B0CF-CB6FA73D4927}"/>
              </a:ext>
            </a:extLst>
          </p:cNvPr>
          <p:cNvSpPr txBox="1"/>
          <p:nvPr/>
        </p:nvSpPr>
        <p:spPr>
          <a:xfrm>
            <a:off x="2272907" y="6986809"/>
            <a:ext cx="16898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Depósito</a:t>
            </a:r>
            <a:b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Inicial</a:t>
            </a:r>
            <a:endParaRPr lang="en-PT" sz="3200" kern="1200" dirty="0">
              <a:solidFill>
                <a:srgbClr val="FBB04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38ECF-0DFF-6639-0E5F-7DC7FF7718DB}"/>
              </a:ext>
            </a:extLst>
          </p:cNvPr>
          <p:cNvSpPr txBox="1"/>
          <p:nvPr/>
        </p:nvSpPr>
        <p:spPr>
          <a:xfrm>
            <a:off x="6122025" y="6983287"/>
            <a:ext cx="18614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 de</a:t>
            </a:r>
            <a:b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PT" sz="28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Depósitos</a:t>
            </a:r>
            <a:endParaRPr lang="en-PT" sz="3200" kern="1200" dirty="0">
              <a:solidFill>
                <a:srgbClr val="FBB04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1F2C18B-B0E6-2A47-D247-9D8D02050E27}"/>
              </a:ext>
            </a:extLst>
          </p:cNvPr>
          <p:cNvSpPr txBox="1">
            <a:spLocks/>
          </p:cNvSpPr>
          <p:nvPr/>
        </p:nvSpPr>
        <p:spPr>
          <a:xfrm>
            <a:off x="1388719" y="8530420"/>
            <a:ext cx="17352000" cy="954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2138" indent="-592138">
              <a:lnSpc>
                <a:spcPct val="170000"/>
              </a:lnSpc>
              <a:spcAft>
                <a:spcPts val="1200"/>
              </a:spcAft>
              <a:buSzPct val="125000"/>
              <a:buFont typeface="Arial" panose="020B0604020202020204" pitchFamily="34" charset="0"/>
              <a:buBlip>
                <a:blip r:embed="rId2"/>
              </a:buBlip>
            </a:pPr>
            <a:r>
              <a:rPr lang="pt-PT" sz="2800" dirty="0"/>
              <a:t>E se o rácio de reserva fosse reduzido para 1%?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36BA73-CA12-BD57-7174-C7A4F229BF59}"/>
              </a:ext>
            </a:extLst>
          </p:cNvPr>
          <p:cNvSpPr txBox="1"/>
          <p:nvPr/>
        </p:nvSpPr>
        <p:spPr>
          <a:xfrm>
            <a:off x="1974849" y="9750865"/>
            <a:ext cx="6950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3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100 000 € ÷ 0,01 = 10 000 000 €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E80B568-64E7-94D1-EBB1-04E878375BDB}"/>
              </a:ext>
            </a:extLst>
          </p:cNvPr>
          <p:cNvSpPr/>
          <p:nvPr/>
        </p:nvSpPr>
        <p:spPr>
          <a:xfrm>
            <a:off x="11178311" y="6815797"/>
            <a:ext cx="7983463" cy="3581399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Desde 2020, a Reserva Federal (o Banco Central dos EUA) reduziu os rácios das reservas mínimas obrigatórias para 0%, com o propósito de estimular a economia.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626B6D-93FD-B642-8140-39B0CA68D7A9}"/>
              </a:ext>
            </a:extLst>
          </p:cNvPr>
          <p:cNvSpPr txBox="1"/>
          <p:nvPr/>
        </p:nvSpPr>
        <p:spPr>
          <a:xfrm>
            <a:off x="11174845" y="5598292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1500" dirty="0"/>
              <a:t>🤯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74866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9" grpId="0" animBg="1"/>
      <p:bldP spid="10" grpId="0"/>
      <p:bldP spid="11" grpId="0"/>
      <p:bldP spid="13" grpId="0"/>
      <p:bldP spid="15" grpId="0"/>
      <p:bldP spid="30" grpId="0"/>
      <p:bldP spid="31" grpId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42CF-8F8A-3854-DEB9-10F23FAD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E5EE-7C85-7459-B756-8F85501A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350F2-7EA1-DADB-7508-882E328F0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Após a realização da atividade, responde às seguintes questões: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3872A-E55F-C05A-49DF-277F70FD3DA0}"/>
              </a:ext>
            </a:extLst>
          </p:cNvPr>
          <p:cNvSpPr txBox="1"/>
          <p:nvPr/>
        </p:nvSpPr>
        <p:spPr>
          <a:xfrm>
            <a:off x="1382425" y="3292475"/>
            <a:ext cx="8437823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onde é que surgiu o “dinheiro novo”?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FCA27-8A13-1481-8032-C76D0CD2D0BB}"/>
              </a:ext>
            </a:extLst>
          </p:cNvPr>
          <p:cNvSpPr txBox="1"/>
          <p:nvPr/>
        </p:nvSpPr>
        <p:spPr>
          <a:xfrm>
            <a:off x="1365251" y="4337715"/>
            <a:ext cx="17369462" cy="149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que aconteceria se todos os depositantes quisessem levantar o seu dinheiro ao mesmo tempo?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35740-6066-5298-44FE-13BB4A6ADF57}"/>
              </a:ext>
            </a:extLst>
          </p:cNvPr>
          <p:cNvSpPr txBox="1"/>
          <p:nvPr/>
        </p:nvSpPr>
        <p:spPr>
          <a:xfrm>
            <a:off x="1388480" y="6121618"/>
            <a:ext cx="16389358" cy="752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Este sistema de criação de dinheiro a partir da dívida é sustentável a longo prazo?</a:t>
            </a:r>
          </a:p>
        </p:txBody>
      </p:sp>
    </p:spTree>
    <p:extLst>
      <p:ext uri="{BB962C8B-B14F-4D97-AF65-F5344CB8AC3E}">
        <p14:creationId xmlns:p14="http://schemas.microsoft.com/office/powerpoint/2010/main" val="30092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6A76-F2FA-E8CC-48E9-6BA3AD87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6C26-ABB6-3E29-F90F-9EFC15E3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Debate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3F064-5BFC-5BE4-A72D-08E396938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16160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O futuro do dinheiro — controlo, digitalização e liberdade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2027A-0BD5-CAE1-797F-3CA0AE874CC9}"/>
              </a:ext>
            </a:extLst>
          </p:cNvPr>
          <p:cNvSpPr txBox="1"/>
          <p:nvPr/>
        </p:nvSpPr>
        <p:spPr>
          <a:xfrm>
            <a:off x="1400573" y="6264858"/>
            <a:ext cx="17338675" cy="71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 mundo de </a:t>
            </a:r>
            <a:r>
              <a:rPr lang="pt-PT" sz="3000" kern="1200" dirty="0" err="1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CBDCs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ainda existe espaço para moedas alternativas como o Bitcoin?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F2200-C379-F6EA-8F27-E463408EB3E7}"/>
              </a:ext>
            </a:extLst>
          </p:cNvPr>
          <p:cNvSpPr txBox="1"/>
          <p:nvPr/>
        </p:nvSpPr>
        <p:spPr>
          <a:xfrm>
            <a:off x="1400573" y="2950158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Moedas Digitais do Banco Central (</a:t>
            </a:r>
            <a:r>
              <a:rPr lang="pt-PT" sz="3000" kern="1200" dirty="0" err="1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CBDCs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tornarão o sistema financeiro mais eficiente ou mais controlado?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5AED2-4D85-0B2B-3A86-B9FA7C4B8E7C}"/>
              </a:ext>
            </a:extLst>
          </p:cNvPr>
          <p:cNvSpPr txBox="1"/>
          <p:nvPr/>
        </p:nvSpPr>
        <p:spPr>
          <a:xfrm>
            <a:off x="1400573" y="4607508"/>
            <a:ext cx="17338675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Estarias confortável em ter todo o teu dinheiro em formato digital e controlado por um banco central?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599C3-51D8-E127-6C1A-D28865CFAAAC}"/>
              </a:ext>
            </a:extLst>
          </p:cNvPr>
          <p:cNvSpPr txBox="1"/>
          <p:nvPr/>
        </p:nvSpPr>
        <p:spPr>
          <a:xfrm>
            <a:off x="1363038" y="7229711"/>
            <a:ext cx="17338675" cy="71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futuro, achas que o dinheiro será uma ferramenta de liberdade ou de vigilância?</a:t>
            </a:r>
          </a:p>
        </p:txBody>
      </p:sp>
    </p:spTree>
    <p:extLst>
      <p:ext uri="{BB962C8B-B14F-4D97-AF65-F5344CB8AC3E}">
        <p14:creationId xmlns:p14="http://schemas.microsoft.com/office/powerpoint/2010/main" val="383236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1679</TotalTime>
  <Words>729</Words>
  <Application>Microsoft Macintosh PowerPoint</Application>
  <PresentationFormat>Custom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Open Sans</vt:lpstr>
      <vt:lpstr>Open Sans Light</vt:lpstr>
      <vt:lpstr>Ubuntu Light</vt:lpstr>
      <vt:lpstr>1_Custom Design</vt:lpstr>
      <vt:lpstr>O que são moedas fiduciárias e quem as controla?</vt:lpstr>
      <vt:lpstr>Debate</vt:lpstr>
      <vt:lpstr>Atividade</vt:lpstr>
      <vt:lpstr>Atividade</vt:lpstr>
      <vt:lpstr>Atividade</vt:lpstr>
      <vt:lpstr>Atividade</vt:lpstr>
      <vt:lpstr>Debate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145</cp:revision>
  <dcterms:created xsi:type="dcterms:W3CDTF">2024-11-12T03:26:48Z</dcterms:created>
  <dcterms:modified xsi:type="dcterms:W3CDTF">2025-10-18T11:27:13Z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